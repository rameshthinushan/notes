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6"/>
  </p:notesMasterIdLst>
  <p:sldIdLst>
    <p:sldId id="257" r:id="rId3"/>
    <p:sldId id="305" r:id="rId4"/>
    <p:sldId id="306" r:id="rId5"/>
    <p:sldId id="328" r:id="rId6"/>
    <p:sldId id="307" r:id="rId7"/>
    <p:sldId id="308" r:id="rId8"/>
    <p:sldId id="309" r:id="rId9"/>
    <p:sldId id="312" r:id="rId10"/>
    <p:sldId id="313" r:id="rId11"/>
    <p:sldId id="314" r:id="rId12"/>
    <p:sldId id="315" r:id="rId13"/>
    <p:sldId id="316" r:id="rId14"/>
    <p:sldId id="317" r:id="rId15"/>
    <p:sldId id="318" r:id="rId16"/>
    <p:sldId id="319" r:id="rId17"/>
    <p:sldId id="320" r:id="rId18"/>
    <p:sldId id="321" r:id="rId19"/>
    <p:sldId id="322" r:id="rId20"/>
    <p:sldId id="323" r:id="rId21"/>
    <p:sldId id="324" r:id="rId22"/>
    <p:sldId id="325" r:id="rId23"/>
    <p:sldId id="326" r:id="rId24"/>
    <p:sldId id="327"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723204-145E-4E9A-8825-0DF9FD80C698}" type="datetimeFigureOut">
              <a:rPr lang="en-US" smtClean="0"/>
              <a:pPr/>
              <a:t>6/3/2018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677AEE-D46A-4C91-9543-7FBC6ED44F7E}" type="slidenum">
              <a:rPr lang="en-US" smtClean="0"/>
              <a:pPr/>
              <a:t>‹#›</a:t>
            </a:fld>
            <a:endParaRPr lang="en-US" dirty="0"/>
          </a:p>
        </p:txBody>
      </p:sp>
    </p:spTree>
    <p:extLst>
      <p:ext uri="{BB962C8B-B14F-4D97-AF65-F5344CB8AC3E}">
        <p14:creationId xmlns:p14="http://schemas.microsoft.com/office/powerpoint/2010/main" val="1185138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3143F5A-A5F0-46A4-8826-62D9B1122C43}"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p>
        </p:txBody>
      </p:sp>
    </p:spTree>
    <p:extLst>
      <p:ext uri="{BB962C8B-B14F-4D97-AF65-F5344CB8AC3E}">
        <p14:creationId xmlns:p14="http://schemas.microsoft.com/office/powerpoint/2010/main" val="3482525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0EEEE62E-476F-4C35-99A5-51BFDC762DD9}" type="slidenum">
              <a:rPr lang="en-US" smtClean="0"/>
              <a:pPr/>
              <a:t>8</a:t>
            </a:fld>
            <a:endParaRPr lang="en-US" smtClean="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xfrm>
            <a:off x="914400" y="4343400"/>
            <a:ext cx="5029200" cy="4114800"/>
          </a:xfrm>
          <a:noFill/>
          <a:ln/>
        </p:spPr>
        <p:txBody>
          <a:bodyPr/>
          <a:lstStyle/>
          <a:p>
            <a:pPr eaLnBrk="1" hangingPunct="1"/>
            <a:r>
              <a:rPr lang="en-US" b="1" smtClean="0">
                <a:solidFill>
                  <a:srgbClr val="000000"/>
                </a:solidFill>
              </a:rPr>
              <a:t>Structure </a:t>
            </a:r>
            <a:r>
              <a:rPr lang="en-US" smtClean="0">
                <a:solidFill>
                  <a:srgbClr val="000000"/>
                </a:solidFill>
              </a:rPr>
              <a:t>means data types, relationships, and constraints that always hold for the data</a:t>
            </a:r>
            <a:endParaRPr lang="en-US" b="1" smtClean="0">
              <a:solidFill>
                <a:srgbClr val="000000"/>
              </a:solidFill>
            </a:endParaRPr>
          </a:p>
        </p:txBody>
      </p:sp>
      <p:sp>
        <p:nvSpPr>
          <p:cNvPr id="64517" name="Footer Placeholder 4"/>
          <p:cNvSpPr>
            <a:spLocks noGrp="1"/>
          </p:cNvSpPr>
          <p:nvPr>
            <p:ph type="ftr" sz="quarter" idx="4"/>
          </p:nvPr>
        </p:nvSpPr>
        <p:spPr>
          <a:noFill/>
        </p:spPr>
        <p:txBody>
          <a:bodyPr/>
          <a:lstStyle/>
          <a:p>
            <a:r>
              <a:rPr lang="en-US"/>
              <a:t>hndit 1</a:t>
            </a:r>
          </a:p>
        </p:txBody>
      </p:sp>
    </p:spTree>
    <p:extLst>
      <p:ext uri="{BB962C8B-B14F-4D97-AF65-F5344CB8AC3E}">
        <p14:creationId xmlns:p14="http://schemas.microsoft.com/office/powerpoint/2010/main" val="874855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FF448220-779C-4A89-BA13-5430EEC4C4CD}" type="slidenum">
              <a:rPr lang="en-US" smtClean="0"/>
              <a:pPr/>
              <a:t>18</a:t>
            </a:fld>
            <a:endParaRPr lang="en-US" smtClean="0"/>
          </a:p>
        </p:txBody>
      </p:sp>
      <p:sp>
        <p:nvSpPr>
          <p:cNvPr id="66563"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66564" name="Rectangle 3"/>
          <p:cNvSpPr>
            <a:spLocks noGrp="1" noChangeArrowheads="1"/>
          </p:cNvSpPr>
          <p:nvPr>
            <p:ph type="body" idx="1"/>
          </p:nvPr>
        </p:nvSpPr>
        <p:spPr>
          <a:xfrm>
            <a:off x="920750" y="4349750"/>
            <a:ext cx="5016500" cy="4102100"/>
          </a:xfrm>
          <a:noFill/>
          <a:ln w="12700">
            <a:solidFill>
              <a:schemeClr val="tx1"/>
            </a:solidFill>
          </a:ln>
        </p:spPr>
        <p:txBody>
          <a:bodyPr lIns="90481" tIns="44447" rIns="90481" bIns="44447"/>
          <a:lstStyle/>
          <a:p>
            <a:pPr eaLnBrk="1" hangingPunct="1">
              <a:spcBef>
                <a:spcPct val="0"/>
              </a:spcBef>
            </a:pPr>
            <a:r>
              <a:rPr lang="en-GB" dirty="0" smtClean="0"/>
              <a:t>The relational model is different to previous models in that it is based on mathematical set theory which gives it a rigorous structure, as defined above.  These rules allow standard use of any system which claims to be relational and has led to their success, and the success of their most used query language SQL.  In the next couple of slides we show a simple example relational database and then show some simple queries after introducing briefly SQL, which you will start learning in tutorials.</a:t>
            </a:r>
          </a:p>
        </p:txBody>
      </p:sp>
      <p:sp>
        <p:nvSpPr>
          <p:cNvPr id="66565" name="Footer Placeholder 4"/>
          <p:cNvSpPr>
            <a:spLocks noGrp="1"/>
          </p:cNvSpPr>
          <p:nvPr>
            <p:ph type="ftr" sz="quarter" idx="4"/>
          </p:nvPr>
        </p:nvSpPr>
        <p:spPr>
          <a:noFill/>
        </p:spPr>
        <p:txBody>
          <a:bodyPr/>
          <a:lstStyle/>
          <a:p>
            <a:r>
              <a:rPr lang="en-US" smtClean="0"/>
              <a:t>hndit 1</a:t>
            </a:r>
          </a:p>
        </p:txBody>
      </p:sp>
    </p:spTree>
    <p:extLst>
      <p:ext uri="{BB962C8B-B14F-4D97-AF65-F5344CB8AC3E}">
        <p14:creationId xmlns:p14="http://schemas.microsoft.com/office/powerpoint/2010/main" val="10710914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5314208C-05C9-44BA-8CB2-CE7A31911360}" type="slidenum">
              <a:rPr lang="en-US" smtClean="0"/>
              <a:pPr/>
              <a:t>20</a:t>
            </a:fld>
            <a:endParaRPr lang="en-US" smtClean="0"/>
          </a:p>
        </p:txBody>
      </p:sp>
      <p:sp>
        <p:nvSpPr>
          <p:cNvPr id="68611" name="Rectangle 2"/>
          <p:cNvSpPr>
            <a:spLocks noGrp="1" noRot="1" noChangeAspect="1" noChangeArrowheads="1" noTextEdit="1"/>
          </p:cNvSpPr>
          <p:nvPr>
            <p:ph type="sldImg"/>
          </p:nvPr>
        </p:nvSpPr>
        <p:spPr>
          <a:xfrm>
            <a:off x="1150938" y="692150"/>
            <a:ext cx="4556125" cy="3416300"/>
          </a:xfrm>
          <a:ln/>
        </p:spPr>
      </p:sp>
      <p:sp>
        <p:nvSpPr>
          <p:cNvPr id="68612" name="Rectangle 3"/>
          <p:cNvSpPr>
            <a:spLocks noGrp="1" noChangeArrowheads="1"/>
          </p:cNvSpPr>
          <p:nvPr>
            <p:ph type="body" idx="1"/>
          </p:nvPr>
        </p:nvSpPr>
        <p:spPr>
          <a:xfrm>
            <a:off x="914400" y="4343400"/>
            <a:ext cx="5029200" cy="4114800"/>
          </a:xfrm>
          <a:noFill/>
          <a:ln/>
        </p:spPr>
        <p:txBody>
          <a:bodyPr lIns="91433" tIns="45716" rIns="91433" bIns="45716"/>
          <a:lstStyle/>
          <a:p>
            <a:pPr eaLnBrk="1" hangingPunct="1"/>
            <a:r>
              <a:rPr lang="en-GB" dirty="0" smtClean="0"/>
              <a:t>This simple example shows two relations (or tables) called </a:t>
            </a:r>
            <a:r>
              <a:rPr lang="en-GB" b="1" dirty="0" smtClean="0"/>
              <a:t>branch</a:t>
            </a:r>
            <a:r>
              <a:rPr lang="en-GB" dirty="0" smtClean="0"/>
              <a:t> and </a:t>
            </a:r>
          </a:p>
          <a:p>
            <a:pPr eaLnBrk="1" hangingPunct="1"/>
            <a:r>
              <a:rPr lang="en-GB" b="1" dirty="0" smtClean="0"/>
              <a:t>staff</a:t>
            </a:r>
            <a:r>
              <a:rPr lang="en-GB" dirty="0" smtClean="0"/>
              <a:t>.  Notice the structure conforms to the rules on the last slide, each table has a probable key value which uniquely identifies each row (</a:t>
            </a:r>
            <a:r>
              <a:rPr lang="en-GB" dirty="0" err="1" smtClean="0"/>
              <a:t>branchNo</a:t>
            </a:r>
            <a:r>
              <a:rPr lang="en-GB" dirty="0" smtClean="0"/>
              <a:t> and </a:t>
            </a:r>
            <a:r>
              <a:rPr lang="en-GB" dirty="0" err="1" smtClean="0"/>
              <a:t>staffNo</a:t>
            </a:r>
            <a:r>
              <a:rPr lang="en-GB" dirty="0" smtClean="0"/>
              <a:t>), and notice how the two tables can be linked as each table contains the </a:t>
            </a:r>
            <a:r>
              <a:rPr lang="en-GB" dirty="0" err="1" smtClean="0"/>
              <a:t>branchNo</a:t>
            </a:r>
            <a:r>
              <a:rPr lang="en-GB" dirty="0" smtClean="0"/>
              <a:t>, so we know for example that Ann Beech and David Ford work in branch B003 which is based in Glasgow.  Next, we give a simple definition of SQL, which we will discuss in more detail next week, and then show some very simple queries.</a:t>
            </a:r>
          </a:p>
        </p:txBody>
      </p:sp>
      <p:sp>
        <p:nvSpPr>
          <p:cNvPr id="68613" name="Footer Placeholder 4"/>
          <p:cNvSpPr>
            <a:spLocks noGrp="1"/>
          </p:cNvSpPr>
          <p:nvPr>
            <p:ph type="ftr" sz="quarter" idx="4"/>
          </p:nvPr>
        </p:nvSpPr>
        <p:spPr>
          <a:noFill/>
        </p:spPr>
        <p:txBody>
          <a:bodyPr/>
          <a:lstStyle/>
          <a:p>
            <a:r>
              <a:rPr lang="en-US" smtClean="0"/>
              <a:t>hndit 1</a:t>
            </a:r>
          </a:p>
        </p:txBody>
      </p:sp>
    </p:spTree>
    <p:extLst>
      <p:ext uri="{BB962C8B-B14F-4D97-AF65-F5344CB8AC3E}">
        <p14:creationId xmlns:p14="http://schemas.microsoft.com/office/powerpoint/2010/main" val="2612306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2B9C55-B1F5-4DCD-B44C-56F4D10DFF02}" type="datetime1">
              <a:rPr lang="en-US" smtClean="0"/>
              <a:t>6/3/2018</a:t>
            </a:fld>
            <a:endParaRPr lang="en-US" dirty="0"/>
          </a:p>
        </p:txBody>
      </p:sp>
      <p:sp>
        <p:nvSpPr>
          <p:cNvPr id="5" name="Footer Placeholder 4"/>
          <p:cNvSpPr>
            <a:spLocks noGrp="1"/>
          </p:cNvSpPr>
          <p:nvPr>
            <p:ph type="ftr" sz="quarter" idx="11"/>
          </p:nvPr>
        </p:nvSpPr>
        <p:spPr/>
        <p:txBody>
          <a:bodyPr/>
          <a:lstStyle>
            <a:lvl1pPr>
              <a:defRPr/>
            </a:lvl1p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6DC9F0-F6FA-4EF5-9B02-32D7E772F3DA}" type="datetime1">
              <a:rPr lang="en-US" smtClean="0"/>
              <a:t>6/3/2018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6/3/2018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2C1C87-DFFE-40DD-88ED-115007FBF96B}" type="datetime1">
              <a:rPr lang="en-US" smtClean="0"/>
              <a:t>6/3/2018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910CCB-6840-48E9-8232-4140365FD666}" type="datetime1">
              <a:rPr lang="en-US" smtClean="0"/>
              <a:t>6/3/2018</a:t>
            </a:fld>
            <a:endParaRPr lang="en-US" dirty="0"/>
          </a:p>
        </p:txBody>
      </p:sp>
      <p:sp>
        <p:nvSpPr>
          <p:cNvPr id="8" name="Footer Placeholder 7"/>
          <p:cNvSpPr>
            <a:spLocks noGrp="1"/>
          </p:cNvSpPr>
          <p:nvPr>
            <p:ph type="ftr" sz="quarter" idx="11"/>
          </p:nvPr>
        </p:nvSpPr>
        <p:spPr/>
        <p:txBody>
          <a:bodyPr/>
          <a:lstStyle/>
          <a:p>
            <a:r>
              <a:rPr lang="en-US" smtClean="0"/>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C12BC-620C-4804-A68B-E5D136F30A82}" type="datetime1">
              <a:rPr lang="en-US" smtClean="0"/>
              <a:t>6/3/2018</a:t>
            </a:fld>
            <a:endParaRPr lang="en-US" dirty="0"/>
          </a:p>
        </p:txBody>
      </p:sp>
      <p:sp>
        <p:nvSpPr>
          <p:cNvPr id="4" name="Footer Placeholder 3"/>
          <p:cNvSpPr>
            <a:spLocks noGrp="1"/>
          </p:cNvSpPr>
          <p:nvPr>
            <p:ph type="ftr" sz="quarter" idx="11"/>
          </p:nvPr>
        </p:nvSpPr>
        <p:spPr/>
        <p:txBody>
          <a:bodyPr/>
          <a:lstStyle/>
          <a:p>
            <a:r>
              <a:rPr lang="en-US" smtClean="0"/>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6/3/2018</a:t>
            </a:fld>
            <a:endParaRPr lang="en-US" dirty="0"/>
          </a:p>
        </p:txBody>
      </p:sp>
      <p:sp>
        <p:nvSpPr>
          <p:cNvPr id="3" name="Footer Placeholder 2"/>
          <p:cNvSpPr>
            <a:spLocks noGrp="1"/>
          </p:cNvSpPr>
          <p:nvPr>
            <p:ph type="ftr" sz="quarter" idx="11"/>
          </p:nvPr>
        </p:nvSpPr>
        <p:spPr/>
        <p:txBody>
          <a:bodyPr/>
          <a:lstStyle/>
          <a:p>
            <a:r>
              <a:rPr lang="en-US" smtClean="0"/>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6/3/2018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6/3/2018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1B3BF-CA00-44EF-B758-B15ECF3DFDAF}" type="datetime1">
              <a:rPr lang="en-US" smtClean="0"/>
              <a:t>6/3/2018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6D5A7-B666-4055-9430-CD0CBCBD1CF8}" type="datetime1">
              <a:rPr lang="en-US" smtClean="0"/>
              <a:t>6/3/2018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861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8E2B9C55-B1F5-4DCD-B44C-56F4D10DFF02}" type="datetime1">
              <a:rPr lang="en-US" smtClean="0"/>
              <a:t>6/3/2018</a:t>
            </a:fld>
            <a:endParaRPr lang="en-US" dirty="0"/>
          </a:p>
        </p:txBody>
      </p:sp>
      <p:sp>
        <p:nvSpPr>
          <p:cNvPr id="5" name="Footer Placeholder 4"/>
          <p:cNvSpPr>
            <a:spLocks noGrp="1"/>
          </p:cNvSpPr>
          <p:nvPr>
            <p:ph type="ftr" sz="quarter" idx="11"/>
          </p:nvPr>
        </p:nvSpPr>
        <p:spPr/>
        <p:txBody>
          <a:bodyPr/>
          <a:lstStyle>
            <a:lvl1pPr>
              <a:defRPr/>
            </a:lvl1p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400036773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6DC9F0-F6FA-4EF5-9B02-32D7E772F3DA}" type="datetime1">
              <a:rPr lang="en-US" smtClean="0"/>
              <a:t>6/3/2018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39203731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6/3/2018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43306039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2C1C87-DFFE-40DD-88ED-115007FBF96B}" type="datetime1">
              <a:rPr lang="en-US" smtClean="0"/>
              <a:t>6/3/2018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76888586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910CCB-6840-48E9-8232-4140365FD666}" type="datetime1">
              <a:rPr lang="en-US" smtClean="0"/>
              <a:t>6/3/2018</a:t>
            </a:fld>
            <a:endParaRPr lang="en-US" dirty="0"/>
          </a:p>
        </p:txBody>
      </p:sp>
      <p:sp>
        <p:nvSpPr>
          <p:cNvPr id="8" name="Footer Placeholder 7"/>
          <p:cNvSpPr>
            <a:spLocks noGrp="1"/>
          </p:cNvSpPr>
          <p:nvPr>
            <p:ph type="ftr" sz="quarter" idx="11"/>
          </p:nvPr>
        </p:nvSpPr>
        <p:spPr/>
        <p:txBody>
          <a:bodyPr/>
          <a:lstStyle/>
          <a:p>
            <a:r>
              <a:rPr lang="en-US" smtClean="0"/>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014733444"/>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C12BC-620C-4804-A68B-E5D136F30A82}" type="datetime1">
              <a:rPr lang="en-US" smtClean="0"/>
              <a:t>6/3/2018</a:t>
            </a:fld>
            <a:endParaRPr lang="en-US" dirty="0"/>
          </a:p>
        </p:txBody>
      </p:sp>
      <p:sp>
        <p:nvSpPr>
          <p:cNvPr id="4" name="Footer Placeholder 3"/>
          <p:cNvSpPr>
            <a:spLocks noGrp="1"/>
          </p:cNvSpPr>
          <p:nvPr>
            <p:ph type="ftr" sz="quarter" idx="11"/>
          </p:nvPr>
        </p:nvSpPr>
        <p:spPr/>
        <p:txBody>
          <a:bodyPr/>
          <a:lstStyle/>
          <a:p>
            <a:r>
              <a:rPr lang="en-US" smtClean="0"/>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293690693"/>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6/3/2018</a:t>
            </a:fld>
            <a:endParaRPr lang="en-US" dirty="0"/>
          </a:p>
        </p:txBody>
      </p:sp>
      <p:sp>
        <p:nvSpPr>
          <p:cNvPr id="3" name="Footer Placeholder 2"/>
          <p:cNvSpPr>
            <a:spLocks noGrp="1"/>
          </p:cNvSpPr>
          <p:nvPr>
            <p:ph type="ftr" sz="quarter" idx="11"/>
          </p:nvPr>
        </p:nvSpPr>
        <p:spPr/>
        <p:txBody>
          <a:bodyPr/>
          <a:lstStyle/>
          <a:p>
            <a:r>
              <a:rPr lang="en-US" smtClean="0"/>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44137634"/>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6/3/2018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47150602"/>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6/3/2018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5436515"/>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1B3BF-CA00-44EF-B758-B15ECF3DFDAF}" type="datetime1">
              <a:rPr lang="en-US" smtClean="0"/>
              <a:t>6/3/2018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031546261"/>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6D5A7-B666-4055-9430-CD0CBCBD1CF8}" type="datetime1">
              <a:rPr lang="en-US" smtClean="0"/>
              <a:t>6/3/2018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80822584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6/3/2018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6/3/2018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6892658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1.emf"/><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oleObject" Target="../embeddings/Microsoft_Word_97_-_2003_Document2.doc"/><Relationship Id="rId5" Type="http://schemas.openxmlformats.org/officeDocument/2006/relationships/image" Target="../media/image10.wmf"/><Relationship Id="rId4" Type="http://schemas.openxmlformats.org/officeDocument/2006/relationships/oleObject" Target="../embeddings/Microsoft_Word_97_-_2003_Document1.doc"/></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3"/>
          <p:cNvSpPr>
            <a:spLocks noGrp="1" noChangeArrowheads="1"/>
          </p:cNvSpPr>
          <p:nvPr>
            <p:ph type="subTitle" idx="1"/>
          </p:nvPr>
        </p:nvSpPr>
        <p:spPr>
          <a:xfrm>
            <a:off x="1371600" y="4800600"/>
            <a:ext cx="6705600" cy="685800"/>
          </a:xfrm>
          <a:noFill/>
        </p:spPr>
        <p:txBody>
          <a:bodyPr anchorCtr="1"/>
          <a:lstStyle/>
          <a:p>
            <a:r>
              <a:rPr lang="en-US" dirty="0"/>
              <a:t>Database architecture</a:t>
            </a:r>
            <a:endParaRPr lang="en-US" altLang="en-US" dirty="0" smtClean="0"/>
          </a:p>
        </p:txBody>
      </p:sp>
      <p:sp>
        <p:nvSpPr>
          <p:cNvPr id="2061" name="Rectangle 13"/>
          <p:cNvSpPr>
            <a:spLocks noGrp="1" noChangeArrowheads="1"/>
          </p:cNvSpPr>
          <p:nvPr>
            <p:ph type="ctrTitle"/>
          </p:nvPr>
        </p:nvSpPr>
        <p:spPr>
          <a:xfrm>
            <a:off x="4876800" y="2362200"/>
            <a:ext cx="4191000" cy="1828800"/>
          </a:xfrm>
        </p:spPr>
        <p:txBody>
          <a:bodyPr>
            <a:normAutofit/>
          </a:bodyPr>
          <a:lstStyle/>
          <a:p>
            <a:pPr>
              <a:defRPr/>
            </a:pPr>
            <a:r>
              <a:rPr lang="en-US" dirty="0">
                <a:solidFill>
                  <a:srgbClr val="000000"/>
                </a:solidFill>
                <a:latin typeface="Times New Roman"/>
                <a:ea typeface="Calibri"/>
                <a:cs typeface="Latha"/>
              </a:rPr>
              <a:t>HNDIT 1105 </a:t>
            </a:r>
            <a:r>
              <a:rPr lang="en-US" dirty="0">
                <a:ea typeface="Calibri"/>
                <a:cs typeface="Latha"/>
              </a:rPr>
              <a:t/>
            </a:r>
            <a:br>
              <a:rPr lang="en-US" dirty="0">
                <a:ea typeface="Calibri"/>
                <a:cs typeface="Latha"/>
              </a:rPr>
            </a:br>
            <a:r>
              <a:rPr lang="en-US" dirty="0">
                <a:ea typeface="Calibri"/>
                <a:cs typeface="Latha"/>
              </a:rPr>
              <a:t>DBMS</a:t>
            </a:r>
            <a:endParaRPr lang="en-US" sz="3600" b="1" dirty="0"/>
          </a:p>
        </p:txBody>
      </p:sp>
    </p:spTree>
    <p:extLst>
      <p:ext uri="{BB962C8B-B14F-4D97-AF65-F5344CB8AC3E}">
        <p14:creationId xmlns:p14="http://schemas.microsoft.com/office/powerpoint/2010/main" val="2019219962"/>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architecture</a:t>
            </a:r>
            <a:endParaRPr lang="en-US" dirty="0"/>
          </a:p>
        </p:txBody>
      </p:sp>
      <p:sp>
        <p:nvSpPr>
          <p:cNvPr id="3" name="Content Placeholder 2"/>
          <p:cNvSpPr>
            <a:spLocks noGrp="1"/>
          </p:cNvSpPr>
          <p:nvPr>
            <p:ph idx="1"/>
          </p:nvPr>
        </p:nvSpPr>
        <p:spPr>
          <a:xfrm>
            <a:off x="457200" y="1905001"/>
            <a:ext cx="8229600" cy="2590800"/>
          </a:xfrm>
        </p:spPr>
        <p:txBody>
          <a:bodyPr>
            <a:normAutofit fontScale="92500" lnSpcReduction="20000"/>
          </a:bodyPr>
          <a:lstStyle/>
          <a:p>
            <a:r>
              <a:rPr lang="en-US" dirty="0" smtClean="0"/>
              <a:t>The database architecture is the set of specifications, rules, and processes that dictate how data is stored in a database and how data is accessed by components of a system. </a:t>
            </a:r>
            <a:endParaRPr lang="en-US" dirty="0" smtClean="0"/>
          </a:p>
          <a:p>
            <a:r>
              <a:rPr lang="en-US" dirty="0"/>
              <a:t>The design of a DBMS depends on its architecture. </a:t>
            </a:r>
            <a:endParaRPr lang="en-US" dirty="0"/>
          </a:p>
        </p:txBody>
      </p:sp>
    </p:spTree>
    <p:extLst>
      <p:ext uri="{BB962C8B-B14F-4D97-AF65-F5344CB8AC3E}">
        <p14:creationId xmlns:p14="http://schemas.microsoft.com/office/powerpoint/2010/main" val="17292131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Architecture</a:t>
            </a:r>
            <a:endParaRPr lang="en-US" dirty="0"/>
          </a:p>
        </p:txBody>
      </p:sp>
      <p:sp>
        <p:nvSpPr>
          <p:cNvPr id="3" name="Content Placeholder 2"/>
          <p:cNvSpPr>
            <a:spLocks noGrp="1"/>
          </p:cNvSpPr>
          <p:nvPr>
            <p:ph idx="1"/>
          </p:nvPr>
        </p:nvSpPr>
        <p:spPr/>
        <p:txBody>
          <a:bodyPr>
            <a:normAutofit/>
          </a:bodyPr>
          <a:lstStyle/>
          <a:p>
            <a:r>
              <a:rPr lang="en-US" dirty="0" smtClean="0"/>
              <a:t>The </a:t>
            </a:r>
            <a:r>
              <a:rPr lang="en-US" dirty="0"/>
              <a:t>architecture of a DBMS can be seen as either single tier or multi-tier</a:t>
            </a:r>
            <a:r>
              <a:rPr lang="en-US" dirty="0" smtClean="0"/>
              <a:t>.</a:t>
            </a:r>
          </a:p>
          <a:p>
            <a:r>
              <a:rPr lang="en-US" dirty="0"/>
              <a:t>An n-tier architecture divides the whole system into related but independent </a:t>
            </a:r>
            <a:r>
              <a:rPr lang="en-US" b="1" dirty="0"/>
              <a:t>n</a:t>
            </a:r>
            <a:r>
              <a:rPr lang="en-US" dirty="0"/>
              <a:t> modules, which can be independently modified, altered, changed, or replaced.</a:t>
            </a:r>
            <a:endParaRPr lang="en-US" dirty="0" smtClean="0"/>
          </a:p>
          <a:p>
            <a:pPr lvl="1"/>
            <a:endParaRPr lang="en-US" dirty="0" smtClean="0"/>
          </a:p>
          <a:p>
            <a:pPr lvl="1"/>
            <a:endParaRPr lang="en-US" dirty="0"/>
          </a:p>
        </p:txBody>
      </p:sp>
    </p:spTree>
    <p:extLst>
      <p:ext uri="{BB962C8B-B14F-4D97-AF65-F5344CB8AC3E}">
        <p14:creationId xmlns:p14="http://schemas.microsoft.com/office/powerpoint/2010/main" val="12359782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Architecture</a:t>
            </a:r>
          </a:p>
        </p:txBody>
      </p:sp>
      <p:sp>
        <p:nvSpPr>
          <p:cNvPr id="3" name="Content Placeholder 2"/>
          <p:cNvSpPr>
            <a:spLocks noGrp="1"/>
          </p:cNvSpPr>
          <p:nvPr>
            <p:ph idx="1"/>
          </p:nvPr>
        </p:nvSpPr>
        <p:spPr/>
        <p:txBody>
          <a:bodyPr/>
          <a:lstStyle/>
          <a:p>
            <a:r>
              <a:rPr lang="en-US" dirty="0"/>
              <a:t>Most of Database architecture divided under two types</a:t>
            </a:r>
          </a:p>
          <a:p>
            <a:pPr lvl="1"/>
            <a:r>
              <a:rPr lang="en-US" dirty="0"/>
              <a:t>Logical 2 tier </a:t>
            </a:r>
            <a:r>
              <a:rPr lang="en-US" dirty="0" smtClean="0"/>
              <a:t>architecture</a:t>
            </a:r>
            <a:endParaRPr lang="en-US" dirty="0"/>
          </a:p>
          <a:p>
            <a:pPr lvl="1"/>
            <a:r>
              <a:rPr lang="en-US" dirty="0"/>
              <a:t>Logical 3 tier </a:t>
            </a:r>
            <a:r>
              <a:rPr lang="en-US" dirty="0" smtClean="0"/>
              <a:t>architecture</a:t>
            </a:r>
            <a:endParaRPr lang="en-US" dirty="0"/>
          </a:p>
          <a:p>
            <a:r>
              <a:rPr lang="en-US" dirty="0"/>
              <a:t>In 1-tier architecture, the DBMS is the only entity where the user directly sits on the DBMS and uses it.</a:t>
            </a:r>
          </a:p>
        </p:txBody>
      </p:sp>
      <p:sp>
        <p:nvSpPr>
          <p:cNvPr id="4" name="Slide Number Placeholder 3"/>
          <p:cNvSpPr>
            <a:spLocks noGrp="1"/>
          </p:cNvSpPr>
          <p:nvPr>
            <p:ph type="sldNum" sz="quarter" idx="12"/>
          </p:nvPr>
        </p:nvSpPr>
        <p:spPr/>
        <p:txBody>
          <a:bodyPr/>
          <a:lstStyle/>
          <a:p>
            <a:fld id="{EA205F43-80E2-4640-A934-E79BFFCB5CAF}" type="slidenum">
              <a:rPr lang="en-US" smtClean="0"/>
              <a:pPr/>
              <a:t>4</a:t>
            </a:fld>
            <a:endParaRPr lang="en-US" dirty="0"/>
          </a:p>
        </p:txBody>
      </p:sp>
    </p:spTree>
    <p:extLst>
      <p:ext uri="{BB962C8B-B14F-4D97-AF65-F5344CB8AC3E}">
        <p14:creationId xmlns:p14="http://schemas.microsoft.com/office/powerpoint/2010/main" val="3354895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1" algn="ctr" rtl="0">
              <a:spcBef>
                <a:spcPct val="0"/>
              </a:spcBef>
            </a:pPr>
            <a:r>
              <a:rPr lang="en-US" sz="4400" dirty="0" smtClean="0"/>
              <a:t>Two tier client server architecture</a:t>
            </a:r>
            <a:r>
              <a:rPr lang="en-US" dirty="0" smtClean="0"/>
              <a:t/>
            </a:r>
            <a:br>
              <a:rPr lang="en-US" dirty="0" smtClean="0"/>
            </a:br>
            <a:endParaRPr lang="en-US" dirty="0"/>
          </a:p>
        </p:txBody>
      </p:sp>
      <p:sp>
        <p:nvSpPr>
          <p:cNvPr id="3" name="Content Placeholder 2"/>
          <p:cNvSpPr>
            <a:spLocks noGrp="1"/>
          </p:cNvSpPr>
          <p:nvPr>
            <p:ph idx="1"/>
          </p:nvPr>
        </p:nvSpPr>
        <p:spPr>
          <a:xfrm>
            <a:off x="609600" y="1523436"/>
            <a:ext cx="8229600" cy="4221163"/>
          </a:xfrm>
        </p:spPr>
        <p:txBody>
          <a:bodyPr>
            <a:normAutofit/>
          </a:bodyPr>
          <a:lstStyle/>
          <a:p>
            <a:r>
              <a:rPr lang="en-US" sz="2400" dirty="0"/>
              <a:t>If the architecture of DBMS is 2-tier, then it must have an application through which the DBMS can be accessed. Programmers use 2-tier architecture where they access the DBMS by means of an application. Here the application tier is entirely independent of the database in terms of operation, design, and programming.</a:t>
            </a:r>
            <a:endParaRPr lang="en-US" sz="2400" dirty="0" smtClean="0"/>
          </a:p>
          <a:p>
            <a:r>
              <a:rPr lang="en-US" sz="2400" dirty="0" smtClean="0"/>
              <a:t>Is </a:t>
            </a:r>
            <a:r>
              <a:rPr lang="en-US" sz="2400" dirty="0" smtClean="0"/>
              <a:t>used for user interface programs and application programs that run on client side.</a:t>
            </a:r>
            <a:endParaRPr lang="en-US" sz="2400" dirty="0"/>
          </a:p>
        </p:txBody>
      </p:sp>
      <p:pic>
        <p:nvPicPr>
          <p:cNvPr id="47106" name="Picture 2" descr="two-tier client/server database architecture"/>
          <p:cNvPicPr>
            <a:picLocks noChangeAspect="1" noChangeArrowheads="1"/>
          </p:cNvPicPr>
          <p:nvPr/>
        </p:nvPicPr>
        <p:blipFill>
          <a:blip r:embed="rId2"/>
          <a:srcRect/>
          <a:stretch>
            <a:fillRect/>
          </a:stretch>
        </p:blipFill>
        <p:spPr bwMode="auto">
          <a:xfrm>
            <a:off x="4343400" y="4642573"/>
            <a:ext cx="4343400" cy="2215427"/>
          </a:xfrm>
          <a:prstGeom prst="rect">
            <a:avLst/>
          </a:prstGeom>
          <a:noFill/>
        </p:spPr>
      </p:pic>
    </p:spTree>
    <p:extLst>
      <p:ext uri="{BB962C8B-B14F-4D97-AF65-F5344CB8AC3E}">
        <p14:creationId xmlns:p14="http://schemas.microsoft.com/office/powerpoint/2010/main" val="40685510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Three tier client server architecture</a:t>
            </a:r>
            <a:endParaRPr lang="en-US" dirty="0"/>
          </a:p>
        </p:txBody>
      </p:sp>
      <p:sp>
        <p:nvSpPr>
          <p:cNvPr id="3" name="Content Placeholder 2"/>
          <p:cNvSpPr>
            <a:spLocks noGrp="1"/>
          </p:cNvSpPr>
          <p:nvPr>
            <p:ph idx="1"/>
          </p:nvPr>
        </p:nvSpPr>
        <p:spPr/>
        <p:txBody>
          <a:bodyPr/>
          <a:lstStyle/>
          <a:p>
            <a:r>
              <a:rPr lang="en-US" dirty="0" smtClean="0"/>
              <a:t>This is used in web application</a:t>
            </a:r>
          </a:p>
          <a:p>
            <a:endParaRPr lang="en-US" dirty="0"/>
          </a:p>
        </p:txBody>
      </p:sp>
      <p:pic>
        <p:nvPicPr>
          <p:cNvPr id="49154" name="Picture 2" descr="three-tier client/server database architecture"/>
          <p:cNvPicPr>
            <a:picLocks noChangeAspect="1" noChangeArrowheads="1"/>
          </p:cNvPicPr>
          <p:nvPr/>
        </p:nvPicPr>
        <p:blipFill>
          <a:blip r:embed="rId2"/>
          <a:srcRect/>
          <a:stretch>
            <a:fillRect/>
          </a:stretch>
        </p:blipFill>
        <p:spPr bwMode="auto">
          <a:xfrm>
            <a:off x="304800" y="2438400"/>
            <a:ext cx="8534400" cy="4152900"/>
          </a:xfrm>
          <a:prstGeom prst="rect">
            <a:avLst/>
          </a:prstGeom>
          <a:noFill/>
        </p:spPr>
      </p:pic>
    </p:spTree>
    <p:extLst>
      <p:ext uri="{BB962C8B-B14F-4D97-AF65-F5344CB8AC3E}">
        <p14:creationId xmlns:p14="http://schemas.microsoft.com/office/powerpoint/2010/main" val="41992453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accent2"/>
                </a:solidFill>
              </a:rPr>
              <a:t>A simplified database system environment</a:t>
            </a:r>
            <a:br>
              <a:rPr lang="en-US" dirty="0" smtClean="0">
                <a:solidFill>
                  <a:schemeClr val="accent2"/>
                </a:solidFill>
              </a:rPr>
            </a:br>
            <a:endParaRPr lang="en-US" dirty="0"/>
          </a:p>
        </p:txBody>
      </p:sp>
      <p:sp>
        <p:nvSpPr>
          <p:cNvPr id="3" name="Content Placeholder 2"/>
          <p:cNvSpPr>
            <a:spLocks noGrp="1"/>
          </p:cNvSpPr>
          <p:nvPr>
            <p:ph idx="1"/>
          </p:nvPr>
        </p:nvSpPr>
        <p:spPr/>
        <p:txBody>
          <a:bodyPr/>
          <a:lstStyle/>
          <a:p>
            <a:endParaRPr lang="en-US" dirty="0"/>
          </a:p>
        </p:txBody>
      </p:sp>
      <p:pic>
        <p:nvPicPr>
          <p:cNvPr id="4" name="Picture 2" descr="fig01_01"/>
          <p:cNvPicPr>
            <a:picLocks noChangeAspect="1" noChangeArrowheads="1"/>
          </p:cNvPicPr>
          <p:nvPr/>
        </p:nvPicPr>
        <p:blipFill>
          <a:blip r:embed="rId2"/>
          <a:srcRect r="23642"/>
          <a:stretch>
            <a:fillRect/>
          </a:stretch>
        </p:blipFill>
        <p:spPr bwMode="auto">
          <a:xfrm>
            <a:off x="990600" y="895350"/>
            <a:ext cx="7010400" cy="5810250"/>
          </a:xfrm>
          <a:prstGeom prst="rect">
            <a:avLst/>
          </a:prstGeom>
          <a:noFill/>
          <a:ln w="9525">
            <a:noFill/>
            <a:miter lim="800000"/>
            <a:headEnd/>
            <a:tailEnd/>
          </a:ln>
        </p:spPr>
      </p:pic>
    </p:spTree>
    <p:extLst>
      <p:ext uri="{BB962C8B-B14F-4D97-AF65-F5344CB8AC3E}">
        <p14:creationId xmlns:p14="http://schemas.microsoft.com/office/powerpoint/2010/main" val="40011398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dirty="0" smtClean="0"/>
              <a:t>Data Models</a:t>
            </a:r>
            <a:endParaRPr lang="en-US" b="0" dirty="0" smtClean="0">
              <a:solidFill>
                <a:srgbClr val="000000"/>
              </a:solidFill>
            </a:endParaRPr>
          </a:p>
        </p:txBody>
      </p:sp>
      <p:sp>
        <p:nvSpPr>
          <p:cNvPr id="13315" name="Rectangle 3"/>
          <p:cNvSpPr>
            <a:spLocks noGrp="1" noChangeArrowheads="1"/>
          </p:cNvSpPr>
          <p:nvPr>
            <p:ph type="body" idx="1"/>
          </p:nvPr>
        </p:nvSpPr>
        <p:spPr>
          <a:xfrm>
            <a:off x="304800" y="1752600"/>
            <a:ext cx="8839200" cy="5105400"/>
          </a:xfrm>
        </p:spPr>
        <p:txBody>
          <a:bodyPr/>
          <a:lstStyle/>
          <a:p>
            <a:r>
              <a:rPr lang="en-US" sz="2400" b="1" dirty="0" smtClean="0">
                <a:solidFill>
                  <a:srgbClr val="FF6600"/>
                </a:solidFill>
              </a:rPr>
              <a:t>Data Model</a:t>
            </a:r>
            <a:r>
              <a:rPr lang="en-US" sz="2400" dirty="0" smtClean="0">
                <a:solidFill>
                  <a:srgbClr val="000000"/>
                </a:solidFill>
              </a:rPr>
              <a:t>: </a:t>
            </a:r>
            <a:r>
              <a:rPr lang="en-US" sz="2400" b="1" dirty="0"/>
              <a:t>Data models</a:t>
            </a:r>
            <a:r>
              <a:rPr lang="en-US" sz="2400" dirty="0"/>
              <a:t> define how the logical structure of a </a:t>
            </a:r>
            <a:r>
              <a:rPr lang="en-US" sz="2400" b="1" dirty="0"/>
              <a:t>database</a:t>
            </a:r>
            <a:r>
              <a:rPr lang="en-US" sz="2400" dirty="0"/>
              <a:t> is modeled. </a:t>
            </a:r>
            <a:r>
              <a:rPr lang="en-US" sz="2400" b="1" dirty="0"/>
              <a:t>Data Models</a:t>
            </a:r>
            <a:r>
              <a:rPr lang="en-US" sz="2400" dirty="0"/>
              <a:t> are fundamental entities to introduce </a:t>
            </a:r>
            <a:r>
              <a:rPr lang="en-US" sz="2400" b="1" dirty="0"/>
              <a:t>abstraction</a:t>
            </a:r>
            <a:r>
              <a:rPr lang="en-US" sz="2400" dirty="0"/>
              <a:t> in a DBMS. </a:t>
            </a:r>
            <a:r>
              <a:rPr lang="en-US" sz="2400" b="1" dirty="0"/>
              <a:t>Data models</a:t>
            </a:r>
            <a:r>
              <a:rPr lang="en-US" sz="2400" dirty="0"/>
              <a:t> define how </a:t>
            </a:r>
            <a:r>
              <a:rPr lang="en-US" sz="2400" b="1" dirty="0"/>
              <a:t>data</a:t>
            </a:r>
            <a:r>
              <a:rPr lang="en-US" sz="2400" dirty="0"/>
              <a:t> is connected to each other and how they are processed and stored inside the system. </a:t>
            </a:r>
            <a:endParaRPr lang="en-US" sz="2400" dirty="0" smtClean="0"/>
          </a:p>
          <a:p>
            <a:endParaRPr lang="en-US" sz="2400" dirty="0" smtClean="0"/>
          </a:p>
          <a:p>
            <a:pPr lvl="1" eaLnBrk="1" hangingPunct="1"/>
            <a:r>
              <a:rPr lang="en-US" sz="2200" dirty="0" smtClean="0"/>
              <a:t>Many type of data models</a:t>
            </a:r>
          </a:p>
          <a:p>
            <a:pPr lvl="1" eaLnBrk="1" hangingPunct="1"/>
            <a:r>
              <a:rPr lang="en-US" sz="2200" dirty="0" smtClean="0"/>
              <a:t>Makes</a:t>
            </a:r>
            <a:r>
              <a:rPr lang="en-US" sz="2200" dirty="0" smtClean="0">
                <a:solidFill>
                  <a:srgbClr val="000000"/>
                </a:solidFill>
              </a:rPr>
              <a:t> </a:t>
            </a:r>
            <a:r>
              <a:rPr lang="en-US" sz="2200" dirty="0" smtClean="0">
                <a:solidFill>
                  <a:srgbClr val="008000"/>
                </a:solidFill>
              </a:rPr>
              <a:t>data abstraction</a:t>
            </a:r>
            <a:r>
              <a:rPr lang="en-US" sz="2200" dirty="0" smtClean="0"/>
              <a:t> possible</a:t>
            </a:r>
          </a:p>
          <a:p>
            <a:pPr lvl="2" eaLnBrk="1" hangingPunct="1"/>
            <a:r>
              <a:rPr lang="en-US" sz="2200" dirty="0" smtClean="0"/>
              <a:t>Hides details of physical data storage from the user</a:t>
            </a:r>
            <a:r>
              <a:rPr lang="en-US" dirty="0"/>
              <a:t> </a:t>
            </a:r>
            <a:r>
              <a:rPr lang="en-US" dirty="0" smtClean="0"/>
              <a:t>.</a:t>
            </a:r>
          </a:p>
          <a:p>
            <a:pPr lvl="1"/>
            <a:r>
              <a:rPr lang="en-US" sz="2200" dirty="0" smtClean="0"/>
              <a:t>Most commercial database systems are based on </a:t>
            </a:r>
            <a:r>
              <a:rPr lang="en-US" sz="2200" dirty="0" smtClean="0">
                <a:solidFill>
                  <a:srgbClr val="FF0000"/>
                </a:solidFill>
              </a:rPr>
              <a:t>relational data  model</a:t>
            </a:r>
          </a:p>
        </p:txBody>
      </p:sp>
    </p:spTree>
    <p:extLst>
      <p:ext uri="{BB962C8B-B14F-4D97-AF65-F5344CB8AC3E}">
        <p14:creationId xmlns:p14="http://schemas.microsoft.com/office/powerpoint/2010/main" val="32123048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sz="3600" smtClean="0"/>
              <a:t>Database  (Implementation) Models</a:t>
            </a:r>
          </a:p>
        </p:txBody>
      </p:sp>
      <p:sp>
        <p:nvSpPr>
          <p:cNvPr id="16387" name="Rectangle 3"/>
          <p:cNvSpPr>
            <a:spLocks noGrp="1" noChangeArrowheads="1"/>
          </p:cNvSpPr>
          <p:nvPr>
            <p:ph type="body" idx="1"/>
          </p:nvPr>
        </p:nvSpPr>
        <p:spPr/>
        <p:txBody>
          <a:bodyPr/>
          <a:lstStyle/>
          <a:p>
            <a:pPr eaLnBrk="1" hangingPunct="1"/>
            <a:endParaRPr lang="en-US" smtClean="0"/>
          </a:p>
          <a:p>
            <a:pPr eaLnBrk="1" hangingPunct="1"/>
            <a:r>
              <a:rPr lang="en-US" smtClean="0"/>
              <a:t>Hierarchical</a:t>
            </a:r>
          </a:p>
          <a:p>
            <a:pPr eaLnBrk="1" hangingPunct="1"/>
            <a:r>
              <a:rPr lang="en-US" smtClean="0"/>
              <a:t>Network</a:t>
            </a:r>
          </a:p>
          <a:p>
            <a:pPr eaLnBrk="1" hangingPunct="1"/>
            <a:r>
              <a:rPr lang="en-US" smtClean="0"/>
              <a:t>Relational</a:t>
            </a:r>
          </a:p>
          <a:p>
            <a:pPr eaLnBrk="1" hangingPunct="1"/>
            <a:r>
              <a:rPr lang="en-US" smtClean="0"/>
              <a:t>Object-oriented</a:t>
            </a:r>
          </a:p>
        </p:txBody>
      </p:sp>
    </p:spTree>
    <p:extLst>
      <p:ext uri="{BB962C8B-B14F-4D97-AF65-F5344CB8AC3E}">
        <p14:creationId xmlns:p14="http://schemas.microsoft.com/office/powerpoint/2010/main" val="17953722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smtClean="0"/>
              <a:t>Hierarchical Model</a:t>
            </a:r>
          </a:p>
        </p:txBody>
      </p:sp>
      <p:sp>
        <p:nvSpPr>
          <p:cNvPr id="17411" name="Rectangle 3"/>
          <p:cNvSpPr>
            <a:spLocks noGrp="1" noChangeArrowheads="1"/>
          </p:cNvSpPr>
          <p:nvPr>
            <p:ph type="body" idx="1"/>
          </p:nvPr>
        </p:nvSpPr>
        <p:spPr/>
        <p:txBody>
          <a:bodyPr/>
          <a:lstStyle/>
          <a:p>
            <a:pPr eaLnBrk="1" hangingPunct="1"/>
            <a:endParaRPr lang="en-US" dirty="0" smtClean="0"/>
          </a:p>
          <a:p>
            <a:pPr eaLnBrk="1" hangingPunct="1"/>
            <a:r>
              <a:rPr lang="en-US" dirty="0" smtClean="0"/>
              <a:t>Represents a hierarchy with the whole at the root and the components forms the child nodes in turn</a:t>
            </a:r>
          </a:p>
          <a:p>
            <a:pPr eaLnBrk="1" hangingPunct="1"/>
            <a:endParaRPr lang="en-US" dirty="0" smtClean="0"/>
          </a:p>
          <a:p>
            <a:pPr eaLnBrk="1" hangingPunct="1"/>
            <a:r>
              <a:rPr lang="en-US" dirty="0" smtClean="0"/>
              <a:t>Thus, all the components or the nodes, taken together form the whole</a:t>
            </a:r>
          </a:p>
        </p:txBody>
      </p:sp>
    </p:spTree>
    <p:extLst>
      <p:ext uri="{BB962C8B-B14F-4D97-AF65-F5344CB8AC3E}">
        <p14:creationId xmlns:p14="http://schemas.microsoft.com/office/powerpoint/2010/main" val="4500744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smtClean="0"/>
              <a:t>Hierarchical Model</a:t>
            </a:r>
          </a:p>
        </p:txBody>
      </p:sp>
      <p:sp>
        <p:nvSpPr>
          <p:cNvPr id="4" name="Content Placeholder 3"/>
          <p:cNvSpPr>
            <a:spLocks noGrp="1"/>
          </p:cNvSpPr>
          <p:nvPr>
            <p:ph idx="1"/>
          </p:nvPr>
        </p:nvSpPr>
        <p:spPr/>
        <p:txBody>
          <a:bodyPr/>
          <a:lstStyle/>
          <a:p>
            <a:endParaRPr lang="en-US"/>
          </a:p>
        </p:txBody>
      </p:sp>
      <p:pic>
        <p:nvPicPr>
          <p:cNvPr id="21506" name="Picture 2" descr="File:Hierarchical Model.svg"/>
          <p:cNvPicPr>
            <a:picLocks noChangeAspect="1" noChangeArrowheads="1"/>
          </p:cNvPicPr>
          <p:nvPr/>
        </p:nvPicPr>
        <p:blipFill>
          <a:blip r:embed="rId2"/>
          <a:srcRect t="11646"/>
          <a:stretch>
            <a:fillRect/>
          </a:stretch>
        </p:blipFill>
        <p:spPr bwMode="auto">
          <a:xfrm>
            <a:off x="381000" y="1905000"/>
            <a:ext cx="7851763" cy="3962400"/>
          </a:xfrm>
          <a:prstGeom prst="rect">
            <a:avLst/>
          </a:prstGeom>
          <a:noFill/>
        </p:spPr>
      </p:pic>
    </p:spTree>
    <p:extLst>
      <p:ext uri="{BB962C8B-B14F-4D97-AF65-F5344CB8AC3E}">
        <p14:creationId xmlns:p14="http://schemas.microsoft.com/office/powerpoint/2010/main" val="41965410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sz="3600" smtClean="0"/>
              <a:t>Hierarchical Model Advantages</a:t>
            </a:r>
          </a:p>
        </p:txBody>
      </p:sp>
      <p:sp>
        <p:nvSpPr>
          <p:cNvPr id="19459" name="Rectangle 3"/>
          <p:cNvSpPr>
            <a:spLocks noGrp="1" noChangeArrowheads="1"/>
          </p:cNvSpPr>
          <p:nvPr>
            <p:ph type="body" idx="1"/>
          </p:nvPr>
        </p:nvSpPr>
        <p:spPr/>
        <p:txBody>
          <a:bodyPr>
            <a:normAutofit fontScale="85000" lnSpcReduction="20000"/>
          </a:bodyPr>
          <a:lstStyle/>
          <a:p>
            <a:pPr eaLnBrk="1" hangingPunct="1"/>
            <a:r>
              <a:rPr lang="en-US" smtClean="0"/>
              <a:t>Conceptual simplicity</a:t>
            </a:r>
          </a:p>
          <a:p>
            <a:pPr eaLnBrk="1" hangingPunct="1"/>
            <a:endParaRPr lang="en-US" smtClean="0"/>
          </a:p>
          <a:p>
            <a:pPr eaLnBrk="1" hangingPunct="1"/>
            <a:r>
              <a:rPr lang="en-US" smtClean="0"/>
              <a:t>Database security</a:t>
            </a:r>
          </a:p>
          <a:p>
            <a:pPr eaLnBrk="1" hangingPunct="1"/>
            <a:endParaRPr lang="en-US" smtClean="0"/>
          </a:p>
          <a:p>
            <a:pPr eaLnBrk="1" hangingPunct="1"/>
            <a:r>
              <a:rPr lang="en-US" smtClean="0"/>
              <a:t>Data independence</a:t>
            </a:r>
          </a:p>
          <a:p>
            <a:pPr eaLnBrk="1" hangingPunct="1"/>
            <a:endParaRPr lang="en-US" smtClean="0"/>
          </a:p>
          <a:p>
            <a:pPr eaLnBrk="1" hangingPunct="1"/>
            <a:r>
              <a:rPr lang="en-US" smtClean="0"/>
              <a:t>Database integrity</a:t>
            </a:r>
          </a:p>
          <a:p>
            <a:pPr eaLnBrk="1" hangingPunct="1"/>
            <a:endParaRPr lang="en-US" smtClean="0"/>
          </a:p>
          <a:p>
            <a:pPr eaLnBrk="1" hangingPunct="1"/>
            <a:r>
              <a:rPr lang="en-US" smtClean="0"/>
              <a:t>Efficiency (more suitable for large volumes of data with 1:M relationships)</a:t>
            </a:r>
          </a:p>
        </p:txBody>
      </p:sp>
    </p:spTree>
    <p:extLst>
      <p:ext uri="{BB962C8B-B14F-4D97-AF65-F5344CB8AC3E}">
        <p14:creationId xmlns:p14="http://schemas.microsoft.com/office/powerpoint/2010/main" val="24109046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sz="3600" smtClean="0"/>
              <a:t>Hierarchical Model Disadvantages</a:t>
            </a:r>
          </a:p>
        </p:txBody>
      </p:sp>
      <p:sp>
        <p:nvSpPr>
          <p:cNvPr id="20483" name="Rectangle 3"/>
          <p:cNvSpPr>
            <a:spLocks noGrp="1" noChangeArrowheads="1"/>
          </p:cNvSpPr>
          <p:nvPr>
            <p:ph type="body" idx="1"/>
          </p:nvPr>
        </p:nvSpPr>
        <p:spPr/>
        <p:txBody>
          <a:bodyPr>
            <a:normAutofit fontScale="92500" lnSpcReduction="20000"/>
          </a:bodyPr>
          <a:lstStyle/>
          <a:p>
            <a:pPr eaLnBrk="1" hangingPunct="1"/>
            <a:r>
              <a:rPr lang="en-US" smtClean="0"/>
              <a:t>Complex implementation. Requires complete knowledge of the hierarchy</a:t>
            </a:r>
          </a:p>
          <a:p>
            <a:pPr eaLnBrk="1" hangingPunct="1"/>
            <a:endParaRPr lang="en-US" smtClean="0"/>
          </a:p>
          <a:p>
            <a:pPr eaLnBrk="1" hangingPunct="1"/>
            <a:r>
              <a:rPr lang="en-US" smtClean="0"/>
              <a:t>Difficult to manage for complex sets of data</a:t>
            </a:r>
          </a:p>
          <a:p>
            <a:pPr eaLnBrk="1" hangingPunct="1"/>
            <a:endParaRPr lang="en-US" smtClean="0"/>
          </a:p>
          <a:p>
            <a:pPr eaLnBrk="1" hangingPunct="1"/>
            <a:r>
              <a:rPr lang="en-US" smtClean="0"/>
              <a:t>Lacks structural independence</a:t>
            </a:r>
          </a:p>
          <a:p>
            <a:pPr eaLnBrk="1" hangingPunct="1"/>
            <a:endParaRPr lang="en-US" smtClean="0"/>
          </a:p>
          <a:p>
            <a:pPr eaLnBrk="1" hangingPunct="1"/>
            <a:r>
              <a:rPr lang="en-US" smtClean="0"/>
              <a:t>Implementation limitations: difficult to implement M: relations</a:t>
            </a:r>
          </a:p>
        </p:txBody>
      </p:sp>
    </p:spTree>
    <p:extLst>
      <p:ext uri="{BB962C8B-B14F-4D97-AF65-F5344CB8AC3E}">
        <p14:creationId xmlns:p14="http://schemas.microsoft.com/office/powerpoint/2010/main" val="40660022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smtClean="0"/>
              <a:t>Network Model</a:t>
            </a:r>
          </a:p>
        </p:txBody>
      </p:sp>
      <p:sp>
        <p:nvSpPr>
          <p:cNvPr id="21507" name="Rectangle 3"/>
          <p:cNvSpPr>
            <a:spLocks noGrp="1" noChangeArrowheads="1"/>
          </p:cNvSpPr>
          <p:nvPr>
            <p:ph type="body" idx="1"/>
          </p:nvPr>
        </p:nvSpPr>
        <p:spPr/>
        <p:txBody>
          <a:bodyPr>
            <a:normAutofit fontScale="92500" lnSpcReduction="10000"/>
          </a:bodyPr>
          <a:lstStyle/>
          <a:p>
            <a:pPr eaLnBrk="1" hangingPunct="1"/>
            <a:r>
              <a:rPr lang="en-US" smtClean="0"/>
              <a:t>Resembles the hierarchical model with a provision for a record to have more than one parent</a:t>
            </a:r>
          </a:p>
          <a:p>
            <a:pPr eaLnBrk="1" hangingPunct="1"/>
            <a:endParaRPr lang="en-US" smtClean="0"/>
          </a:p>
          <a:p>
            <a:pPr lvl="1" eaLnBrk="1" hangingPunct="1"/>
            <a:r>
              <a:rPr lang="en-US" smtClean="0"/>
              <a:t>An </a:t>
            </a:r>
            <a:r>
              <a:rPr lang="en-US" smtClean="0">
                <a:solidFill>
                  <a:srgbClr val="FF6600"/>
                </a:solidFill>
              </a:rPr>
              <a:t>owner</a:t>
            </a:r>
            <a:r>
              <a:rPr lang="en-US" smtClean="0"/>
              <a:t> record is equivalent to a parent, and a </a:t>
            </a:r>
            <a:r>
              <a:rPr lang="en-US" smtClean="0">
                <a:solidFill>
                  <a:srgbClr val="FF6600"/>
                </a:solidFill>
              </a:rPr>
              <a:t>member</a:t>
            </a:r>
            <a:r>
              <a:rPr lang="en-US" smtClean="0"/>
              <a:t> record s equivalent to a child in the hierarchical model</a:t>
            </a:r>
          </a:p>
          <a:p>
            <a:pPr lvl="1" eaLnBrk="1" hangingPunct="1"/>
            <a:endParaRPr lang="en-US" smtClean="0"/>
          </a:p>
          <a:p>
            <a:pPr lvl="1" eaLnBrk="1" hangingPunct="1"/>
            <a:r>
              <a:rPr lang="en-US" smtClean="0"/>
              <a:t>The difference is that a record can appear as a member in more than one set</a:t>
            </a:r>
          </a:p>
        </p:txBody>
      </p:sp>
    </p:spTree>
    <p:extLst>
      <p:ext uri="{BB962C8B-B14F-4D97-AF65-F5344CB8AC3E}">
        <p14:creationId xmlns:p14="http://schemas.microsoft.com/office/powerpoint/2010/main" val="15508494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smtClean="0"/>
              <a:t>Network Model</a:t>
            </a:r>
          </a:p>
        </p:txBody>
      </p:sp>
      <p:pic>
        <p:nvPicPr>
          <p:cNvPr id="22531" name="Picture 3"/>
          <p:cNvPicPr>
            <a:picLocks noGrp="1" noChangeAspect="1" noChangeArrowheads="1"/>
          </p:cNvPicPr>
          <p:nvPr>
            <p:ph type="body" idx="1"/>
          </p:nvPr>
        </p:nvPicPr>
        <p:blipFill>
          <a:blip r:embed="rId2"/>
          <a:srcRect/>
          <a:stretch>
            <a:fillRect/>
          </a:stretch>
        </p:blipFill>
        <p:spPr/>
      </p:pic>
    </p:spTree>
    <p:extLst>
      <p:ext uri="{BB962C8B-B14F-4D97-AF65-F5344CB8AC3E}">
        <p14:creationId xmlns:p14="http://schemas.microsoft.com/office/powerpoint/2010/main" val="21204453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sz="3600" smtClean="0"/>
              <a:t>Network Model Advantages</a:t>
            </a:r>
          </a:p>
        </p:txBody>
      </p:sp>
      <p:sp>
        <p:nvSpPr>
          <p:cNvPr id="23555" name="Rectangle 3"/>
          <p:cNvSpPr>
            <a:spLocks noGrp="1" noChangeArrowheads="1"/>
          </p:cNvSpPr>
          <p:nvPr>
            <p:ph type="body" idx="1"/>
          </p:nvPr>
        </p:nvSpPr>
        <p:spPr/>
        <p:txBody>
          <a:bodyPr>
            <a:normAutofit fontScale="92500" lnSpcReduction="20000"/>
          </a:bodyPr>
          <a:lstStyle/>
          <a:p>
            <a:pPr eaLnBrk="1" hangingPunct="1"/>
            <a:r>
              <a:rPr lang="en-US" smtClean="0"/>
              <a:t>Conceptual simplicity</a:t>
            </a:r>
          </a:p>
          <a:p>
            <a:pPr eaLnBrk="1" hangingPunct="1"/>
            <a:endParaRPr lang="en-US" smtClean="0"/>
          </a:p>
          <a:p>
            <a:pPr eaLnBrk="1" hangingPunct="1"/>
            <a:r>
              <a:rPr lang="en-US" smtClean="0"/>
              <a:t>More elations can be handled</a:t>
            </a:r>
          </a:p>
          <a:p>
            <a:pPr eaLnBrk="1" hangingPunct="1"/>
            <a:endParaRPr lang="en-US" smtClean="0"/>
          </a:p>
          <a:p>
            <a:pPr eaLnBrk="1" hangingPunct="1"/>
            <a:r>
              <a:rPr lang="en-US" smtClean="0"/>
              <a:t>Data independence</a:t>
            </a:r>
          </a:p>
          <a:p>
            <a:pPr eaLnBrk="1" hangingPunct="1"/>
            <a:endParaRPr lang="en-US" smtClean="0"/>
          </a:p>
          <a:p>
            <a:pPr eaLnBrk="1" hangingPunct="1"/>
            <a:r>
              <a:rPr lang="en-US" smtClean="0"/>
              <a:t>Database integrity</a:t>
            </a:r>
          </a:p>
          <a:p>
            <a:pPr eaLnBrk="1" hangingPunct="1"/>
            <a:endParaRPr lang="en-US" smtClean="0"/>
          </a:p>
          <a:p>
            <a:pPr eaLnBrk="1" hangingPunct="1"/>
            <a:r>
              <a:rPr lang="en-US" smtClean="0"/>
              <a:t>Data access flexibility</a:t>
            </a:r>
          </a:p>
        </p:txBody>
      </p:sp>
    </p:spTree>
    <p:extLst>
      <p:ext uri="{BB962C8B-B14F-4D97-AF65-F5344CB8AC3E}">
        <p14:creationId xmlns:p14="http://schemas.microsoft.com/office/powerpoint/2010/main" val="9889945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z="3600" smtClean="0"/>
              <a:t>Network Model Disadvantages</a:t>
            </a:r>
          </a:p>
        </p:txBody>
      </p:sp>
      <p:sp>
        <p:nvSpPr>
          <p:cNvPr id="24579" name="Rectangle 3"/>
          <p:cNvSpPr>
            <a:spLocks noGrp="1" noChangeArrowheads="1"/>
          </p:cNvSpPr>
          <p:nvPr>
            <p:ph type="body" idx="1"/>
          </p:nvPr>
        </p:nvSpPr>
        <p:spPr/>
        <p:txBody>
          <a:bodyPr>
            <a:normAutofit lnSpcReduction="10000"/>
          </a:bodyPr>
          <a:lstStyle/>
          <a:p>
            <a:pPr eaLnBrk="1" hangingPunct="1"/>
            <a:endParaRPr lang="en-US" smtClean="0"/>
          </a:p>
          <a:p>
            <a:pPr eaLnBrk="1" hangingPunct="1"/>
            <a:r>
              <a:rPr lang="en-US" smtClean="0"/>
              <a:t>Complexity increases with large databases and multiple relation types</a:t>
            </a:r>
          </a:p>
          <a:p>
            <a:pPr eaLnBrk="1" hangingPunct="1"/>
            <a:endParaRPr lang="en-US" smtClean="0"/>
          </a:p>
          <a:p>
            <a:pPr eaLnBrk="1" hangingPunct="1"/>
            <a:r>
              <a:rPr lang="en-US" smtClean="0"/>
              <a:t>Difficult to make structural changes</a:t>
            </a:r>
          </a:p>
          <a:p>
            <a:pPr eaLnBrk="1" hangingPunct="1"/>
            <a:endParaRPr lang="en-US" smtClean="0"/>
          </a:p>
          <a:p>
            <a:pPr eaLnBrk="1" hangingPunct="1"/>
            <a:r>
              <a:rPr lang="en-US" smtClean="0"/>
              <a:t>Database design and update activities require more time</a:t>
            </a:r>
          </a:p>
        </p:txBody>
      </p:sp>
    </p:spTree>
    <p:extLst>
      <p:ext uri="{BB962C8B-B14F-4D97-AF65-F5344CB8AC3E}">
        <p14:creationId xmlns:p14="http://schemas.microsoft.com/office/powerpoint/2010/main" val="68050317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body" idx="1"/>
          </p:nvPr>
        </p:nvSpPr>
        <p:spPr>
          <a:xfrm>
            <a:off x="381000" y="1295400"/>
            <a:ext cx="8610600" cy="5014913"/>
          </a:xfrm>
          <a:noFill/>
        </p:spPr>
        <p:txBody>
          <a:bodyPr lIns="90488" tIns="44450" rIns="90488" bIns="44450"/>
          <a:lstStyle/>
          <a:p>
            <a:pPr eaLnBrk="1" hangingPunct="1">
              <a:lnSpc>
                <a:spcPct val="90000"/>
              </a:lnSpc>
            </a:pPr>
            <a:endParaRPr lang="en-GB" sz="2400" dirty="0" smtClean="0"/>
          </a:p>
          <a:p>
            <a:pPr eaLnBrk="1" hangingPunct="1">
              <a:lnSpc>
                <a:spcPct val="90000"/>
              </a:lnSpc>
            </a:pPr>
            <a:r>
              <a:rPr lang="en-GB" sz="2400" dirty="0" smtClean="0"/>
              <a:t>They can manipulate are stored as relations </a:t>
            </a:r>
            <a:r>
              <a:rPr lang="en-GB" sz="2400" dirty="0" smtClean="0">
                <a:sym typeface="Wingdings" pitchFamily="2" charset="2"/>
              </a:rPr>
              <a:t> relational database</a:t>
            </a:r>
            <a:endParaRPr lang="en-GB" sz="2400" dirty="0" smtClean="0"/>
          </a:p>
          <a:p>
            <a:pPr eaLnBrk="1" hangingPunct="1">
              <a:lnSpc>
                <a:spcPct val="90000"/>
              </a:lnSpc>
            </a:pPr>
            <a:r>
              <a:rPr lang="en-GB" sz="2400" dirty="0" smtClean="0"/>
              <a:t>Relational database system devised by </a:t>
            </a:r>
            <a:r>
              <a:rPr lang="en-GB" sz="2400" dirty="0" err="1" smtClean="0"/>
              <a:t>Codd</a:t>
            </a:r>
            <a:r>
              <a:rPr lang="en-GB" sz="2400" dirty="0" smtClean="0"/>
              <a:t> in 1970</a:t>
            </a:r>
          </a:p>
          <a:p>
            <a:pPr eaLnBrk="1" hangingPunct="1">
              <a:lnSpc>
                <a:spcPct val="90000"/>
              </a:lnSpc>
            </a:pPr>
            <a:r>
              <a:rPr lang="en-GB" sz="2400" dirty="0" smtClean="0"/>
              <a:t>An attempt to devise a standard model with a sound mathematical basis</a:t>
            </a:r>
          </a:p>
          <a:p>
            <a:pPr eaLnBrk="1" hangingPunct="1">
              <a:lnSpc>
                <a:spcPct val="90000"/>
              </a:lnSpc>
            </a:pPr>
            <a:r>
              <a:rPr lang="en-GB" sz="2400" dirty="0" smtClean="0"/>
              <a:t>Most successful &amp; better model than other  database model</a:t>
            </a:r>
          </a:p>
          <a:p>
            <a:pPr>
              <a:lnSpc>
                <a:spcPct val="90000"/>
              </a:lnSpc>
            </a:pPr>
            <a:r>
              <a:rPr lang="en-GB" sz="2400" dirty="0" smtClean="0"/>
              <a:t>SQL query language uses for querying the data</a:t>
            </a:r>
          </a:p>
          <a:p>
            <a:pPr eaLnBrk="1" hangingPunct="1">
              <a:lnSpc>
                <a:spcPct val="90000"/>
              </a:lnSpc>
            </a:pPr>
            <a:endParaRPr lang="en-GB" sz="2400" dirty="0" smtClean="0"/>
          </a:p>
          <a:p>
            <a:pPr eaLnBrk="1" hangingPunct="1">
              <a:lnSpc>
                <a:spcPct val="90000"/>
              </a:lnSpc>
            </a:pPr>
            <a:r>
              <a:rPr lang="en-GB" sz="2400" dirty="0" smtClean="0"/>
              <a:t>Examples include:</a:t>
            </a:r>
          </a:p>
          <a:p>
            <a:pPr lvl="1" eaLnBrk="1" hangingPunct="1">
              <a:lnSpc>
                <a:spcPct val="90000"/>
              </a:lnSpc>
            </a:pPr>
            <a:r>
              <a:rPr lang="en-GB" sz="2400" dirty="0" smtClean="0"/>
              <a:t>Oracle, Microsoft Access, FoxPro, </a:t>
            </a:r>
            <a:r>
              <a:rPr lang="en-GB" sz="2400" dirty="0" err="1" smtClean="0"/>
              <a:t>MySql</a:t>
            </a:r>
            <a:r>
              <a:rPr lang="en-GB" sz="2400" dirty="0" smtClean="0"/>
              <a:t>, </a:t>
            </a:r>
            <a:r>
              <a:rPr lang="en-GB" sz="2400" dirty="0" err="1" smtClean="0"/>
              <a:t>SQLServer</a:t>
            </a:r>
            <a:r>
              <a:rPr lang="en-GB" sz="2400" dirty="0" smtClean="0"/>
              <a:t> etc</a:t>
            </a:r>
          </a:p>
          <a:p>
            <a:pPr eaLnBrk="1" hangingPunct="1">
              <a:lnSpc>
                <a:spcPct val="90000"/>
              </a:lnSpc>
            </a:pPr>
            <a:endParaRPr lang="en-GB" sz="2400" dirty="0" smtClean="0"/>
          </a:p>
        </p:txBody>
      </p:sp>
      <p:sp>
        <p:nvSpPr>
          <p:cNvPr id="25603" name="Rectangle 3"/>
          <p:cNvSpPr>
            <a:spLocks noGrp="1" noChangeArrowheads="1"/>
          </p:cNvSpPr>
          <p:nvPr>
            <p:ph type="title"/>
          </p:nvPr>
        </p:nvSpPr>
        <p:spPr/>
        <p:txBody>
          <a:bodyPr/>
          <a:lstStyle/>
          <a:p>
            <a:pPr eaLnBrk="1" hangingPunct="1"/>
            <a:r>
              <a:rPr lang="en-GB" smtClean="0"/>
              <a:t>Relational Model</a:t>
            </a:r>
          </a:p>
        </p:txBody>
      </p:sp>
    </p:spTree>
    <p:extLst>
      <p:ext uri="{BB962C8B-B14F-4D97-AF65-F5344CB8AC3E}">
        <p14:creationId xmlns:p14="http://schemas.microsoft.com/office/powerpoint/2010/main" val="2570919701"/>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smtClean="0"/>
              <a:t>“Relations”</a:t>
            </a:r>
          </a:p>
        </p:txBody>
      </p:sp>
      <p:sp>
        <p:nvSpPr>
          <p:cNvPr id="27651" name="Rectangle 3"/>
          <p:cNvSpPr>
            <a:spLocks noGrp="1" noChangeArrowheads="1"/>
          </p:cNvSpPr>
          <p:nvPr>
            <p:ph type="body" idx="1"/>
          </p:nvPr>
        </p:nvSpPr>
        <p:spPr/>
        <p:txBody>
          <a:bodyPr>
            <a:normAutofit fontScale="92500" lnSpcReduction="20000"/>
          </a:bodyPr>
          <a:lstStyle/>
          <a:p>
            <a:pPr eaLnBrk="1" hangingPunct="1"/>
            <a:endParaRPr lang="en-US" dirty="0" smtClean="0"/>
          </a:p>
          <a:p>
            <a:pPr eaLnBrk="1" hangingPunct="1"/>
            <a:r>
              <a:rPr lang="en-US" dirty="0" smtClean="0"/>
              <a:t>Can be represented as tables in which rows represent “</a:t>
            </a:r>
            <a:r>
              <a:rPr lang="en-US" dirty="0" err="1" smtClean="0">
                <a:solidFill>
                  <a:srgbClr val="FF0000"/>
                </a:solidFill>
              </a:rPr>
              <a:t>tuples</a:t>
            </a:r>
            <a:r>
              <a:rPr lang="en-US" dirty="0" smtClean="0"/>
              <a:t>” and columns represents attributes</a:t>
            </a:r>
          </a:p>
          <a:p>
            <a:pPr eaLnBrk="1" hangingPunct="1"/>
            <a:endParaRPr lang="en-US" dirty="0" smtClean="0"/>
          </a:p>
          <a:p>
            <a:pPr eaLnBrk="1" hangingPunct="1"/>
            <a:r>
              <a:rPr lang="en-US" dirty="0" smtClean="0"/>
              <a:t>A relation may be described by its name and the related attributes</a:t>
            </a:r>
          </a:p>
          <a:p>
            <a:pPr eaLnBrk="1" hangingPunct="1"/>
            <a:endParaRPr lang="en-US" dirty="0" smtClean="0"/>
          </a:p>
          <a:p>
            <a:pPr eaLnBrk="1" hangingPunct="1"/>
            <a:r>
              <a:rPr lang="en-US" dirty="0" err="1" smtClean="0"/>
              <a:t>Eg</a:t>
            </a:r>
            <a:r>
              <a:rPr lang="en-US" dirty="0" smtClean="0"/>
              <a:t> (Employee (</a:t>
            </a:r>
            <a:r>
              <a:rPr lang="en-US" dirty="0" err="1" smtClean="0"/>
              <a:t>Emp_no</a:t>
            </a:r>
            <a:r>
              <a:rPr lang="en-US" dirty="0" smtClean="0"/>
              <a:t>, </a:t>
            </a:r>
            <a:r>
              <a:rPr lang="en-US" dirty="0" err="1" smtClean="0"/>
              <a:t>Emp</a:t>
            </a:r>
            <a:r>
              <a:rPr lang="en-US" dirty="0" smtClean="0"/>
              <a:t>_ name, Age, </a:t>
            </a:r>
            <a:r>
              <a:rPr lang="en-US" dirty="0" err="1" smtClean="0"/>
              <a:t>Start_date</a:t>
            </a:r>
            <a:r>
              <a:rPr lang="en-US" dirty="0" smtClean="0"/>
              <a:t>, Address……. )</a:t>
            </a:r>
          </a:p>
        </p:txBody>
      </p:sp>
    </p:spTree>
    <p:extLst>
      <p:ext uri="{BB962C8B-B14F-4D97-AF65-F5344CB8AC3E}">
        <p14:creationId xmlns:p14="http://schemas.microsoft.com/office/powerpoint/2010/main" val="394898480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p:txBody>
          <a:bodyPr/>
          <a:lstStyle/>
          <a:p>
            <a:pPr eaLnBrk="1" hangingPunct="1"/>
            <a:r>
              <a:rPr lang="en-GB" smtClean="0"/>
              <a:t>Relational Database - Example</a:t>
            </a:r>
          </a:p>
        </p:txBody>
      </p:sp>
      <p:sp>
        <p:nvSpPr>
          <p:cNvPr id="2053" name="Rectangle 3"/>
          <p:cNvSpPr>
            <a:spLocks noGrp="1" noChangeArrowheads="1"/>
          </p:cNvSpPr>
          <p:nvPr>
            <p:ph type="body" idx="1"/>
          </p:nvPr>
        </p:nvSpPr>
        <p:spPr>
          <a:xfrm>
            <a:off x="457200" y="1524000"/>
            <a:ext cx="8229600" cy="4602163"/>
          </a:xfrm>
        </p:spPr>
        <p:txBody>
          <a:bodyPr/>
          <a:lstStyle/>
          <a:p>
            <a:pPr eaLnBrk="1" hangingPunct="1"/>
            <a:r>
              <a:rPr lang="en-GB" b="1" dirty="0" smtClean="0"/>
              <a:t>BRANCH</a:t>
            </a:r>
            <a:r>
              <a:rPr lang="en-GB" dirty="0" smtClean="0"/>
              <a:t> relation</a:t>
            </a:r>
          </a:p>
          <a:p>
            <a:pPr eaLnBrk="1" hangingPunct="1"/>
            <a:endParaRPr lang="en-GB" dirty="0" smtClean="0"/>
          </a:p>
          <a:p>
            <a:pPr eaLnBrk="1" hangingPunct="1"/>
            <a:endParaRPr lang="en-GB" dirty="0" smtClean="0"/>
          </a:p>
          <a:p>
            <a:pPr eaLnBrk="1" hangingPunct="1"/>
            <a:endParaRPr lang="en-GB" b="1" dirty="0" smtClean="0"/>
          </a:p>
          <a:p>
            <a:pPr eaLnBrk="1" hangingPunct="1"/>
            <a:r>
              <a:rPr lang="en-GB" b="1" dirty="0" smtClean="0"/>
              <a:t>STAFF</a:t>
            </a:r>
            <a:r>
              <a:rPr lang="en-GB" dirty="0" smtClean="0"/>
              <a:t> relation</a:t>
            </a:r>
            <a:endParaRPr lang="en-GB" b="1" dirty="0" smtClean="0"/>
          </a:p>
        </p:txBody>
      </p:sp>
      <p:graphicFrame>
        <p:nvGraphicFramePr>
          <p:cNvPr id="2050" name="Object 5"/>
          <p:cNvGraphicFramePr>
            <a:graphicFrameLocks noChangeAspect="1"/>
          </p:cNvGraphicFramePr>
          <p:nvPr/>
        </p:nvGraphicFramePr>
        <p:xfrm>
          <a:off x="1336675" y="4572000"/>
          <a:ext cx="5949950" cy="1524000"/>
        </p:xfrm>
        <a:graphic>
          <a:graphicData uri="http://schemas.openxmlformats.org/presentationml/2006/ole">
            <mc:AlternateContent xmlns:mc="http://schemas.openxmlformats.org/markup-compatibility/2006">
              <mc:Choice xmlns:v="urn:schemas-microsoft-com:vml" Requires="v">
                <p:oleObj spid="_x0000_s7174" name="Document" r:id="rId4" imgW="5367600" imgH="1143000" progId="Word.Document.8">
                  <p:embed/>
                </p:oleObj>
              </mc:Choice>
              <mc:Fallback>
                <p:oleObj name="Document" r:id="rId4" imgW="5367600" imgH="1143000"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6675" y="4572000"/>
                        <a:ext cx="5949950" cy="15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43"/>
          <p:cNvGrpSpPr>
            <a:grpSpLocks/>
          </p:cNvGrpSpPr>
          <p:nvPr/>
        </p:nvGrpSpPr>
        <p:grpSpPr bwMode="auto">
          <a:xfrm>
            <a:off x="1447800" y="3048000"/>
            <a:ext cx="4800600" cy="1524000"/>
            <a:chOff x="1392" y="2208"/>
            <a:chExt cx="2544" cy="672"/>
          </a:xfrm>
        </p:grpSpPr>
        <p:sp>
          <p:nvSpPr>
            <p:cNvPr id="2059" name="Line 31"/>
            <p:cNvSpPr>
              <a:spLocks noChangeShapeType="1"/>
            </p:cNvSpPr>
            <p:nvPr/>
          </p:nvSpPr>
          <p:spPr bwMode="auto">
            <a:xfrm>
              <a:off x="1392" y="2208"/>
              <a:ext cx="0" cy="240"/>
            </a:xfrm>
            <a:prstGeom prst="line">
              <a:avLst/>
            </a:prstGeom>
            <a:noFill/>
            <a:ln w="9525">
              <a:solidFill>
                <a:srgbClr val="FF0066"/>
              </a:solidFill>
              <a:round/>
              <a:headEnd type="triangle" w="med" len="med"/>
              <a:tailEnd/>
            </a:ln>
          </p:spPr>
          <p:txBody>
            <a:bodyPr/>
            <a:lstStyle/>
            <a:p>
              <a:endParaRPr lang="en-US"/>
            </a:p>
          </p:txBody>
        </p:sp>
        <p:sp>
          <p:nvSpPr>
            <p:cNvPr id="2060" name="Line 33"/>
            <p:cNvSpPr>
              <a:spLocks noChangeShapeType="1"/>
            </p:cNvSpPr>
            <p:nvPr/>
          </p:nvSpPr>
          <p:spPr bwMode="auto">
            <a:xfrm>
              <a:off x="3936" y="2448"/>
              <a:ext cx="0" cy="432"/>
            </a:xfrm>
            <a:prstGeom prst="line">
              <a:avLst/>
            </a:prstGeom>
            <a:noFill/>
            <a:ln w="9525">
              <a:solidFill>
                <a:srgbClr val="FF0066"/>
              </a:solidFill>
              <a:round/>
              <a:headEnd/>
              <a:tailEnd type="triangle" w="med" len="med"/>
            </a:ln>
          </p:spPr>
          <p:txBody>
            <a:bodyPr/>
            <a:lstStyle/>
            <a:p>
              <a:endParaRPr lang="en-US"/>
            </a:p>
          </p:txBody>
        </p:sp>
        <p:sp>
          <p:nvSpPr>
            <p:cNvPr id="2061" name="Line 32"/>
            <p:cNvSpPr>
              <a:spLocks noChangeShapeType="1"/>
            </p:cNvSpPr>
            <p:nvPr/>
          </p:nvSpPr>
          <p:spPr bwMode="auto">
            <a:xfrm>
              <a:off x="1392" y="2448"/>
              <a:ext cx="2544" cy="0"/>
            </a:xfrm>
            <a:prstGeom prst="line">
              <a:avLst/>
            </a:prstGeom>
            <a:noFill/>
            <a:ln w="9525">
              <a:solidFill>
                <a:srgbClr val="FF0066"/>
              </a:solidFill>
              <a:round/>
              <a:headEnd/>
              <a:tailEnd/>
            </a:ln>
          </p:spPr>
          <p:txBody>
            <a:bodyPr/>
            <a:lstStyle/>
            <a:p>
              <a:endParaRPr lang="en-US"/>
            </a:p>
          </p:txBody>
        </p:sp>
      </p:grpSp>
      <p:sp>
        <p:nvSpPr>
          <p:cNvPr id="138274" name="Text Box 34"/>
          <p:cNvSpPr txBox="1">
            <a:spLocks noChangeArrowheads="1"/>
          </p:cNvSpPr>
          <p:nvPr/>
        </p:nvSpPr>
        <p:spPr bwMode="auto">
          <a:xfrm>
            <a:off x="3695700" y="3620862"/>
            <a:ext cx="1752600" cy="396875"/>
          </a:xfrm>
          <a:prstGeom prst="rect">
            <a:avLst/>
          </a:prstGeom>
          <a:noFill/>
          <a:ln w="9525">
            <a:noFill/>
            <a:miter lim="800000"/>
            <a:headEnd/>
            <a:tailEnd/>
          </a:ln>
        </p:spPr>
        <p:txBody>
          <a:bodyPr>
            <a:spAutoFit/>
          </a:bodyPr>
          <a:lstStyle/>
          <a:p>
            <a:pPr>
              <a:spcBef>
                <a:spcPct val="50000"/>
              </a:spcBef>
            </a:pPr>
            <a:r>
              <a:rPr lang="en-US" dirty="0">
                <a:solidFill>
                  <a:srgbClr val="FF6600"/>
                </a:solidFill>
              </a:rPr>
              <a:t>Work In</a:t>
            </a:r>
          </a:p>
        </p:txBody>
      </p:sp>
      <p:sp>
        <p:nvSpPr>
          <p:cNvPr id="138284" name="Text Box 44"/>
          <p:cNvSpPr txBox="1">
            <a:spLocks noChangeArrowheads="1"/>
          </p:cNvSpPr>
          <p:nvPr/>
        </p:nvSpPr>
        <p:spPr bwMode="auto">
          <a:xfrm>
            <a:off x="3986212" y="3198812"/>
            <a:ext cx="1347788" cy="369332"/>
          </a:xfrm>
          <a:prstGeom prst="rect">
            <a:avLst/>
          </a:prstGeom>
          <a:noFill/>
          <a:ln w="9525">
            <a:noFill/>
            <a:miter lim="800000"/>
            <a:headEnd/>
            <a:tailEnd/>
          </a:ln>
        </p:spPr>
        <p:txBody>
          <a:bodyPr wrap="square">
            <a:spAutoFit/>
          </a:bodyPr>
          <a:lstStyle/>
          <a:p>
            <a:r>
              <a:rPr lang="en-US" dirty="0">
                <a:solidFill>
                  <a:srgbClr val="008000"/>
                </a:solidFill>
              </a:rPr>
              <a:t>Has</a:t>
            </a:r>
          </a:p>
        </p:txBody>
      </p:sp>
      <p:graphicFrame>
        <p:nvGraphicFramePr>
          <p:cNvPr id="21" name="Object 5"/>
          <p:cNvGraphicFramePr>
            <a:graphicFrameLocks noChangeAspect="1"/>
          </p:cNvGraphicFramePr>
          <p:nvPr>
            <p:extLst/>
          </p:nvPr>
        </p:nvGraphicFramePr>
        <p:xfrm>
          <a:off x="995363" y="2133600"/>
          <a:ext cx="5870575" cy="1235075"/>
        </p:xfrm>
        <a:graphic>
          <a:graphicData uri="http://schemas.openxmlformats.org/presentationml/2006/ole">
            <mc:AlternateContent xmlns:mc="http://schemas.openxmlformats.org/markup-compatibility/2006">
              <mc:Choice xmlns:v="urn:schemas-microsoft-com:vml" Requires="v">
                <p:oleObj spid="_x0000_s7175" name="Document" r:id="rId6" imgW="5364754" imgH="1143041" progId="Word.Document.8">
                  <p:embed/>
                </p:oleObj>
              </mc:Choice>
              <mc:Fallback>
                <p:oleObj name="Document" r:id="rId6" imgW="5364754" imgH="1143041" progId="Word.Document.8">
                  <p:embed/>
                  <p:pic>
                    <p:nvPicPr>
                      <p:cNvPr id="0" name=""/>
                      <p:cNvPicPr>
                        <a:picLocks noChangeAspect="1" noChangeArrowheads="1"/>
                      </p:cNvPicPr>
                      <p:nvPr/>
                    </p:nvPicPr>
                    <p:blipFill>
                      <a:blip r:embed="rId7"/>
                      <a:srcRect/>
                      <a:stretch>
                        <a:fillRect/>
                      </a:stretch>
                    </p:blipFill>
                    <p:spPr bwMode="auto">
                      <a:xfrm>
                        <a:off x="995363" y="2133600"/>
                        <a:ext cx="5870575" cy="1235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66381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8274"/>
                                        </p:tgtEl>
                                        <p:attrNameLst>
                                          <p:attrName>style.visibility</p:attrName>
                                        </p:attrNameLst>
                                      </p:cBhvr>
                                      <p:to>
                                        <p:strVal val="visible"/>
                                      </p:to>
                                    </p:set>
                                    <p:animEffect transition="in" filter="blinds(horizontal)">
                                      <p:cBhvr>
                                        <p:cTn id="12" dur="500"/>
                                        <p:tgtEl>
                                          <p:spTgt spid="13827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8284"/>
                                        </p:tgtEl>
                                        <p:attrNameLst>
                                          <p:attrName>style.visibility</p:attrName>
                                        </p:attrNameLst>
                                      </p:cBhvr>
                                      <p:to>
                                        <p:strVal val="visible"/>
                                      </p:to>
                                    </p:set>
                                    <p:animEffect transition="in" filter="blinds(horizontal)">
                                      <p:cBhvr>
                                        <p:cTn id="17" dur="500"/>
                                        <p:tgtEl>
                                          <p:spTgt spid="138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74" grpId="0"/>
      <p:bldP spid="13828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3" descr="fig02_01"/>
          <p:cNvPicPr>
            <a:picLocks noChangeAspect="1" noChangeArrowheads="1"/>
          </p:cNvPicPr>
          <p:nvPr/>
        </p:nvPicPr>
        <p:blipFill>
          <a:blip r:embed="rId2"/>
          <a:srcRect/>
          <a:stretch>
            <a:fillRect/>
          </a:stretch>
        </p:blipFill>
        <p:spPr bwMode="auto">
          <a:xfrm>
            <a:off x="1295400" y="914400"/>
            <a:ext cx="6705600" cy="5505450"/>
          </a:xfrm>
          <a:prstGeom prst="rect">
            <a:avLst/>
          </a:prstGeom>
          <a:noFill/>
          <a:ln w="9525">
            <a:noFill/>
            <a:miter lim="800000"/>
            <a:headEnd/>
            <a:tailEnd/>
          </a:ln>
        </p:spPr>
      </p:pic>
      <p:sp>
        <p:nvSpPr>
          <p:cNvPr id="28675" name="Rectangle 6"/>
          <p:cNvSpPr>
            <a:spLocks noChangeArrowheads="1"/>
          </p:cNvSpPr>
          <p:nvPr/>
        </p:nvSpPr>
        <p:spPr bwMode="auto">
          <a:xfrm>
            <a:off x="5638800" y="685800"/>
            <a:ext cx="2438400" cy="1295400"/>
          </a:xfrm>
          <a:prstGeom prst="rect">
            <a:avLst/>
          </a:prstGeom>
          <a:solidFill>
            <a:schemeClr val="bg1"/>
          </a:solidFill>
          <a:ln w="9525">
            <a:noFill/>
            <a:miter lim="800000"/>
            <a:headEnd/>
            <a:tailEnd/>
          </a:ln>
        </p:spPr>
        <p:txBody>
          <a:bodyPr wrap="none" anchor="ctr"/>
          <a:lstStyle/>
          <a:p>
            <a:endParaRPr lang="en-US"/>
          </a:p>
        </p:txBody>
      </p:sp>
      <p:grpSp>
        <p:nvGrpSpPr>
          <p:cNvPr id="2" name="Group 15"/>
          <p:cNvGrpSpPr>
            <a:grpSpLocks/>
          </p:cNvGrpSpPr>
          <p:nvPr/>
        </p:nvGrpSpPr>
        <p:grpSpPr bwMode="auto">
          <a:xfrm>
            <a:off x="2209800" y="609600"/>
            <a:ext cx="6172200" cy="5943600"/>
            <a:chOff x="1392" y="384"/>
            <a:chExt cx="3888" cy="3744"/>
          </a:xfrm>
        </p:grpSpPr>
        <p:grpSp>
          <p:nvGrpSpPr>
            <p:cNvPr id="3" name="Group 13"/>
            <p:cNvGrpSpPr>
              <a:grpSpLocks/>
            </p:cNvGrpSpPr>
            <p:nvPr/>
          </p:nvGrpSpPr>
          <p:grpSpPr bwMode="auto">
            <a:xfrm>
              <a:off x="1392" y="624"/>
              <a:ext cx="3888" cy="3504"/>
              <a:chOff x="1392" y="624"/>
              <a:chExt cx="3888" cy="3504"/>
            </a:xfrm>
          </p:grpSpPr>
          <p:sp>
            <p:nvSpPr>
              <p:cNvPr id="28692" name="Line 7"/>
              <p:cNvSpPr>
                <a:spLocks noChangeShapeType="1"/>
              </p:cNvSpPr>
              <p:nvPr/>
            </p:nvSpPr>
            <p:spPr bwMode="auto">
              <a:xfrm>
                <a:off x="1392" y="4032"/>
                <a:ext cx="0" cy="96"/>
              </a:xfrm>
              <a:prstGeom prst="line">
                <a:avLst/>
              </a:prstGeom>
              <a:noFill/>
              <a:ln w="9525">
                <a:solidFill>
                  <a:srgbClr val="3333CC"/>
                </a:solidFill>
                <a:round/>
                <a:headEnd/>
                <a:tailEnd/>
              </a:ln>
            </p:spPr>
            <p:txBody>
              <a:bodyPr/>
              <a:lstStyle/>
              <a:p>
                <a:endParaRPr lang="en-US"/>
              </a:p>
            </p:txBody>
          </p:sp>
          <p:sp>
            <p:nvSpPr>
              <p:cNvPr id="28693" name="Line 8"/>
              <p:cNvSpPr>
                <a:spLocks noChangeShapeType="1"/>
              </p:cNvSpPr>
              <p:nvPr/>
            </p:nvSpPr>
            <p:spPr bwMode="auto">
              <a:xfrm>
                <a:off x="1392" y="4128"/>
                <a:ext cx="3888" cy="0"/>
              </a:xfrm>
              <a:prstGeom prst="line">
                <a:avLst/>
              </a:prstGeom>
              <a:noFill/>
              <a:ln w="9525">
                <a:solidFill>
                  <a:srgbClr val="3333CC"/>
                </a:solidFill>
                <a:round/>
                <a:headEnd/>
                <a:tailEnd/>
              </a:ln>
            </p:spPr>
            <p:txBody>
              <a:bodyPr/>
              <a:lstStyle/>
              <a:p>
                <a:endParaRPr lang="en-US"/>
              </a:p>
            </p:txBody>
          </p:sp>
          <p:sp>
            <p:nvSpPr>
              <p:cNvPr id="28694" name="Line 9"/>
              <p:cNvSpPr>
                <a:spLocks noChangeShapeType="1"/>
              </p:cNvSpPr>
              <p:nvPr/>
            </p:nvSpPr>
            <p:spPr bwMode="auto">
              <a:xfrm flipV="1">
                <a:off x="5280" y="624"/>
                <a:ext cx="0" cy="3504"/>
              </a:xfrm>
              <a:prstGeom prst="line">
                <a:avLst/>
              </a:prstGeom>
              <a:noFill/>
              <a:ln w="9525">
                <a:solidFill>
                  <a:srgbClr val="3333CC"/>
                </a:solidFill>
                <a:round/>
                <a:headEnd/>
                <a:tailEnd/>
              </a:ln>
            </p:spPr>
            <p:txBody>
              <a:bodyPr/>
              <a:lstStyle/>
              <a:p>
                <a:endParaRPr lang="en-US"/>
              </a:p>
            </p:txBody>
          </p:sp>
          <p:sp>
            <p:nvSpPr>
              <p:cNvPr id="28695" name="Line 10"/>
              <p:cNvSpPr>
                <a:spLocks noChangeShapeType="1"/>
              </p:cNvSpPr>
              <p:nvPr/>
            </p:nvSpPr>
            <p:spPr bwMode="auto">
              <a:xfrm flipH="1" flipV="1">
                <a:off x="1632" y="624"/>
                <a:ext cx="3648" cy="0"/>
              </a:xfrm>
              <a:prstGeom prst="line">
                <a:avLst/>
              </a:prstGeom>
              <a:noFill/>
              <a:ln w="9525">
                <a:solidFill>
                  <a:srgbClr val="3333CC"/>
                </a:solidFill>
                <a:round/>
                <a:headEnd/>
                <a:tailEnd/>
              </a:ln>
            </p:spPr>
            <p:txBody>
              <a:bodyPr/>
              <a:lstStyle/>
              <a:p>
                <a:endParaRPr lang="en-US"/>
              </a:p>
            </p:txBody>
          </p:sp>
          <p:sp>
            <p:nvSpPr>
              <p:cNvPr id="28696" name="Line 12"/>
              <p:cNvSpPr>
                <a:spLocks noChangeShapeType="1"/>
              </p:cNvSpPr>
              <p:nvPr/>
            </p:nvSpPr>
            <p:spPr bwMode="auto">
              <a:xfrm>
                <a:off x="1632" y="624"/>
                <a:ext cx="0" cy="144"/>
              </a:xfrm>
              <a:prstGeom prst="line">
                <a:avLst/>
              </a:prstGeom>
              <a:noFill/>
              <a:ln w="9525">
                <a:solidFill>
                  <a:srgbClr val="3333CC"/>
                </a:solidFill>
                <a:round/>
                <a:headEnd/>
                <a:tailEnd type="triangle" w="med" len="med"/>
              </a:ln>
            </p:spPr>
            <p:txBody>
              <a:bodyPr/>
              <a:lstStyle/>
              <a:p>
                <a:endParaRPr lang="en-US"/>
              </a:p>
            </p:txBody>
          </p:sp>
        </p:grpSp>
        <p:sp>
          <p:nvSpPr>
            <p:cNvPr id="28691" name="Text Box 14"/>
            <p:cNvSpPr txBox="1">
              <a:spLocks noChangeArrowheads="1"/>
            </p:cNvSpPr>
            <p:nvPr/>
          </p:nvSpPr>
          <p:spPr bwMode="auto">
            <a:xfrm>
              <a:off x="4128" y="384"/>
              <a:ext cx="587" cy="250"/>
            </a:xfrm>
            <a:prstGeom prst="rect">
              <a:avLst/>
            </a:prstGeom>
            <a:noFill/>
            <a:ln w="9525">
              <a:noFill/>
              <a:miter lim="800000"/>
              <a:headEnd/>
              <a:tailEnd/>
            </a:ln>
          </p:spPr>
          <p:txBody>
            <a:bodyPr wrap="none">
              <a:spAutoFit/>
            </a:bodyPr>
            <a:lstStyle/>
            <a:p>
              <a:r>
                <a:rPr lang="en-US">
                  <a:solidFill>
                    <a:srgbClr val="3333CC"/>
                  </a:solidFill>
                </a:rPr>
                <a:t>Exists</a:t>
              </a:r>
            </a:p>
          </p:txBody>
        </p:sp>
      </p:grpSp>
      <p:grpSp>
        <p:nvGrpSpPr>
          <p:cNvPr id="4" name="Group 29"/>
          <p:cNvGrpSpPr>
            <a:grpSpLocks/>
          </p:cNvGrpSpPr>
          <p:nvPr/>
        </p:nvGrpSpPr>
        <p:grpSpPr bwMode="auto">
          <a:xfrm>
            <a:off x="2590800" y="2819400"/>
            <a:ext cx="1016000" cy="762000"/>
            <a:chOff x="1632" y="1776"/>
            <a:chExt cx="640" cy="480"/>
          </a:xfrm>
        </p:grpSpPr>
        <p:sp>
          <p:nvSpPr>
            <p:cNvPr id="28688" name="Line 16"/>
            <p:cNvSpPr>
              <a:spLocks noChangeShapeType="1"/>
            </p:cNvSpPr>
            <p:nvPr/>
          </p:nvSpPr>
          <p:spPr bwMode="auto">
            <a:xfrm flipH="1">
              <a:off x="1632" y="1776"/>
              <a:ext cx="336" cy="480"/>
            </a:xfrm>
            <a:prstGeom prst="line">
              <a:avLst/>
            </a:prstGeom>
            <a:noFill/>
            <a:ln w="9525">
              <a:solidFill>
                <a:srgbClr val="3333CC"/>
              </a:solidFill>
              <a:round/>
              <a:headEnd type="triangle" w="med" len="med"/>
              <a:tailEnd/>
            </a:ln>
          </p:spPr>
          <p:txBody>
            <a:bodyPr/>
            <a:lstStyle/>
            <a:p>
              <a:endParaRPr lang="en-US"/>
            </a:p>
          </p:txBody>
        </p:sp>
        <p:sp>
          <p:nvSpPr>
            <p:cNvPr id="28689" name="Text Box 17"/>
            <p:cNvSpPr txBox="1">
              <a:spLocks noChangeArrowheads="1"/>
            </p:cNvSpPr>
            <p:nvPr/>
          </p:nvSpPr>
          <p:spPr bwMode="auto">
            <a:xfrm>
              <a:off x="1862" y="1879"/>
              <a:ext cx="410" cy="250"/>
            </a:xfrm>
            <a:prstGeom prst="rect">
              <a:avLst/>
            </a:prstGeom>
            <a:noFill/>
            <a:ln w="9525">
              <a:noFill/>
              <a:miter lim="800000"/>
              <a:headEnd/>
              <a:tailEnd/>
            </a:ln>
          </p:spPr>
          <p:txBody>
            <a:bodyPr wrap="none">
              <a:spAutoFit/>
            </a:bodyPr>
            <a:lstStyle/>
            <a:p>
              <a:r>
                <a:rPr lang="en-US">
                  <a:solidFill>
                    <a:srgbClr val="3333CC"/>
                  </a:solidFill>
                </a:rPr>
                <a:t>Has</a:t>
              </a:r>
            </a:p>
          </p:txBody>
        </p:sp>
      </p:grpSp>
      <p:grpSp>
        <p:nvGrpSpPr>
          <p:cNvPr id="5" name="Group 30"/>
          <p:cNvGrpSpPr>
            <a:grpSpLocks/>
          </p:cNvGrpSpPr>
          <p:nvPr/>
        </p:nvGrpSpPr>
        <p:grpSpPr bwMode="auto">
          <a:xfrm>
            <a:off x="3581400" y="2833688"/>
            <a:ext cx="1930400" cy="1905000"/>
            <a:chOff x="2256" y="1824"/>
            <a:chExt cx="1216" cy="1200"/>
          </a:xfrm>
        </p:grpSpPr>
        <p:sp>
          <p:nvSpPr>
            <p:cNvPr id="28682" name="Line 19"/>
            <p:cNvSpPr>
              <a:spLocks noChangeShapeType="1"/>
            </p:cNvSpPr>
            <p:nvPr/>
          </p:nvSpPr>
          <p:spPr bwMode="auto">
            <a:xfrm>
              <a:off x="2400" y="1824"/>
              <a:ext cx="0" cy="144"/>
            </a:xfrm>
            <a:prstGeom prst="line">
              <a:avLst/>
            </a:prstGeom>
            <a:noFill/>
            <a:ln w="9525">
              <a:solidFill>
                <a:srgbClr val="3333CC"/>
              </a:solidFill>
              <a:round/>
              <a:headEnd type="triangle" w="med" len="med"/>
              <a:tailEnd/>
            </a:ln>
          </p:spPr>
          <p:txBody>
            <a:bodyPr/>
            <a:lstStyle/>
            <a:p>
              <a:endParaRPr lang="en-US"/>
            </a:p>
          </p:txBody>
        </p:sp>
        <p:sp>
          <p:nvSpPr>
            <p:cNvPr id="28683" name="Line 20"/>
            <p:cNvSpPr>
              <a:spLocks noChangeShapeType="1"/>
            </p:cNvSpPr>
            <p:nvPr/>
          </p:nvSpPr>
          <p:spPr bwMode="auto">
            <a:xfrm>
              <a:off x="2400" y="1968"/>
              <a:ext cx="624" cy="0"/>
            </a:xfrm>
            <a:prstGeom prst="line">
              <a:avLst/>
            </a:prstGeom>
            <a:noFill/>
            <a:ln w="9525">
              <a:solidFill>
                <a:srgbClr val="3333CC"/>
              </a:solidFill>
              <a:round/>
              <a:headEnd/>
              <a:tailEnd/>
            </a:ln>
          </p:spPr>
          <p:txBody>
            <a:bodyPr/>
            <a:lstStyle/>
            <a:p>
              <a:endParaRPr lang="en-US"/>
            </a:p>
          </p:txBody>
        </p:sp>
        <p:sp>
          <p:nvSpPr>
            <p:cNvPr id="28684" name="Line 21"/>
            <p:cNvSpPr>
              <a:spLocks noChangeShapeType="1"/>
            </p:cNvSpPr>
            <p:nvPr/>
          </p:nvSpPr>
          <p:spPr bwMode="auto">
            <a:xfrm>
              <a:off x="3024" y="1968"/>
              <a:ext cx="0" cy="816"/>
            </a:xfrm>
            <a:prstGeom prst="line">
              <a:avLst/>
            </a:prstGeom>
            <a:noFill/>
            <a:ln w="9525">
              <a:solidFill>
                <a:srgbClr val="3333CC"/>
              </a:solidFill>
              <a:round/>
              <a:headEnd/>
              <a:tailEnd/>
            </a:ln>
          </p:spPr>
          <p:txBody>
            <a:bodyPr/>
            <a:lstStyle/>
            <a:p>
              <a:endParaRPr lang="en-US"/>
            </a:p>
          </p:txBody>
        </p:sp>
        <p:sp>
          <p:nvSpPr>
            <p:cNvPr id="28685" name="Line 22"/>
            <p:cNvSpPr>
              <a:spLocks noChangeShapeType="1"/>
            </p:cNvSpPr>
            <p:nvPr/>
          </p:nvSpPr>
          <p:spPr bwMode="auto">
            <a:xfrm>
              <a:off x="2256" y="2784"/>
              <a:ext cx="768" cy="0"/>
            </a:xfrm>
            <a:prstGeom prst="line">
              <a:avLst/>
            </a:prstGeom>
            <a:noFill/>
            <a:ln w="9525">
              <a:solidFill>
                <a:srgbClr val="3333CC"/>
              </a:solidFill>
              <a:round/>
              <a:headEnd/>
              <a:tailEnd/>
            </a:ln>
          </p:spPr>
          <p:txBody>
            <a:bodyPr/>
            <a:lstStyle/>
            <a:p>
              <a:endParaRPr lang="en-US"/>
            </a:p>
          </p:txBody>
        </p:sp>
        <p:sp>
          <p:nvSpPr>
            <p:cNvPr id="28686" name="Line 26"/>
            <p:cNvSpPr>
              <a:spLocks noChangeShapeType="1"/>
            </p:cNvSpPr>
            <p:nvPr/>
          </p:nvSpPr>
          <p:spPr bwMode="auto">
            <a:xfrm>
              <a:off x="2256" y="2784"/>
              <a:ext cx="0" cy="240"/>
            </a:xfrm>
            <a:prstGeom prst="line">
              <a:avLst/>
            </a:prstGeom>
            <a:noFill/>
            <a:ln w="9525">
              <a:solidFill>
                <a:srgbClr val="3333CC"/>
              </a:solidFill>
              <a:round/>
              <a:headEnd/>
              <a:tailEnd/>
            </a:ln>
          </p:spPr>
          <p:txBody>
            <a:bodyPr/>
            <a:lstStyle/>
            <a:p>
              <a:endParaRPr lang="en-US"/>
            </a:p>
          </p:txBody>
        </p:sp>
        <p:sp>
          <p:nvSpPr>
            <p:cNvPr id="28687" name="Text Box 28"/>
            <p:cNvSpPr txBox="1">
              <a:spLocks noChangeArrowheads="1"/>
            </p:cNvSpPr>
            <p:nvPr/>
          </p:nvSpPr>
          <p:spPr bwMode="auto">
            <a:xfrm>
              <a:off x="3062" y="2071"/>
              <a:ext cx="410" cy="250"/>
            </a:xfrm>
            <a:prstGeom prst="rect">
              <a:avLst/>
            </a:prstGeom>
            <a:noFill/>
            <a:ln w="9525">
              <a:noFill/>
              <a:miter lim="800000"/>
              <a:headEnd/>
              <a:tailEnd/>
            </a:ln>
          </p:spPr>
          <p:txBody>
            <a:bodyPr wrap="none">
              <a:spAutoFit/>
            </a:bodyPr>
            <a:lstStyle/>
            <a:p>
              <a:r>
                <a:rPr lang="en-US">
                  <a:solidFill>
                    <a:srgbClr val="3333CC"/>
                  </a:solidFill>
                </a:rPr>
                <a:t>Has</a:t>
              </a:r>
            </a:p>
          </p:txBody>
        </p:sp>
      </p:grpSp>
      <p:grpSp>
        <p:nvGrpSpPr>
          <p:cNvPr id="6" name="Group 40"/>
          <p:cNvGrpSpPr>
            <a:grpSpLocks/>
          </p:cNvGrpSpPr>
          <p:nvPr/>
        </p:nvGrpSpPr>
        <p:grpSpPr bwMode="auto">
          <a:xfrm>
            <a:off x="2286000" y="5257800"/>
            <a:ext cx="1431925" cy="685800"/>
            <a:chOff x="1440" y="3312"/>
            <a:chExt cx="902" cy="432"/>
          </a:xfrm>
        </p:grpSpPr>
        <p:sp>
          <p:nvSpPr>
            <p:cNvPr id="28680" name="Line 31"/>
            <p:cNvSpPr>
              <a:spLocks noChangeShapeType="1"/>
            </p:cNvSpPr>
            <p:nvPr/>
          </p:nvSpPr>
          <p:spPr bwMode="auto">
            <a:xfrm flipH="1" flipV="1">
              <a:off x="1440" y="3312"/>
              <a:ext cx="768" cy="432"/>
            </a:xfrm>
            <a:prstGeom prst="line">
              <a:avLst/>
            </a:prstGeom>
            <a:noFill/>
            <a:ln w="9525">
              <a:solidFill>
                <a:srgbClr val="3333CC"/>
              </a:solidFill>
              <a:round/>
              <a:headEnd/>
              <a:tailEnd type="triangle" w="med" len="med"/>
            </a:ln>
          </p:spPr>
          <p:txBody>
            <a:bodyPr/>
            <a:lstStyle/>
            <a:p>
              <a:endParaRPr lang="en-US"/>
            </a:p>
          </p:txBody>
        </p:sp>
        <p:sp>
          <p:nvSpPr>
            <p:cNvPr id="28681" name="Text Box 39"/>
            <p:cNvSpPr txBox="1">
              <a:spLocks noChangeArrowheads="1"/>
            </p:cNvSpPr>
            <p:nvPr/>
          </p:nvSpPr>
          <p:spPr bwMode="auto">
            <a:xfrm>
              <a:off x="1932" y="3408"/>
              <a:ext cx="410" cy="250"/>
            </a:xfrm>
            <a:prstGeom prst="rect">
              <a:avLst/>
            </a:prstGeom>
            <a:noFill/>
            <a:ln w="9525">
              <a:noFill/>
              <a:miter lim="800000"/>
              <a:headEnd/>
              <a:tailEnd/>
            </a:ln>
          </p:spPr>
          <p:txBody>
            <a:bodyPr wrap="none">
              <a:spAutoFit/>
            </a:bodyPr>
            <a:lstStyle/>
            <a:p>
              <a:r>
                <a:rPr lang="en-US">
                  <a:solidFill>
                    <a:srgbClr val="3333CC"/>
                  </a:solidFill>
                </a:rPr>
                <a:t>Has</a:t>
              </a:r>
            </a:p>
          </p:txBody>
        </p:sp>
      </p:grpSp>
    </p:spTree>
    <p:extLst>
      <p:ext uri="{BB962C8B-B14F-4D97-AF65-F5344CB8AC3E}">
        <p14:creationId xmlns:p14="http://schemas.microsoft.com/office/powerpoint/2010/main" val="588409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sz="3600" smtClean="0"/>
              <a:t>Features of Relational DBMS</a:t>
            </a:r>
          </a:p>
        </p:txBody>
      </p:sp>
      <p:sp>
        <p:nvSpPr>
          <p:cNvPr id="29699" name="Rectangle 3"/>
          <p:cNvSpPr>
            <a:spLocks noGrp="1" noChangeArrowheads="1"/>
          </p:cNvSpPr>
          <p:nvPr>
            <p:ph type="body" idx="1"/>
          </p:nvPr>
        </p:nvSpPr>
        <p:spPr/>
        <p:txBody>
          <a:bodyPr>
            <a:normAutofit fontScale="92500" lnSpcReduction="20000"/>
          </a:bodyPr>
          <a:lstStyle/>
          <a:p>
            <a:pPr eaLnBrk="1" hangingPunct="1"/>
            <a:r>
              <a:rPr lang="en-US" smtClean="0"/>
              <a:t>2-D tables </a:t>
            </a:r>
            <a:r>
              <a:rPr lang="en-US" sz="2000" smtClean="0">
                <a:solidFill>
                  <a:srgbClr val="FF6600"/>
                </a:solidFill>
              </a:rPr>
              <a:t>(rows and columns representing records/tuples and fields/attributes)</a:t>
            </a:r>
          </a:p>
          <a:p>
            <a:pPr eaLnBrk="1" hangingPunct="1"/>
            <a:endParaRPr lang="en-US" sz="2000" smtClean="0">
              <a:solidFill>
                <a:srgbClr val="FF6600"/>
              </a:solidFill>
            </a:endParaRPr>
          </a:p>
          <a:p>
            <a:pPr eaLnBrk="1" hangingPunct="1"/>
            <a:r>
              <a:rPr lang="en-US" smtClean="0">
                <a:solidFill>
                  <a:schemeClr val="tx1"/>
                </a:solidFill>
              </a:rPr>
              <a:t>Dynamic links among tables</a:t>
            </a:r>
          </a:p>
          <a:p>
            <a:pPr eaLnBrk="1" hangingPunct="1"/>
            <a:endParaRPr lang="en-US" smtClean="0">
              <a:solidFill>
                <a:schemeClr val="tx1"/>
              </a:solidFill>
            </a:endParaRPr>
          </a:p>
          <a:p>
            <a:pPr eaLnBrk="1" hangingPunct="1"/>
            <a:r>
              <a:rPr lang="en-US" smtClean="0">
                <a:solidFill>
                  <a:schemeClr val="tx1"/>
                </a:solidFill>
              </a:rPr>
              <a:t>Easy and flexible to design and use</a:t>
            </a:r>
          </a:p>
          <a:p>
            <a:pPr eaLnBrk="1" hangingPunct="1"/>
            <a:endParaRPr lang="en-US" smtClean="0">
              <a:solidFill>
                <a:schemeClr val="tx1"/>
              </a:solidFill>
            </a:endParaRPr>
          </a:p>
          <a:p>
            <a:pPr eaLnBrk="1" hangingPunct="1"/>
            <a:r>
              <a:rPr lang="en-US" smtClean="0">
                <a:solidFill>
                  <a:schemeClr val="tx1"/>
                </a:solidFill>
              </a:rPr>
              <a:t>Data independence</a:t>
            </a:r>
          </a:p>
          <a:p>
            <a:pPr eaLnBrk="1" hangingPunct="1"/>
            <a:endParaRPr lang="en-US" smtClean="0">
              <a:solidFill>
                <a:schemeClr val="tx1"/>
              </a:solidFill>
            </a:endParaRPr>
          </a:p>
          <a:p>
            <a:pPr eaLnBrk="1" hangingPunct="1"/>
            <a:r>
              <a:rPr lang="en-US" smtClean="0">
                <a:solidFill>
                  <a:schemeClr val="tx1"/>
                </a:solidFill>
              </a:rPr>
              <a:t>Generic manipulation language (SQL)</a:t>
            </a:r>
          </a:p>
        </p:txBody>
      </p:sp>
    </p:spTree>
    <p:extLst>
      <p:ext uri="{BB962C8B-B14F-4D97-AF65-F5344CB8AC3E}">
        <p14:creationId xmlns:p14="http://schemas.microsoft.com/office/powerpoint/2010/main" val="196448369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A205F43-80E2-4640-A934-E79BFFCB5CAF}" type="slidenum">
              <a:rPr lang="en-US" smtClean="0"/>
              <a:pPr/>
              <a:t>23</a:t>
            </a:fld>
            <a:endParaRPr lang="en-US" dirty="0"/>
          </a:p>
        </p:txBody>
      </p:sp>
      <p:sp>
        <p:nvSpPr>
          <p:cNvPr id="8" name="Subtitle 7"/>
          <p:cNvSpPr>
            <a:spLocks noGrp="1"/>
          </p:cNvSpPr>
          <p:nvPr>
            <p:ph type="subTitle" idx="1"/>
          </p:nvPr>
        </p:nvSpPr>
        <p:spPr/>
        <p:txBody>
          <a:bodyPr/>
          <a:lstStyle/>
          <a:p>
            <a:endParaRPr lang="en-US"/>
          </a:p>
        </p:txBody>
      </p:sp>
      <p:sp>
        <p:nvSpPr>
          <p:cNvPr id="7" name="Title 6"/>
          <p:cNvSpPr>
            <a:spLocks noGrp="1"/>
          </p:cNvSpPr>
          <p:nvPr>
            <p:ph type="ctrTitle"/>
          </p:nvPr>
        </p:nvSpPr>
        <p:spPr/>
        <p:txBody>
          <a:bodyPr/>
          <a:lstStyle/>
          <a:p>
            <a:r>
              <a:rPr lang="en-US" dirty="0" smtClean="0"/>
              <a:t>Questions?</a:t>
            </a:r>
            <a:endParaRPr lang="en-US" dirty="0"/>
          </a:p>
        </p:txBody>
      </p:sp>
    </p:spTree>
    <p:extLst>
      <p:ext uri="{BB962C8B-B14F-4D97-AF65-F5344CB8AC3E}">
        <p14:creationId xmlns:p14="http://schemas.microsoft.com/office/powerpoint/2010/main" val="3044622407"/>
      </p:ext>
    </p:extLst>
  </p:cSld>
  <p:clrMapOvr>
    <a:masterClrMapping/>
  </p:clrMapOvr>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7D6EB70-AC5D-4C93-8EC9-DDBA92A97C78}" vid="{AD4A3A70-3E62-4EFF-A645-92967231B92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853</TotalTime>
  <Words>896</Words>
  <Application>Microsoft Office PowerPoint</Application>
  <PresentationFormat>On-screen Show (4:3)</PresentationFormat>
  <Paragraphs>133</Paragraphs>
  <Slides>23</Slides>
  <Notes>4</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23</vt:i4>
      </vt:variant>
    </vt:vector>
  </HeadingPairs>
  <TitlesOfParts>
    <vt:vector size="31" baseType="lpstr">
      <vt:lpstr>Arial</vt:lpstr>
      <vt:lpstr>Calibri</vt:lpstr>
      <vt:lpstr>Latha</vt:lpstr>
      <vt:lpstr>Times New Roman</vt:lpstr>
      <vt:lpstr>Wingdings</vt:lpstr>
      <vt:lpstr>HNDIT</vt:lpstr>
      <vt:lpstr>1_HNDIT</vt:lpstr>
      <vt:lpstr>Document</vt:lpstr>
      <vt:lpstr>HNDIT 1105  DBMS</vt:lpstr>
      <vt:lpstr>Database architecture</vt:lpstr>
      <vt:lpstr>Database Architecture</vt:lpstr>
      <vt:lpstr>Database Architecture</vt:lpstr>
      <vt:lpstr>Two tier client server architecture </vt:lpstr>
      <vt:lpstr>Three tier client server architecture</vt:lpstr>
      <vt:lpstr>A simplified database system environment </vt:lpstr>
      <vt:lpstr>Data Models</vt:lpstr>
      <vt:lpstr>Database  (Implementation) Models</vt:lpstr>
      <vt:lpstr>Hierarchical Model</vt:lpstr>
      <vt:lpstr>Hierarchical Model</vt:lpstr>
      <vt:lpstr>Hierarchical Model Advantages</vt:lpstr>
      <vt:lpstr>Hierarchical Model Disadvantages</vt:lpstr>
      <vt:lpstr>Network Model</vt:lpstr>
      <vt:lpstr>Network Model</vt:lpstr>
      <vt:lpstr>Network Model Advantages</vt:lpstr>
      <vt:lpstr>Network Model Disadvantages</vt:lpstr>
      <vt:lpstr>Relational Model</vt:lpstr>
      <vt:lpstr>“Relations”</vt:lpstr>
      <vt:lpstr>Relational Database - Example</vt:lpstr>
      <vt:lpstr>PowerPoint Presentation</vt:lpstr>
      <vt:lpstr>Features of Relational DBMS</vt:lpstr>
      <vt:lpstr>Questions?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Asus X55</dc:creator>
  <cp:lastModifiedBy>SRI SETHUPARAN</cp:lastModifiedBy>
  <cp:revision>135</cp:revision>
  <dcterms:created xsi:type="dcterms:W3CDTF">2014-03-07T13:02:25Z</dcterms:created>
  <dcterms:modified xsi:type="dcterms:W3CDTF">2018-06-03T05:36:38Z</dcterms:modified>
</cp:coreProperties>
</file>