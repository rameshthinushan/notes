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4"/>
  </p:notesMasterIdLst>
  <p:sldIdLst>
    <p:sldId id="370" r:id="rId3"/>
    <p:sldId id="372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386" r:id="rId18"/>
    <p:sldId id="387" r:id="rId19"/>
    <p:sldId id="388" r:id="rId20"/>
    <p:sldId id="389" r:id="rId21"/>
    <p:sldId id="390" r:id="rId22"/>
    <p:sldId id="303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61950"/>
            <a:ext cx="6324600" cy="7048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295400"/>
            <a:ext cx="8686800" cy="51816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xmlns="" val="214933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7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ER-Relational Mapping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Times New Roman"/>
                <a:ea typeface="Calibri"/>
                <a:cs typeface="Latha"/>
              </a:rPr>
              <a:t>HNDIT 1105 </a:t>
            </a:r>
            <a:r>
              <a:rPr lang="en-US" dirty="0" smtClean="0">
                <a:ea typeface="Calibri"/>
                <a:cs typeface="Latha"/>
              </a:rPr>
              <a:t/>
            </a:r>
            <a:br>
              <a:rPr lang="en-US" dirty="0" smtClean="0">
                <a:ea typeface="Calibri"/>
                <a:cs typeface="Latha"/>
              </a:rPr>
            </a:br>
            <a:r>
              <a:rPr lang="en-US" dirty="0" smtClean="0">
                <a:ea typeface="Calibri"/>
                <a:cs typeface="Latha"/>
              </a:rPr>
              <a:t>DBMS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696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ER to Relational Mapping…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371600"/>
            <a:ext cx="8686800" cy="5181600"/>
          </a:xfrm>
        </p:spPr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In the Database Design process, we firstly derive a </a:t>
            </a:r>
            <a:r>
              <a:rPr lang="en-US" sz="2400" smtClean="0">
                <a:solidFill>
                  <a:srgbClr val="FF0066"/>
                </a:solidFill>
              </a:rPr>
              <a:t>conceptual model</a:t>
            </a:r>
            <a:r>
              <a:rPr lang="en-US" sz="2400" smtClean="0"/>
              <a:t> (ER Diagram)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This model needs to be mapped to the </a:t>
            </a:r>
            <a:r>
              <a:rPr lang="en-US" sz="2400" smtClean="0">
                <a:solidFill>
                  <a:srgbClr val="008000"/>
                </a:solidFill>
              </a:rPr>
              <a:t>relational model</a:t>
            </a:r>
            <a:r>
              <a:rPr lang="en-US" sz="2400" smtClean="0"/>
              <a:t> in order to be implemented using a relational DBMS (RDBMS)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This section discusses the rules that can be used for this process…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58763"/>
            <a:ext cx="7772400" cy="766762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新細明體" charset="-120"/>
              </a:rPr>
              <a:t>Model Mapping 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81100"/>
            <a:ext cx="7772400" cy="52959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>
                <a:ea typeface="新細明體" charset="-120"/>
              </a:rPr>
              <a:t>Moving from </a:t>
            </a:r>
            <a:r>
              <a:rPr lang="en-US" altLang="zh-TW" smtClean="0">
                <a:solidFill>
                  <a:srgbClr val="CC0000"/>
                </a:solidFill>
                <a:ea typeface="新細明體" charset="-120"/>
              </a:rPr>
              <a:t>Conceptual (ER)</a:t>
            </a:r>
            <a:r>
              <a:rPr lang="en-US" altLang="zh-TW" smtClean="0">
                <a:ea typeface="新細明體" charset="-120"/>
              </a:rPr>
              <a:t> to lower level </a:t>
            </a:r>
            <a:r>
              <a:rPr lang="en-US" altLang="zh-TW" smtClean="0">
                <a:solidFill>
                  <a:srgbClr val="CC0000"/>
                </a:solidFill>
                <a:ea typeface="新細明體" charset="-120"/>
              </a:rPr>
              <a:t>Logical Model (Relational)</a:t>
            </a:r>
          </a:p>
          <a:p>
            <a:pPr eaLnBrk="1" hangingPunct="1">
              <a:lnSpc>
                <a:spcPct val="90000"/>
              </a:lnSpc>
            </a:pPr>
            <a:endParaRPr lang="en-US" altLang="zh-TW" smtClean="0">
              <a:solidFill>
                <a:srgbClr val="CC0000"/>
              </a:solidFill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mtClean="0">
                <a:ea typeface="新細明體" charset="-120"/>
              </a:rPr>
              <a:t>ER is independent of the details of the implementation (relational, network or OO)_</a:t>
            </a:r>
          </a:p>
          <a:p>
            <a:pPr eaLnBrk="1" hangingPunct="1">
              <a:lnSpc>
                <a:spcPct val="90000"/>
              </a:lnSpc>
            </a:pPr>
            <a:endParaRPr lang="en-US" altLang="zh-TW" smtClean="0"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mtClean="0">
                <a:ea typeface="新細明體" charset="-120"/>
              </a:rPr>
              <a:t>Logical model begins to introduce issues specific to implementations (as realtional tables)</a:t>
            </a:r>
          </a:p>
          <a:p>
            <a:pPr eaLnBrk="1" hangingPunct="1">
              <a:lnSpc>
                <a:spcPct val="90000"/>
              </a:lnSpc>
            </a:pPr>
            <a:endParaRPr lang="en-US" altLang="zh-TW" smtClean="0"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mtClean="0">
                <a:ea typeface="新細明體" charset="-120"/>
              </a:rPr>
              <a:t>Any such conversion is called a </a:t>
            </a:r>
            <a:r>
              <a:rPr lang="en-US" altLang="zh-TW" smtClean="0">
                <a:latin typeface="Times New Roman" pitchFamily="18" charset="0"/>
                <a:ea typeface="新細明體" charset="-120"/>
              </a:rPr>
              <a:t>“</a:t>
            </a:r>
            <a:r>
              <a:rPr lang="en-US" altLang="zh-TW" smtClean="0">
                <a:ea typeface="新細明體" charset="-120"/>
              </a:rPr>
              <a:t>schema mapping</a:t>
            </a:r>
            <a:r>
              <a:rPr lang="en-US" altLang="zh-TW" smtClean="0">
                <a:latin typeface="Times New Roman" pitchFamily="18" charset="0"/>
                <a:ea typeface="新細明體" charset="-120"/>
              </a:rPr>
              <a:t>”</a:t>
            </a:r>
            <a:r>
              <a:rPr lang="en-US" altLang="zh-TW" smtClean="0">
                <a:ea typeface="新細明體" charset="-12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Core Concepts (Review)</a:t>
            </a:r>
          </a:p>
        </p:txBody>
      </p:sp>
      <p:graphicFrame>
        <p:nvGraphicFramePr>
          <p:cNvPr id="363569" name="Group 49"/>
          <p:cNvGraphicFramePr>
            <a:graphicFrameLocks noGrp="1"/>
          </p:cNvGraphicFramePr>
          <p:nvPr>
            <p:ph idx="1"/>
          </p:nvPr>
        </p:nvGraphicFramePr>
        <p:xfrm>
          <a:off x="838200" y="1600200"/>
          <a:ext cx="7467600" cy="5016501"/>
        </p:xfrm>
        <a:graphic>
          <a:graphicData uri="http://schemas.openxmlformats.org/drawingml/2006/table">
            <a:tbl>
              <a:tblPr/>
              <a:tblGrid>
                <a:gridCol w="1905000"/>
                <a:gridCol w="5562600"/>
              </a:tblGrid>
              <a:tr h="1001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Entity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Any object about which data is stored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</a:tr>
              <a:tr h="1004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Relation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2-d table to implement storage of data abut entities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</a:tr>
              <a:tr h="1003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property of an entity; stored as a column in a table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</a:tr>
              <a:tr h="1003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Entity Instance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row (tuple) in a table (relation)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</a:tr>
              <a:tr h="1003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Key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use of an attribute to identify specific instances within a table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Core Concepts (Review)</a:t>
            </a:r>
          </a:p>
        </p:txBody>
      </p:sp>
      <p:graphicFrame>
        <p:nvGraphicFramePr>
          <p:cNvPr id="365594" name="Group 26"/>
          <p:cNvGraphicFramePr>
            <a:graphicFrameLocks noGrp="1"/>
          </p:cNvGraphicFramePr>
          <p:nvPr>
            <p:ph idx="1"/>
          </p:nvPr>
        </p:nvGraphicFramePr>
        <p:xfrm>
          <a:off x="838200" y="1600200"/>
          <a:ext cx="7467600" cy="4758691"/>
        </p:xfrm>
        <a:graphic>
          <a:graphicData uri="http://schemas.openxmlformats.org/drawingml/2006/table">
            <a:tbl>
              <a:tblPr/>
              <a:tblGrid>
                <a:gridCol w="1905000"/>
                <a:gridCol w="5562600"/>
              </a:tblGrid>
              <a:tr h="1055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Candidate 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Any attribute that uniquely identifies each row in a table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Arial" charset="0"/>
                        </a:rPr>
                        <a:t>An attribute selected from the candidate keys to be used to uniquely identify each 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</a:tr>
              <a:tr h="1325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Composite Key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Arial" charset="0"/>
                        </a:rPr>
                        <a:t>A primary key tat is made up of two or more attributes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Foreign 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Arial" charset="0"/>
                        </a:rPr>
                        <a:t>An attribute that is not itself a key but is a PK in another table; to join tables in relational databases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ER to Relational Mapping… (contd.)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295400"/>
            <a:ext cx="7848600" cy="51816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sz="2400" b="1" smtClean="0"/>
          </a:p>
          <a:p>
            <a:pPr eaLnBrk="1" hangingPunct="1">
              <a:buFontTx/>
              <a:buNone/>
            </a:pPr>
            <a:r>
              <a:rPr lang="en-US" sz="2400" b="1" smtClean="0"/>
              <a:t>	ER Model			Relational Model</a:t>
            </a:r>
          </a:p>
          <a:p>
            <a:pPr eaLnBrk="1" hangingPunct="1">
              <a:buFontTx/>
              <a:buNone/>
            </a:pPr>
            <a:endParaRPr lang="en-US" sz="2400" b="1" smtClean="0"/>
          </a:p>
          <a:p>
            <a:pPr lvl="1" eaLnBrk="1" hangingPunct="1"/>
            <a:r>
              <a:rPr lang="en-US" sz="2200" smtClean="0"/>
              <a:t>Entity	(strong)	</a:t>
            </a:r>
            <a:r>
              <a:rPr lang="en-US" sz="2200" smtClean="0">
                <a:sym typeface="Wingdings" pitchFamily="2" charset="2"/>
              </a:rPr>
              <a:t>		Relation</a:t>
            </a:r>
          </a:p>
          <a:p>
            <a:pPr lvl="1" eaLnBrk="1" hangingPunct="1">
              <a:buFontTx/>
              <a:buNone/>
            </a:pPr>
            <a:endParaRPr lang="en-US" sz="2200" smtClean="0">
              <a:sym typeface="Wingdings" pitchFamily="2" charset="2"/>
            </a:endParaRPr>
          </a:p>
          <a:p>
            <a:pPr lvl="1" eaLnBrk="1" hangingPunct="1"/>
            <a:r>
              <a:rPr lang="en-US" sz="2200" smtClean="0">
                <a:sym typeface="Wingdings" pitchFamily="2" charset="2"/>
              </a:rPr>
              <a:t>For example, </a:t>
            </a:r>
            <a:endParaRPr lang="en-US" sz="2200" smtClean="0"/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1127125" y="4994275"/>
            <a:ext cx="1260475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ARTIST</a:t>
            </a:r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>
            <a:off x="3352800" y="518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724400" y="4379913"/>
            <a:ext cx="3990975" cy="1081087"/>
            <a:chOff x="2976" y="2759"/>
            <a:chExt cx="2514" cy="681"/>
          </a:xfrm>
        </p:grpSpPr>
        <p:sp>
          <p:nvSpPr>
            <p:cNvPr id="47111" name="Text Box 7"/>
            <p:cNvSpPr txBox="1">
              <a:spLocks noChangeArrowheads="1"/>
            </p:cNvSpPr>
            <p:nvPr/>
          </p:nvSpPr>
          <p:spPr bwMode="auto">
            <a:xfrm>
              <a:off x="3302" y="3146"/>
              <a:ext cx="116" cy="288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sz="2400" b="0">
                <a:latin typeface="Times New Roman" pitchFamily="18" charset="0"/>
              </a:endParaRPr>
            </a:p>
          </p:txBody>
        </p:sp>
        <p:sp>
          <p:nvSpPr>
            <p:cNvPr id="47112" name="Rectangle 8"/>
            <p:cNvSpPr>
              <a:spLocks noChangeArrowheads="1"/>
            </p:cNvSpPr>
            <p:nvPr/>
          </p:nvSpPr>
          <p:spPr bwMode="auto">
            <a:xfrm>
              <a:off x="4992" y="3072"/>
              <a:ext cx="498" cy="368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47113" name="Rectangle 9"/>
            <p:cNvSpPr>
              <a:spLocks noChangeArrowheads="1"/>
            </p:cNvSpPr>
            <p:nvPr/>
          </p:nvSpPr>
          <p:spPr bwMode="auto">
            <a:xfrm>
              <a:off x="4656" y="3072"/>
              <a:ext cx="336" cy="368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47114" name="Rectangle 10"/>
            <p:cNvSpPr>
              <a:spLocks noChangeArrowheads="1"/>
            </p:cNvSpPr>
            <p:nvPr/>
          </p:nvSpPr>
          <p:spPr bwMode="auto">
            <a:xfrm>
              <a:off x="4128" y="3072"/>
              <a:ext cx="528" cy="368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47115" name="Rectangle 11"/>
            <p:cNvSpPr>
              <a:spLocks noChangeArrowheads="1"/>
            </p:cNvSpPr>
            <p:nvPr/>
          </p:nvSpPr>
          <p:spPr bwMode="auto">
            <a:xfrm>
              <a:off x="3600" y="3072"/>
              <a:ext cx="528" cy="368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47116" name="Rectangle 12"/>
            <p:cNvSpPr>
              <a:spLocks noChangeArrowheads="1"/>
            </p:cNvSpPr>
            <p:nvPr/>
          </p:nvSpPr>
          <p:spPr bwMode="auto">
            <a:xfrm>
              <a:off x="2976" y="3072"/>
              <a:ext cx="624" cy="368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/>
            </a:p>
          </p:txBody>
        </p:sp>
        <p:sp>
          <p:nvSpPr>
            <p:cNvPr id="47117" name="Line 13"/>
            <p:cNvSpPr>
              <a:spLocks noChangeShapeType="1"/>
            </p:cNvSpPr>
            <p:nvPr/>
          </p:nvSpPr>
          <p:spPr bwMode="auto">
            <a:xfrm>
              <a:off x="2976" y="3072"/>
              <a:ext cx="251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8" name="Line 14"/>
            <p:cNvSpPr>
              <a:spLocks noChangeShapeType="1"/>
            </p:cNvSpPr>
            <p:nvPr/>
          </p:nvSpPr>
          <p:spPr bwMode="auto">
            <a:xfrm>
              <a:off x="2976" y="3440"/>
              <a:ext cx="251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9" name="Line 15"/>
            <p:cNvSpPr>
              <a:spLocks noChangeShapeType="1"/>
            </p:cNvSpPr>
            <p:nvPr/>
          </p:nvSpPr>
          <p:spPr bwMode="auto">
            <a:xfrm>
              <a:off x="2976" y="3072"/>
              <a:ext cx="0" cy="36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0" name="Line 16"/>
            <p:cNvSpPr>
              <a:spLocks noChangeShapeType="1"/>
            </p:cNvSpPr>
            <p:nvPr/>
          </p:nvSpPr>
          <p:spPr bwMode="auto">
            <a:xfrm>
              <a:off x="3600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1" name="Line 17"/>
            <p:cNvSpPr>
              <a:spLocks noChangeShapeType="1"/>
            </p:cNvSpPr>
            <p:nvPr/>
          </p:nvSpPr>
          <p:spPr bwMode="auto">
            <a:xfrm>
              <a:off x="4128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2" name="Line 18"/>
            <p:cNvSpPr>
              <a:spLocks noChangeShapeType="1"/>
            </p:cNvSpPr>
            <p:nvPr/>
          </p:nvSpPr>
          <p:spPr bwMode="auto">
            <a:xfrm>
              <a:off x="4656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3" name="Line 19"/>
            <p:cNvSpPr>
              <a:spLocks noChangeShapeType="1"/>
            </p:cNvSpPr>
            <p:nvPr/>
          </p:nvSpPr>
          <p:spPr bwMode="auto">
            <a:xfrm>
              <a:off x="4992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4" name="Line 20"/>
            <p:cNvSpPr>
              <a:spLocks noChangeShapeType="1"/>
            </p:cNvSpPr>
            <p:nvPr/>
          </p:nvSpPr>
          <p:spPr bwMode="auto">
            <a:xfrm>
              <a:off x="5490" y="3072"/>
              <a:ext cx="0" cy="36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5" name="Text Box 21"/>
            <p:cNvSpPr txBox="1">
              <a:spLocks noChangeArrowheads="1"/>
            </p:cNvSpPr>
            <p:nvPr/>
          </p:nvSpPr>
          <p:spPr bwMode="auto">
            <a:xfrm>
              <a:off x="3062" y="2759"/>
              <a:ext cx="63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sz="1800">
                  <a:solidFill>
                    <a:srgbClr val="3333CC"/>
                  </a:solidFill>
                </a:rPr>
                <a:t>ARTIST</a:t>
              </a:r>
            </a:p>
            <a:p>
              <a:endParaRPr lang="en-US" sz="1800" b="0">
                <a:solidFill>
                  <a:srgbClr val="3333C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295400"/>
            <a:ext cx="8534400" cy="5181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smtClean="0"/>
              <a:t>ER Model				Relational Model</a:t>
            </a:r>
          </a:p>
          <a:p>
            <a:pPr eaLnBrk="1" hangingPunct="1">
              <a:buFontTx/>
              <a:buNone/>
            </a:pPr>
            <a:endParaRPr lang="en-US" b="1" smtClean="0"/>
          </a:p>
          <a:p>
            <a:pPr lvl="1" eaLnBrk="1" hangingPunct="1"/>
            <a:r>
              <a:rPr lang="en-US" sz="2200" smtClean="0"/>
              <a:t>Simple Attributes	</a:t>
            </a:r>
            <a:r>
              <a:rPr lang="en-US" sz="2200" smtClean="0">
                <a:sym typeface="Wingdings" pitchFamily="2" charset="2"/>
              </a:rPr>
              <a:t>		Attributes</a:t>
            </a:r>
          </a:p>
          <a:p>
            <a:pPr lvl="1" eaLnBrk="1" hangingPunct="1"/>
            <a:endParaRPr lang="en-US" sz="2200" smtClean="0">
              <a:sym typeface="Wingdings" pitchFamily="2" charset="2"/>
            </a:endParaRPr>
          </a:p>
          <a:p>
            <a:pPr lvl="1" eaLnBrk="1" hangingPunct="1"/>
            <a:r>
              <a:rPr lang="en-US" sz="2200" smtClean="0">
                <a:sym typeface="Wingdings" pitchFamily="2" charset="2"/>
              </a:rPr>
              <a:t>For example,</a:t>
            </a:r>
          </a:p>
          <a:p>
            <a:pPr eaLnBrk="1" hangingPunct="1">
              <a:buFontTx/>
              <a:buNone/>
            </a:pPr>
            <a:endParaRPr lang="en-US" sz="220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r>
              <a:rPr lang="en-US" smtClean="0">
                <a:sym typeface="Wingdings" pitchFamily="2" charset="2"/>
              </a:rPr>
              <a:t> </a:t>
            </a:r>
            <a:endParaRPr lang="en-US" smtClean="0"/>
          </a:p>
        </p:txBody>
      </p:sp>
      <p:sp>
        <p:nvSpPr>
          <p:cNvPr id="48131" name="Oval 7"/>
          <p:cNvSpPr>
            <a:spLocks noChangeArrowheads="1"/>
          </p:cNvSpPr>
          <p:nvPr/>
        </p:nvSpPr>
        <p:spPr bwMode="auto">
          <a:xfrm>
            <a:off x="914400" y="5562600"/>
            <a:ext cx="1143000" cy="3810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48132" name="Text Box 6"/>
          <p:cNvSpPr txBox="1">
            <a:spLocks noChangeArrowheads="1"/>
          </p:cNvSpPr>
          <p:nvPr/>
        </p:nvSpPr>
        <p:spPr bwMode="auto">
          <a:xfrm>
            <a:off x="1050925" y="5451475"/>
            <a:ext cx="842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name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914400" y="4648200"/>
            <a:ext cx="1260475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ARTIST</a:t>
            </a:r>
          </a:p>
        </p:txBody>
      </p:sp>
      <p:sp>
        <p:nvSpPr>
          <p:cNvPr id="48134" name="Line 8"/>
          <p:cNvSpPr>
            <a:spLocks noChangeShapeType="1"/>
          </p:cNvSpPr>
          <p:nvPr/>
        </p:nvSpPr>
        <p:spPr bwMode="auto">
          <a:xfrm>
            <a:off x="14478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81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ER to Relational Mapping… (contd.)</a:t>
            </a:r>
          </a:p>
        </p:txBody>
      </p:sp>
      <p:sp>
        <p:nvSpPr>
          <p:cNvPr id="48136" name="Line 9"/>
          <p:cNvSpPr>
            <a:spLocks noChangeShapeType="1"/>
          </p:cNvSpPr>
          <p:nvPr/>
        </p:nvSpPr>
        <p:spPr bwMode="auto">
          <a:xfrm>
            <a:off x="3124200" y="4648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784725" y="3886200"/>
            <a:ext cx="3702050" cy="1041400"/>
            <a:chOff x="3158" y="2784"/>
            <a:chExt cx="2332" cy="656"/>
          </a:xfrm>
        </p:grpSpPr>
        <p:sp>
          <p:nvSpPr>
            <p:cNvPr id="48138" name="Rectangle 11"/>
            <p:cNvSpPr>
              <a:spLocks noChangeArrowheads="1"/>
            </p:cNvSpPr>
            <p:nvPr/>
          </p:nvSpPr>
          <p:spPr bwMode="auto">
            <a:xfrm>
              <a:off x="5232" y="3072"/>
              <a:ext cx="258" cy="368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48139" name="Rectangle 12"/>
            <p:cNvSpPr>
              <a:spLocks noChangeArrowheads="1"/>
            </p:cNvSpPr>
            <p:nvPr/>
          </p:nvSpPr>
          <p:spPr bwMode="auto">
            <a:xfrm>
              <a:off x="4992" y="3072"/>
              <a:ext cx="240" cy="368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48140" name="Rectangle 13"/>
            <p:cNvSpPr>
              <a:spLocks noChangeArrowheads="1"/>
            </p:cNvSpPr>
            <p:nvPr/>
          </p:nvSpPr>
          <p:spPr bwMode="auto">
            <a:xfrm>
              <a:off x="4704" y="3072"/>
              <a:ext cx="288" cy="368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48141" name="Rectangle 14"/>
            <p:cNvSpPr>
              <a:spLocks noChangeArrowheads="1"/>
            </p:cNvSpPr>
            <p:nvPr/>
          </p:nvSpPr>
          <p:spPr bwMode="auto">
            <a:xfrm>
              <a:off x="4032" y="3072"/>
              <a:ext cx="672" cy="368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48142" name="Rectangle 15"/>
            <p:cNvSpPr>
              <a:spLocks noChangeArrowheads="1"/>
            </p:cNvSpPr>
            <p:nvPr/>
          </p:nvSpPr>
          <p:spPr bwMode="auto">
            <a:xfrm>
              <a:off x="3168" y="3072"/>
              <a:ext cx="1056" cy="368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sz="2400" b="0"/>
                <a:t>name</a:t>
              </a:r>
            </a:p>
          </p:txBody>
        </p:sp>
        <p:sp>
          <p:nvSpPr>
            <p:cNvPr id="48143" name="Line 16"/>
            <p:cNvSpPr>
              <a:spLocks noChangeShapeType="1"/>
            </p:cNvSpPr>
            <p:nvPr/>
          </p:nvSpPr>
          <p:spPr bwMode="auto">
            <a:xfrm>
              <a:off x="3168" y="3072"/>
              <a:ext cx="232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4" name="Line 17"/>
            <p:cNvSpPr>
              <a:spLocks noChangeShapeType="1"/>
            </p:cNvSpPr>
            <p:nvPr/>
          </p:nvSpPr>
          <p:spPr bwMode="auto">
            <a:xfrm flipV="1">
              <a:off x="3158" y="3428"/>
              <a:ext cx="2324" cy="1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5" name="Line 18"/>
            <p:cNvSpPr>
              <a:spLocks noChangeShapeType="1"/>
            </p:cNvSpPr>
            <p:nvPr/>
          </p:nvSpPr>
          <p:spPr bwMode="auto">
            <a:xfrm>
              <a:off x="3168" y="3072"/>
              <a:ext cx="0" cy="36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6" name="Line 19"/>
            <p:cNvSpPr>
              <a:spLocks noChangeShapeType="1"/>
            </p:cNvSpPr>
            <p:nvPr/>
          </p:nvSpPr>
          <p:spPr bwMode="auto">
            <a:xfrm>
              <a:off x="3984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7" name="Line 20"/>
            <p:cNvSpPr>
              <a:spLocks noChangeShapeType="1"/>
            </p:cNvSpPr>
            <p:nvPr/>
          </p:nvSpPr>
          <p:spPr bwMode="auto">
            <a:xfrm>
              <a:off x="4368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8" name="Line 21"/>
            <p:cNvSpPr>
              <a:spLocks noChangeShapeType="1"/>
            </p:cNvSpPr>
            <p:nvPr/>
          </p:nvSpPr>
          <p:spPr bwMode="auto">
            <a:xfrm>
              <a:off x="4992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9" name="Line 22"/>
            <p:cNvSpPr>
              <a:spLocks noChangeShapeType="1"/>
            </p:cNvSpPr>
            <p:nvPr/>
          </p:nvSpPr>
          <p:spPr bwMode="auto">
            <a:xfrm>
              <a:off x="5232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50" name="Line 23"/>
            <p:cNvSpPr>
              <a:spLocks noChangeShapeType="1"/>
            </p:cNvSpPr>
            <p:nvPr/>
          </p:nvSpPr>
          <p:spPr bwMode="auto">
            <a:xfrm>
              <a:off x="5490" y="3072"/>
              <a:ext cx="0" cy="36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51" name="Text Box 24"/>
            <p:cNvSpPr txBox="1">
              <a:spLocks noChangeArrowheads="1"/>
            </p:cNvSpPr>
            <p:nvPr/>
          </p:nvSpPr>
          <p:spPr bwMode="auto">
            <a:xfrm>
              <a:off x="3216" y="2784"/>
              <a:ext cx="6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3333CC"/>
                  </a:solidFill>
                </a:rPr>
                <a:t>ARTIST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371600"/>
            <a:ext cx="8686800" cy="47244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b="1" smtClean="0"/>
          </a:p>
          <a:p>
            <a:pPr eaLnBrk="1" hangingPunct="1">
              <a:buFontTx/>
              <a:buNone/>
            </a:pPr>
            <a:r>
              <a:rPr lang="en-US" b="1" smtClean="0"/>
              <a:t>	ER Model				Relational Model</a:t>
            </a:r>
          </a:p>
          <a:p>
            <a:pPr eaLnBrk="1" hangingPunct="1"/>
            <a:endParaRPr lang="en-US" smtClean="0"/>
          </a:p>
          <a:p>
            <a:pPr lvl="1" eaLnBrk="1" hangingPunct="1"/>
            <a:r>
              <a:rPr lang="en-US" sz="2200" smtClean="0"/>
              <a:t>Primary Key	</a:t>
            </a:r>
            <a:r>
              <a:rPr lang="en-US" sz="2200" smtClean="0">
                <a:sym typeface="Wingdings" pitchFamily="2" charset="2"/>
              </a:rPr>
              <a:t></a:t>
            </a:r>
            <a:r>
              <a:rPr lang="en-US" sz="2200" smtClean="0"/>
              <a:t>		           Primary Key</a:t>
            </a:r>
          </a:p>
          <a:p>
            <a:pPr lvl="1" eaLnBrk="1" hangingPunct="1"/>
            <a:endParaRPr lang="en-US" sz="2200" smtClean="0"/>
          </a:p>
          <a:p>
            <a:pPr lvl="1" eaLnBrk="1" hangingPunct="1"/>
            <a:r>
              <a:rPr lang="en-US" sz="2200" smtClean="0"/>
              <a:t>For example, </a:t>
            </a:r>
          </a:p>
          <a:p>
            <a:pPr eaLnBrk="1" hangingPunct="1">
              <a:buFontTx/>
              <a:buNone/>
            </a:pPr>
            <a:endParaRPr lang="en-US" sz="2200" smtClean="0"/>
          </a:p>
        </p:txBody>
      </p:sp>
      <p:sp>
        <p:nvSpPr>
          <p:cNvPr id="49155" name="Text Box 5"/>
          <p:cNvSpPr txBox="1">
            <a:spLocks noChangeArrowheads="1"/>
          </p:cNvSpPr>
          <p:nvPr/>
        </p:nvSpPr>
        <p:spPr bwMode="auto">
          <a:xfrm>
            <a:off x="1447800" y="4724400"/>
            <a:ext cx="1260475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ARTIST</a:t>
            </a:r>
          </a:p>
        </p:txBody>
      </p:sp>
      <p:sp>
        <p:nvSpPr>
          <p:cNvPr id="49156" name="Oval 7"/>
          <p:cNvSpPr>
            <a:spLocks noChangeArrowheads="1"/>
          </p:cNvSpPr>
          <p:nvPr/>
        </p:nvSpPr>
        <p:spPr bwMode="auto">
          <a:xfrm>
            <a:off x="1447800" y="5638800"/>
            <a:ext cx="1143000" cy="3810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49157" name="Line 8"/>
          <p:cNvSpPr>
            <a:spLocks noChangeShapeType="1"/>
          </p:cNvSpPr>
          <p:nvPr/>
        </p:nvSpPr>
        <p:spPr bwMode="auto">
          <a:xfrm>
            <a:off x="1981200" y="518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ER to Relational Mapping… (contd.)</a:t>
            </a:r>
          </a:p>
        </p:txBody>
      </p:sp>
      <p:sp>
        <p:nvSpPr>
          <p:cNvPr id="49159" name="Line 9"/>
          <p:cNvSpPr>
            <a:spLocks noChangeShapeType="1"/>
          </p:cNvSpPr>
          <p:nvPr/>
        </p:nvSpPr>
        <p:spPr bwMode="auto">
          <a:xfrm>
            <a:off x="3352800" y="5181600"/>
            <a:ext cx="10668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9160" name="Rectangle 11"/>
          <p:cNvSpPr>
            <a:spLocks noChangeArrowheads="1"/>
          </p:cNvSpPr>
          <p:nvPr/>
        </p:nvSpPr>
        <p:spPr bwMode="auto">
          <a:xfrm>
            <a:off x="8093075" y="4876800"/>
            <a:ext cx="409575" cy="584200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400" b="0"/>
          </a:p>
        </p:txBody>
      </p:sp>
      <p:sp>
        <p:nvSpPr>
          <p:cNvPr id="49161" name="Rectangle 12"/>
          <p:cNvSpPr>
            <a:spLocks noChangeArrowheads="1"/>
          </p:cNvSpPr>
          <p:nvPr/>
        </p:nvSpPr>
        <p:spPr bwMode="auto">
          <a:xfrm>
            <a:off x="7712075" y="4876800"/>
            <a:ext cx="381000" cy="584200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400" b="0"/>
          </a:p>
        </p:txBody>
      </p:sp>
      <p:sp>
        <p:nvSpPr>
          <p:cNvPr id="49162" name="Rectangle 13"/>
          <p:cNvSpPr>
            <a:spLocks noChangeArrowheads="1"/>
          </p:cNvSpPr>
          <p:nvPr/>
        </p:nvSpPr>
        <p:spPr bwMode="auto">
          <a:xfrm>
            <a:off x="7254875" y="4876800"/>
            <a:ext cx="457200" cy="5842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400" b="0"/>
          </a:p>
        </p:txBody>
      </p:sp>
      <p:sp>
        <p:nvSpPr>
          <p:cNvPr id="49163" name="Rectangle 14"/>
          <p:cNvSpPr>
            <a:spLocks noChangeArrowheads="1"/>
          </p:cNvSpPr>
          <p:nvPr/>
        </p:nvSpPr>
        <p:spPr bwMode="auto">
          <a:xfrm>
            <a:off x="6188075" y="4876800"/>
            <a:ext cx="1066800" cy="584200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400" b="0"/>
          </a:p>
        </p:txBody>
      </p:sp>
      <p:sp>
        <p:nvSpPr>
          <p:cNvPr id="49164" name="Rectangle 15"/>
          <p:cNvSpPr>
            <a:spLocks noChangeArrowheads="1"/>
          </p:cNvSpPr>
          <p:nvPr/>
        </p:nvSpPr>
        <p:spPr bwMode="auto">
          <a:xfrm>
            <a:off x="4816475" y="4876800"/>
            <a:ext cx="1676400" cy="584200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 u="sng"/>
              <a:t>name</a:t>
            </a:r>
          </a:p>
        </p:txBody>
      </p:sp>
      <p:sp>
        <p:nvSpPr>
          <p:cNvPr id="49165" name="Line 16"/>
          <p:cNvSpPr>
            <a:spLocks noChangeShapeType="1"/>
          </p:cNvSpPr>
          <p:nvPr/>
        </p:nvSpPr>
        <p:spPr bwMode="auto">
          <a:xfrm>
            <a:off x="4816475" y="4876800"/>
            <a:ext cx="368617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6" name="Line 17"/>
          <p:cNvSpPr>
            <a:spLocks noChangeShapeType="1"/>
          </p:cNvSpPr>
          <p:nvPr/>
        </p:nvSpPr>
        <p:spPr bwMode="auto">
          <a:xfrm flipV="1">
            <a:off x="4800600" y="5441950"/>
            <a:ext cx="3689350" cy="158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7" name="Line 18"/>
          <p:cNvSpPr>
            <a:spLocks noChangeShapeType="1"/>
          </p:cNvSpPr>
          <p:nvPr/>
        </p:nvSpPr>
        <p:spPr bwMode="auto">
          <a:xfrm>
            <a:off x="4816475" y="4876800"/>
            <a:ext cx="0" cy="584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8" name="Line 19"/>
          <p:cNvSpPr>
            <a:spLocks noChangeShapeType="1"/>
          </p:cNvSpPr>
          <p:nvPr/>
        </p:nvSpPr>
        <p:spPr bwMode="auto">
          <a:xfrm>
            <a:off x="6111875" y="4876800"/>
            <a:ext cx="0" cy="584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9" name="Line 20"/>
          <p:cNvSpPr>
            <a:spLocks noChangeShapeType="1"/>
          </p:cNvSpPr>
          <p:nvPr/>
        </p:nvSpPr>
        <p:spPr bwMode="auto">
          <a:xfrm>
            <a:off x="6721475" y="4876800"/>
            <a:ext cx="0" cy="584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70" name="Line 21"/>
          <p:cNvSpPr>
            <a:spLocks noChangeShapeType="1"/>
          </p:cNvSpPr>
          <p:nvPr/>
        </p:nvSpPr>
        <p:spPr bwMode="auto">
          <a:xfrm>
            <a:off x="7712075" y="4876800"/>
            <a:ext cx="0" cy="584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71" name="Line 22"/>
          <p:cNvSpPr>
            <a:spLocks noChangeShapeType="1"/>
          </p:cNvSpPr>
          <p:nvPr/>
        </p:nvSpPr>
        <p:spPr bwMode="auto">
          <a:xfrm>
            <a:off x="8093075" y="4876800"/>
            <a:ext cx="0" cy="584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72" name="Line 23"/>
          <p:cNvSpPr>
            <a:spLocks noChangeShapeType="1"/>
          </p:cNvSpPr>
          <p:nvPr/>
        </p:nvSpPr>
        <p:spPr bwMode="auto">
          <a:xfrm>
            <a:off x="8502650" y="4876800"/>
            <a:ext cx="0" cy="584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73" name="Text Box 24"/>
          <p:cNvSpPr txBox="1">
            <a:spLocks noChangeArrowheads="1"/>
          </p:cNvSpPr>
          <p:nvPr/>
        </p:nvSpPr>
        <p:spPr bwMode="auto">
          <a:xfrm>
            <a:off x="4892675" y="4419600"/>
            <a:ext cx="1009650" cy="3667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3333CC"/>
                </a:solidFill>
              </a:rPr>
              <a:t>ARTIST</a:t>
            </a:r>
          </a:p>
        </p:txBody>
      </p:sp>
      <p:sp>
        <p:nvSpPr>
          <p:cNvPr id="49174" name="Text Box 6"/>
          <p:cNvSpPr txBox="1">
            <a:spLocks noChangeArrowheads="1"/>
          </p:cNvSpPr>
          <p:nvPr/>
        </p:nvSpPr>
        <p:spPr bwMode="auto">
          <a:xfrm>
            <a:off x="1584325" y="5527675"/>
            <a:ext cx="842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 u="sng">
                <a:latin typeface="Times New Roman" pitchFamily="18" charset="0"/>
              </a:rPr>
              <a:t>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Oval 7"/>
          <p:cNvSpPr>
            <a:spLocks noChangeArrowheads="1"/>
          </p:cNvSpPr>
          <p:nvPr/>
        </p:nvSpPr>
        <p:spPr bwMode="auto">
          <a:xfrm>
            <a:off x="838200" y="4876800"/>
            <a:ext cx="1676400" cy="4572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50179" name="Oval 12"/>
          <p:cNvSpPr>
            <a:spLocks noChangeArrowheads="1"/>
          </p:cNvSpPr>
          <p:nvPr/>
        </p:nvSpPr>
        <p:spPr bwMode="auto">
          <a:xfrm>
            <a:off x="2819400" y="4724400"/>
            <a:ext cx="1676400" cy="4572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50180" name="Oval 10"/>
          <p:cNvSpPr>
            <a:spLocks noChangeArrowheads="1"/>
          </p:cNvSpPr>
          <p:nvPr/>
        </p:nvSpPr>
        <p:spPr bwMode="auto">
          <a:xfrm>
            <a:off x="2743200" y="3962400"/>
            <a:ext cx="1676400" cy="4572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b="1" smtClean="0"/>
              <a:t>	ER Model				Relational Model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lvl="1" eaLnBrk="1" hangingPunct="1"/>
            <a:r>
              <a:rPr lang="en-US" sz="2200" smtClean="0"/>
              <a:t>Composite attributes </a:t>
            </a:r>
            <a:r>
              <a:rPr lang="en-US" sz="2200" smtClean="0">
                <a:sym typeface="Wingdings" pitchFamily="2" charset="2"/>
              </a:rPr>
              <a:t>	Set of simple atomic attributes</a:t>
            </a:r>
          </a:p>
          <a:p>
            <a:pPr lvl="1" eaLnBrk="1" hangingPunct="1"/>
            <a:endParaRPr lang="en-US" sz="2200" smtClean="0">
              <a:sym typeface="Wingdings" pitchFamily="2" charset="2"/>
            </a:endParaRPr>
          </a:p>
          <a:p>
            <a:pPr lvl="1" eaLnBrk="1" hangingPunct="1"/>
            <a:r>
              <a:rPr lang="en-US" sz="2200" smtClean="0">
                <a:sym typeface="Wingdings" pitchFamily="2" charset="2"/>
              </a:rPr>
              <a:t>For example, </a:t>
            </a:r>
            <a:endParaRPr lang="en-US" sz="2200" smtClean="0"/>
          </a:p>
        </p:txBody>
      </p:sp>
      <p:sp>
        <p:nvSpPr>
          <p:cNvPr id="50182" name="Text Box 5"/>
          <p:cNvSpPr txBox="1">
            <a:spLocks noChangeArrowheads="1"/>
          </p:cNvSpPr>
          <p:nvPr/>
        </p:nvSpPr>
        <p:spPr bwMode="auto">
          <a:xfrm>
            <a:off x="762000" y="4152900"/>
            <a:ext cx="1905000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EMPLOYEE</a:t>
            </a:r>
          </a:p>
        </p:txBody>
      </p:sp>
      <p:sp>
        <p:nvSpPr>
          <p:cNvPr id="50183" name="Text Box 6"/>
          <p:cNvSpPr txBox="1">
            <a:spLocks noChangeArrowheads="1"/>
          </p:cNvSpPr>
          <p:nvPr/>
        </p:nvSpPr>
        <p:spPr bwMode="auto">
          <a:xfrm>
            <a:off x="990600" y="4876800"/>
            <a:ext cx="1265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fullname</a:t>
            </a:r>
          </a:p>
        </p:txBody>
      </p:sp>
      <p:sp>
        <p:nvSpPr>
          <p:cNvPr id="50184" name="Line 8"/>
          <p:cNvSpPr>
            <a:spLocks noChangeShapeType="1"/>
          </p:cNvSpPr>
          <p:nvPr/>
        </p:nvSpPr>
        <p:spPr bwMode="auto">
          <a:xfrm>
            <a:off x="1600200" y="4572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2895600" y="3962400"/>
            <a:ext cx="1216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surname</a:t>
            </a:r>
          </a:p>
        </p:txBody>
      </p:sp>
      <p:sp>
        <p:nvSpPr>
          <p:cNvPr id="50186" name="Text Box 11"/>
          <p:cNvSpPr txBox="1">
            <a:spLocks noChangeArrowheads="1"/>
          </p:cNvSpPr>
          <p:nvPr/>
        </p:nvSpPr>
        <p:spPr bwMode="auto">
          <a:xfrm>
            <a:off x="2971800" y="4724400"/>
            <a:ext cx="1333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firstname</a:t>
            </a:r>
          </a:p>
        </p:txBody>
      </p:sp>
      <p:sp>
        <p:nvSpPr>
          <p:cNvPr id="50187" name="Line 13"/>
          <p:cNvSpPr>
            <a:spLocks noChangeShapeType="1"/>
          </p:cNvSpPr>
          <p:nvPr/>
        </p:nvSpPr>
        <p:spPr bwMode="auto">
          <a:xfrm flipV="1">
            <a:off x="2362200" y="4343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88" name="Line 14"/>
          <p:cNvSpPr>
            <a:spLocks noChangeShapeType="1"/>
          </p:cNvSpPr>
          <p:nvPr/>
        </p:nvSpPr>
        <p:spPr bwMode="auto">
          <a:xfrm>
            <a:off x="2438400" y="5029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8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ER to Relational Mapping… (contd.)</a:t>
            </a:r>
          </a:p>
        </p:txBody>
      </p:sp>
      <p:sp>
        <p:nvSpPr>
          <p:cNvPr id="50190" name="Rectangle 16"/>
          <p:cNvSpPr>
            <a:spLocks noChangeArrowheads="1"/>
          </p:cNvSpPr>
          <p:nvPr/>
        </p:nvSpPr>
        <p:spPr bwMode="auto">
          <a:xfrm>
            <a:off x="8391525" y="4191000"/>
            <a:ext cx="219075" cy="457200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400" b="0"/>
          </a:p>
        </p:txBody>
      </p:sp>
      <p:sp>
        <p:nvSpPr>
          <p:cNvPr id="50191" name="Rectangle 17"/>
          <p:cNvSpPr>
            <a:spLocks noChangeArrowheads="1"/>
          </p:cNvSpPr>
          <p:nvPr/>
        </p:nvSpPr>
        <p:spPr bwMode="auto">
          <a:xfrm>
            <a:off x="8172450" y="4191000"/>
            <a:ext cx="219075" cy="457200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400" b="0"/>
          </a:p>
        </p:txBody>
      </p:sp>
      <p:sp>
        <p:nvSpPr>
          <p:cNvPr id="50192" name="Rectangle 18"/>
          <p:cNvSpPr>
            <a:spLocks noChangeArrowheads="1"/>
          </p:cNvSpPr>
          <p:nvPr/>
        </p:nvSpPr>
        <p:spPr bwMode="auto">
          <a:xfrm>
            <a:off x="6477000" y="4191000"/>
            <a:ext cx="1695450" cy="457200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/>
              <a:t>firstname</a:t>
            </a:r>
          </a:p>
        </p:txBody>
      </p:sp>
      <p:sp>
        <p:nvSpPr>
          <p:cNvPr id="50193" name="Line 21"/>
          <p:cNvSpPr>
            <a:spLocks noChangeShapeType="1"/>
          </p:cNvSpPr>
          <p:nvPr/>
        </p:nvSpPr>
        <p:spPr bwMode="auto">
          <a:xfrm>
            <a:off x="4724400" y="4648200"/>
            <a:ext cx="38862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94" name="Line 22"/>
          <p:cNvSpPr>
            <a:spLocks noChangeShapeType="1"/>
          </p:cNvSpPr>
          <p:nvPr/>
        </p:nvSpPr>
        <p:spPr bwMode="auto">
          <a:xfrm>
            <a:off x="4724400" y="4191000"/>
            <a:ext cx="0" cy="457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95" name="Line 23"/>
          <p:cNvSpPr>
            <a:spLocks noChangeShapeType="1"/>
          </p:cNvSpPr>
          <p:nvPr/>
        </p:nvSpPr>
        <p:spPr bwMode="auto">
          <a:xfrm>
            <a:off x="6477000" y="41910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96" name="Line 24"/>
          <p:cNvSpPr>
            <a:spLocks noChangeShapeType="1"/>
          </p:cNvSpPr>
          <p:nvPr/>
        </p:nvSpPr>
        <p:spPr bwMode="auto">
          <a:xfrm>
            <a:off x="8172450" y="41910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97" name="Line 25"/>
          <p:cNvSpPr>
            <a:spLocks noChangeShapeType="1"/>
          </p:cNvSpPr>
          <p:nvPr/>
        </p:nvSpPr>
        <p:spPr bwMode="auto">
          <a:xfrm>
            <a:off x="8391525" y="41910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98" name="Line 26"/>
          <p:cNvSpPr>
            <a:spLocks noChangeShapeType="1"/>
          </p:cNvSpPr>
          <p:nvPr/>
        </p:nvSpPr>
        <p:spPr bwMode="auto">
          <a:xfrm>
            <a:off x="8610600" y="4191000"/>
            <a:ext cx="0" cy="457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99" name="Text Box 27"/>
          <p:cNvSpPr txBox="1">
            <a:spLocks noChangeArrowheads="1"/>
          </p:cNvSpPr>
          <p:nvPr/>
        </p:nvSpPr>
        <p:spPr bwMode="auto">
          <a:xfrm>
            <a:off x="4724400" y="3505200"/>
            <a:ext cx="1454150" cy="641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1800">
                <a:solidFill>
                  <a:srgbClr val="3333CC"/>
                </a:solidFill>
              </a:rPr>
              <a:t>EMPLOYEE</a:t>
            </a:r>
          </a:p>
          <a:p>
            <a:endParaRPr lang="en-US" sz="1800" b="0">
              <a:solidFill>
                <a:srgbClr val="3333CC"/>
              </a:solidFill>
            </a:endParaRPr>
          </a:p>
        </p:txBody>
      </p:sp>
      <p:sp>
        <p:nvSpPr>
          <p:cNvPr id="50200" name="Line 20"/>
          <p:cNvSpPr>
            <a:spLocks noChangeShapeType="1"/>
          </p:cNvSpPr>
          <p:nvPr/>
        </p:nvSpPr>
        <p:spPr bwMode="auto">
          <a:xfrm>
            <a:off x="4724400" y="4191000"/>
            <a:ext cx="38862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201" name="Rectangle 19"/>
          <p:cNvSpPr>
            <a:spLocks noChangeArrowheads="1"/>
          </p:cNvSpPr>
          <p:nvPr/>
        </p:nvSpPr>
        <p:spPr bwMode="auto">
          <a:xfrm>
            <a:off x="4724400" y="4191000"/>
            <a:ext cx="1752600" cy="457200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/>
              <a:t>surname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600" smtClean="0"/>
              <a:t>Rules to Convert </a:t>
            </a:r>
            <a:br>
              <a:rPr lang="en-US" sz="3600" smtClean="0"/>
            </a:br>
            <a:r>
              <a:rPr lang="en-US" sz="3600" smtClean="0"/>
              <a:t>(ER – Tables)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0"/>
            <a:ext cx="8686800" cy="5181600"/>
          </a:xfrm>
        </p:spPr>
        <p:txBody>
          <a:bodyPr/>
          <a:lstStyle/>
          <a:p>
            <a:pPr eaLnBrk="1" hangingPunct="1"/>
            <a:r>
              <a:rPr lang="en-US" smtClean="0"/>
              <a:t>For 1:1 Cardinality, all attributes should be merged into single table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 1:N ; post identifier (PK) from </a:t>
            </a:r>
            <a:r>
              <a:rPr lang="en-US" b="1" smtClean="0">
                <a:solidFill>
                  <a:srgbClr val="FF9900"/>
                </a:solidFill>
              </a:rPr>
              <a:t>one</a:t>
            </a:r>
            <a:r>
              <a:rPr lang="en-US" smtClean="0"/>
              <a:t> side as an attribute into the </a:t>
            </a:r>
            <a:r>
              <a:rPr lang="en-US" b="1" smtClean="0">
                <a:solidFill>
                  <a:srgbClr val="FF9900"/>
                </a:solidFill>
              </a:rPr>
              <a:t>many</a:t>
            </a:r>
            <a:r>
              <a:rPr lang="en-US" smtClean="0"/>
              <a:t> side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N:M ; create a </a:t>
            </a:r>
            <a:r>
              <a:rPr lang="en-US" b="1" smtClean="0">
                <a:solidFill>
                  <a:srgbClr val="008000"/>
                </a:solidFill>
              </a:rPr>
              <a:t>new table</a:t>
            </a:r>
            <a:r>
              <a:rPr lang="en-US" smtClean="0"/>
              <a:t> and post identifiers from each of the linked entities as attributes in the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Conversion</a:t>
            </a:r>
          </a:p>
        </p:txBody>
      </p:sp>
      <p:pic>
        <p:nvPicPr>
          <p:cNvPr id="5222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Conversion</a:t>
            </a:r>
          </a:p>
        </p:txBody>
      </p:sp>
      <p:pic>
        <p:nvPicPr>
          <p:cNvPr id="5325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68645" name="Line 5"/>
          <p:cNvSpPr>
            <a:spLocks noChangeShapeType="1"/>
          </p:cNvSpPr>
          <p:nvPr/>
        </p:nvSpPr>
        <p:spPr bwMode="auto">
          <a:xfrm flipH="1" flipV="1">
            <a:off x="1219200" y="4191000"/>
            <a:ext cx="4572000" cy="60960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8646" name="Text Box 6"/>
          <p:cNvSpPr txBox="1">
            <a:spLocks noChangeArrowheads="1"/>
          </p:cNvSpPr>
          <p:nvPr/>
        </p:nvSpPr>
        <p:spPr bwMode="auto">
          <a:xfrm>
            <a:off x="5775325" y="4430713"/>
            <a:ext cx="523875" cy="396875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5" grpId="0" animBg="1"/>
      <p:bldP spid="3686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Conversion</a:t>
            </a:r>
          </a:p>
        </p:txBody>
      </p:sp>
      <p:pic>
        <p:nvPicPr>
          <p:cNvPr id="5427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219200"/>
            <a:ext cx="8686800" cy="5181600"/>
          </a:xfrm>
        </p:spPr>
      </p:pic>
      <p:sp>
        <p:nvSpPr>
          <p:cNvPr id="369671" name="AutoShape 7"/>
          <p:cNvSpPr>
            <a:spLocks noChangeArrowheads="1"/>
          </p:cNvSpPr>
          <p:nvPr/>
        </p:nvSpPr>
        <p:spPr bwMode="auto">
          <a:xfrm>
            <a:off x="838200" y="2514600"/>
            <a:ext cx="3429000" cy="914400"/>
          </a:xfrm>
          <a:custGeom>
            <a:avLst/>
            <a:gdLst>
              <a:gd name="T0" fmla="*/ 272176856 w 21600"/>
              <a:gd name="T1" fmla="*/ 0 h 21600"/>
              <a:gd name="T2" fmla="*/ 0 w 21600"/>
              <a:gd name="T3" fmla="*/ 19354798 h 21600"/>
              <a:gd name="T4" fmla="*/ 272176856 w 21600"/>
              <a:gd name="T5" fmla="*/ 0 h 21600"/>
              <a:gd name="T6" fmla="*/ 544353712 w 21600"/>
              <a:gd name="T7" fmla="*/ 19354798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4" y="-1"/>
                  <a:pt x="21599" y="4835"/>
                  <a:pt x="21600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FF6600"/>
          </a:solidFill>
          <a:ln w="349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2" name="Line 8"/>
          <p:cNvSpPr>
            <a:spLocks noChangeShapeType="1"/>
          </p:cNvSpPr>
          <p:nvPr/>
        </p:nvSpPr>
        <p:spPr bwMode="auto">
          <a:xfrm flipH="1">
            <a:off x="990600" y="4343400"/>
            <a:ext cx="4114800" cy="609600"/>
          </a:xfrm>
          <a:prstGeom prst="line">
            <a:avLst/>
          </a:prstGeom>
          <a:noFill/>
          <a:ln w="31750">
            <a:solidFill>
              <a:srgbClr val="FF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9673" name="Text Box 9"/>
          <p:cNvSpPr txBox="1">
            <a:spLocks noChangeArrowheads="1"/>
          </p:cNvSpPr>
          <p:nvPr/>
        </p:nvSpPr>
        <p:spPr bwMode="auto">
          <a:xfrm>
            <a:off x="4937125" y="4354513"/>
            <a:ext cx="523875" cy="396875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FK</a:t>
            </a:r>
          </a:p>
        </p:txBody>
      </p:sp>
      <p:sp>
        <p:nvSpPr>
          <p:cNvPr id="369674" name="Text Box 10"/>
          <p:cNvSpPr txBox="1">
            <a:spLocks noChangeArrowheads="1"/>
          </p:cNvSpPr>
          <p:nvPr/>
        </p:nvSpPr>
        <p:spPr bwMode="auto">
          <a:xfrm>
            <a:off x="4038600" y="2438400"/>
            <a:ext cx="523875" cy="396875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9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9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1" grpId="0" animBg="1"/>
      <p:bldP spid="369672" grpId="0" animBg="1"/>
      <p:bldP spid="369673" grpId="0" animBg="1"/>
      <p:bldP spid="36967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7924800" cy="51816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b="1" smtClean="0"/>
          </a:p>
          <a:p>
            <a:pPr eaLnBrk="1" hangingPunct="1">
              <a:buFontTx/>
              <a:buNone/>
            </a:pPr>
            <a:r>
              <a:rPr lang="en-US" b="1" smtClean="0"/>
              <a:t>ER Model			Relational Model</a:t>
            </a:r>
          </a:p>
          <a:p>
            <a:pPr eaLnBrk="1" hangingPunct="1">
              <a:buFontTx/>
              <a:buNone/>
            </a:pPr>
            <a:endParaRPr lang="en-US" b="1" smtClean="0"/>
          </a:p>
          <a:p>
            <a:pPr lvl="1" eaLnBrk="1" hangingPunct="1"/>
            <a:r>
              <a:rPr lang="en-US" sz="2100" smtClean="0"/>
              <a:t>Multivalued attribute </a:t>
            </a:r>
            <a:r>
              <a:rPr lang="en-US" sz="2100" smtClean="0">
                <a:sym typeface="Wingdings" pitchFamily="2" charset="2"/>
              </a:rPr>
              <a:t>	Relation &amp; Foreign Key</a:t>
            </a:r>
          </a:p>
          <a:p>
            <a:pPr lvl="1" eaLnBrk="1" hangingPunct="1"/>
            <a:endParaRPr lang="en-US" sz="2100" smtClean="0">
              <a:sym typeface="Wingdings" pitchFamily="2" charset="2"/>
            </a:endParaRPr>
          </a:p>
          <a:p>
            <a:pPr lvl="1" eaLnBrk="1" hangingPunct="1"/>
            <a:r>
              <a:rPr lang="en-US" sz="2100" smtClean="0">
                <a:sym typeface="Wingdings" pitchFamily="2" charset="2"/>
              </a:rPr>
              <a:t>For example, </a:t>
            </a:r>
          </a:p>
          <a:p>
            <a:pPr eaLnBrk="1" hangingPunct="1">
              <a:buFontTx/>
              <a:buNone/>
            </a:pPr>
            <a:endParaRPr lang="en-US" sz="220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r>
              <a:rPr lang="en-US" smtClean="0">
                <a:sym typeface="Wingdings" pitchFamily="2" charset="2"/>
              </a:rPr>
              <a:t>	</a:t>
            </a:r>
            <a:endParaRPr lang="en-US" smtClean="0"/>
          </a:p>
        </p:txBody>
      </p:sp>
      <p:sp>
        <p:nvSpPr>
          <p:cNvPr id="55299" name="Oval 10"/>
          <p:cNvSpPr>
            <a:spLocks noChangeArrowheads="1"/>
          </p:cNvSpPr>
          <p:nvPr/>
        </p:nvSpPr>
        <p:spPr bwMode="auto">
          <a:xfrm>
            <a:off x="152400" y="5638800"/>
            <a:ext cx="914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55300" name="Oval 7"/>
          <p:cNvSpPr>
            <a:spLocks noChangeArrowheads="1"/>
          </p:cNvSpPr>
          <p:nvPr/>
        </p:nvSpPr>
        <p:spPr bwMode="auto">
          <a:xfrm>
            <a:off x="1143000" y="5791200"/>
            <a:ext cx="1371600" cy="609600"/>
          </a:xfrm>
          <a:prstGeom prst="ellipse">
            <a:avLst/>
          </a:prstGeom>
          <a:solidFill>
            <a:srgbClr val="9999FF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ER to Relational Mapping… (contd.)</a:t>
            </a:r>
          </a:p>
        </p:txBody>
      </p:sp>
      <p:sp>
        <p:nvSpPr>
          <p:cNvPr id="55302" name="Text Box 5"/>
          <p:cNvSpPr txBox="1">
            <a:spLocks noChangeArrowheads="1"/>
          </p:cNvSpPr>
          <p:nvPr/>
        </p:nvSpPr>
        <p:spPr bwMode="auto">
          <a:xfrm>
            <a:off x="685800" y="4953000"/>
            <a:ext cx="2022475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ART-OBJECT</a:t>
            </a:r>
          </a:p>
        </p:txBody>
      </p:sp>
      <p:sp>
        <p:nvSpPr>
          <p:cNvPr id="55303" name="Text Box 6"/>
          <p:cNvSpPr txBox="1">
            <a:spLocks noChangeArrowheads="1"/>
          </p:cNvSpPr>
          <p:nvPr/>
        </p:nvSpPr>
        <p:spPr bwMode="auto">
          <a:xfrm>
            <a:off x="1143000" y="58674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materials</a:t>
            </a:r>
          </a:p>
        </p:txBody>
      </p:sp>
      <p:sp>
        <p:nvSpPr>
          <p:cNvPr id="55304" name="Line 8"/>
          <p:cNvSpPr>
            <a:spLocks noChangeShapeType="1"/>
          </p:cNvSpPr>
          <p:nvPr/>
        </p:nvSpPr>
        <p:spPr bwMode="auto">
          <a:xfrm flipV="1">
            <a:off x="1828800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05" name="Text Box 9"/>
          <p:cNvSpPr txBox="1">
            <a:spLocks noChangeArrowheads="1"/>
          </p:cNvSpPr>
          <p:nvPr/>
        </p:nvSpPr>
        <p:spPr bwMode="auto">
          <a:xfrm>
            <a:off x="441325" y="5680075"/>
            <a:ext cx="420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 u="sng">
                <a:latin typeface="Times New Roman" pitchFamily="18" charset="0"/>
              </a:rPr>
              <a:t>id</a:t>
            </a:r>
          </a:p>
        </p:txBody>
      </p:sp>
      <p:sp>
        <p:nvSpPr>
          <p:cNvPr id="55306" name="Line 11"/>
          <p:cNvSpPr>
            <a:spLocks noChangeShapeType="1"/>
          </p:cNvSpPr>
          <p:nvPr/>
        </p:nvSpPr>
        <p:spPr bwMode="auto">
          <a:xfrm flipV="1">
            <a:off x="533400" y="54102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07" name="Line 12"/>
          <p:cNvSpPr>
            <a:spLocks noChangeShapeType="1"/>
          </p:cNvSpPr>
          <p:nvPr/>
        </p:nvSpPr>
        <p:spPr bwMode="auto">
          <a:xfrm flipH="1" flipV="1">
            <a:off x="6019800" y="5027613"/>
            <a:ext cx="685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572000" y="4114800"/>
            <a:ext cx="4038600" cy="912813"/>
            <a:chOff x="2352" y="2304"/>
            <a:chExt cx="2544" cy="575"/>
          </a:xfrm>
        </p:grpSpPr>
        <p:sp>
          <p:nvSpPr>
            <p:cNvPr id="55318" name="Rectangle 14"/>
            <p:cNvSpPr>
              <a:spLocks noChangeArrowheads="1"/>
            </p:cNvSpPr>
            <p:nvPr/>
          </p:nvSpPr>
          <p:spPr bwMode="auto">
            <a:xfrm>
              <a:off x="4239" y="2592"/>
              <a:ext cx="657" cy="287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55319" name="Rectangle 15"/>
            <p:cNvSpPr>
              <a:spLocks noChangeArrowheads="1"/>
            </p:cNvSpPr>
            <p:nvPr/>
          </p:nvSpPr>
          <p:spPr bwMode="auto">
            <a:xfrm>
              <a:off x="3542" y="2592"/>
              <a:ext cx="697" cy="287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 u="sng"/>
            </a:p>
          </p:txBody>
        </p:sp>
        <p:sp>
          <p:nvSpPr>
            <p:cNvPr id="55320" name="Rectangle 16"/>
            <p:cNvSpPr>
              <a:spLocks noChangeArrowheads="1"/>
            </p:cNvSpPr>
            <p:nvPr/>
          </p:nvSpPr>
          <p:spPr bwMode="auto">
            <a:xfrm>
              <a:off x="2352" y="2592"/>
              <a:ext cx="1190" cy="287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sz="2400" b="0" u="sng"/>
                <a:t>id</a:t>
              </a:r>
              <a:endParaRPr lang="en-US" sz="2400"/>
            </a:p>
          </p:txBody>
        </p:sp>
        <p:sp>
          <p:nvSpPr>
            <p:cNvPr id="55321" name="Line 17"/>
            <p:cNvSpPr>
              <a:spLocks noChangeShapeType="1"/>
            </p:cNvSpPr>
            <p:nvPr/>
          </p:nvSpPr>
          <p:spPr bwMode="auto">
            <a:xfrm>
              <a:off x="2352" y="2592"/>
              <a:ext cx="254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22" name="Line 18"/>
            <p:cNvSpPr>
              <a:spLocks noChangeShapeType="1"/>
            </p:cNvSpPr>
            <p:nvPr/>
          </p:nvSpPr>
          <p:spPr bwMode="auto">
            <a:xfrm>
              <a:off x="2352" y="2879"/>
              <a:ext cx="254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23" name="Line 19"/>
            <p:cNvSpPr>
              <a:spLocks noChangeShapeType="1"/>
            </p:cNvSpPr>
            <p:nvPr/>
          </p:nvSpPr>
          <p:spPr bwMode="auto">
            <a:xfrm>
              <a:off x="2352" y="2592"/>
              <a:ext cx="0" cy="28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24" name="Line 20"/>
            <p:cNvSpPr>
              <a:spLocks noChangeShapeType="1"/>
            </p:cNvSpPr>
            <p:nvPr/>
          </p:nvSpPr>
          <p:spPr bwMode="auto">
            <a:xfrm>
              <a:off x="3542" y="2592"/>
              <a:ext cx="0" cy="2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25" name="Line 21"/>
            <p:cNvSpPr>
              <a:spLocks noChangeShapeType="1"/>
            </p:cNvSpPr>
            <p:nvPr/>
          </p:nvSpPr>
          <p:spPr bwMode="auto">
            <a:xfrm>
              <a:off x="4239" y="2592"/>
              <a:ext cx="0" cy="2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26" name="Line 22"/>
            <p:cNvSpPr>
              <a:spLocks noChangeShapeType="1"/>
            </p:cNvSpPr>
            <p:nvPr/>
          </p:nvSpPr>
          <p:spPr bwMode="auto">
            <a:xfrm>
              <a:off x="4896" y="2592"/>
              <a:ext cx="0" cy="28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27" name="Text Box 23"/>
            <p:cNvSpPr txBox="1">
              <a:spLocks noChangeArrowheads="1"/>
            </p:cNvSpPr>
            <p:nvPr/>
          </p:nvSpPr>
          <p:spPr bwMode="auto">
            <a:xfrm>
              <a:off x="2400" y="2304"/>
              <a:ext cx="104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sz="1800">
                  <a:solidFill>
                    <a:srgbClr val="3333CC"/>
                  </a:solidFill>
                </a:rPr>
                <a:t>ART-OBJECT</a:t>
              </a:r>
            </a:p>
            <a:p>
              <a:endParaRPr lang="en-US" sz="1800" b="0">
                <a:solidFill>
                  <a:srgbClr val="3333CC"/>
                </a:solidFill>
              </a:endParaRPr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4953000" y="5408613"/>
            <a:ext cx="2986088" cy="836612"/>
            <a:chOff x="2592" y="3120"/>
            <a:chExt cx="1881" cy="527"/>
          </a:xfrm>
        </p:grpSpPr>
        <p:sp>
          <p:nvSpPr>
            <p:cNvPr id="55310" name="Rectangle 25"/>
            <p:cNvSpPr>
              <a:spLocks noChangeArrowheads="1"/>
            </p:cNvSpPr>
            <p:nvPr/>
          </p:nvSpPr>
          <p:spPr bwMode="auto">
            <a:xfrm>
              <a:off x="3565" y="3360"/>
              <a:ext cx="908" cy="287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sz="2400" b="0" u="sng"/>
                <a:t>id</a:t>
              </a:r>
            </a:p>
          </p:txBody>
        </p:sp>
        <p:sp>
          <p:nvSpPr>
            <p:cNvPr id="55311" name="Rectangle 26"/>
            <p:cNvSpPr>
              <a:spLocks noChangeArrowheads="1"/>
            </p:cNvSpPr>
            <p:nvPr/>
          </p:nvSpPr>
          <p:spPr bwMode="auto">
            <a:xfrm>
              <a:off x="2592" y="3360"/>
              <a:ext cx="973" cy="287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sz="2400" b="0" u="sng"/>
                <a:t>material</a:t>
              </a:r>
              <a:endParaRPr lang="en-US" sz="2400"/>
            </a:p>
          </p:txBody>
        </p:sp>
        <p:sp>
          <p:nvSpPr>
            <p:cNvPr id="55312" name="Line 27"/>
            <p:cNvSpPr>
              <a:spLocks noChangeShapeType="1"/>
            </p:cNvSpPr>
            <p:nvPr/>
          </p:nvSpPr>
          <p:spPr bwMode="auto">
            <a:xfrm>
              <a:off x="2592" y="3360"/>
              <a:ext cx="188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13" name="Line 28"/>
            <p:cNvSpPr>
              <a:spLocks noChangeShapeType="1"/>
            </p:cNvSpPr>
            <p:nvPr/>
          </p:nvSpPr>
          <p:spPr bwMode="auto">
            <a:xfrm>
              <a:off x="2592" y="3647"/>
              <a:ext cx="188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14" name="Line 29"/>
            <p:cNvSpPr>
              <a:spLocks noChangeShapeType="1"/>
            </p:cNvSpPr>
            <p:nvPr/>
          </p:nvSpPr>
          <p:spPr bwMode="auto">
            <a:xfrm>
              <a:off x="2592" y="3360"/>
              <a:ext cx="0" cy="28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15" name="Line 30"/>
            <p:cNvSpPr>
              <a:spLocks noChangeShapeType="1"/>
            </p:cNvSpPr>
            <p:nvPr/>
          </p:nvSpPr>
          <p:spPr bwMode="auto">
            <a:xfrm>
              <a:off x="3565" y="3360"/>
              <a:ext cx="0" cy="2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16" name="Line 31"/>
            <p:cNvSpPr>
              <a:spLocks noChangeShapeType="1"/>
            </p:cNvSpPr>
            <p:nvPr/>
          </p:nvSpPr>
          <p:spPr bwMode="auto">
            <a:xfrm>
              <a:off x="4473" y="3360"/>
              <a:ext cx="0" cy="28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17" name="Text Box 32"/>
            <p:cNvSpPr txBox="1">
              <a:spLocks noChangeArrowheads="1"/>
            </p:cNvSpPr>
            <p:nvPr/>
          </p:nvSpPr>
          <p:spPr bwMode="auto">
            <a:xfrm>
              <a:off x="2592" y="3120"/>
              <a:ext cx="9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3333CC"/>
                  </a:solidFill>
                </a:rPr>
                <a:t>MATERIALS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1981200"/>
            <a:ext cx="8431213" cy="4191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b="1" smtClean="0"/>
              <a:t>ER Model				Relational Model</a:t>
            </a:r>
          </a:p>
          <a:p>
            <a:pPr lvl="1" eaLnBrk="1" hangingPunct="1"/>
            <a:r>
              <a:rPr lang="en-US" sz="2200" smtClean="0"/>
              <a:t>N-ary relationship		“Relationship” 	relation and n 						foreign keys</a:t>
            </a:r>
          </a:p>
          <a:p>
            <a:pPr lvl="1" eaLnBrk="1" hangingPunct="1"/>
            <a:endParaRPr lang="en-US" sz="2200" smtClean="0"/>
          </a:p>
          <a:p>
            <a:pPr lvl="1" eaLnBrk="1" hangingPunct="1"/>
            <a:r>
              <a:rPr lang="en-US" sz="2200" smtClean="0"/>
              <a:t>For example, </a:t>
            </a:r>
          </a:p>
          <a:p>
            <a:pPr eaLnBrk="1" hangingPunct="1">
              <a:buFontTx/>
              <a:buNone/>
            </a:pPr>
            <a:endParaRPr lang="en-US" sz="2400" smtClean="0"/>
          </a:p>
          <a:p>
            <a:pPr eaLnBrk="1" hangingPunct="1">
              <a:buFontTx/>
              <a:buNone/>
            </a:pPr>
            <a:endParaRPr lang="en-US" sz="2400" smtClean="0"/>
          </a:p>
        </p:txBody>
      </p:sp>
      <p:sp>
        <p:nvSpPr>
          <p:cNvPr id="56323" name="Rectangle 17"/>
          <p:cNvSpPr>
            <a:spLocks noChangeArrowheads="1"/>
          </p:cNvSpPr>
          <p:nvPr/>
        </p:nvSpPr>
        <p:spPr bwMode="auto">
          <a:xfrm>
            <a:off x="4329113" y="6096000"/>
            <a:ext cx="1004887" cy="517525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 u="sng"/>
              <a:t>pk</a:t>
            </a:r>
            <a:r>
              <a:rPr lang="en-US" sz="2400" b="0" u="sng" baseline="-25000"/>
              <a:t>C</a:t>
            </a:r>
          </a:p>
        </p:txBody>
      </p:sp>
      <p:sp>
        <p:nvSpPr>
          <p:cNvPr id="56324" name="Rectangle 18"/>
          <p:cNvSpPr>
            <a:spLocks noChangeArrowheads="1"/>
          </p:cNvSpPr>
          <p:nvPr/>
        </p:nvSpPr>
        <p:spPr bwMode="auto">
          <a:xfrm>
            <a:off x="3886200" y="6096000"/>
            <a:ext cx="442913" cy="517525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400"/>
          </a:p>
        </p:txBody>
      </p:sp>
      <p:sp>
        <p:nvSpPr>
          <p:cNvPr id="56325" name="Line 19"/>
          <p:cNvSpPr>
            <a:spLocks noChangeShapeType="1"/>
          </p:cNvSpPr>
          <p:nvPr/>
        </p:nvSpPr>
        <p:spPr bwMode="auto">
          <a:xfrm>
            <a:off x="3886200" y="6096000"/>
            <a:ext cx="1447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6" name="Line 20"/>
          <p:cNvSpPr>
            <a:spLocks noChangeShapeType="1"/>
          </p:cNvSpPr>
          <p:nvPr/>
        </p:nvSpPr>
        <p:spPr bwMode="auto">
          <a:xfrm>
            <a:off x="3886200" y="6613525"/>
            <a:ext cx="1447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7" name="Line 21"/>
          <p:cNvSpPr>
            <a:spLocks noChangeShapeType="1"/>
          </p:cNvSpPr>
          <p:nvPr/>
        </p:nvSpPr>
        <p:spPr bwMode="auto">
          <a:xfrm>
            <a:off x="3886200" y="6096000"/>
            <a:ext cx="0" cy="517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8" name="Line 22"/>
          <p:cNvSpPr>
            <a:spLocks noChangeShapeType="1"/>
          </p:cNvSpPr>
          <p:nvPr/>
        </p:nvSpPr>
        <p:spPr bwMode="auto">
          <a:xfrm>
            <a:off x="4329113" y="6096000"/>
            <a:ext cx="0" cy="517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9" name="Line 23"/>
          <p:cNvSpPr>
            <a:spLocks noChangeShapeType="1"/>
          </p:cNvSpPr>
          <p:nvPr/>
        </p:nvSpPr>
        <p:spPr bwMode="auto">
          <a:xfrm>
            <a:off x="5334000" y="6096000"/>
            <a:ext cx="0" cy="517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30" name="Rectangle 24"/>
          <p:cNvSpPr>
            <a:spLocks noChangeArrowheads="1"/>
          </p:cNvSpPr>
          <p:nvPr/>
        </p:nvSpPr>
        <p:spPr bwMode="auto">
          <a:xfrm>
            <a:off x="4281488" y="4114800"/>
            <a:ext cx="900112" cy="584200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 u="sng"/>
              <a:t>pk</a:t>
            </a:r>
            <a:r>
              <a:rPr lang="en-US" sz="2400" b="0" u="sng" baseline="-25000"/>
              <a:t>A</a:t>
            </a:r>
          </a:p>
        </p:txBody>
      </p:sp>
      <p:sp>
        <p:nvSpPr>
          <p:cNvPr id="56331" name="Line 25"/>
          <p:cNvSpPr>
            <a:spLocks noChangeShapeType="1"/>
          </p:cNvSpPr>
          <p:nvPr/>
        </p:nvSpPr>
        <p:spPr bwMode="auto">
          <a:xfrm>
            <a:off x="3886200" y="4114800"/>
            <a:ext cx="129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32" name="Line 26"/>
          <p:cNvSpPr>
            <a:spLocks noChangeShapeType="1"/>
          </p:cNvSpPr>
          <p:nvPr/>
        </p:nvSpPr>
        <p:spPr bwMode="auto">
          <a:xfrm>
            <a:off x="3886200" y="4699000"/>
            <a:ext cx="129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33" name="Line 27"/>
          <p:cNvSpPr>
            <a:spLocks noChangeShapeType="1"/>
          </p:cNvSpPr>
          <p:nvPr/>
        </p:nvSpPr>
        <p:spPr bwMode="auto">
          <a:xfrm>
            <a:off x="3886200" y="4114800"/>
            <a:ext cx="0" cy="584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34" name="Line 28"/>
          <p:cNvSpPr>
            <a:spLocks noChangeShapeType="1"/>
          </p:cNvSpPr>
          <p:nvPr/>
        </p:nvSpPr>
        <p:spPr bwMode="auto">
          <a:xfrm>
            <a:off x="4281488" y="4114800"/>
            <a:ext cx="0" cy="584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35" name="Line 29"/>
          <p:cNvSpPr>
            <a:spLocks noChangeShapeType="1"/>
          </p:cNvSpPr>
          <p:nvPr/>
        </p:nvSpPr>
        <p:spPr bwMode="auto">
          <a:xfrm>
            <a:off x="5181600" y="4114800"/>
            <a:ext cx="0" cy="584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36" name="Rectangle 30"/>
          <p:cNvSpPr>
            <a:spLocks noChangeArrowheads="1"/>
          </p:cNvSpPr>
          <p:nvPr/>
        </p:nvSpPr>
        <p:spPr bwMode="auto">
          <a:xfrm>
            <a:off x="7315200" y="3962400"/>
            <a:ext cx="900113" cy="569913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 u="sng"/>
              <a:t>pk</a:t>
            </a:r>
            <a:r>
              <a:rPr lang="en-US" sz="2400" b="0" u="sng" baseline="-25000"/>
              <a:t>B</a:t>
            </a:r>
          </a:p>
        </p:txBody>
      </p:sp>
      <p:sp>
        <p:nvSpPr>
          <p:cNvPr id="56337" name="Rectangle 31"/>
          <p:cNvSpPr>
            <a:spLocks noChangeArrowheads="1"/>
          </p:cNvSpPr>
          <p:nvPr/>
        </p:nvSpPr>
        <p:spPr bwMode="auto">
          <a:xfrm>
            <a:off x="6919913" y="3962400"/>
            <a:ext cx="395287" cy="569913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400"/>
          </a:p>
        </p:txBody>
      </p:sp>
      <p:sp>
        <p:nvSpPr>
          <p:cNvPr id="56338" name="Line 32"/>
          <p:cNvSpPr>
            <a:spLocks noChangeShapeType="1"/>
          </p:cNvSpPr>
          <p:nvPr/>
        </p:nvSpPr>
        <p:spPr bwMode="auto">
          <a:xfrm>
            <a:off x="6919913" y="3962400"/>
            <a:ext cx="129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39" name="Line 33"/>
          <p:cNvSpPr>
            <a:spLocks noChangeShapeType="1"/>
          </p:cNvSpPr>
          <p:nvPr/>
        </p:nvSpPr>
        <p:spPr bwMode="auto">
          <a:xfrm>
            <a:off x="6919913" y="4532313"/>
            <a:ext cx="129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40" name="Line 34"/>
          <p:cNvSpPr>
            <a:spLocks noChangeShapeType="1"/>
          </p:cNvSpPr>
          <p:nvPr/>
        </p:nvSpPr>
        <p:spPr bwMode="auto">
          <a:xfrm>
            <a:off x="6919913" y="3962400"/>
            <a:ext cx="0" cy="5699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41" name="Line 35"/>
          <p:cNvSpPr>
            <a:spLocks noChangeShapeType="1"/>
          </p:cNvSpPr>
          <p:nvPr/>
        </p:nvSpPr>
        <p:spPr bwMode="auto">
          <a:xfrm>
            <a:off x="7315200" y="3962400"/>
            <a:ext cx="0" cy="569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42" name="Line 36"/>
          <p:cNvSpPr>
            <a:spLocks noChangeShapeType="1"/>
          </p:cNvSpPr>
          <p:nvPr/>
        </p:nvSpPr>
        <p:spPr bwMode="auto">
          <a:xfrm>
            <a:off x="8215313" y="3962400"/>
            <a:ext cx="0" cy="5699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43" name="Rectangle 37"/>
          <p:cNvSpPr>
            <a:spLocks noChangeArrowheads="1"/>
          </p:cNvSpPr>
          <p:nvPr/>
        </p:nvSpPr>
        <p:spPr bwMode="auto">
          <a:xfrm>
            <a:off x="7307263" y="6096000"/>
            <a:ext cx="846137" cy="517525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 u="sng"/>
              <a:t>pk</a:t>
            </a:r>
            <a:r>
              <a:rPr lang="en-US" sz="2400" b="0" u="sng" baseline="-25000"/>
              <a:t>D</a:t>
            </a:r>
          </a:p>
        </p:txBody>
      </p:sp>
      <p:sp>
        <p:nvSpPr>
          <p:cNvPr id="56344" name="Rectangle 38"/>
          <p:cNvSpPr>
            <a:spLocks noChangeArrowheads="1"/>
          </p:cNvSpPr>
          <p:nvPr/>
        </p:nvSpPr>
        <p:spPr bwMode="auto">
          <a:xfrm>
            <a:off x="6934200" y="6096000"/>
            <a:ext cx="373063" cy="517525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400"/>
          </a:p>
        </p:txBody>
      </p:sp>
      <p:sp>
        <p:nvSpPr>
          <p:cNvPr id="56345" name="Line 39"/>
          <p:cNvSpPr>
            <a:spLocks noChangeShapeType="1"/>
          </p:cNvSpPr>
          <p:nvPr/>
        </p:nvSpPr>
        <p:spPr bwMode="auto">
          <a:xfrm>
            <a:off x="6934200" y="6096000"/>
            <a:ext cx="12192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46" name="Line 40"/>
          <p:cNvSpPr>
            <a:spLocks noChangeShapeType="1"/>
          </p:cNvSpPr>
          <p:nvPr/>
        </p:nvSpPr>
        <p:spPr bwMode="auto">
          <a:xfrm>
            <a:off x="6934200" y="6613525"/>
            <a:ext cx="12192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47" name="Line 41"/>
          <p:cNvSpPr>
            <a:spLocks noChangeShapeType="1"/>
          </p:cNvSpPr>
          <p:nvPr/>
        </p:nvSpPr>
        <p:spPr bwMode="auto">
          <a:xfrm>
            <a:off x="6934200" y="6096000"/>
            <a:ext cx="0" cy="517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48" name="Line 42"/>
          <p:cNvSpPr>
            <a:spLocks noChangeShapeType="1"/>
          </p:cNvSpPr>
          <p:nvPr/>
        </p:nvSpPr>
        <p:spPr bwMode="auto">
          <a:xfrm>
            <a:off x="7307263" y="6096000"/>
            <a:ext cx="0" cy="517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49" name="Line 43"/>
          <p:cNvSpPr>
            <a:spLocks noChangeShapeType="1"/>
          </p:cNvSpPr>
          <p:nvPr/>
        </p:nvSpPr>
        <p:spPr bwMode="auto">
          <a:xfrm>
            <a:off x="8153400" y="6096000"/>
            <a:ext cx="0" cy="517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50" name="Rectangle 44"/>
          <p:cNvSpPr>
            <a:spLocks noChangeArrowheads="1"/>
          </p:cNvSpPr>
          <p:nvPr/>
        </p:nvSpPr>
        <p:spPr bwMode="auto">
          <a:xfrm>
            <a:off x="7570788" y="5105400"/>
            <a:ext cx="735012" cy="517525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 u="sng"/>
              <a:t>pk</a:t>
            </a:r>
            <a:r>
              <a:rPr lang="en-US" sz="2400" b="0" u="sng" baseline="-25000"/>
              <a:t>D</a:t>
            </a:r>
          </a:p>
        </p:txBody>
      </p:sp>
      <p:sp>
        <p:nvSpPr>
          <p:cNvPr id="56351" name="Rectangle 45"/>
          <p:cNvSpPr>
            <a:spLocks noChangeArrowheads="1"/>
          </p:cNvSpPr>
          <p:nvPr/>
        </p:nvSpPr>
        <p:spPr bwMode="auto">
          <a:xfrm>
            <a:off x="6840538" y="5105400"/>
            <a:ext cx="730250" cy="517525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 u="sng"/>
              <a:t>pk</a:t>
            </a:r>
            <a:r>
              <a:rPr lang="en-US" sz="2400" b="0" u="sng" baseline="-25000"/>
              <a:t>C</a:t>
            </a:r>
          </a:p>
        </p:txBody>
      </p:sp>
      <p:sp>
        <p:nvSpPr>
          <p:cNvPr id="56352" name="Rectangle 46"/>
          <p:cNvSpPr>
            <a:spLocks noChangeArrowheads="1"/>
          </p:cNvSpPr>
          <p:nvPr/>
        </p:nvSpPr>
        <p:spPr bwMode="auto">
          <a:xfrm>
            <a:off x="6037263" y="5105400"/>
            <a:ext cx="803275" cy="517525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 u="sng"/>
              <a:t>pk</a:t>
            </a:r>
            <a:r>
              <a:rPr lang="en-US" sz="2400" b="0" u="sng" baseline="-25000"/>
              <a:t>B</a:t>
            </a:r>
          </a:p>
        </p:txBody>
      </p:sp>
      <p:sp>
        <p:nvSpPr>
          <p:cNvPr id="56353" name="Rectangle 47"/>
          <p:cNvSpPr>
            <a:spLocks noChangeArrowheads="1"/>
          </p:cNvSpPr>
          <p:nvPr/>
        </p:nvSpPr>
        <p:spPr bwMode="auto">
          <a:xfrm>
            <a:off x="5305425" y="5105400"/>
            <a:ext cx="731838" cy="517525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2400" b="0" u="sng"/>
              <a:t>pk</a:t>
            </a:r>
            <a:r>
              <a:rPr lang="en-US" sz="2400" b="0" u="sng" baseline="-25000"/>
              <a:t>A</a:t>
            </a:r>
          </a:p>
        </p:txBody>
      </p:sp>
      <p:sp>
        <p:nvSpPr>
          <p:cNvPr id="56354" name="Line 48"/>
          <p:cNvSpPr>
            <a:spLocks noChangeShapeType="1"/>
          </p:cNvSpPr>
          <p:nvPr/>
        </p:nvSpPr>
        <p:spPr bwMode="auto">
          <a:xfrm>
            <a:off x="5257800" y="5105400"/>
            <a:ext cx="3048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55" name="Line 49"/>
          <p:cNvSpPr>
            <a:spLocks noChangeShapeType="1"/>
          </p:cNvSpPr>
          <p:nvPr/>
        </p:nvSpPr>
        <p:spPr bwMode="auto">
          <a:xfrm flipV="1">
            <a:off x="5334000" y="5622925"/>
            <a:ext cx="2971800" cy="158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56" name="Line 50"/>
          <p:cNvSpPr>
            <a:spLocks noChangeShapeType="1"/>
          </p:cNvSpPr>
          <p:nvPr/>
        </p:nvSpPr>
        <p:spPr bwMode="auto">
          <a:xfrm>
            <a:off x="5318125" y="5105400"/>
            <a:ext cx="0" cy="517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57" name="Line 51"/>
          <p:cNvSpPr>
            <a:spLocks noChangeShapeType="1"/>
          </p:cNvSpPr>
          <p:nvPr/>
        </p:nvSpPr>
        <p:spPr bwMode="auto">
          <a:xfrm>
            <a:off x="5305425" y="5105400"/>
            <a:ext cx="0" cy="517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58" name="Line 52"/>
          <p:cNvSpPr>
            <a:spLocks noChangeShapeType="1"/>
          </p:cNvSpPr>
          <p:nvPr/>
        </p:nvSpPr>
        <p:spPr bwMode="auto">
          <a:xfrm>
            <a:off x="6037263" y="5105400"/>
            <a:ext cx="0" cy="517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59" name="Line 53"/>
          <p:cNvSpPr>
            <a:spLocks noChangeShapeType="1"/>
          </p:cNvSpPr>
          <p:nvPr/>
        </p:nvSpPr>
        <p:spPr bwMode="auto">
          <a:xfrm>
            <a:off x="6840538" y="5105400"/>
            <a:ext cx="0" cy="517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60" name="Line 54"/>
          <p:cNvSpPr>
            <a:spLocks noChangeShapeType="1"/>
          </p:cNvSpPr>
          <p:nvPr/>
        </p:nvSpPr>
        <p:spPr bwMode="auto">
          <a:xfrm>
            <a:off x="7570788" y="5105400"/>
            <a:ext cx="0" cy="517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61" name="Line 55"/>
          <p:cNvSpPr>
            <a:spLocks noChangeShapeType="1"/>
          </p:cNvSpPr>
          <p:nvPr/>
        </p:nvSpPr>
        <p:spPr bwMode="auto">
          <a:xfrm>
            <a:off x="8305800" y="5105400"/>
            <a:ext cx="0" cy="517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62" name="Line 56"/>
          <p:cNvSpPr>
            <a:spLocks noChangeShapeType="1"/>
          </p:cNvSpPr>
          <p:nvPr/>
        </p:nvSpPr>
        <p:spPr bwMode="auto">
          <a:xfrm flipH="1" flipV="1">
            <a:off x="4800600" y="4724400"/>
            <a:ext cx="838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63" name="Line 57"/>
          <p:cNvSpPr>
            <a:spLocks noChangeShapeType="1"/>
          </p:cNvSpPr>
          <p:nvPr/>
        </p:nvSpPr>
        <p:spPr bwMode="auto">
          <a:xfrm flipV="1">
            <a:off x="6477000" y="4572000"/>
            <a:ext cx="1143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64" name="Line 58"/>
          <p:cNvSpPr>
            <a:spLocks noChangeShapeType="1"/>
          </p:cNvSpPr>
          <p:nvPr/>
        </p:nvSpPr>
        <p:spPr bwMode="auto">
          <a:xfrm flipH="1">
            <a:off x="4800600" y="5638800"/>
            <a:ext cx="2286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65" name="Line 59"/>
          <p:cNvSpPr>
            <a:spLocks noChangeShapeType="1"/>
          </p:cNvSpPr>
          <p:nvPr/>
        </p:nvSpPr>
        <p:spPr bwMode="auto">
          <a:xfrm>
            <a:off x="7772400" y="56388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66" name="Text Box 60"/>
          <p:cNvSpPr txBox="1">
            <a:spLocks noChangeArrowheads="1"/>
          </p:cNvSpPr>
          <p:nvPr/>
        </p:nvSpPr>
        <p:spPr bwMode="auto">
          <a:xfrm>
            <a:off x="3886200" y="3787775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3333CC"/>
                </a:solidFill>
              </a:rPr>
              <a:t>A</a:t>
            </a:r>
          </a:p>
        </p:txBody>
      </p:sp>
      <p:sp>
        <p:nvSpPr>
          <p:cNvPr id="56367" name="Text Box 61"/>
          <p:cNvSpPr txBox="1">
            <a:spLocks noChangeArrowheads="1"/>
          </p:cNvSpPr>
          <p:nvPr/>
        </p:nvSpPr>
        <p:spPr bwMode="auto">
          <a:xfrm>
            <a:off x="6996113" y="3656013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3333CC"/>
                </a:solidFill>
              </a:rPr>
              <a:t>B</a:t>
            </a:r>
          </a:p>
        </p:txBody>
      </p:sp>
      <p:sp>
        <p:nvSpPr>
          <p:cNvPr id="56368" name="Text Box 62"/>
          <p:cNvSpPr txBox="1">
            <a:spLocks noChangeArrowheads="1"/>
          </p:cNvSpPr>
          <p:nvPr/>
        </p:nvSpPr>
        <p:spPr bwMode="auto">
          <a:xfrm>
            <a:off x="4876800" y="5105400"/>
            <a:ext cx="349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sz="1800"/>
              <a:t>R</a:t>
            </a:r>
          </a:p>
          <a:p>
            <a:endParaRPr lang="en-US" sz="1800" b="0"/>
          </a:p>
        </p:txBody>
      </p:sp>
      <p:sp>
        <p:nvSpPr>
          <p:cNvPr id="56369" name="Text Box 63"/>
          <p:cNvSpPr txBox="1">
            <a:spLocks noChangeArrowheads="1"/>
          </p:cNvSpPr>
          <p:nvPr/>
        </p:nvSpPr>
        <p:spPr bwMode="auto">
          <a:xfrm>
            <a:off x="3870325" y="5653088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3333CC"/>
                </a:solidFill>
              </a:rPr>
              <a:t>C</a:t>
            </a:r>
          </a:p>
        </p:txBody>
      </p:sp>
      <p:sp>
        <p:nvSpPr>
          <p:cNvPr id="56370" name="Text Box 64"/>
          <p:cNvSpPr txBox="1">
            <a:spLocks noChangeArrowheads="1"/>
          </p:cNvSpPr>
          <p:nvPr/>
        </p:nvSpPr>
        <p:spPr bwMode="auto">
          <a:xfrm>
            <a:off x="6918325" y="5729288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3333CC"/>
                </a:solidFill>
              </a:rPr>
              <a:t>D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57200" y="4765675"/>
            <a:ext cx="3005138" cy="1644650"/>
            <a:chOff x="288" y="3002"/>
            <a:chExt cx="1893" cy="1036"/>
          </a:xfrm>
        </p:grpSpPr>
        <p:sp>
          <p:nvSpPr>
            <p:cNvPr id="56375" name="Text Box 4"/>
            <p:cNvSpPr txBox="1">
              <a:spLocks noChangeArrowheads="1"/>
            </p:cNvSpPr>
            <p:nvPr/>
          </p:nvSpPr>
          <p:spPr bwMode="auto">
            <a:xfrm>
              <a:off x="374" y="3002"/>
              <a:ext cx="453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b="0">
                  <a:latin typeface="Times New Roman" pitchFamily="18" charset="0"/>
                </a:rPr>
                <a:t>  A  </a:t>
              </a:r>
            </a:p>
          </p:txBody>
        </p:sp>
        <p:sp>
          <p:nvSpPr>
            <p:cNvPr id="56376" name="Text Box 5"/>
            <p:cNvSpPr txBox="1">
              <a:spLocks noChangeArrowheads="1"/>
            </p:cNvSpPr>
            <p:nvPr/>
          </p:nvSpPr>
          <p:spPr bwMode="auto">
            <a:xfrm>
              <a:off x="288" y="3744"/>
              <a:ext cx="442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b="0">
                  <a:latin typeface="Times New Roman" pitchFamily="18" charset="0"/>
                </a:rPr>
                <a:t>  C  </a:t>
              </a:r>
            </a:p>
          </p:txBody>
        </p:sp>
        <p:sp>
          <p:nvSpPr>
            <p:cNvPr id="56377" name="Text Box 6"/>
            <p:cNvSpPr txBox="1">
              <a:spLocks noChangeArrowheads="1"/>
            </p:cNvSpPr>
            <p:nvPr/>
          </p:nvSpPr>
          <p:spPr bwMode="auto">
            <a:xfrm>
              <a:off x="1728" y="3024"/>
              <a:ext cx="442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b="0">
                  <a:latin typeface="Times New Roman" pitchFamily="18" charset="0"/>
                </a:rPr>
                <a:t>  B  </a:t>
              </a:r>
            </a:p>
          </p:txBody>
        </p:sp>
        <p:sp>
          <p:nvSpPr>
            <p:cNvPr id="56378" name="Text Box 7"/>
            <p:cNvSpPr txBox="1">
              <a:spLocks noChangeArrowheads="1"/>
            </p:cNvSpPr>
            <p:nvPr/>
          </p:nvSpPr>
          <p:spPr bwMode="auto">
            <a:xfrm>
              <a:off x="1728" y="3744"/>
              <a:ext cx="453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b="0">
                  <a:latin typeface="Times New Roman" pitchFamily="18" charset="0"/>
                </a:rPr>
                <a:t>  D  </a:t>
              </a:r>
            </a:p>
          </p:txBody>
        </p:sp>
        <p:sp>
          <p:nvSpPr>
            <p:cNvPr id="56379" name="AutoShape 8"/>
            <p:cNvSpPr>
              <a:spLocks noChangeArrowheads="1"/>
            </p:cNvSpPr>
            <p:nvPr/>
          </p:nvSpPr>
          <p:spPr bwMode="auto">
            <a:xfrm>
              <a:off x="960" y="3312"/>
              <a:ext cx="528" cy="528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56380" name="Text Box 9"/>
            <p:cNvSpPr txBox="1">
              <a:spLocks noChangeArrowheads="1"/>
            </p:cNvSpPr>
            <p:nvPr/>
          </p:nvSpPr>
          <p:spPr bwMode="auto">
            <a:xfrm>
              <a:off x="1104" y="3408"/>
              <a:ext cx="1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0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56381" name="Line 10"/>
            <p:cNvSpPr>
              <a:spLocks noChangeShapeType="1"/>
            </p:cNvSpPr>
            <p:nvPr/>
          </p:nvSpPr>
          <p:spPr bwMode="auto">
            <a:xfrm>
              <a:off x="816" y="3168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382" name="Line 11"/>
            <p:cNvSpPr>
              <a:spLocks noChangeShapeType="1"/>
            </p:cNvSpPr>
            <p:nvPr/>
          </p:nvSpPr>
          <p:spPr bwMode="auto">
            <a:xfrm flipV="1">
              <a:off x="720" y="3696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383" name="Line 12"/>
            <p:cNvSpPr>
              <a:spLocks noChangeShapeType="1"/>
            </p:cNvSpPr>
            <p:nvPr/>
          </p:nvSpPr>
          <p:spPr bwMode="auto">
            <a:xfrm flipV="1">
              <a:off x="1392" y="321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384" name="Line 13"/>
            <p:cNvSpPr>
              <a:spLocks noChangeShapeType="1"/>
            </p:cNvSpPr>
            <p:nvPr/>
          </p:nvSpPr>
          <p:spPr bwMode="auto">
            <a:xfrm>
              <a:off x="1344" y="3696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372" name="Text Box 14"/>
          <p:cNvSpPr txBox="1">
            <a:spLocks noChangeArrowheads="1"/>
          </p:cNvSpPr>
          <p:nvPr/>
        </p:nvSpPr>
        <p:spPr bwMode="auto">
          <a:xfrm>
            <a:off x="6324600" y="23622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 b="0">
              <a:latin typeface="Times New Roman" pitchFamily="18" charset="0"/>
            </a:endParaRPr>
          </a:p>
        </p:txBody>
      </p:sp>
      <p:sp>
        <p:nvSpPr>
          <p:cNvPr id="56373" name="Rectangle 15"/>
          <p:cNvSpPr>
            <a:spLocks noChangeArrowheads="1"/>
          </p:cNvSpPr>
          <p:nvPr/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000" b="0">
                <a:solidFill>
                  <a:schemeClr val="accent2"/>
                </a:solidFill>
              </a:rPr>
              <a:t>ER to Relational Mapping… (contd.)</a:t>
            </a:r>
          </a:p>
        </p:txBody>
      </p:sp>
      <p:sp>
        <p:nvSpPr>
          <p:cNvPr id="56374" name="Rectangle 31"/>
          <p:cNvSpPr>
            <a:spLocks noChangeArrowheads="1"/>
          </p:cNvSpPr>
          <p:nvPr/>
        </p:nvSpPr>
        <p:spPr bwMode="auto">
          <a:xfrm>
            <a:off x="3886200" y="4114800"/>
            <a:ext cx="381000" cy="569913"/>
          </a:xfrm>
          <a:prstGeom prst="rect">
            <a:avLst/>
          </a:prstGeom>
          <a:solidFill>
            <a:srgbClr val="9999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AutoShape 24"/>
          <p:cNvSpPr>
            <a:spLocks noChangeArrowheads="1"/>
          </p:cNvSpPr>
          <p:nvPr/>
        </p:nvSpPr>
        <p:spPr bwMode="auto">
          <a:xfrm>
            <a:off x="3581400" y="3429000"/>
            <a:ext cx="1371600" cy="12954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47" name="Oval 15"/>
          <p:cNvSpPr>
            <a:spLocks noChangeArrowheads="1"/>
          </p:cNvSpPr>
          <p:nvPr/>
        </p:nvSpPr>
        <p:spPr bwMode="auto">
          <a:xfrm>
            <a:off x="5689600" y="5370513"/>
            <a:ext cx="1195388" cy="644525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57348" name="Oval 14"/>
          <p:cNvSpPr>
            <a:spLocks noChangeArrowheads="1"/>
          </p:cNvSpPr>
          <p:nvPr/>
        </p:nvSpPr>
        <p:spPr bwMode="auto">
          <a:xfrm>
            <a:off x="4121150" y="5449888"/>
            <a:ext cx="1195388" cy="646112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57349" name="Oval 20"/>
          <p:cNvSpPr>
            <a:spLocks noChangeArrowheads="1"/>
          </p:cNvSpPr>
          <p:nvPr/>
        </p:nvSpPr>
        <p:spPr bwMode="auto">
          <a:xfrm>
            <a:off x="685800" y="5449888"/>
            <a:ext cx="822325" cy="646112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573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ER to Relational Mapping… (contd.)</a:t>
            </a:r>
          </a:p>
        </p:txBody>
      </p:sp>
      <p:sp>
        <p:nvSpPr>
          <p:cNvPr id="573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85788" y="1676400"/>
            <a:ext cx="8077200" cy="2133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600" b="1" smtClean="0"/>
              <a:t>ER Model			Relational Model</a:t>
            </a:r>
          </a:p>
          <a:p>
            <a:pPr eaLnBrk="1" hangingPunct="1">
              <a:buFontTx/>
              <a:buNone/>
            </a:pPr>
            <a:endParaRPr lang="en-US" sz="2200" smtClean="0"/>
          </a:p>
          <a:p>
            <a:pPr eaLnBrk="1" hangingPunct="1">
              <a:buFontTx/>
              <a:buNone/>
            </a:pPr>
            <a:r>
              <a:rPr lang="en-US" sz="2200" smtClean="0"/>
              <a:t>Weak Entity			Relations and combination of 					partial and primary keys</a:t>
            </a:r>
          </a:p>
        </p:txBody>
      </p:sp>
      <p:sp>
        <p:nvSpPr>
          <p:cNvPr id="57352" name="Text Box 9"/>
          <p:cNvSpPr txBox="1">
            <a:spLocks noChangeArrowheads="1"/>
          </p:cNvSpPr>
          <p:nvPr/>
        </p:nvSpPr>
        <p:spPr bwMode="auto">
          <a:xfrm>
            <a:off x="3810000" y="3810000"/>
            <a:ext cx="9620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b="0">
                <a:latin typeface="Times New Roman" pitchFamily="18" charset="0"/>
              </a:rPr>
              <a:t>Policy</a:t>
            </a:r>
          </a:p>
          <a:p>
            <a:pPr algn="ctr"/>
            <a:endParaRPr lang="en-US" sz="2400" b="0">
              <a:latin typeface="Times New Roman" pitchFamily="18" charset="0"/>
            </a:endParaRPr>
          </a:p>
        </p:txBody>
      </p:sp>
      <p:sp>
        <p:nvSpPr>
          <p:cNvPr id="57353" name="Text Box 10"/>
          <p:cNvSpPr txBox="1">
            <a:spLocks noChangeArrowheads="1"/>
          </p:cNvSpPr>
          <p:nvPr/>
        </p:nvSpPr>
        <p:spPr bwMode="auto">
          <a:xfrm>
            <a:off x="685800" y="3917950"/>
            <a:ext cx="1889125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EMPLOYEE</a:t>
            </a:r>
          </a:p>
        </p:txBody>
      </p:sp>
      <p:sp>
        <p:nvSpPr>
          <p:cNvPr id="57354" name="Line 11"/>
          <p:cNvSpPr>
            <a:spLocks noChangeShapeType="1"/>
          </p:cNvSpPr>
          <p:nvPr/>
        </p:nvSpPr>
        <p:spPr bwMode="auto">
          <a:xfrm>
            <a:off x="2552700" y="4078288"/>
            <a:ext cx="1120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5" name="Text Box 12"/>
          <p:cNvSpPr txBox="1">
            <a:spLocks noChangeArrowheads="1"/>
          </p:cNvSpPr>
          <p:nvPr/>
        </p:nvSpPr>
        <p:spPr bwMode="auto">
          <a:xfrm>
            <a:off x="4332288" y="5494338"/>
            <a:ext cx="842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name</a:t>
            </a:r>
          </a:p>
        </p:txBody>
      </p:sp>
      <p:sp>
        <p:nvSpPr>
          <p:cNvPr id="57356" name="Text Box 13"/>
          <p:cNvSpPr txBox="1">
            <a:spLocks noChangeArrowheads="1"/>
          </p:cNvSpPr>
          <p:nvPr/>
        </p:nvSpPr>
        <p:spPr bwMode="auto">
          <a:xfrm>
            <a:off x="6065838" y="5449888"/>
            <a:ext cx="606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pitchFamily="18" charset="0"/>
              </a:rPr>
              <a:t>age</a:t>
            </a:r>
          </a:p>
        </p:txBody>
      </p:sp>
      <p:sp>
        <p:nvSpPr>
          <p:cNvPr id="57357" name="Line 16"/>
          <p:cNvSpPr>
            <a:spLocks noChangeShapeType="1"/>
          </p:cNvSpPr>
          <p:nvPr/>
        </p:nvSpPr>
        <p:spPr bwMode="auto">
          <a:xfrm>
            <a:off x="4419600" y="5943600"/>
            <a:ext cx="5984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8" name="Line 17"/>
          <p:cNvSpPr>
            <a:spLocks noChangeShapeType="1"/>
          </p:cNvSpPr>
          <p:nvPr/>
        </p:nvSpPr>
        <p:spPr bwMode="auto">
          <a:xfrm flipV="1">
            <a:off x="4943475" y="4321175"/>
            <a:ext cx="1792288" cy="1128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9" name="Line 18"/>
          <p:cNvSpPr>
            <a:spLocks noChangeShapeType="1"/>
          </p:cNvSpPr>
          <p:nvPr/>
        </p:nvSpPr>
        <p:spPr bwMode="auto">
          <a:xfrm flipV="1">
            <a:off x="6661150" y="4321175"/>
            <a:ext cx="373063" cy="1128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60" name="Text Box 19"/>
          <p:cNvSpPr txBox="1">
            <a:spLocks noChangeArrowheads="1"/>
          </p:cNvSpPr>
          <p:nvPr/>
        </p:nvSpPr>
        <p:spPr bwMode="auto">
          <a:xfrm>
            <a:off x="908050" y="5530850"/>
            <a:ext cx="420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 u="sng">
                <a:latin typeface="Times New Roman" pitchFamily="18" charset="0"/>
              </a:rPr>
              <a:t>id</a:t>
            </a:r>
          </a:p>
        </p:txBody>
      </p:sp>
      <p:sp>
        <p:nvSpPr>
          <p:cNvPr id="57361" name="Line 21"/>
          <p:cNvSpPr>
            <a:spLocks noChangeShapeType="1"/>
          </p:cNvSpPr>
          <p:nvPr/>
        </p:nvSpPr>
        <p:spPr bwMode="auto">
          <a:xfrm flipV="1">
            <a:off x="1058863" y="4402138"/>
            <a:ext cx="223837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62" name="Text Box 23"/>
          <p:cNvSpPr txBox="1">
            <a:spLocks noChangeArrowheads="1"/>
          </p:cNvSpPr>
          <p:nvPr/>
        </p:nvSpPr>
        <p:spPr bwMode="auto">
          <a:xfrm>
            <a:off x="5838825" y="3756025"/>
            <a:ext cx="2390775" cy="495300"/>
          </a:xfrm>
          <a:prstGeom prst="rect">
            <a:avLst/>
          </a:prstGeom>
          <a:solidFill>
            <a:srgbClr val="9999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0">
                <a:latin typeface="Times New Roman" pitchFamily="18" charset="0"/>
              </a:rPr>
              <a:t>DEPENDENTS</a:t>
            </a:r>
          </a:p>
        </p:txBody>
      </p:sp>
      <p:sp>
        <p:nvSpPr>
          <p:cNvPr id="57363" name="Line 25"/>
          <p:cNvSpPr>
            <a:spLocks noChangeShapeType="1"/>
          </p:cNvSpPr>
          <p:nvPr/>
        </p:nvSpPr>
        <p:spPr bwMode="auto">
          <a:xfrm>
            <a:off x="4953000" y="4038600"/>
            <a:ext cx="8382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64" name="Text Box 26"/>
          <p:cNvSpPr txBox="1">
            <a:spLocks noChangeArrowheads="1"/>
          </p:cNvSpPr>
          <p:nvPr/>
        </p:nvSpPr>
        <p:spPr bwMode="auto">
          <a:xfrm>
            <a:off x="2879725" y="3592513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57365" name="Text Box 27"/>
          <p:cNvSpPr txBox="1">
            <a:spLocks noChangeArrowheads="1"/>
          </p:cNvSpPr>
          <p:nvPr/>
        </p:nvSpPr>
        <p:spPr bwMode="auto">
          <a:xfrm>
            <a:off x="5165725" y="3516313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ER to Relational Mapping… (contd.)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431925" y="1789113"/>
            <a:ext cx="4359275" cy="954087"/>
            <a:chOff x="806" y="1031"/>
            <a:chExt cx="2746" cy="601"/>
          </a:xfrm>
        </p:grpSpPr>
        <p:sp>
          <p:nvSpPr>
            <p:cNvPr id="58384" name="Rectangle 4"/>
            <p:cNvSpPr>
              <a:spLocks noChangeArrowheads="1"/>
            </p:cNvSpPr>
            <p:nvPr/>
          </p:nvSpPr>
          <p:spPr bwMode="auto">
            <a:xfrm>
              <a:off x="2496" y="1296"/>
              <a:ext cx="1056" cy="336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58385" name="Rectangle 5"/>
            <p:cNvSpPr>
              <a:spLocks noChangeArrowheads="1"/>
            </p:cNvSpPr>
            <p:nvPr/>
          </p:nvSpPr>
          <p:spPr bwMode="auto">
            <a:xfrm>
              <a:off x="1632" y="1296"/>
              <a:ext cx="864" cy="336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endParaRPr lang="en-US" sz="2400" b="0"/>
            </a:p>
          </p:txBody>
        </p:sp>
        <p:sp>
          <p:nvSpPr>
            <p:cNvPr id="58386" name="Rectangle 6"/>
            <p:cNvSpPr>
              <a:spLocks noChangeArrowheads="1"/>
            </p:cNvSpPr>
            <p:nvPr/>
          </p:nvSpPr>
          <p:spPr bwMode="auto">
            <a:xfrm>
              <a:off x="864" y="1296"/>
              <a:ext cx="768" cy="336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sz="2400" b="0" u="sng"/>
                <a:t>id</a:t>
              </a:r>
            </a:p>
          </p:txBody>
        </p:sp>
        <p:sp>
          <p:nvSpPr>
            <p:cNvPr id="58387" name="Line 7"/>
            <p:cNvSpPr>
              <a:spLocks noChangeShapeType="1"/>
            </p:cNvSpPr>
            <p:nvPr/>
          </p:nvSpPr>
          <p:spPr bwMode="auto">
            <a:xfrm>
              <a:off x="864" y="1296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88" name="Line 8"/>
            <p:cNvSpPr>
              <a:spLocks noChangeShapeType="1"/>
            </p:cNvSpPr>
            <p:nvPr/>
          </p:nvSpPr>
          <p:spPr bwMode="auto">
            <a:xfrm>
              <a:off x="864" y="1632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89" name="Line 9"/>
            <p:cNvSpPr>
              <a:spLocks noChangeShapeType="1"/>
            </p:cNvSpPr>
            <p:nvPr/>
          </p:nvSpPr>
          <p:spPr bwMode="auto">
            <a:xfrm>
              <a:off x="864" y="1296"/>
              <a:ext cx="0" cy="3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90" name="Line 10"/>
            <p:cNvSpPr>
              <a:spLocks noChangeShapeType="1"/>
            </p:cNvSpPr>
            <p:nvPr/>
          </p:nvSpPr>
          <p:spPr bwMode="auto">
            <a:xfrm>
              <a:off x="1632" y="129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91" name="Line 11"/>
            <p:cNvSpPr>
              <a:spLocks noChangeShapeType="1"/>
            </p:cNvSpPr>
            <p:nvPr/>
          </p:nvSpPr>
          <p:spPr bwMode="auto">
            <a:xfrm>
              <a:off x="2496" y="129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92" name="Line 12"/>
            <p:cNvSpPr>
              <a:spLocks noChangeShapeType="1"/>
            </p:cNvSpPr>
            <p:nvPr/>
          </p:nvSpPr>
          <p:spPr bwMode="auto">
            <a:xfrm>
              <a:off x="3552" y="1296"/>
              <a:ext cx="0" cy="3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93" name="Text Box 13"/>
            <p:cNvSpPr txBox="1">
              <a:spLocks noChangeArrowheads="1"/>
            </p:cNvSpPr>
            <p:nvPr/>
          </p:nvSpPr>
          <p:spPr bwMode="auto">
            <a:xfrm>
              <a:off x="806" y="1031"/>
              <a:ext cx="9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accent2"/>
                  </a:solidFill>
                </a:rPr>
                <a:t>EMPLOYEE</a:t>
              </a:r>
            </a:p>
          </p:txBody>
        </p:sp>
      </p:grpSp>
      <p:sp>
        <p:nvSpPr>
          <p:cNvPr id="58372" name="Line 14"/>
          <p:cNvSpPr>
            <a:spLocks noChangeShapeType="1"/>
          </p:cNvSpPr>
          <p:nvPr/>
        </p:nvSpPr>
        <p:spPr bwMode="auto">
          <a:xfrm flipH="1" flipV="1">
            <a:off x="1905000" y="2743200"/>
            <a:ext cx="1143000" cy="1600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514600" y="3962400"/>
            <a:ext cx="4359275" cy="990600"/>
            <a:chOff x="1584" y="2496"/>
            <a:chExt cx="2746" cy="624"/>
          </a:xfrm>
        </p:grpSpPr>
        <p:sp>
          <p:nvSpPr>
            <p:cNvPr id="58374" name="Rectangle 16"/>
            <p:cNvSpPr>
              <a:spLocks noChangeArrowheads="1"/>
            </p:cNvSpPr>
            <p:nvPr/>
          </p:nvSpPr>
          <p:spPr bwMode="auto">
            <a:xfrm>
              <a:off x="3274" y="2761"/>
              <a:ext cx="1056" cy="336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sz="2400" b="0"/>
                <a:t>age</a:t>
              </a:r>
            </a:p>
          </p:txBody>
        </p:sp>
        <p:sp>
          <p:nvSpPr>
            <p:cNvPr id="58375" name="Rectangle 17"/>
            <p:cNvSpPr>
              <a:spLocks noChangeArrowheads="1"/>
            </p:cNvSpPr>
            <p:nvPr/>
          </p:nvSpPr>
          <p:spPr bwMode="auto">
            <a:xfrm>
              <a:off x="2400" y="2784"/>
              <a:ext cx="864" cy="336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sz="2400" b="0" u="sng"/>
                <a:t>name</a:t>
              </a:r>
            </a:p>
          </p:txBody>
        </p:sp>
        <p:sp>
          <p:nvSpPr>
            <p:cNvPr id="58376" name="Rectangle 18"/>
            <p:cNvSpPr>
              <a:spLocks noChangeArrowheads="1"/>
            </p:cNvSpPr>
            <p:nvPr/>
          </p:nvSpPr>
          <p:spPr bwMode="auto">
            <a:xfrm>
              <a:off x="1642" y="2761"/>
              <a:ext cx="768" cy="336"/>
            </a:xfrm>
            <a:prstGeom prst="rect">
              <a:avLst/>
            </a:pr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sz="2400" b="0" u="sng"/>
                <a:t>id</a:t>
              </a:r>
            </a:p>
          </p:txBody>
        </p:sp>
        <p:sp>
          <p:nvSpPr>
            <p:cNvPr id="58377" name="Line 19"/>
            <p:cNvSpPr>
              <a:spLocks noChangeShapeType="1"/>
            </p:cNvSpPr>
            <p:nvPr/>
          </p:nvSpPr>
          <p:spPr bwMode="auto">
            <a:xfrm>
              <a:off x="1642" y="2761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78" name="Line 20"/>
            <p:cNvSpPr>
              <a:spLocks noChangeShapeType="1"/>
            </p:cNvSpPr>
            <p:nvPr/>
          </p:nvSpPr>
          <p:spPr bwMode="auto">
            <a:xfrm>
              <a:off x="1642" y="3097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79" name="Line 21"/>
            <p:cNvSpPr>
              <a:spLocks noChangeShapeType="1"/>
            </p:cNvSpPr>
            <p:nvPr/>
          </p:nvSpPr>
          <p:spPr bwMode="auto">
            <a:xfrm>
              <a:off x="1642" y="2761"/>
              <a:ext cx="0" cy="3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80" name="Line 22"/>
            <p:cNvSpPr>
              <a:spLocks noChangeShapeType="1"/>
            </p:cNvSpPr>
            <p:nvPr/>
          </p:nvSpPr>
          <p:spPr bwMode="auto">
            <a:xfrm>
              <a:off x="2410" y="2761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81" name="Line 23"/>
            <p:cNvSpPr>
              <a:spLocks noChangeShapeType="1"/>
            </p:cNvSpPr>
            <p:nvPr/>
          </p:nvSpPr>
          <p:spPr bwMode="auto">
            <a:xfrm>
              <a:off x="3274" y="2761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82" name="Line 24"/>
            <p:cNvSpPr>
              <a:spLocks noChangeShapeType="1"/>
            </p:cNvSpPr>
            <p:nvPr/>
          </p:nvSpPr>
          <p:spPr bwMode="auto">
            <a:xfrm>
              <a:off x="4330" y="2761"/>
              <a:ext cx="0" cy="3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83" name="Text Box 25"/>
            <p:cNvSpPr txBox="1">
              <a:spLocks noChangeArrowheads="1"/>
            </p:cNvSpPr>
            <p:nvPr/>
          </p:nvSpPr>
          <p:spPr bwMode="auto">
            <a:xfrm>
              <a:off x="1584" y="2496"/>
              <a:ext cx="1100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accent2"/>
                  </a:solidFill>
                </a:rPr>
                <a:t>DEPENDENTS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Mapping - Summary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600200"/>
            <a:ext cx="77724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smtClean="0"/>
              <a:t>	ER Model			Relational Model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Entity (strong)	   -&gt;</a:t>
            </a:r>
            <a:r>
              <a:rPr lang="en-US" sz="2000" smtClean="0">
                <a:sym typeface="Wingdings" pitchFamily="2" charset="2"/>
              </a:rPr>
              <a:t>	Relation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Simple Attributes	   -&gt; </a:t>
            </a:r>
            <a:r>
              <a:rPr lang="en-US" sz="2000" smtClean="0">
                <a:sym typeface="Wingdings" pitchFamily="2" charset="2"/>
              </a:rPr>
              <a:t>	Attributes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Primary Key		   -&gt; 	Primary Key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Composite attributes 	   -&gt; 	</a:t>
            </a:r>
            <a:r>
              <a:rPr lang="en-US" sz="2000" smtClean="0">
                <a:sym typeface="Wingdings" pitchFamily="2" charset="2"/>
              </a:rPr>
              <a:t>Set of simple attributes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1:1 or 1:N relationship  -&gt; 	</a:t>
            </a:r>
            <a:r>
              <a:rPr lang="en-US" sz="2000" smtClean="0">
                <a:sym typeface="Wingdings" pitchFamily="2" charset="2"/>
              </a:rPr>
              <a:t>Foreign keys 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M:N relationship	   -&gt; 	Relation and foreign keys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Multivalued attribute 	   -&gt; 	</a:t>
            </a:r>
            <a:r>
              <a:rPr lang="en-US" sz="2000" smtClean="0">
                <a:sym typeface="Wingdings" pitchFamily="2" charset="2"/>
              </a:rPr>
              <a:t>Relation and foreign key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N-ary relationship	   -&gt; 	Relation and n foreign keys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Weak Entity		   -&gt; 	Relation and combination of 	 -&gt; 				primary and partial keys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b="1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>
                <a:sym typeface="Wingdings" pitchFamily="2" charset="2"/>
              </a:rPr>
              <a:t>						</a:t>
            </a:r>
            <a:endParaRPr lang="en-US" sz="2000" b="1" smtClean="0">
              <a:sym typeface="Wingdings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>
                <a:sym typeface="Wingdings" pitchFamily="2" charset="2"/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Your Turn</a:t>
            </a:r>
          </a:p>
        </p:txBody>
      </p:sp>
      <p:pic>
        <p:nvPicPr>
          <p:cNvPr id="6041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mtClean="0"/>
              <a:t>Use the rules introduced to build a set of tables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Have two 1:N relations between Branch &amp; Film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Examine the link between Customer and Film copy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F29F-8EBD-4955-8135-77E3F3B8D1F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902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838</TotalTime>
  <Words>478</Words>
  <Application>Microsoft Office PowerPoint</Application>
  <PresentationFormat>On-screen Show (4:3)</PresentationFormat>
  <Paragraphs>176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HNDIT</vt:lpstr>
      <vt:lpstr>1_HNDIT</vt:lpstr>
      <vt:lpstr>HNDIT 1105  DBMS </vt:lpstr>
      <vt:lpstr>ER to Relational Mapping…</vt:lpstr>
      <vt:lpstr>Model Mapping </vt:lpstr>
      <vt:lpstr>Core Concepts (Review)</vt:lpstr>
      <vt:lpstr>Core Concepts (Review)</vt:lpstr>
      <vt:lpstr>ER to Relational Mapping… (contd.)</vt:lpstr>
      <vt:lpstr>ER to Relational Mapping… (contd.)</vt:lpstr>
      <vt:lpstr>ER to Relational Mapping… (contd.)</vt:lpstr>
      <vt:lpstr>ER to Relational Mapping… (contd.)</vt:lpstr>
      <vt:lpstr>Rules to Convert  (ER – Tables)</vt:lpstr>
      <vt:lpstr>Conversion</vt:lpstr>
      <vt:lpstr>Conversion</vt:lpstr>
      <vt:lpstr>Conversion</vt:lpstr>
      <vt:lpstr>ER to Relational Mapping… (contd.)</vt:lpstr>
      <vt:lpstr>Slide 15</vt:lpstr>
      <vt:lpstr>ER to Relational Mapping… (contd.)</vt:lpstr>
      <vt:lpstr>ER to Relational Mapping… (contd.)</vt:lpstr>
      <vt:lpstr>Mapping - Summary</vt:lpstr>
      <vt:lpstr>Your Turn</vt:lpstr>
      <vt:lpstr>Slide 20</vt:lpstr>
      <vt:lpstr>Questions?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sethu</cp:lastModifiedBy>
  <cp:revision>134</cp:revision>
  <dcterms:created xsi:type="dcterms:W3CDTF">2014-03-07T13:02:25Z</dcterms:created>
  <dcterms:modified xsi:type="dcterms:W3CDTF">2018-07-13T02:11:58Z</dcterms:modified>
</cp:coreProperties>
</file>