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7"/>
  </p:notesMasterIdLst>
  <p:sldIdLst>
    <p:sldId id="257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0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6/20/2018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48252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20EDD0-B047-4E8B-B419-2987068AC9C9}" type="slidenum">
              <a:rPr lang="en-US" altLang="en-US" sz="1200" b="0"/>
              <a:pPr eaLnBrk="1" hangingPunct="1"/>
              <a:t>27</a:t>
            </a:fld>
            <a:endParaRPr lang="en-US" altLang="en-US" sz="1200" b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C1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C2 represents a </a:t>
            </a:r>
            <a:r>
              <a:rPr lang="en-US" altLang="en-US" i="1" smtClean="0"/>
              <a:t>partial dependency</a:t>
            </a:r>
            <a:r>
              <a:rPr lang="en-US" altLang="en-US" smtClean="0"/>
              <a:t>, because C2 depends only on C1, rather than on the entire primary key composed of C1 and C3.</a:t>
            </a:r>
          </a:p>
          <a:p>
            <a:pPr eaLnBrk="1" hangingPunct="1"/>
            <a:r>
              <a:rPr lang="en-US" altLang="en-US" smtClean="0"/>
              <a:t>C4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C5 represents a </a:t>
            </a:r>
            <a:r>
              <a:rPr lang="en-US" altLang="en-US" i="1" smtClean="0"/>
              <a:t>transitive dependency</a:t>
            </a:r>
            <a:r>
              <a:rPr lang="en-US" altLang="en-US" smtClean="0"/>
              <a:t>, because C5 depends on an attribute (C4) that is not part of a primary key.</a:t>
            </a:r>
          </a:p>
          <a:p>
            <a:pPr eaLnBrk="1" hangingPunct="1"/>
            <a:r>
              <a:rPr lang="en-US" altLang="en-US" smtClean="0"/>
              <a:t>C1, C3 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C2,</a:t>
            </a:r>
            <a:r>
              <a:rPr lang="en-US" altLang="en-US" b="1" smtClean="0"/>
              <a:t> </a:t>
            </a:r>
            <a:r>
              <a:rPr lang="en-US" altLang="en-US" smtClean="0"/>
              <a:t>C4, C5 represents a functional dependency, because C2, C4, and C5 depend on the primary key composed of C1 and C3.</a:t>
            </a: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63334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1ED648-35FD-4B1C-A636-1D2D94594748}" type="slidenum">
              <a:rPr lang="en-US" altLang="en-US" sz="1200" b="0"/>
              <a:pPr eaLnBrk="1" hangingPunct="1"/>
              <a:t>33</a:t>
            </a:fld>
            <a:endParaRPr lang="en-US" altLang="en-US" sz="1200" b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3275"/>
            <a:ext cx="4259263" cy="319405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268788"/>
            <a:ext cx="5064125" cy="3990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/>
              <a:t>Student results table</a:t>
            </a:r>
          </a:p>
        </p:txBody>
      </p:sp>
    </p:spTree>
    <p:extLst>
      <p:ext uri="{BB962C8B-B14F-4D97-AF65-F5344CB8AC3E}">
        <p14:creationId xmlns:p14="http://schemas.microsoft.com/office/powerpoint/2010/main" val="349386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1950"/>
            <a:ext cx="6324600" cy="70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95400"/>
            <a:ext cx="42672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2672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14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1950"/>
            <a:ext cx="6324600" cy="70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214933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6" r:id="rId12"/>
    <p:sldLayoutId id="2147483687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705600" cy="685800"/>
          </a:xfrm>
          <a:noFill/>
        </p:spPr>
        <p:txBody>
          <a:bodyPr anchorCtr="1"/>
          <a:lstStyle/>
          <a:p>
            <a:r>
              <a:rPr lang="en-US" altLang="en-US" dirty="0"/>
              <a:t>Normalization</a:t>
            </a:r>
            <a:endParaRPr lang="en-US" altLang="en-US" dirty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876800" y="2362200"/>
            <a:ext cx="4191000" cy="1828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>
                <a:ea typeface="Calibri"/>
                <a:cs typeface="Latha"/>
              </a:rPr>
              <a:t/>
            </a:r>
            <a:br>
              <a:rPr lang="en-US" dirty="0">
                <a:ea typeface="Calibri"/>
                <a:cs typeface="Latha"/>
              </a:rPr>
            </a:br>
            <a:r>
              <a:rPr lang="en-US" dirty="0">
                <a:ea typeface="Calibri"/>
                <a:cs typeface="Latha"/>
              </a:rPr>
              <a:t>DBMS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19219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Unnormalized Form (UNF)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47788"/>
            <a:ext cx="8599488" cy="19288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 smtClean="0"/>
              <a:t>A table that contains one or more repeating groups.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smtClean="0">
              <a:latin typeface="CG Times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400" smtClean="0"/>
              <a:t>To create an unnormalized table:</a:t>
            </a:r>
            <a:r>
              <a:rPr lang="en-GB" altLang="en-US" sz="2400" smtClean="0">
                <a:latin typeface="CG Times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smtClean="0"/>
              <a:t>Transform data from information source (e.g. form) into table format with columns and rows.</a:t>
            </a:r>
          </a:p>
        </p:txBody>
      </p:sp>
      <p:graphicFrame>
        <p:nvGraphicFramePr>
          <p:cNvPr id="447513" name="Group 25"/>
          <p:cNvGraphicFramePr>
            <a:graphicFrameLocks noGrp="1"/>
          </p:cNvGraphicFramePr>
          <p:nvPr>
            <p:ph sz="half" idx="2"/>
          </p:nvPr>
        </p:nvGraphicFramePr>
        <p:xfrm>
          <a:off x="315913" y="4208463"/>
          <a:ext cx="8586787" cy="1811338"/>
        </p:xfrm>
        <a:graphic>
          <a:graphicData uri="http://schemas.openxmlformats.org/drawingml/2006/table">
            <a:tbl>
              <a:tblPr/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Address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Phone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Sally Singer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123 Broadway New York, NY, 11234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(111) 222-3345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Jason Jumper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456 Jolly Jumper St. Trenton NJ, 11547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(222) 334-5566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684213" y="3422650"/>
            <a:ext cx="728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Example 1 – address and name fields are composite</a:t>
            </a:r>
          </a:p>
        </p:txBody>
      </p:sp>
    </p:spTree>
    <p:extLst>
      <p:ext uri="{BB962C8B-B14F-4D97-AF65-F5344CB8AC3E}">
        <p14:creationId xmlns:p14="http://schemas.microsoft.com/office/powerpoint/2010/main" val="80622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Another example of UNF</a:t>
            </a:r>
          </a:p>
        </p:txBody>
      </p:sp>
      <p:graphicFrame>
        <p:nvGraphicFramePr>
          <p:cNvPr id="448559" name="Group 47"/>
          <p:cNvGraphicFramePr>
            <a:graphicFrameLocks noGrp="1"/>
          </p:cNvGraphicFramePr>
          <p:nvPr>
            <p:ph idx="1"/>
          </p:nvPr>
        </p:nvGraphicFramePr>
        <p:xfrm>
          <a:off x="395288" y="3213100"/>
          <a:ext cx="8366125" cy="187325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Rep 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Representative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TS-89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Gilroy Gladstone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US Corp.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14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Taggarts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26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Kilroy Inc.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RK-56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Mary Mayhem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Italiana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67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Linkers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57" name="Text Box 41"/>
          <p:cNvSpPr txBox="1">
            <a:spLocks noChangeArrowheads="1"/>
          </p:cNvSpPr>
          <p:nvPr/>
        </p:nvSpPr>
        <p:spPr bwMode="auto">
          <a:xfrm>
            <a:off x="457200" y="1550988"/>
            <a:ext cx="7848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Example 2 – repeating columns for each client &amp;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 composite name field</a:t>
            </a:r>
          </a:p>
        </p:txBody>
      </p:sp>
    </p:spTree>
    <p:extLst>
      <p:ext uri="{BB962C8B-B14F-4D97-AF65-F5344CB8AC3E}">
        <p14:creationId xmlns:p14="http://schemas.microsoft.com/office/powerpoint/2010/main" val="5491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UNF to 1NF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altLang="en-US" sz="2400" smtClean="0"/>
          </a:p>
          <a:p>
            <a:pPr eaLnBrk="1" hangingPunct="1"/>
            <a:r>
              <a:rPr lang="en-GB" altLang="en-US" sz="2400" smtClean="0"/>
              <a:t>Remove repeating group by:</a:t>
            </a:r>
          </a:p>
          <a:p>
            <a:pPr lvl="1" eaLnBrk="1" hangingPunct="1"/>
            <a:r>
              <a:rPr lang="en-GB" altLang="en-US" sz="2400" smtClean="0"/>
              <a:t>entering appropriate data into the empty columns of rows containing repeating data (‘flattening’ the table).</a:t>
            </a:r>
          </a:p>
          <a:p>
            <a:pPr eaLnBrk="1" hangingPunct="1">
              <a:buFontTx/>
              <a:buNone/>
            </a:pPr>
            <a:r>
              <a:rPr lang="en-GB" altLang="en-US" sz="2400" smtClean="0"/>
              <a:t>	</a:t>
            </a:r>
          </a:p>
          <a:p>
            <a:pPr eaLnBrk="1" hangingPunct="1">
              <a:buFontTx/>
              <a:buNone/>
            </a:pPr>
            <a:r>
              <a:rPr lang="en-GB" altLang="en-US" sz="2400" smtClean="0"/>
              <a:t>	Or by</a:t>
            </a:r>
            <a:endParaRPr lang="en-GB" altLang="en-US" sz="2400" i="1" smtClean="0"/>
          </a:p>
          <a:p>
            <a:pPr lvl="1" eaLnBrk="1" hangingPunct="1"/>
            <a:r>
              <a:rPr lang="en-GB" altLang="en-US" sz="2400" smtClean="0"/>
              <a:t>placing repeating data along with copy of the original key attribute(s) into a separate relation.</a:t>
            </a:r>
          </a:p>
        </p:txBody>
      </p:sp>
    </p:spTree>
    <p:extLst>
      <p:ext uri="{BB962C8B-B14F-4D97-AF65-F5344CB8AC3E}">
        <p14:creationId xmlns:p14="http://schemas.microsoft.com/office/powerpoint/2010/main" val="395736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56388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smtClean="0">
                <a:solidFill>
                  <a:srgbClr val="FF6600"/>
                </a:solidFill>
              </a:rPr>
              <a:t>1</a:t>
            </a:r>
            <a:r>
              <a:rPr lang="en-US" altLang="en-US" b="1" baseline="30000" smtClean="0">
                <a:solidFill>
                  <a:srgbClr val="FF6600"/>
                </a:solidFill>
              </a:rPr>
              <a:t>st</a:t>
            </a:r>
            <a:r>
              <a:rPr lang="en-US" altLang="en-US" b="1" smtClean="0">
                <a:solidFill>
                  <a:srgbClr val="FF6600"/>
                </a:solidFill>
              </a:rPr>
              <a:t> Normal Form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relation R is in first normal form (1NF) if domains of all attributes in the relation are </a:t>
            </a:r>
            <a:r>
              <a:rPr lang="en-US" altLang="en-US" i="1" smtClean="0"/>
              <a:t>atomic </a:t>
            </a:r>
            <a:r>
              <a:rPr lang="en-US" altLang="en-US" smtClean="0"/>
              <a:t>(simple &amp; indivisible). 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Avoid multivalued &amp; composite attributes.</a:t>
            </a:r>
          </a:p>
        </p:txBody>
      </p:sp>
      <p:pic>
        <p:nvPicPr>
          <p:cNvPr id="36868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09800"/>
            <a:ext cx="20732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651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2"/>
          <p:cNvSpPr>
            <a:spLocks noChangeArrowheads="1"/>
          </p:cNvSpPr>
          <p:nvPr/>
        </p:nvSpPr>
        <p:spPr bwMode="auto">
          <a:xfrm>
            <a:off x="762000" y="3128963"/>
            <a:ext cx="7924800" cy="169545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Normalization</a:t>
            </a:r>
            <a:endParaRPr lang="en-US" altLang="en-US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00200"/>
            <a:ext cx="8305800" cy="480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For example…</a:t>
            </a:r>
          </a:p>
          <a:p>
            <a:pPr eaLnBrk="1" hangingPunct="1">
              <a:buFontTx/>
              <a:buNone/>
            </a:pPr>
            <a:r>
              <a:rPr lang="en-US" altLang="en-US" sz="2000" b="1" smtClean="0"/>
              <a:t>DEPARTMENT (Dname,</a:t>
            </a:r>
            <a:r>
              <a:rPr lang="en-US" altLang="en-US" sz="2000" b="1" u="sng" smtClean="0"/>
              <a:t>Dnumber</a:t>
            </a:r>
            <a:r>
              <a:rPr lang="en-US" altLang="en-US" sz="2000" b="1" smtClean="0"/>
              <a:t>, DMGRSSN, DLocation)</a:t>
            </a:r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/>
            <a:r>
              <a:rPr lang="en-US" altLang="en-US" sz="2400" smtClean="0"/>
              <a:t>Department relation not in 1NF</a:t>
            </a:r>
          </a:p>
          <a:p>
            <a:pPr eaLnBrk="1" hangingPunct="1"/>
            <a:r>
              <a:rPr lang="en-US" altLang="en-US" sz="2400" smtClean="0"/>
              <a:t>How to take into 1NF ?</a:t>
            </a:r>
          </a:p>
        </p:txBody>
      </p:sp>
      <p:sp>
        <p:nvSpPr>
          <p:cNvPr id="37893" name="Rectangle 19"/>
          <p:cNvSpPr>
            <a:spLocks noChangeArrowheads="1"/>
          </p:cNvSpPr>
          <p:nvPr/>
        </p:nvSpPr>
        <p:spPr bwMode="auto">
          <a:xfrm>
            <a:off x="9906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0"/>
              <a:t>DEPARTMENT</a:t>
            </a:r>
          </a:p>
        </p:txBody>
      </p:sp>
      <p:grpSp>
        <p:nvGrpSpPr>
          <p:cNvPr id="37894" name="Group 71"/>
          <p:cNvGrpSpPr>
            <a:grpSpLocks/>
          </p:cNvGrpSpPr>
          <p:nvPr/>
        </p:nvGrpSpPr>
        <p:grpSpPr bwMode="auto">
          <a:xfrm>
            <a:off x="769938" y="3130550"/>
            <a:ext cx="7908925" cy="1692275"/>
            <a:chOff x="0" y="0"/>
            <a:chExt cx="3142" cy="2419"/>
          </a:xfrm>
        </p:grpSpPr>
        <p:grpSp>
          <p:nvGrpSpPr>
            <p:cNvPr id="37895" name="Group 40"/>
            <p:cNvGrpSpPr>
              <a:grpSpLocks/>
            </p:cNvGrpSpPr>
            <p:nvPr/>
          </p:nvGrpSpPr>
          <p:grpSpPr bwMode="auto">
            <a:xfrm>
              <a:off x="0" y="0"/>
              <a:ext cx="660" cy="980"/>
              <a:chOff x="0" y="0"/>
              <a:chExt cx="660" cy="980"/>
            </a:xfrm>
          </p:grpSpPr>
          <p:sp>
            <p:nvSpPr>
              <p:cNvPr id="37941" name="Rectangle 23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574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DNAME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42" name="Rectangle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60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6" name="Group 42"/>
            <p:cNvGrpSpPr>
              <a:grpSpLocks/>
            </p:cNvGrpSpPr>
            <p:nvPr/>
          </p:nvGrpSpPr>
          <p:grpSpPr bwMode="auto">
            <a:xfrm>
              <a:off x="660" y="0"/>
              <a:ext cx="581" cy="980"/>
              <a:chOff x="660" y="0"/>
              <a:chExt cx="581" cy="980"/>
            </a:xfrm>
          </p:grpSpPr>
          <p:sp>
            <p:nvSpPr>
              <p:cNvPr id="37939" name="Rectangle 24"/>
              <p:cNvSpPr>
                <a:spLocks noChangeArrowheads="1"/>
              </p:cNvSpPr>
              <p:nvPr/>
            </p:nvSpPr>
            <p:spPr bwMode="auto">
              <a:xfrm>
                <a:off x="703" y="0"/>
                <a:ext cx="495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40" name="Rectangle 41"/>
              <p:cNvSpPr>
                <a:spLocks noChangeArrowheads="1"/>
              </p:cNvSpPr>
              <p:nvPr/>
            </p:nvSpPr>
            <p:spPr bwMode="auto">
              <a:xfrm>
                <a:off x="660" y="0"/>
                <a:ext cx="581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7" name="Group 44"/>
            <p:cNvGrpSpPr>
              <a:grpSpLocks/>
            </p:cNvGrpSpPr>
            <p:nvPr/>
          </p:nvGrpSpPr>
          <p:grpSpPr bwMode="auto">
            <a:xfrm>
              <a:off x="1241" y="0"/>
              <a:ext cx="623" cy="980"/>
              <a:chOff x="1241" y="0"/>
              <a:chExt cx="623" cy="980"/>
            </a:xfrm>
          </p:grpSpPr>
          <p:sp>
            <p:nvSpPr>
              <p:cNvPr id="37937" name="Rectangle 25"/>
              <p:cNvSpPr>
                <a:spLocks noChangeArrowheads="1"/>
              </p:cNvSpPr>
              <p:nvPr/>
            </p:nvSpPr>
            <p:spPr bwMode="auto">
              <a:xfrm>
                <a:off x="1284" y="0"/>
                <a:ext cx="537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DMGRSSN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8" name="Rectangle 43"/>
              <p:cNvSpPr>
                <a:spLocks noChangeArrowheads="1"/>
              </p:cNvSpPr>
              <p:nvPr/>
            </p:nvSpPr>
            <p:spPr bwMode="auto">
              <a:xfrm>
                <a:off x="1241" y="0"/>
                <a:ext cx="623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8" name="Group 46"/>
            <p:cNvGrpSpPr>
              <a:grpSpLocks/>
            </p:cNvGrpSpPr>
            <p:nvPr/>
          </p:nvGrpSpPr>
          <p:grpSpPr bwMode="auto">
            <a:xfrm>
              <a:off x="1864" y="0"/>
              <a:ext cx="1278" cy="980"/>
              <a:chOff x="1864" y="0"/>
              <a:chExt cx="1278" cy="980"/>
            </a:xfrm>
          </p:grpSpPr>
          <p:sp>
            <p:nvSpPr>
              <p:cNvPr id="37935" name="Rectangle 26"/>
              <p:cNvSpPr>
                <a:spLocks noChangeArrowheads="1"/>
              </p:cNvSpPr>
              <p:nvPr/>
            </p:nvSpPr>
            <p:spPr bwMode="auto">
              <a:xfrm>
                <a:off x="1907" y="0"/>
                <a:ext cx="1192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DLOCATIONS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6" name="Rectangle 45"/>
              <p:cNvSpPr>
                <a:spLocks noChangeArrowheads="1"/>
              </p:cNvSpPr>
              <p:nvPr/>
            </p:nvSpPr>
            <p:spPr bwMode="auto">
              <a:xfrm>
                <a:off x="1864" y="0"/>
                <a:ext cx="1278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9" name="Group 48"/>
            <p:cNvGrpSpPr>
              <a:grpSpLocks/>
            </p:cNvGrpSpPr>
            <p:nvPr/>
          </p:nvGrpSpPr>
          <p:grpSpPr bwMode="auto">
            <a:xfrm>
              <a:off x="0" y="980"/>
              <a:ext cx="660" cy="518"/>
              <a:chOff x="0" y="980"/>
              <a:chExt cx="660" cy="518"/>
            </a:xfrm>
          </p:grpSpPr>
          <p:sp>
            <p:nvSpPr>
              <p:cNvPr id="37933" name="Rectangle 27"/>
              <p:cNvSpPr>
                <a:spLocks noChangeArrowheads="1"/>
              </p:cNvSpPr>
              <p:nvPr/>
            </p:nvSpPr>
            <p:spPr bwMode="auto">
              <a:xfrm>
                <a:off x="43" y="980"/>
                <a:ext cx="57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34" name="Rectangle 47"/>
              <p:cNvSpPr>
                <a:spLocks noChangeArrowheads="1"/>
              </p:cNvSpPr>
              <p:nvPr/>
            </p:nvSpPr>
            <p:spPr bwMode="auto">
              <a:xfrm>
                <a:off x="0" y="980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0" name="Group 50"/>
            <p:cNvGrpSpPr>
              <a:grpSpLocks/>
            </p:cNvGrpSpPr>
            <p:nvPr/>
          </p:nvGrpSpPr>
          <p:grpSpPr bwMode="auto">
            <a:xfrm>
              <a:off x="660" y="980"/>
              <a:ext cx="581" cy="518"/>
              <a:chOff x="660" y="980"/>
              <a:chExt cx="581" cy="518"/>
            </a:xfrm>
          </p:grpSpPr>
          <p:sp>
            <p:nvSpPr>
              <p:cNvPr id="37931" name="Rectangle 28"/>
              <p:cNvSpPr>
                <a:spLocks noChangeArrowheads="1"/>
              </p:cNvSpPr>
              <p:nvPr/>
            </p:nvSpPr>
            <p:spPr bwMode="auto">
              <a:xfrm>
                <a:off x="703" y="980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2" name="Rectangle 49"/>
              <p:cNvSpPr>
                <a:spLocks noChangeArrowheads="1"/>
              </p:cNvSpPr>
              <p:nvPr/>
            </p:nvSpPr>
            <p:spPr bwMode="auto">
              <a:xfrm>
                <a:off x="660" y="980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1" name="Group 52"/>
            <p:cNvGrpSpPr>
              <a:grpSpLocks/>
            </p:cNvGrpSpPr>
            <p:nvPr/>
          </p:nvGrpSpPr>
          <p:grpSpPr bwMode="auto">
            <a:xfrm>
              <a:off x="1241" y="980"/>
              <a:ext cx="623" cy="518"/>
              <a:chOff x="1241" y="980"/>
              <a:chExt cx="623" cy="518"/>
            </a:xfrm>
          </p:grpSpPr>
          <p:sp>
            <p:nvSpPr>
              <p:cNvPr id="37929" name="Rectangle 29"/>
              <p:cNvSpPr>
                <a:spLocks noChangeArrowheads="1"/>
              </p:cNvSpPr>
              <p:nvPr/>
            </p:nvSpPr>
            <p:spPr bwMode="auto">
              <a:xfrm>
                <a:off x="1284" y="980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30" name="Rectangle 51"/>
              <p:cNvSpPr>
                <a:spLocks noChangeArrowheads="1"/>
              </p:cNvSpPr>
              <p:nvPr/>
            </p:nvSpPr>
            <p:spPr bwMode="auto">
              <a:xfrm>
                <a:off x="1241" y="980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2" name="Group 54"/>
            <p:cNvGrpSpPr>
              <a:grpSpLocks/>
            </p:cNvGrpSpPr>
            <p:nvPr/>
          </p:nvGrpSpPr>
          <p:grpSpPr bwMode="auto">
            <a:xfrm>
              <a:off x="1864" y="980"/>
              <a:ext cx="1278" cy="518"/>
              <a:chOff x="1864" y="980"/>
              <a:chExt cx="1278" cy="518"/>
            </a:xfrm>
          </p:grpSpPr>
          <p:sp>
            <p:nvSpPr>
              <p:cNvPr id="37927" name="Rectangle 30"/>
              <p:cNvSpPr>
                <a:spLocks noChangeArrowheads="1"/>
              </p:cNvSpPr>
              <p:nvPr/>
            </p:nvSpPr>
            <p:spPr bwMode="auto">
              <a:xfrm>
                <a:off x="1907" y="980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{Mathara, Kandy, Metro}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8" name="Rectangle 53"/>
              <p:cNvSpPr>
                <a:spLocks noChangeArrowheads="1"/>
              </p:cNvSpPr>
              <p:nvPr/>
            </p:nvSpPr>
            <p:spPr bwMode="auto">
              <a:xfrm>
                <a:off x="1864" y="980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3" name="Group 56"/>
            <p:cNvGrpSpPr>
              <a:grpSpLocks/>
            </p:cNvGrpSpPr>
            <p:nvPr/>
          </p:nvGrpSpPr>
          <p:grpSpPr bwMode="auto">
            <a:xfrm>
              <a:off x="0" y="1498"/>
              <a:ext cx="660" cy="518"/>
              <a:chOff x="0" y="1498"/>
              <a:chExt cx="660" cy="518"/>
            </a:xfrm>
          </p:grpSpPr>
          <p:sp>
            <p:nvSpPr>
              <p:cNvPr id="37925" name="Rectangle 31"/>
              <p:cNvSpPr>
                <a:spLocks noChangeArrowheads="1"/>
              </p:cNvSpPr>
              <p:nvPr/>
            </p:nvSpPr>
            <p:spPr bwMode="auto">
              <a:xfrm>
                <a:off x="43" y="1498"/>
                <a:ext cx="57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26" name="Rectangle 55"/>
              <p:cNvSpPr>
                <a:spLocks noChangeArrowheads="1"/>
              </p:cNvSpPr>
              <p:nvPr/>
            </p:nvSpPr>
            <p:spPr bwMode="auto">
              <a:xfrm>
                <a:off x="0" y="1498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4" name="Group 58"/>
            <p:cNvGrpSpPr>
              <a:grpSpLocks/>
            </p:cNvGrpSpPr>
            <p:nvPr/>
          </p:nvGrpSpPr>
          <p:grpSpPr bwMode="auto">
            <a:xfrm>
              <a:off x="660" y="1498"/>
              <a:ext cx="581" cy="518"/>
              <a:chOff x="660" y="1498"/>
              <a:chExt cx="581" cy="518"/>
            </a:xfrm>
          </p:grpSpPr>
          <p:sp>
            <p:nvSpPr>
              <p:cNvPr id="37923" name="Rectangle 32"/>
              <p:cNvSpPr>
                <a:spLocks noChangeArrowheads="1"/>
              </p:cNvSpPr>
              <p:nvPr/>
            </p:nvSpPr>
            <p:spPr bwMode="auto">
              <a:xfrm>
                <a:off x="703" y="1498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4" name="Rectangle 57"/>
              <p:cNvSpPr>
                <a:spLocks noChangeArrowheads="1"/>
              </p:cNvSpPr>
              <p:nvPr/>
            </p:nvSpPr>
            <p:spPr bwMode="auto">
              <a:xfrm>
                <a:off x="660" y="1498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5" name="Group 60"/>
            <p:cNvGrpSpPr>
              <a:grpSpLocks/>
            </p:cNvGrpSpPr>
            <p:nvPr/>
          </p:nvGrpSpPr>
          <p:grpSpPr bwMode="auto">
            <a:xfrm>
              <a:off x="1241" y="1498"/>
              <a:ext cx="623" cy="518"/>
              <a:chOff x="1241" y="1498"/>
              <a:chExt cx="623" cy="518"/>
            </a:xfrm>
          </p:grpSpPr>
          <p:sp>
            <p:nvSpPr>
              <p:cNvPr id="37921" name="Rectangle 33"/>
              <p:cNvSpPr>
                <a:spLocks noChangeArrowheads="1"/>
              </p:cNvSpPr>
              <p:nvPr/>
            </p:nvSpPr>
            <p:spPr bwMode="auto">
              <a:xfrm>
                <a:off x="1284" y="1498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987654321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22" name="Rectangle 59"/>
              <p:cNvSpPr>
                <a:spLocks noChangeArrowheads="1"/>
              </p:cNvSpPr>
              <p:nvPr/>
            </p:nvSpPr>
            <p:spPr bwMode="auto">
              <a:xfrm>
                <a:off x="1241" y="1498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6" name="Group 62"/>
            <p:cNvGrpSpPr>
              <a:grpSpLocks/>
            </p:cNvGrpSpPr>
            <p:nvPr/>
          </p:nvGrpSpPr>
          <p:grpSpPr bwMode="auto">
            <a:xfrm>
              <a:off x="1864" y="1498"/>
              <a:ext cx="1278" cy="518"/>
              <a:chOff x="1864" y="1498"/>
              <a:chExt cx="1278" cy="518"/>
            </a:xfrm>
          </p:grpSpPr>
          <p:sp>
            <p:nvSpPr>
              <p:cNvPr id="37919" name="Rectangle 34"/>
              <p:cNvSpPr>
                <a:spLocks noChangeArrowheads="1"/>
              </p:cNvSpPr>
              <p:nvPr/>
            </p:nvSpPr>
            <p:spPr bwMode="auto">
              <a:xfrm>
                <a:off x="1907" y="1498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{Malabe}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0" name="Rectangle 61"/>
              <p:cNvSpPr>
                <a:spLocks noChangeArrowheads="1"/>
              </p:cNvSpPr>
              <p:nvPr/>
            </p:nvSpPr>
            <p:spPr bwMode="auto">
              <a:xfrm>
                <a:off x="1864" y="1498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7" name="Group 64"/>
            <p:cNvGrpSpPr>
              <a:grpSpLocks/>
            </p:cNvGrpSpPr>
            <p:nvPr/>
          </p:nvGrpSpPr>
          <p:grpSpPr bwMode="auto">
            <a:xfrm>
              <a:off x="0" y="2016"/>
              <a:ext cx="660" cy="403"/>
              <a:chOff x="0" y="2016"/>
              <a:chExt cx="660" cy="403"/>
            </a:xfrm>
          </p:grpSpPr>
          <p:sp>
            <p:nvSpPr>
              <p:cNvPr id="37917" name="Rectangle 35"/>
              <p:cNvSpPr>
                <a:spLocks noChangeArrowheads="1"/>
              </p:cNvSpPr>
              <p:nvPr/>
            </p:nvSpPr>
            <p:spPr bwMode="auto">
              <a:xfrm>
                <a:off x="43" y="2016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Headquarters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18" name="Rectangle 63"/>
              <p:cNvSpPr>
                <a:spLocks noChangeArrowheads="1"/>
              </p:cNvSpPr>
              <p:nvPr/>
            </p:nvSpPr>
            <p:spPr bwMode="auto">
              <a:xfrm>
                <a:off x="0" y="2016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8" name="Group 66"/>
            <p:cNvGrpSpPr>
              <a:grpSpLocks/>
            </p:cNvGrpSpPr>
            <p:nvPr/>
          </p:nvGrpSpPr>
          <p:grpSpPr bwMode="auto">
            <a:xfrm>
              <a:off x="660" y="2016"/>
              <a:ext cx="581" cy="403"/>
              <a:chOff x="660" y="2016"/>
              <a:chExt cx="581" cy="403"/>
            </a:xfrm>
          </p:grpSpPr>
          <p:sp>
            <p:nvSpPr>
              <p:cNvPr id="37915" name="Rectangle 36"/>
              <p:cNvSpPr>
                <a:spLocks noChangeArrowheads="1"/>
              </p:cNvSpPr>
              <p:nvPr/>
            </p:nvSpPr>
            <p:spPr bwMode="auto">
              <a:xfrm>
                <a:off x="703" y="2016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16" name="Rectangle 65"/>
              <p:cNvSpPr>
                <a:spLocks noChangeArrowheads="1"/>
              </p:cNvSpPr>
              <p:nvPr/>
            </p:nvSpPr>
            <p:spPr bwMode="auto">
              <a:xfrm>
                <a:off x="660" y="2016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9" name="Group 68"/>
            <p:cNvGrpSpPr>
              <a:grpSpLocks/>
            </p:cNvGrpSpPr>
            <p:nvPr/>
          </p:nvGrpSpPr>
          <p:grpSpPr bwMode="auto">
            <a:xfrm>
              <a:off x="1241" y="2016"/>
              <a:ext cx="623" cy="403"/>
              <a:chOff x="1241" y="2016"/>
              <a:chExt cx="623" cy="403"/>
            </a:xfrm>
          </p:grpSpPr>
          <p:sp>
            <p:nvSpPr>
              <p:cNvPr id="37913" name="Rectangle 37"/>
              <p:cNvSpPr>
                <a:spLocks noChangeArrowheads="1"/>
              </p:cNvSpPr>
              <p:nvPr/>
            </p:nvSpPr>
            <p:spPr bwMode="auto">
              <a:xfrm>
                <a:off x="1284" y="2016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888665555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14" name="Rectangle 67"/>
              <p:cNvSpPr>
                <a:spLocks noChangeArrowheads="1"/>
              </p:cNvSpPr>
              <p:nvPr/>
            </p:nvSpPr>
            <p:spPr bwMode="auto">
              <a:xfrm>
                <a:off x="1241" y="2016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10" name="Group 70"/>
            <p:cNvGrpSpPr>
              <a:grpSpLocks/>
            </p:cNvGrpSpPr>
            <p:nvPr/>
          </p:nvGrpSpPr>
          <p:grpSpPr bwMode="auto">
            <a:xfrm>
              <a:off x="1864" y="2016"/>
              <a:ext cx="1278" cy="403"/>
              <a:chOff x="1864" y="2016"/>
              <a:chExt cx="1278" cy="403"/>
            </a:xfrm>
          </p:grpSpPr>
          <p:sp>
            <p:nvSpPr>
              <p:cNvPr id="37911" name="Rectangle 38"/>
              <p:cNvSpPr>
                <a:spLocks noChangeArrowheads="1"/>
              </p:cNvSpPr>
              <p:nvPr/>
            </p:nvSpPr>
            <p:spPr bwMode="auto">
              <a:xfrm>
                <a:off x="1907" y="2016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{Metro}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12" name="Rectangle 69"/>
              <p:cNvSpPr>
                <a:spLocks noChangeArrowheads="1"/>
              </p:cNvSpPr>
              <p:nvPr/>
            </p:nvSpPr>
            <p:spPr bwMode="auto">
              <a:xfrm>
                <a:off x="1864" y="2016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691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1</a:t>
            </a:r>
            <a:r>
              <a:rPr lang="en-US" altLang="en-US" sz="2400" smtClean="0"/>
              <a:t>: Create a separate DLOCATION relation with foreign key.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2</a:t>
            </a:r>
            <a:r>
              <a:rPr lang="en-US" altLang="en-US" sz="2400" smtClean="0"/>
              <a:t>: If max number of locations is known, create a column for each location (may have lots of null values).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3</a:t>
            </a:r>
            <a:r>
              <a:rPr lang="en-US" altLang="en-US" sz="2400" smtClean="0"/>
              <a:t>: Repeat the same info (redundancy + new key attribute).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5324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80"/>
          <p:cNvSpPr>
            <a:spLocks noChangeArrowheads="1"/>
          </p:cNvSpPr>
          <p:nvPr/>
        </p:nvSpPr>
        <p:spPr bwMode="auto">
          <a:xfrm>
            <a:off x="687388" y="2133600"/>
            <a:ext cx="7847012" cy="213360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39940" name="Rectangle 8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4838700"/>
            <a:ext cx="7924800" cy="1866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Expand the key so that there will be a separate tuple in the original DEPARTMENT relation for each location of the DEPARTMENT.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This solution has the disadvantage of introducing redundancy in the relation.</a:t>
            </a:r>
          </a:p>
        </p:txBody>
      </p:sp>
      <p:grpSp>
        <p:nvGrpSpPr>
          <p:cNvPr id="39941" name="Group 7"/>
          <p:cNvGrpSpPr>
            <a:grpSpLocks/>
          </p:cNvGrpSpPr>
          <p:nvPr/>
        </p:nvGrpSpPr>
        <p:grpSpPr bwMode="auto">
          <a:xfrm>
            <a:off x="695325" y="2136775"/>
            <a:ext cx="7831138" cy="2130425"/>
            <a:chOff x="0" y="0"/>
            <a:chExt cx="3142" cy="3110"/>
          </a:xfrm>
        </p:grpSpPr>
        <p:grpSp>
          <p:nvGrpSpPr>
            <p:cNvPr id="39945" name="Group 8"/>
            <p:cNvGrpSpPr>
              <a:grpSpLocks/>
            </p:cNvGrpSpPr>
            <p:nvPr/>
          </p:nvGrpSpPr>
          <p:grpSpPr bwMode="auto">
            <a:xfrm>
              <a:off x="0" y="0"/>
              <a:ext cx="660" cy="980"/>
              <a:chOff x="0" y="0"/>
              <a:chExt cx="660" cy="980"/>
            </a:xfrm>
          </p:grpSpPr>
          <p:sp>
            <p:nvSpPr>
              <p:cNvPr id="40015" name="Rectangle 9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574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DNAME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60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6" name="Group 11"/>
            <p:cNvGrpSpPr>
              <a:grpSpLocks/>
            </p:cNvGrpSpPr>
            <p:nvPr/>
          </p:nvGrpSpPr>
          <p:grpSpPr bwMode="auto">
            <a:xfrm>
              <a:off x="660" y="0"/>
              <a:ext cx="581" cy="980"/>
              <a:chOff x="660" y="0"/>
              <a:chExt cx="581" cy="980"/>
            </a:xfrm>
          </p:grpSpPr>
          <p:sp>
            <p:nvSpPr>
              <p:cNvPr id="40013" name="Rectangle 12"/>
              <p:cNvSpPr>
                <a:spLocks noChangeArrowheads="1"/>
              </p:cNvSpPr>
              <p:nvPr/>
            </p:nvSpPr>
            <p:spPr bwMode="auto">
              <a:xfrm>
                <a:off x="703" y="0"/>
                <a:ext cx="495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4" name="Rectangle 13"/>
              <p:cNvSpPr>
                <a:spLocks noChangeArrowheads="1"/>
              </p:cNvSpPr>
              <p:nvPr/>
            </p:nvSpPr>
            <p:spPr bwMode="auto">
              <a:xfrm>
                <a:off x="660" y="0"/>
                <a:ext cx="581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7" name="Group 14"/>
            <p:cNvGrpSpPr>
              <a:grpSpLocks/>
            </p:cNvGrpSpPr>
            <p:nvPr/>
          </p:nvGrpSpPr>
          <p:grpSpPr bwMode="auto">
            <a:xfrm>
              <a:off x="1241" y="0"/>
              <a:ext cx="623" cy="980"/>
              <a:chOff x="1241" y="0"/>
              <a:chExt cx="623" cy="980"/>
            </a:xfrm>
          </p:grpSpPr>
          <p:sp>
            <p:nvSpPr>
              <p:cNvPr id="40011" name="Rectangle 15"/>
              <p:cNvSpPr>
                <a:spLocks noChangeArrowheads="1"/>
              </p:cNvSpPr>
              <p:nvPr/>
            </p:nvSpPr>
            <p:spPr bwMode="auto">
              <a:xfrm>
                <a:off x="1284" y="0"/>
                <a:ext cx="537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DMGRSSN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2" name="Rectangle 16"/>
              <p:cNvSpPr>
                <a:spLocks noChangeArrowheads="1"/>
              </p:cNvSpPr>
              <p:nvPr/>
            </p:nvSpPr>
            <p:spPr bwMode="auto">
              <a:xfrm>
                <a:off x="1241" y="0"/>
                <a:ext cx="623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8" name="Group 17"/>
            <p:cNvGrpSpPr>
              <a:grpSpLocks/>
            </p:cNvGrpSpPr>
            <p:nvPr/>
          </p:nvGrpSpPr>
          <p:grpSpPr bwMode="auto">
            <a:xfrm>
              <a:off x="1864" y="0"/>
              <a:ext cx="1278" cy="980"/>
              <a:chOff x="1864" y="0"/>
              <a:chExt cx="1278" cy="980"/>
            </a:xfrm>
          </p:grpSpPr>
          <p:sp>
            <p:nvSpPr>
              <p:cNvPr id="40009" name="Rectangle 18"/>
              <p:cNvSpPr>
                <a:spLocks noChangeArrowheads="1"/>
              </p:cNvSpPr>
              <p:nvPr/>
            </p:nvSpPr>
            <p:spPr bwMode="auto">
              <a:xfrm>
                <a:off x="1907" y="0"/>
                <a:ext cx="1192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DLOCATIONS</a:t>
                </a:r>
              </a:p>
              <a:p>
                <a:pPr algn="ctr" eaLnBrk="1" hangingPunct="1"/>
                <a:endParaRPr lang="en-US" altLang="en-US" sz="1600" b="0" u="sng"/>
              </a:p>
            </p:txBody>
          </p:sp>
          <p:sp>
            <p:nvSpPr>
              <p:cNvPr id="40010" name="Rectangle 19"/>
              <p:cNvSpPr>
                <a:spLocks noChangeArrowheads="1"/>
              </p:cNvSpPr>
              <p:nvPr/>
            </p:nvSpPr>
            <p:spPr bwMode="auto">
              <a:xfrm>
                <a:off x="1864" y="0"/>
                <a:ext cx="1278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9" name="Group 20"/>
            <p:cNvGrpSpPr>
              <a:grpSpLocks/>
            </p:cNvGrpSpPr>
            <p:nvPr/>
          </p:nvGrpSpPr>
          <p:grpSpPr bwMode="auto">
            <a:xfrm>
              <a:off x="0" y="980"/>
              <a:ext cx="660" cy="403"/>
              <a:chOff x="0" y="980"/>
              <a:chExt cx="660" cy="403"/>
            </a:xfrm>
          </p:grpSpPr>
          <p:sp>
            <p:nvSpPr>
              <p:cNvPr id="40007" name="Rectangle 21"/>
              <p:cNvSpPr>
                <a:spLocks noChangeArrowheads="1"/>
              </p:cNvSpPr>
              <p:nvPr/>
            </p:nvSpPr>
            <p:spPr bwMode="auto">
              <a:xfrm>
                <a:off x="43" y="980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8" name="Rectangle 22"/>
              <p:cNvSpPr>
                <a:spLocks noChangeArrowheads="1"/>
              </p:cNvSpPr>
              <p:nvPr/>
            </p:nvSpPr>
            <p:spPr bwMode="auto">
              <a:xfrm>
                <a:off x="0" y="980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0" name="Group 23"/>
            <p:cNvGrpSpPr>
              <a:grpSpLocks/>
            </p:cNvGrpSpPr>
            <p:nvPr/>
          </p:nvGrpSpPr>
          <p:grpSpPr bwMode="auto">
            <a:xfrm>
              <a:off x="660" y="980"/>
              <a:ext cx="581" cy="403"/>
              <a:chOff x="660" y="980"/>
              <a:chExt cx="581" cy="403"/>
            </a:xfrm>
          </p:grpSpPr>
          <p:sp>
            <p:nvSpPr>
              <p:cNvPr id="40005" name="Rectangle 24"/>
              <p:cNvSpPr>
                <a:spLocks noChangeArrowheads="1"/>
              </p:cNvSpPr>
              <p:nvPr/>
            </p:nvSpPr>
            <p:spPr bwMode="auto">
              <a:xfrm>
                <a:off x="703" y="980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06" name="Rectangle 25"/>
              <p:cNvSpPr>
                <a:spLocks noChangeArrowheads="1"/>
              </p:cNvSpPr>
              <p:nvPr/>
            </p:nvSpPr>
            <p:spPr bwMode="auto">
              <a:xfrm>
                <a:off x="660" y="980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1" name="Group 26"/>
            <p:cNvGrpSpPr>
              <a:grpSpLocks/>
            </p:cNvGrpSpPr>
            <p:nvPr/>
          </p:nvGrpSpPr>
          <p:grpSpPr bwMode="auto">
            <a:xfrm>
              <a:off x="1241" y="980"/>
              <a:ext cx="623" cy="403"/>
              <a:chOff x="1241" y="980"/>
              <a:chExt cx="623" cy="403"/>
            </a:xfrm>
          </p:grpSpPr>
          <p:sp>
            <p:nvSpPr>
              <p:cNvPr id="40003" name="Rectangle 27"/>
              <p:cNvSpPr>
                <a:spLocks noChangeArrowheads="1"/>
              </p:cNvSpPr>
              <p:nvPr/>
            </p:nvSpPr>
            <p:spPr bwMode="auto">
              <a:xfrm>
                <a:off x="1284" y="980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4" name="Rectangle 28"/>
              <p:cNvSpPr>
                <a:spLocks noChangeArrowheads="1"/>
              </p:cNvSpPr>
              <p:nvPr/>
            </p:nvSpPr>
            <p:spPr bwMode="auto">
              <a:xfrm>
                <a:off x="1241" y="980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2" name="Group 29"/>
            <p:cNvGrpSpPr>
              <a:grpSpLocks/>
            </p:cNvGrpSpPr>
            <p:nvPr/>
          </p:nvGrpSpPr>
          <p:grpSpPr bwMode="auto">
            <a:xfrm>
              <a:off x="1864" y="980"/>
              <a:ext cx="1278" cy="403"/>
              <a:chOff x="1864" y="980"/>
              <a:chExt cx="1278" cy="403"/>
            </a:xfrm>
          </p:grpSpPr>
          <p:sp>
            <p:nvSpPr>
              <p:cNvPr id="40001" name="Rectangle 30"/>
              <p:cNvSpPr>
                <a:spLocks noChangeArrowheads="1"/>
              </p:cNvSpPr>
              <p:nvPr/>
            </p:nvSpPr>
            <p:spPr bwMode="auto">
              <a:xfrm>
                <a:off x="1907" y="980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Mathara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02" name="Rectangle 31"/>
              <p:cNvSpPr>
                <a:spLocks noChangeArrowheads="1"/>
              </p:cNvSpPr>
              <p:nvPr/>
            </p:nvSpPr>
            <p:spPr bwMode="auto">
              <a:xfrm>
                <a:off x="1864" y="980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3" name="Group 32"/>
            <p:cNvGrpSpPr>
              <a:grpSpLocks/>
            </p:cNvGrpSpPr>
            <p:nvPr/>
          </p:nvGrpSpPr>
          <p:grpSpPr bwMode="auto">
            <a:xfrm>
              <a:off x="0" y="1383"/>
              <a:ext cx="660" cy="403"/>
              <a:chOff x="0" y="1383"/>
              <a:chExt cx="660" cy="403"/>
            </a:xfrm>
          </p:grpSpPr>
          <p:sp>
            <p:nvSpPr>
              <p:cNvPr id="39999" name="Rectangle 33"/>
              <p:cNvSpPr>
                <a:spLocks noChangeArrowheads="1"/>
              </p:cNvSpPr>
              <p:nvPr/>
            </p:nvSpPr>
            <p:spPr bwMode="auto">
              <a:xfrm>
                <a:off x="43" y="1383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0" name="Rectangle 34"/>
              <p:cNvSpPr>
                <a:spLocks noChangeArrowheads="1"/>
              </p:cNvSpPr>
              <p:nvPr/>
            </p:nvSpPr>
            <p:spPr bwMode="auto">
              <a:xfrm>
                <a:off x="0" y="1383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4" name="Group 35"/>
            <p:cNvGrpSpPr>
              <a:grpSpLocks/>
            </p:cNvGrpSpPr>
            <p:nvPr/>
          </p:nvGrpSpPr>
          <p:grpSpPr bwMode="auto">
            <a:xfrm>
              <a:off x="660" y="1383"/>
              <a:ext cx="581" cy="403"/>
              <a:chOff x="660" y="1383"/>
              <a:chExt cx="581" cy="403"/>
            </a:xfrm>
          </p:grpSpPr>
          <p:sp>
            <p:nvSpPr>
              <p:cNvPr id="39997" name="Rectangle 36"/>
              <p:cNvSpPr>
                <a:spLocks noChangeArrowheads="1"/>
              </p:cNvSpPr>
              <p:nvPr/>
            </p:nvSpPr>
            <p:spPr bwMode="auto">
              <a:xfrm>
                <a:off x="703" y="1383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8" name="Rectangle 37"/>
              <p:cNvSpPr>
                <a:spLocks noChangeArrowheads="1"/>
              </p:cNvSpPr>
              <p:nvPr/>
            </p:nvSpPr>
            <p:spPr bwMode="auto">
              <a:xfrm>
                <a:off x="660" y="1383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5" name="Group 38"/>
            <p:cNvGrpSpPr>
              <a:grpSpLocks/>
            </p:cNvGrpSpPr>
            <p:nvPr/>
          </p:nvGrpSpPr>
          <p:grpSpPr bwMode="auto">
            <a:xfrm>
              <a:off x="1241" y="1383"/>
              <a:ext cx="623" cy="403"/>
              <a:chOff x="1241" y="1383"/>
              <a:chExt cx="623" cy="403"/>
            </a:xfrm>
          </p:grpSpPr>
          <p:sp>
            <p:nvSpPr>
              <p:cNvPr id="39995" name="Rectangle 39"/>
              <p:cNvSpPr>
                <a:spLocks noChangeArrowheads="1"/>
              </p:cNvSpPr>
              <p:nvPr/>
            </p:nvSpPr>
            <p:spPr bwMode="auto">
              <a:xfrm>
                <a:off x="1284" y="1383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96" name="Rectangle 40"/>
              <p:cNvSpPr>
                <a:spLocks noChangeArrowheads="1"/>
              </p:cNvSpPr>
              <p:nvPr/>
            </p:nvSpPr>
            <p:spPr bwMode="auto">
              <a:xfrm>
                <a:off x="1241" y="1383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6" name="Group 41"/>
            <p:cNvGrpSpPr>
              <a:grpSpLocks/>
            </p:cNvGrpSpPr>
            <p:nvPr/>
          </p:nvGrpSpPr>
          <p:grpSpPr bwMode="auto">
            <a:xfrm>
              <a:off x="1864" y="1383"/>
              <a:ext cx="1278" cy="403"/>
              <a:chOff x="1864" y="1383"/>
              <a:chExt cx="1278" cy="403"/>
            </a:xfrm>
          </p:grpSpPr>
          <p:sp>
            <p:nvSpPr>
              <p:cNvPr id="39993" name="Rectangle 42"/>
              <p:cNvSpPr>
                <a:spLocks noChangeArrowheads="1"/>
              </p:cNvSpPr>
              <p:nvPr/>
            </p:nvSpPr>
            <p:spPr bwMode="auto">
              <a:xfrm>
                <a:off x="1907" y="1383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Kandy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4" name="Rectangle 43"/>
              <p:cNvSpPr>
                <a:spLocks noChangeArrowheads="1"/>
              </p:cNvSpPr>
              <p:nvPr/>
            </p:nvSpPr>
            <p:spPr bwMode="auto">
              <a:xfrm>
                <a:off x="1864" y="1383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7" name="Group 44"/>
            <p:cNvGrpSpPr>
              <a:grpSpLocks/>
            </p:cNvGrpSpPr>
            <p:nvPr/>
          </p:nvGrpSpPr>
          <p:grpSpPr bwMode="auto">
            <a:xfrm>
              <a:off x="0" y="1786"/>
              <a:ext cx="660" cy="403"/>
              <a:chOff x="0" y="1786"/>
              <a:chExt cx="660" cy="403"/>
            </a:xfrm>
          </p:grpSpPr>
          <p:sp>
            <p:nvSpPr>
              <p:cNvPr id="39991" name="Rectangle 45"/>
              <p:cNvSpPr>
                <a:spLocks noChangeArrowheads="1"/>
              </p:cNvSpPr>
              <p:nvPr/>
            </p:nvSpPr>
            <p:spPr bwMode="auto">
              <a:xfrm>
                <a:off x="43" y="1786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92" name="Rectangle 46"/>
              <p:cNvSpPr>
                <a:spLocks noChangeArrowheads="1"/>
              </p:cNvSpPr>
              <p:nvPr/>
            </p:nvSpPr>
            <p:spPr bwMode="auto">
              <a:xfrm>
                <a:off x="0" y="1786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8" name="Group 47"/>
            <p:cNvGrpSpPr>
              <a:grpSpLocks/>
            </p:cNvGrpSpPr>
            <p:nvPr/>
          </p:nvGrpSpPr>
          <p:grpSpPr bwMode="auto">
            <a:xfrm>
              <a:off x="660" y="1786"/>
              <a:ext cx="581" cy="403"/>
              <a:chOff x="660" y="1786"/>
              <a:chExt cx="581" cy="403"/>
            </a:xfrm>
          </p:grpSpPr>
          <p:sp>
            <p:nvSpPr>
              <p:cNvPr id="39989" name="Rectangle 48"/>
              <p:cNvSpPr>
                <a:spLocks noChangeArrowheads="1"/>
              </p:cNvSpPr>
              <p:nvPr/>
            </p:nvSpPr>
            <p:spPr bwMode="auto">
              <a:xfrm>
                <a:off x="703" y="1786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0" name="Rectangle 49"/>
              <p:cNvSpPr>
                <a:spLocks noChangeArrowheads="1"/>
              </p:cNvSpPr>
              <p:nvPr/>
            </p:nvSpPr>
            <p:spPr bwMode="auto">
              <a:xfrm>
                <a:off x="660" y="1786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9" name="Group 50"/>
            <p:cNvGrpSpPr>
              <a:grpSpLocks/>
            </p:cNvGrpSpPr>
            <p:nvPr/>
          </p:nvGrpSpPr>
          <p:grpSpPr bwMode="auto">
            <a:xfrm>
              <a:off x="1241" y="1786"/>
              <a:ext cx="623" cy="403"/>
              <a:chOff x="1241" y="1786"/>
              <a:chExt cx="623" cy="403"/>
            </a:xfrm>
          </p:grpSpPr>
          <p:sp>
            <p:nvSpPr>
              <p:cNvPr id="39987" name="Rectangle 51"/>
              <p:cNvSpPr>
                <a:spLocks noChangeArrowheads="1"/>
              </p:cNvSpPr>
              <p:nvPr/>
            </p:nvSpPr>
            <p:spPr bwMode="auto">
              <a:xfrm>
                <a:off x="1284" y="1786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8" name="Rectangle 52"/>
              <p:cNvSpPr>
                <a:spLocks noChangeArrowheads="1"/>
              </p:cNvSpPr>
              <p:nvPr/>
            </p:nvSpPr>
            <p:spPr bwMode="auto">
              <a:xfrm>
                <a:off x="1241" y="1786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0" name="Group 53"/>
            <p:cNvGrpSpPr>
              <a:grpSpLocks/>
            </p:cNvGrpSpPr>
            <p:nvPr/>
          </p:nvGrpSpPr>
          <p:grpSpPr bwMode="auto">
            <a:xfrm>
              <a:off x="1864" y="1786"/>
              <a:ext cx="1278" cy="403"/>
              <a:chOff x="1864" y="1786"/>
              <a:chExt cx="1278" cy="403"/>
            </a:xfrm>
          </p:grpSpPr>
          <p:sp>
            <p:nvSpPr>
              <p:cNvPr id="39985" name="Rectangle 54"/>
              <p:cNvSpPr>
                <a:spLocks noChangeArrowheads="1"/>
              </p:cNvSpPr>
              <p:nvPr/>
            </p:nvSpPr>
            <p:spPr bwMode="auto">
              <a:xfrm>
                <a:off x="1907" y="1786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Metro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86" name="Rectangle 55"/>
              <p:cNvSpPr>
                <a:spLocks noChangeArrowheads="1"/>
              </p:cNvSpPr>
              <p:nvPr/>
            </p:nvSpPr>
            <p:spPr bwMode="auto">
              <a:xfrm>
                <a:off x="1864" y="1786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1" name="Group 56"/>
            <p:cNvGrpSpPr>
              <a:grpSpLocks/>
            </p:cNvGrpSpPr>
            <p:nvPr/>
          </p:nvGrpSpPr>
          <p:grpSpPr bwMode="auto">
            <a:xfrm>
              <a:off x="0" y="2189"/>
              <a:ext cx="669" cy="518"/>
              <a:chOff x="0" y="2189"/>
              <a:chExt cx="669" cy="518"/>
            </a:xfrm>
          </p:grpSpPr>
          <p:sp>
            <p:nvSpPr>
              <p:cNvPr id="39983" name="Rectangle 57"/>
              <p:cNvSpPr>
                <a:spLocks noChangeArrowheads="1"/>
              </p:cNvSpPr>
              <p:nvPr/>
            </p:nvSpPr>
            <p:spPr bwMode="auto">
              <a:xfrm>
                <a:off x="43" y="2189"/>
                <a:ext cx="626" cy="4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4" name="Rectangle 58"/>
              <p:cNvSpPr>
                <a:spLocks noChangeArrowheads="1"/>
              </p:cNvSpPr>
              <p:nvPr/>
            </p:nvSpPr>
            <p:spPr bwMode="auto">
              <a:xfrm>
                <a:off x="0" y="2189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2" name="Group 59"/>
            <p:cNvGrpSpPr>
              <a:grpSpLocks/>
            </p:cNvGrpSpPr>
            <p:nvPr/>
          </p:nvGrpSpPr>
          <p:grpSpPr bwMode="auto">
            <a:xfrm>
              <a:off x="660" y="2189"/>
              <a:ext cx="581" cy="518"/>
              <a:chOff x="660" y="2189"/>
              <a:chExt cx="581" cy="518"/>
            </a:xfrm>
          </p:grpSpPr>
          <p:sp>
            <p:nvSpPr>
              <p:cNvPr id="39981" name="Rectangle 60"/>
              <p:cNvSpPr>
                <a:spLocks noChangeArrowheads="1"/>
              </p:cNvSpPr>
              <p:nvPr/>
            </p:nvSpPr>
            <p:spPr bwMode="auto">
              <a:xfrm>
                <a:off x="703" y="2189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82" name="Rectangle 61"/>
              <p:cNvSpPr>
                <a:spLocks noChangeArrowheads="1"/>
              </p:cNvSpPr>
              <p:nvPr/>
            </p:nvSpPr>
            <p:spPr bwMode="auto">
              <a:xfrm>
                <a:off x="660" y="2189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3" name="Group 62"/>
            <p:cNvGrpSpPr>
              <a:grpSpLocks/>
            </p:cNvGrpSpPr>
            <p:nvPr/>
          </p:nvGrpSpPr>
          <p:grpSpPr bwMode="auto">
            <a:xfrm>
              <a:off x="1241" y="2189"/>
              <a:ext cx="623" cy="518"/>
              <a:chOff x="1241" y="2189"/>
              <a:chExt cx="623" cy="518"/>
            </a:xfrm>
          </p:grpSpPr>
          <p:sp>
            <p:nvSpPr>
              <p:cNvPr id="39979" name="Rectangle 63"/>
              <p:cNvSpPr>
                <a:spLocks noChangeArrowheads="1"/>
              </p:cNvSpPr>
              <p:nvPr/>
            </p:nvSpPr>
            <p:spPr bwMode="auto">
              <a:xfrm>
                <a:off x="1284" y="2189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987654321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0" name="Rectangle 64"/>
              <p:cNvSpPr>
                <a:spLocks noChangeArrowheads="1"/>
              </p:cNvSpPr>
              <p:nvPr/>
            </p:nvSpPr>
            <p:spPr bwMode="auto">
              <a:xfrm>
                <a:off x="1241" y="2189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4" name="Group 65"/>
            <p:cNvGrpSpPr>
              <a:grpSpLocks/>
            </p:cNvGrpSpPr>
            <p:nvPr/>
          </p:nvGrpSpPr>
          <p:grpSpPr bwMode="auto">
            <a:xfrm>
              <a:off x="1864" y="2189"/>
              <a:ext cx="1278" cy="518"/>
              <a:chOff x="1864" y="2189"/>
              <a:chExt cx="1278" cy="518"/>
            </a:xfrm>
          </p:grpSpPr>
          <p:sp>
            <p:nvSpPr>
              <p:cNvPr id="39977" name="Rectangle 66"/>
              <p:cNvSpPr>
                <a:spLocks noChangeArrowheads="1"/>
              </p:cNvSpPr>
              <p:nvPr/>
            </p:nvSpPr>
            <p:spPr bwMode="auto">
              <a:xfrm>
                <a:off x="1907" y="2189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Malabe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8" name="Rectangle 67"/>
              <p:cNvSpPr>
                <a:spLocks noChangeArrowheads="1"/>
              </p:cNvSpPr>
              <p:nvPr/>
            </p:nvSpPr>
            <p:spPr bwMode="auto">
              <a:xfrm>
                <a:off x="1864" y="2189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5" name="Group 68"/>
            <p:cNvGrpSpPr>
              <a:grpSpLocks/>
            </p:cNvGrpSpPr>
            <p:nvPr/>
          </p:nvGrpSpPr>
          <p:grpSpPr bwMode="auto">
            <a:xfrm>
              <a:off x="0" y="2668"/>
              <a:ext cx="669" cy="442"/>
              <a:chOff x="0" y="2668"/>
              <a:chExt cx="669" cy="442"/>
            </a:xfrm>
          </p:grpSpPr>
          <p:sp>
            <p:nvSpPr>
              <p:cNvPr id="39975" name="Rectangle 69"/>
              <p:cNvSpPr>
                <a:spLocks noChangeArrowheads="1"/>
              </p:cNvSpPr>
              <p:nvPr/>
            </p:nvSpPr>
            <p:spPr bwMode="auto">
              <a:xfrm>
                <a:off x="42" y="2668"/>
                <a:ext cx="627" cy="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Headquarters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76" name="Rectangle 70"/>
              <p:cNvSpPr>
                <a:spLocks noChangeArrowheads="1"/>
              </p:cNvSpPr>
              <p:nvPr/>
            </p:nvSpPr>
            <p:spPr bwMode="auto">
              <a:xfrm>
                <a:off x="0" y="2707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6" name="Group 71"/>
            <p:cNvGrpSpPr>
              <a:grpSpLocks/>
            </p:cNvGrpSpPr>
            <p:nvPr/>
          </p:nvGrpSpPr>
          <p:grpSpPr bwMode="auto">
            <a:xfrm>
              <a:off x="660" y="2707"/>
              <a:ext cx="581" cy="403"/>
              <a:chOff x="660" y="2707"/>
              <a:chExt cx="581" cy="403"/>
            </a:xfrm>
          </p:grpSpPr>
          <p:sp>
            <p:nvSpPr>
              <p:cNvPr id="39973" name="Rectangle 72"/>
              <p:cNvSpPr>
                <a:spLocks noChangeArrowheads="1"/>
              </p:cNvSpPr>
              <p:nvPr/>
            </p:nvSpPr>
            <p:spPr bwMode="auto">
              <a:xfrm>
                <a:off x="703" y="2707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4" name="Rectangle 73"/>
              <p:cNvSpPr>
                <a:spLocks noChangeArrowheads="1"/>
              </p:cNvSpPr>
              <p:nvPr/>
            </p:nvSpPr>
            <p:spPr bwMode="auto">
              <a:xfrm>
                <a:off x="660" y="2707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7" name="Group 74"/>
            <p:cNvGrpSpPr>
              <a:grpSpLocks/>
            </p:cNvGrpSpPr>
            <p:nvPr/>
          </p:nvGrpSpPr>
          <p:grpSpPr bwMode="auto">
            <a:xfrm>
              <a:off x="1241" y="2707"/>
              <a:ext cx="623" cy="403"/>
              <a:chOff x="1241" y="2707"/>
              <a:chExt cx="623" cy="403"/>
            </a:xfrm>
          </p:grpSpPr>
          <p:sp>
            <p:nvSpPr>
              <p:cNvPr id="39971" name="Rectangle 75"/>
              <p:cNvSpPr>
                <a:spLocks noChangeArrowheads="1"/>
              </p:cNvSpPr>
              <p:nvPr/>
            </p:nvSpPr>
            <p:spPr bwMode="auto">
              <a:xfrm>
                <a:off x="1284" y="2707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888665555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72" name="Rectangle 76"/>
              <p:cNvSpPr>
                <a:spLocks noChangeArrowheads="1"/>
              </p:cNvSpPr>
              <p:nvPr/>
            </p:nvSpPr>
            <p:spPr bwMode="auto">
              <a:xfrm>
                <a:off x="1241" y="2707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8" name="Group 77"/>
            <p:cNvGrpSpPr>
              <a:grpSpLocks/>
            </p:cNvGrpSpPr>
            <p:nvPr/>
          </p:nvGrpSpPr>
          <p:grpSpPr bwMode="auto">
            <a:xfrm>
              <a:off x="1864" y="2707"/>
              <a:ext cx="1278" cy="403"/>
              <a:chOff x="1864" y="2707"/>
              <a:chExt cx="1278" cy="403"/>
            </a:xfrm>
          </p:grpSpPr>
          <p:sp>
            <p:nvSpPr>
              <p:cNvPr id="39969" name="Rectangle 78"/>
              <p:cNvSpPr>
                <a:spLocks noChangeArrowheads="1"/>
              </p:cNvSpPr>
              <p:nvPr/>
            </p:nvSpPr>
            <p:spPr bwMode="auto">
              <a:xfrm>
                <a:off x="1907" y="2707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Metro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0" name="Rectangle 79"/>
              <p:cNvSpPr>
                <a:spLocks noChangeArrowheads="1"/>
              </p:cNvSpPr>
              <p:nvPr/>
            </p:nvSpPr>
            <p:spPr bwMode="auto">
              <a:xfrm>
                <a:off x="1864" y="2707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sp>
        <p:nvSpPr>
          <p:cNvPr id="39942" name="Rectangle 83"/>
          <p:cNvSpPr>
            <a:spLocks noChangeArrowheads="1"/>
          </p:cNvSpPr>
          <p:nvPr/>
        </p:nvSpPr>
        <p:spPr bwMode="auto">
          <a:xfrm>
            <a:off x="2667000" y="4311650"/>
            <a:ext cx="303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1NF relation with redundancy</a:t>
            </a:r>
          </a:p>
        </p:txBody>
      </p:sp>
      <p:sp>
        <p:nvSpPr>
          <p:cNvPr id="39943" name="TextBox 83"/>
          <p:cNvSpPr txBox="1">
            <a:spLocks noChangeArrowheads="1"/>
          </p:cNvSpPr>
          <p:nvPr/>
        </p:nvSpPr>
        <p:spPr bwMode="auto">
          <a:xfrm>
            <a:off x="685800" y="11430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0">
                <a:solidFill>
                  <a:srgbClr val="3333CC"/>
                </a:solidFill>
              </a:rPr>
              <a:t>Solution 1: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7086600" y="16764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426272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5554" name="Group 2"/>
          <p:cNvGraphicFramePr>
            <a:graphicFrameLocks noGrp="1"/>
          </p:cNvGraphicFramePr>
          <p:nvPr>
            <p:ph idx="4294967295"/>
          </p:nvPr>
        </p:nvGraphicFramePr>
        <p:xfrm>
          <a:off x="838200" y="2362200"/>
          <a:ext cx="8001000" cy="2667000"/>
        </p:xfrm>
        <a:graphic>
          <a:graphicData uri="http://schemas.openxmlformats.org/drawingml/2006/table">
            <a:tbl>
              <a:tblPr/>
              <a:tblGrid>
                <a:gridCol w="18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DNAME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DNUMBER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DMGRSSN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Research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333445555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Mathara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Kandy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Administration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987654321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Headquarters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888665555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999" name="TextBox 57"/>
          <p:cNvSpPr txBox="1">
            <a:spLocks noChangeArrowheads="1"/>
          </p:cNvSpPr>
          <p:nvPr/>
        </p:nvSpPr>
        <p:spPr bwMode="auto">
          <a:xfrm>
            <a:off x="685800" y="1143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Solution 2:</a:t>
            </a:r>
          </a:p>
        </p:txBody>
      </p:sp>
      <p:sp>
        <p:nvSpPr>
          <p:cNvPr id="410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1001" name="TextBox 59"/>
          <p:cNvSpPr txBox="1">
            <a:spLocks noChangeArrowheads="1"/>
          </p:cNvSpPr>
          <p:nvPr/>
        </p:nvSpPr>
        <p:spPr bwMode="auto">
          <a:xfrm>
            <a:off x="762000" y="1905000"/>
            <a:ext cx="213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  <p:sp>
        <p:nvSpPr>
          <p:cNvPr id="41002" name="TextBox 60"/>
          <p:cNvSpPr txBox="1">
            <a:spLocks noChangeArrowheads="1"/>
          </p:cNvSpPr>
          <p:nvPr/>
        </p:nvSpPr>
        <p:spPr bwMode="auto">
          <a:xfrm>
            <a:off x="838200" y="5181600"/>
            <a:ext cx="7696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8463" indent="-39846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Need to know max number of locations.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create a column for each location.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may have lots of null values.</a:t>
            </a:r>
          </a:p>
        </p:txBody>
      </p:sp>
    </p:spTree>
    <p:extLst>
      <p:ext uri="{BB962C8B-B14F-4D97-AF65-F5344CB8AC3E}">
        <p14:creationId xmlns:p14="http://schemas.microsoft.com/office/powerpoint/2010/main" val="349726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65"/>
          <p:cNvSpPr>
            <a:spLocks noChangeArrowheads="1"/>
          </p:cNvSpPr>
          <p:nvPr/>
        </p:nvSpPr>
        <p:spPr bwMode="auto">
          <a:xfrm>
            <a:off x="320675" y="4984750"/>
            <a:ext cx="5257800" cy="144780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41987" name="Rectangle 44"/>
          <p:cNvSpPr>
            <a:spLocks noChangeArrowheads="1"/>
          </p:cNvSpPr>
          <p:nvPr/>
        </p:nvSpPr>
        <p:spPr bwMode="auto">
          <a:xfrm>
            <a:off x="685800" y="2490788"/>
            <a:ext cx="3962400" cy="1700212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>
              <a:solidFill>
                <a:srgbClr val="3333CC"/>
              </a:solidFill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1989" name="Rectangle 12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0" y="1638300"/>
            <a:ext cx="3581400" cy="43053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Remove the attribute DLOCTION and place it in a separate relation DEPT_LOCTIONS along with the primary key DNUMBER of DEPARTMENT.</a:t>
            </a:r>
          </a:p>
          <a:p>
            <a:pPr eaLnBrk="1" hangingPunct="1"/>
            <a:r>
              <a:rPr lang="en-US" altLang="en-US" sz="2000" smtClean="0"/>
              <a:t>The PK is the combination {DNUMBER, DLOCTION}</a:t>
            </a:r>
          </a:p>
          <a:p>
            <a:pPr eaLnBrk="1" hangingPunct="1"/>
            <a:r>
              <a:rPr lang="en-US" altLang="en-US" sz="2000" smtClean="0"/>
              <a:t>This decompose the non-INF relation into two INF relation.</a:t>
            </a:r>
          </a:p>
          <a:p>
            <a:pPr eaLnBrk="1" hangingPunct="1"/>
            <a:endParaRPr lang="en-US" altLang="en-US" sz="2000" smtClean="0"/>
          </a:p>
        </p:txBody>
      </p:sp>
      <p:sp>
        <p:nvSpPr>
          <p:cNvPr id="41990" name="Text Box 5"/>
          <p:cNvSpPr txBox="1">
            <a:spLocks noChangeArrowheads="1"/>
          </p:cNvSpPr>
          <p:nvPr/>
        </p:nvSpPr>
        <p:spPr bwMode="auto">
          <a:xfrm>
            <a:off x="609600" y="2178050"/>
            <a:ext cx="203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DEPT_LOCATIONS</a:t>
            </a:r>
          </a:p>
        </p:txBody>
      </p: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693738" y="2492375"/>
            <a:ext cx="3946525" cy="1697038"/>
            <a:chOff x="0" y="0"/>
            <a:chExt cx="1636" cy="2437"/>
          </a:xfrm>
        </p:grpSpPr>
        <p:grpSp>
          <p:nvGrpSpPr>
            <p:cNvPr id="42031" name="Group 8"/>
            <p:cNvGrpSpPr>
              <a:grpSpLocks/>
            </p:cNvGrpSpPr>
            <p:nvPr/>
          </p:nvGrpSpPr>
          <p:grpSpPr bwMode="auto">
            <a:xfrm>
              <a:off x="0" y="0"/>
              <a:ext cx="908" cy="422"/>
              <a:chOff x="0" y="0"/>
              <a:chExt cx="908" cy="422"/>
            </a:xfrm>
          </p:grpSpPr>
          <p:sp>
            <p:nvSpPr>
              <p:cNvPr id="42065" name="Rectangle 9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822" cy="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08" cy="42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2" name="Group 11"/>
            <p:cNvGrpSpPr>
              <a:grpSpLocks/>
            </p:cNvGrpSpPr>
            <p:nvPr/>
          </p:nvGrpSpPr>
          <p:grpSpPr bwMode="auto">
            <a:xfrm>
              <a:off x="908" y="0"/>
              <a:ext cx="728" cy="422"/>
              <a:chOff x="908" y="0"/>
              <a:chExt cx="728" cy="422"/>
            </a:xfrm>
          </p:grpSpPr>
          <p:sp>
            <p:nvSpPr>
              <p:cNvPr id="42063" name="Rectangle 12"/>
              <p:cNvSpPr>
                <a:spLocks noChangeArrowheads="1"/>
              </p:cNvSpPr>
              <p:nvPr/>
            </p:nvSpPr>
            <p:spPr bwMode="auto">
              <a:xfrm>
                <a:off x="951" y="0"/>
                <a:ext cx="642" cy="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DLOCATIONS</a:t>
                </a:r>
                <a:endParaRPr lang="en-US" altLang="en-US" sz="14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4" name="Rectangle 13"/>
              <p:cNvSpPr>
                <a:spLocks noChangeArrowheads="1"/>
              </p:cNvSpPr>
              <p:nvPr/>
            </p:nvSpPr>
            <p:spPr bwMode="auto">
              <a:xfrm>
                <a:off x="908" y="0"/>
                <a:ext cx="728" cy="42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3" name="Group 14"/>
            <p:cNvGrpSpPr>
              <a:grpSpLocks/>
            </p:cNvGrpSpPr>
            <p:nvPr/>
          </p:nvGrpSpPr>
          <p:grpSpPr bwMode="auto">
            <a:xfrm>
              <a:off x="0" y="422"/>
              <a:ext cx="908" cy="403"/>
              <a:chOff x="0" y="422"/>
              <a:chExt cx="908" cy="403"/>
            </a:xfrm>
          </p:grpSpPr>
          <p:sp>
            <p:nvSpPr>
              <p:cNvPr id="42061" name="Rectangle 15"/>
              <p:cNvSpPr>
                <a:spLocks noChangeArrowheads="1"/>
              </p:cNvSpPr>
              <p:nvPr/>
            </p:nvSpPr>
            <p:spPr bwMode="auto">
              <a:xfrm>
                <a:off x="43" y="422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2" name="Rectangle 16"/>
              <p:cNvSpPr>
                <a:spLocks noChangeArrowheads="1"/>
              </p:cNvSpPr>
              <p:nvPr/>
            </p:nvSpPr>
            <p:spPr bwMode="auto">
              <a:xfrm>
                <a:off x="0" y="422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4" name="Group 17"/>
            <p:cNvGrpSpPr>
              <a:grpSpLocks/>
            </p:cNvGrpSpPr>
            <p:nvPr/>
          </p:nvGrpSpPr>
          <p:grpSpPr bwMode="auto">
            <a:xfrm>
              <a:off x="908" y="422"/>
              <a:ext cx="728" cy="403"/>
              <a:chOff x="908" y="422"/>
              <a:chExt cx="728" cy="403"/>
            </a:xfrm>
          </p:grpSpPr>
          <p:sp>
            <p:nvSpPr>
              <p:cNvPr id="42059" name="Rectangle 18"/>
              <p:cNvSpPr>
                <a:spLocks noChangeArrowheads="1"/>
              </p:cNvSpPr>
              <p:nvPr/>
            </p:nvSpPr>
            <p:spPr bwMode="auto">
              <a:xfrm>
                <a:off x="951" y="422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Metro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60" name="Rectangle 19"/>
              <p:cNvSpPr>
                <a:spLocks noChangeArrowheads="1"/>
              </p:cNvSpPr>
              <p:nvPr/>
            </p:nvSpPr>
            <p:spPr bwMode="auto">
              <a:xfrm>
                <a:off x="908" y="422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5" name="Group 20"/>
            <p:cNvGrpSpPr>
              <a:grpSpLocks/>
            </p:cNvGrpSpPr>
            <p:nvPr/>
          </p:nvGrpSpPr>
          <p:grpSpPr bwMode="auto">
            <a:xfrm>
              <a:off x="0" y="825"/>
              <a:ext cx="908" cy="403"/>
              <a:chOff x="0" y="825"/>
              <a:chExt cx="908" cy="403"/>
            </a:xfrm>
          </p:grpSpPr>
          <p:sp>
            <p:nvSpPr>
              <p:cNvPr id="42057" name="Rectangle 21"/>
              <p:cNvSpPr>
                <a:spLocks noChangeArrowheads="1"/>
              </p:cNvSpPr>
              <p:nvPr/>
            </p:nvSpPr>
            <p:spPr bwMode="auto">
              <a:xfrm>
                <a:off x="43" y="825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8" name="Rectangle 22"/>
              <p:cNvSpPr>
                <a:spLocks noChangeArrowheads="1"/>
              </p:cNvSpPr>
              <p:nvPr/>
            </p:nvSpPr>
            <p:spPr bwMode="auto">
              <a:xfrm>
                <a:off x="0" y="825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6" name="Group 23"/>
            <p:cNvGrpSpPr>
              <a:grpSpLocks/>
            </p:cNvGrpSpPr>
            <p:nvPr/>
          </p:nvGrpSpPr>
          <p:grpSpPr bwMode="auto">
            <a:xfrm>
              <a:off x="908" y="825"/>
              <a:ext cx="728" cy="403"/>
              <a:chOff x="908" y="825"/>
              <a:chExt cx="728" cy="403"/>
            </a:xfrm>
          </p:grpSpPr>
          <p:sp>
            <p:nvSpPr>
              <p:cNvPr id="42055" name="Rectangle 24"/>
              <p:cNvSpPr>
                <a:spLocks noChangeArrowheads="1"/>
              </p:cNvSpPr>
              <p:nvPr/>
            </p:nvSpPr>
            <p:spPr bwMode="auto">
              <a:xfrm>
                <a:off x="951" y="825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Malabe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56" name="Rectangle 25"/>
              <p:cNvSpPr>
                <a:spLocks noChangeArrowheads="1"/>
              </p:cNvSpPr>
              <p:nvPr/>
            </p:nvSpPr>
            <p:spPr bwMode="auto">
              <a:xfrm>
                <a:off x="908" y="825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7" name="Group 26"/>
            <p:cNvGrpSpPr>
              <a:grpSpLocks/>
            </p:cNvGrpSpPr>
            <p:nvPr/>
          </p:nvGrpSpPr>
          <p:grpSpPr bwMode="auto">
            <a:xfrm>
              <a:off x="0" y="1228"/>
              <a:ext cx="908" cy="403"/>
              <a:chOff x="0" y="1228"/>
              <a:chExt cx="908" cy="403"/>
            </a:xfrm>
          </p:grpSpPr>
          <p:sp>
            <p:nvSpPr>
              <p:cNvPr id="42053" name="Rectangle 27"/>
              <p:cNvSpPr>
                <a:spLocks noChangeArrowheads="1"/>
              </p:cNvSpPr>
              <p:nvPr/>
            </p:nvSpPr>
            <p:spPr bwMode="auto">
              <a:xfrm>
                <a:off x="43" y="1228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4" name="Rectangle 28"/>
              <p:cNvSpPr>
                <a:spLocks noChangeArrowheads="1"/>
              </p:cNvSpPr>
              <p:nvPr/>
            </p:nvSpPr>
            <p:spPr bwMode="auto">
              <a:xfrm>
                <a:off x="0" y="1228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8" name="Group 29"/>
            <p:cNvGrpSpPr>
              <a:grpSpLocks/>
            </p:cNvGrpSpPr>
            <p:nvPr/>
          </p:nvGrpSpPr>
          <p:grpSpPr bwMode="auto">
            <a:xfrm>
              <a:off x="908" y="1228"/>
              <a:ext cx="728" cy="403"/>
              <a:chOff x="908" y="1228"/>
              <a:chExt cx="728" cy="403"/>
            </a:xfrm>
          </p:grpSpPr>
          <p:sp>
            <p:nvSpPr>
              <p:cNvPr id="42051" name="Rectangle 30"/>
              <p:cNvSpPr>
                <a:spLocks noChangeArrowheads="1"/>
              </p:cNvSpPr>
              <p:nvPr/>
            </p:nvSpPr>
            <p:spPr bwMode="auto">
              <a:xfrm>
                <a:off x="951" y="1228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Mathara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52" name="Rectangle 31"/>
              <p:cNvSpPr>
                <a:spLocks noChangeArrowheads="1"/>
              </p:cNvSpPr>
              <p:nvPr/>
            </p:nvSpPr>
            <p:spPr bwMode="auto">
              <a:xfrm>
                <a:off x="908" y="1228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9" name="Group 32"/>
            <p:cNvGrpSpPr>
              <a:grpSpLocks/>
            </p:cNvGrpSpPr>
            <p:nvPr/>
          </p:nvGrpSpPr>
          <p:grpSpPr bwMode="auto">
            <a:xfrm>
              <a:off x="0" y="1631"/>
              <a:ext cx="908" cy="403"/>
              <a:chOff x="0" y="1631"/>
              <a:chExt cx="908" cy="403"/>
            </a:xfrm>
          </p:grpSpPr>
          <p:sp>
            <p:nvSpPr>
              <p:cNvPr id="42049" name="Rectangle 33"/>
              <p:cNvSpPr>
                <a:spLocks noChangeArrowheads="1"/>
              </p:cNvSpPr>
              <p:nvPr/>
            </p:nvSpPr>
            <p:spPr bwMode="auto">
              <a:xfrm>
                <a:off x="43" y="1631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0" name="Rectangle 34"/>
              <p:cNvSpPr>
                <a:spLocks noChangeArrowheads="1"/>
              </p:cNvSpPr>
              <p:nvPr/>
            </p:nvSpPr>
            <p:spPr bwMode="auto">
              <a:xfrm>
                <a:off x="0" y="1631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0" name="Group 35"/>
            <p:cNvGrpSpPr>
              <a:grpSpLocks/>
            </p:cNvGrpSpPr>
            <p:nvPr/>
          </p:nvGrpSpPr>
          <p:grpSpPr bwMode="auto">
            <a:xfrm>
              <a:off x="908" y="1631"/>
              <a:ext cx="728" cy="403"/>
              <a:chOff x="908" y="1631"/>
              <a:chExt cx="728" cy="403"/>
            </a:xfrm>
          </p:grpSpPr>
          <p:sp>
            <p:nvSpPr>
              <p:cNvPr id="42047" name="Rectangle 36"/>
              <p:cNvSpPr>
                <a:spLocks noChangeArrowheads="1"/>
              </p:cNvSpPr>
              <p:nvPr/>
            </p:nvSpPr>
            <p:spPr bwMode="auto">
              <a:xfrm>
                <a:off x="951" y="1631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Kandy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48" name="Rectangle 37"/>
              <p:cNvSpPr>
                <a:spLocks noChangeArrowheads="1"/>
              </p:cNvSpPr>
              <p:nvPr/>
            </p:nvSpPr>
            <p:spPr bwMode="auto">
              <a:xfrm>
                <a:off x="908" y="1631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1" name="Group 38"/>
            <p:cNvGrpSpPr>
              <a:grpSpLocks/>
            </p:cNvGrpSpPr>
            <p:nvPr/>
          </p:nvGrpSpPr>
          <p:grpSpPr bwMode="auto">
            <a:xfrm>
              <a:off x="0" y="2034"/>
              <a:ext cx="908" cy="403"/>
              <a:chOff x="0" y="2034"/>
              <a:chExt cx="908" cy="403"/>
            </a:xfrm>
          </p:grpSpPr>
          <p:sp>
            <p:nvSpPr>
              <p:cNvPr id="42045" name="Rectangle 39"/>
              <p:cNvSpPr>
                <a:spLocks noChangeArrowheads="1"/>
              </p:cNvSpPr>
              <p:nvPr/>
            </p:nvSpPr>
            <p:spPr bwMode="auto">
              <a:xfrm>
                <a:off x="43" y="2034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46" name="Rectangle 40"/>
              <p:cNvSpPr>
                <a:spLocks noChangeArrowheads="1"/>
              </p:cNvSpPr>
              <p:nvPr/>
            </p:nvSpPr>
            <p:spPr bwMode="auto">
              <a:xfrm>
                <a:off x="0" y="2034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2" name="Group 41"/>
            <p:cNvGrpSpPr>
              <a:grpSpLocks/>
            </p:cNvGrpSpPr>
            <p:nvPr/>
          </p:nvGrpSpPr>
          <p:grpSpPr bwMode="auto">
            <a:xfrm>
              <a:off x="908" y="2034"/>
              <a:ext cx="728" cy="403"/>
              <a:chOff x="908" y="2034"/>
              <a:chExt cx="728" cy="403"/>
            </a:xfrm>
          </p:grpSpPr>
          <p:sp>
            <p:nvSpPr>
              <p:cNvPr id="42043" name="Rectangle 42"/>
              <p:cNvSpPr>
                <a:spLocks noChangeArrowheads="1"/>
              </p:cNvSpPr>
              <p:nvPr/>
            </p:nvSpPr>
            <p:spPr bwMode="auto">
              <a:xfrm>
                <a:off x="951" y="2034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Metro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44" name="Rectangle 43"/>
              <p:cNvSpPr>
                <a:spLocks noChangeArrowheads="1"/>
              </p:cNvSpPr>
              <p:nvPr/>
            </p:nvSpPr>
            <p:spPr bwMode="auto">
              <a:xfrm>
                <a:off x="908" y="2034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grpSp>
        <p:nvGrpSpPr>
          <p:cNvPr id="41992" name="Group 128"/>
          <p:cNvGrpSpPr>
            <a:grpSpLocks/>
          </p:cNvGrpSpPr>
          <p:nvPr/>
        </p:nvGrpSpPr>
        <p:grpSpPr bwMode="auto">
          <a:xfrm>
            <a:off x="328613" y="4987925"/>
            <a:ext cx="5241925" cy="1441450"/>
            <a:chOff x="0" y="0"/>
            <a:chExt cx="2169" cy="1727"/>
          </a:xfrm>
        </p:grpSpPr>
        <p:grpSp>
          <p:nvGrpSpPr>
            <p:cNvPr id="41995" name="Group 129"/>
            <p:cNvGrpSpPr>
              <a:grpSpLocks/>
            </p:cNvGrpSpPr>
            <p:nvPr/>
          </p:nvGrpSpPr>
          <p:grpSpPr bwMode="auto">
            <a:xfrm>
              <a:off x="0" y="0"/>
              <a:ext cx="897" cy="518"/>
              <a:chOff x="0" y="0"/>
              <a:chExt cx="897" cy="518"/>
            </a:xfrm>
          </p:grpSpPr>
          <p:sp>
            <p:nvSpPr>
              <p:cNvPr id="42029" name="Rectangle 130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811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>
                    <a:cs typeface="Times New Roman" panose="02020603050405020304" pitchFamily="18" charset="0"/>
                  </a:rPr>
                  <a:t>DNAME</a:t>
                </a:r>
                <a:endParaRPr lang="en-US" altLang="en-US" sz="14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30" name="Rectangle 13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897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6" name="Group 132"/>
            <p:cNvGrpSpPr>
              <a:grpSpLocks/>
            </p:cNvGrpSpPr>
            <p:nvPr/>
          </p:nvGrpSpPr>
          <p:grpSpPr bwMode="auto">
            <a:xfrm>
              <a:off x="897" y="0"/>
              <a:ext cx="720" cy="518"/>
              <a:chOff x="897" y="0"/>
              <a:chExt cx="720" cy="518"/>
            </a:xfrm>
          </p:grpSpPr>
          <p:sp>
            <p:nvSpPr>
              <p:cNvPr id="42027" name="Rectangle 133"/>
              <p:cNvSpPr>
                <a:spLocks noChangeArrowheads="1"/>
              </p:cNvSpPr>
              <p:nvPr/>
            </p:nvSpPr>
            <p:spPr bwMode="auto">
              <a:xfrm>
                <a:off x="940" y="0"/>
                <a:ext cx="63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DNUMBER</a:t>
                </a:r>
                <a:endParaRPr lang="en-US" altLang="en-US" sz="14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8" name="Rectangle 134"/>
              <p:cNvSpPr>
                <a:spLocks noChangeArrowheads="1"/>
              </p:cNvSpPr>
              <p:nvPr/>
            </p:nvSpPr>
            <p:spPr bwMode="auto">
              <a:xfrm>
                <a:off x="897" y="0"/>
                <a:ext cx="72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7" name="Group 135"/>
            <p:cNvGrpSpPr>
              <a:grpSpLocks/>
            </p:cNvGrpSpPr>
            <p:nvPr/>
          </p:nvGrpSpPr>
          <p:grpSpPr bwMode="auto">
            <a:xfrm>
              <a:off x="1617" y="0"/>
              <a:ext cx="552" cy="518"/>
              <a:chOff x="1617" y="0"/>
              <a:chExt cx="552" cy="518"/>
            </a:xfrm>
          </p:grpSpPr>
          <p:sp>
            <p:nvSpPr>
              <p:cNvPr id="42025" name="Rectangle 136"/>
              <p:cNvSpPr>
                <a:spLocks noChangeArrowheads="1"/>
              </p:cNvSpPr>
              <p:nvPr/>
            </p:nvSpPr>
            <p:spPr bwMode="auto">
              <a:xfrm>
                <a:off x="1660" y="0"/>
                <a:ext cx="4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>
                    <a:cs typeface="Times New Roman" panose="02020603050405020304" pitchFamily="18" charset="0"/>
                  </a:rPr>
                  <a:t>DMGRSSN</a:t>
                </a:r>
                <a:endParaRPr lang="en-US" altLang="en-US" sz="14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6" name="Rectangle 137"/>
              <p:cNvSpPr>
                <a:spLocks noChangeArrowheads="1"/>
              </p:cNvSpPr>
              <p:nvPr/>
            </p:nvSpPr>
            <p:spPr bwMode="auto">
              <a:xfrm>
                <a:off x="1617" y="0"/>
                <a:ext cx="552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8" name="Group 138"/>
            <p:cNvGrpSpPr>
              <a:grpSpLocks/>
            </p:cNvGrpSpPr>
            <p:nvPr/>
          </p:nvGrpSpPr>
          <p:grpSpPr bwMode="auto">
            <a:xfrm>
              <a:off x="0" y="518"/>
              <a:ext cx="897" cy="403"/>
              <a:chOff x="0" y="518"/>
              <a:chExt cx="897" cy="403"/>
            </a:xfrm>
          </p:grpSpPr>
          <p:sp>
            <p:nvSpPr>
              <p:cNvPr id="42023" name="Rectangle 139"/>
              <p:cNvSpPr>
                <a:spLocks noChangeArrowheads="1"/>
              </p:cNvSpPr>
              <p:nvPr/>
            </p:nvSpPr>
            <p:spPr bwMode="auto">
              <a:xfrm>
                <a:off x="43" y="518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Research 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4" name="Rectangle 140"/>
              <p:cNvSpPr>
                <a:spLocks noChangeArrowheads="1"/>
              </p:cNvSpPr>
              <p:nvPr/>
            </p:nvSpPr>
            <p:spPr bwMode="auto">
              <a:xfrm>
                <a:off x="0" y="518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9" name="Group 141"/>
            <p:cNvGrpSpPr>
              <a:grpSpLocks/>
            </p:cNvGrpSpPr>
            <p:nvPr/>
          </p:nvGrpSpPr>
          <p:grpSpPr bwMode="auto">
            <a:xfrm>
              <a:off x="897" y="518"/>
              <a:ext cx="720" cy="403"/>
              <a:chOff x="897" y="518"/>
              <a:chExt cx="720" cy="403"/>
            </a:xfrm>
          </p:grpSpPr>
          <p:sp>
            <p:nvSpPr>
              <p:cNvPr id="42021" name="Rectangle 142"/>
              <p:cNvSpPr>
                <a:spLocks noChangeArrowheads="1"/>
              </p:cNvSpPr>
              <p:nvPr/>
            </p:nvSpPr>
            <p:spPr bwMode="auto">
              <a:xfrm>
                <a:off x="940" y="518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2" name="Rectangle 143"/>
              <p:cNvSpPr>
                <a:spLocks noChangeArrowheads="1"/>
              </p:cNvSpPr>
              <p:nvPr/>
            </p:nvSpPr>
            <p:spPr bwMode="auto">
              <a:xfrm>
                <a:off x="897" y="518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0" name="Group 144"/>
            <p:cNvGrpSpPr>
              <a:grpSpLocks/>
            </p:cNvGrpSpPr>
            <p:nvPr/>
          </p:nvGrpSpPr>
          <p:grpSpPr bwMode="auto">
            <a:xfrm>
              <a:off x="1617" y="518"/>
              <a:ext cx="552" cy="403"/>
              <a:chOff x="1617" y="518"/>
              <a:chExt cx="552" cy="403"/>
            </a:xfrm>
          </p:grpSpPr>
          <p:sp>
            <p:nvSpPr>
              <p:cNvPr id="42019" name="Rectangle 145"/>
              <p:cNvSpPr>
                <a:spLocks noChangeArrowheads="1"/>
              </p:cNvSpPr>
              <p:nvPr/>
            </p:nvSpPr>
            <p:spPr bwMode="auto">
              <a:xfrm>
                <a:off x="1660" y="518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333445555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0" name="Rectangle 146"/>
              <p:cNvSpPr>
                <a:spLocks noChangeArrowheads="1"/>
              </p:cNvSpPr>
              <p:nvPr/>
            </p:nvSpPr>
            <p:spPr bwMode="auto">
              <a:xfrm>
                <a:off x="1617" y="518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1" name="Group 147"/>
            <p:cNvGrpSpPr>
              <a:grpSpLocks/>
            </p:cNvGrpSpPr>
            <p:nvPr/>
          </p:nvGrpSpPr>
          <p:grpSpPr bwMode="auto">
            <a:xfrm>
              <a:off x="0" y="921"/>
              <a:ext cx="897" cy="403"/>
              <a:chOff x="0" y="921"/>
              <a:chExt cx="897" cy="403"/>
            </a:xfrm>
          </p:grpSpPr>
          <p:sp>
            <p:nvSpPr>
              <p:cNvPr id="42017" name="Rectangle 148"/>
              <p:cNvSpPr>
                <a:spLocks noChangeArrowheads="1"/>
              </p:cNvSpPr>
              <p:nvPr/>
            </p:nvSpPr>
            <p:spPr bwMode="auto">
              <a:xfrm>
                <a:off x="43" y="921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8" name="Rectangle 149"/>
              <p:cNvSpPr>
                <a:spLocks noChangeArrowheads="1"/>
              </p:cNvSpPr>
              <p:nvPr/>
            </p:nvSpPr>
            <p:spPr bwMode="auto">
              <a:xfrm>
                <a:off x="0" y="921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2" name="Group 150"/>
            <p:cNvGrpSpPr>
              <a:grpSpLocks/>
            </p:cNvGrpSpPr>
            <p:nvPr/>
          </p:nvGrpSpPr>
          <p:grpSpPr bwMode="auto">
            <a:xfrm>
              <a:off x="897" y="921"/>
              <a:ext cx="720" cy="403"/>
              <a:chOff x="897" y="921"/>
              <a:chExt cx="720" cy="403"/>
            </a:xfrm>
          </p:grpSpPr>
          <p:sp>
            <p:nvSpPr>
              <p:cNvPr id="42015" name="Rectangle 151"/>
              <p:cNvSpPr>
                <a:spLocks noChangeArrowheads="1"/>
              </p:cNvSpPr>
              <p:nvPr/>
            </p:nvSpPr>
            <p:spPr bwMode="auto">
              <a:xfrm>
                <a:off x="940" y="921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6" name="Rectangle 152"/>
              <p:cNvSpPr>
                <a:spLocks noChangeArrowheads="1"/>
              </p:cNvSpPr>
              <p:nvPr/>
            </p:nvSpPr>
            <p:spPr bwMode="auto">
              <a:xfrm>
                <a:off x="897" y="921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3" name="Group 153"/>
            <p:cNvGrpSpPr>
              <a:grpSpLocks/>
            </p:cNvGrpSpPr>
            <p:nvPr/>
          </p:nvGrpSpPr>
          <p:grpSpPr bwMode="auto">
            <a:xfrm>
              <a:off x="1617" y="921"/>
              <a:ext cx="552" cy="403"/>
              <a:chOff x="1617" y="921"/>
              <a:chExt cx="552" cy="403"/>
            </a:xfrm>
          </p:grpSpPr>
          <p:sp>
            <p:nvSpPr>
              <p:cNvPr id="42013" name="Rectangle 154"/>
              <p:cNvSpPr>
                <a:spLocks noChangeArrowheads="1"/>
              </p:cNvSpPr>
              <p:nvPr/>
            </p:nvSpPr>
            <p:spPr bwMode="auto">
              <a:xfrm>
                <a:off x="1660" y="921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987654321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4" name="Rectangle 155"/>
              <p:cNvSpPr>
                <a:spLocks noChangeArrowheads="1"/>
              </p:cNvSpPr>
              <p:nvPr/>
            </p:nvSpPr>
            <p:spPr bwMode="auto">
              <a:xfrm>
                <a:off x="1617" y="921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4" name="Group 156"/>
            <p:cNvGrpSpPr>
              <a:grpSpLocks/>
            </p:cNvGrpSpPr>
            <p:nvPr/>
          </p:nvGrpSpPr>
          <p:grpSpPr bwMode="auto">
            <a:xfrm>
              <a:off x="0" y="1324"/>
              <a:ext cx="897" cy="403"/>
              <a:chOff x="0" y="1324"/>
              <a:chExt cx="897" cy="403"/>
            </a:xfrm>
          </p:grpSpPr>
          <p:sp>
            <p:nvSpPr>
              <p:cNvPr id="42011" name="Rectangle 157"/>
              <p:cNvSpPr>
                <a:spLocks noChangeArrowheads="1"/>
              </p:cNvSpPr>
              <p:nvPr/>
            </p:nvSpPr>
            <p:spPr bwMode="auto">
              <a:xfrm>
                <a:off x="43" y="1324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Headquarters 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2" name="Rectangle 158"/>
              <p:cNvSpPr>
                <a:spLocks noChangeArrowheads="1"/>
              </p:cNvSpPr>
              <p:nvPr/>
            </p:nvSpPr>
            <p:spPr bwMode="auto">
              <a:xfrm>
                <a:off x="0" y="1324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5" name="Group 159"/>
            <p:cNvGrpSpPr>
              <a:grpSpLocks/>
            </p:cNvGrpSpPr>
            <p:nvPr/>
          </p:nvGrpSpPr>
          <p:grpSpPr bwMode="auto">
            <a:xfrm>
              <a:off x="897" y="1324"/>
              <a:ext cx="720" cy="403"/>
              <a:chOff x="897" y="1324"/>
              <a:chExt cx="720" cy="403"/>
            </a:xfrm>
          </p:grpSpPr>
          <p:sp>
            <p:nvSpPr>
              <p:cNvPr id="42009" name="Rectangle 160"/>
              <p:cNvSpPr>
                <a:spLocks noChangeArrowheads="1"/>
              </p:cNvSpPr>
              <p:nvPr/>
            </p:nvSpPr>
            <p:spPr bwMode="auto">
              <a:xfrm>
                <a:off x="940" y="1324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0" name="Rectangle 161"/>
              <p:cNvSpPr>
                <a:spLocks noChangeArrowheads="1"/>
              </p:cNvSpPr>
              <p:nvPr/>
            </p:nvSpPr>
            <p:spPr bwMode="auto">
              <a:xfrm>
                <a:off x="897" y="1324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6" name="Group 162"/>
            <p:cNvGrpSpPr>
              <a:grpSpLocks/>
            </p:cNvGrpSpPr>
            <p:nvPr/>
          </p:nvGrpSpPr>
          <p:grpSpPr bwMode="auto">
            <a:xfrm>
              <a:off x="1617" y="1324"/>
              <a:ext cx="552" cy="403"/>
              <a:chOff x="1617" y="1324"/>
              <a:chExt cx="552" cy="403"/>
            </a:xfrm>
          </p:grpSpPr>
          <p:sp>
            <p:nvSpPr>
              <p:cNvPr id="42007" name="Rectangle 163"/>
              <p:cNvSpPr>
                <a:spLocks noChangeArrowheads="1"/>
              </p:cNvSpPr>
              <p:nvPr/>
            </p:nvSpPr>
            <p:spPr bwMode="auto">
              <a:xfrm>
                <a:off x="1660" y="1324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888665555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08" name="Rectangle 164"/>
              <p:cNvSpPr>
                <a:spLocks noChangeArrowheads="1"/>
              </p:cNvSpPr>
              <p:nvPr/>
            </p:nvSpPr>
            <p:spPr bwMode="auto">
              <a:xfrm>
                <a:off x="1617" y="1324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sp>
        <p:nvSpPr>
          <p:cNvPr id="41993" name="Text Box 166"/>
          <p:cNvSpPr txBox="1">
            <a:spLocks noChangeArrowheads="1"/>
          </p:cNvSpPr>
          <p:nvPr/>
        </p:nvSpPr>
        <p:spPr bwMode="auto">
          <a:xfrm>
            <a:off x="228600" y="4692650"/>
            <a:ext cx="159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  <p:sp>
        <p:nvSpPr>
          <p:cNvPr id="41994" name="TextBox 86"/>
          <p:cNvSpPr txBox="1">
            <a:spLocks noChangeArrowheads="1"/>
          </p:cNvSpPr>
          <p:nvPr/>
        </p:nvSpPr>
        <p:spPr bwMode="auto">
          <a:xfrm>
            <a:off x="685800" y="1143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Solution 3:</a:t>
            </a:r>
          </a:p>
        </p:txBody>
      </p:sp>
    </p:spTree>
    <p:extLst>
      <p:ext uri="{BB962C8B-B14F-4D97-AF65-F5344CB8AC3E}">
        <p14:creationId xmlns:p14="http://schemas.microsoft.com/office/powerpoint/2010/main" val="34769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89075"/>
            <a:ext cx="81534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 smtClean="0"/>
              <a:t>A functional dependency, X </a:t>
            </a:r>
            <a:r>
              <a:rPr lang="en-US" altLang="en-US" sz="1800" b="1" smtClean="0">
                <a:sym typeface="Wingdings" panose="05000000000000000000" pitchFamily="2" charset="2"/>
              </a:rPr>
              <a:t> Y is a </a:t>
            </a:r>
            <a:r>
              <a:rPr lang="en-US" altLang="en-US" sz="1800" b="1" smtClean="0">
                <a:solidFill>
                  <a:srgbClr val="FF33CC"/>
                </a:solidFill>
                <a:sym typeface="Wingdings" panose="05000000000000000000" pitchFamily="2" charset="2"/>
              </a:rPr>
              <a:t>full functional dependency</a:t>
            </a:r>
            <a:r>
              <a:rPr lang="en-US" altLang="en-US" sz="1800" b="1" smtClean="0">
                <a:sym typeface="Wingdings" panose="05000000000000000000" pitchFamily="2" charset="2"/>
              </a:rPr>
              <a:t> if removal of any attribute A from X means that the dependency does not hold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smtClean="0">
                <a:sym typeface="Wingdings" panose="05000000000000000000" pitchFamily="2" charset="2"/>
              </a:rPr>
              <a:t>		(i.e. (X –{A})  Y does not hold 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 smtClean="0"/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  <p:sp>
        <p:nvSpPr>
          <p:cNvPr id="43012" name="Text Box 89"/>
          <p:cNvSpPr txBox="1">
            <a:spLocks noChangeArrowheads="1"/>
          </p:cNvSpPr>
          <p:nvPr/>
        </p:nvSpPr>
        <p:spPr bwMode="auto">
          <a:xfrm>
            <a:off x="762000" y="2743200"/>
            <a:ext cx="1047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>
                <a:solidFill>
                  <a:srgbClr val="3333CC"/>
                </a:solidFill>
              </a:rPr>
              <a:t>TEACH</a:t>
            </a:r>
          </a:p>
        </p:txBody>
      </p:sp>
      <p:graphicFrame>
        <p:nvGraphicFramePr>
          <p:cNvPr id="537605" name="Group 5"/>
          <p:cNvGraphicFramePr>
            <a:graphicFrameLocks noGrp="1"/>
          </p:cNvGraphicFramePr>
          <p:nvPr/>
        </p:nvGraphicFramePr>
        <p:xfrm>
          <a:off x="762000" y="3243263"/>
          <a:ext cx="7315200" cy="3154680"/>
        </p:xfrm>
        <a:graphic>
          <a:graphicData uri="http://schemas.openxmlformats.org/drawingml/2006/table">
            <a:tbl>
              <a:tblPr/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STUDENT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Narayan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Smith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Nalin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Kamal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Janith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Ranil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Ruwan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065" name="TextBox 91"/>
          <p:cNvSpPr txBox="1">
            <a:spLocks noChangeArrowheads="1"/>
          </p:cNvSpPr>
          <p:nvPr/>
        </p:nvSpPr>
        <p:spPr bwMode="auto">
          <a:xfrm>
            <a:off x="19812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33CC"/>
                </a:solidFill>
              </a:rPr>
              <a:t>{Teacher, Campus} </a:t>
            </a:r>
            <a:r>
              <a:rPr lang="en-US" altLang="en-US" sz="2400">
                <a:solidFill>
                  <a:srgbClr val="3333CC"/>
                </a:solidFill>
                <a:sym typeface="Wingdings" panose="05000000000000000000" pitchFamily="2" charset="2"/>
              </a:rPr>
              <a:t> Course</a:t>
            </a:r>
            <a:endParaRPr lang="en-US" altLang="en-US" sz="180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29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smtClean="0">
                <a:solidFill>
                  <a:srgbClr val="FF6600"/>
                </a:solidFill>
              </a:rPr>
              <a:t>2</a:t>
            </a:r>
            <a:r>
              <a:rPr lang="en-US" altLang="en-US" sz="2400" b="1" baseline="30000" smtClean="0">
                <a:solidFill>
                  <a:srgbClr val="FF6600"/>
                </a:solidFill>
              </a:rPr>
              <a:t>nd</a:t>
            </a:r>
            <a:r>
              <a:rPr lang="en-US" altLang="en-US" sz="2400" b="1" smtClean="0">
                <a:solidFill>
                  <a:srgbClr val="FF6600"/>
                </a:solidFill>
              </a:rPr>
              <a:t> Normal Form: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relation R is in second normal form (2NF) if every nonprime attribute A in R is not </a:t>
            </a:r>
            <a:r>
              <a:rPr lang="en-US" altLang="en-US" sz="2400" b="1" smtClean="0">
                <a:solidFill>
                  <a:srgbClr val="009900"/>
                </a:solidFill>
              </a:rPr>
              <a:t>partially dependent</a:t>
            </a:r>
            <a:r>
              <a:rPr lang="en-US" altLang="en-US" sz="2400" smtClean="0"/>
              <a:t> on any key of R.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38673" name="Group 49"/>
          <p:cNvGraphicFramePr>
            <a:graphicFrameLocks noGrp="1"/>
          </p:cNvGraphicFramePr>
          <p:nvPr/>
        </p:nvGraphicFramePr>
        <p:xfrm>
          <a:off x="1066800" y="3810000"/>
          <a:ext cx="7620000" cy="1676401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6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AU" altLang="en-US" sz="1800" b="0"/>
          </a:p>
        </p:txBody>
      </p:sp>
      <p:grpSp>
        <p:nvGrpSpPr>
          <p:cNvPr id="44070" name="Group 1"/>
          <p:cNvGrpSpPr>
            <a:grpSpLocks/>
          </p:cNvGrpSpPr>
          <p:nvPr/>
        </p:nvGrpSpPr>
        <p:grpSpPr bwMode="auto">
          <a:xfrm>
            <a:off x="3276600" y="5562600"/>
            <a:ext cx="2971800" cy="371475"/>
            <a:chOff x="2986" y="12220"/>
            <a:chExt cx="3487" cy="225"/>
          </a:xfrm>
        </p:grpSpPr>
        <p:cxnSp>
          <p:nvCxnSpPr>
            <p:cNvPr id="44078" name="AutoShape 4"/>
            <p:cNvCxnSpPr>
              <a:cxnSpLocks noChangeShapeType="1"/>
            </p:cNvCxnSpPr>
            <p:nvPr/>
          </p:nvCxnSpPr>
          <p:spPr bwMode="auto">
            <a:xfrm>
              <a:off x="2986" y="12445"/>
              <a:ext cx="348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9" name="AutoShape 3"/>
            <p:cNvCxnSpPr>
              <a:cxnSpLocks noChangeShapeType="1"/>
            </p:cNvCxnSpPr>
            <p:nvPr/>
          </p:nvCxnSpPr>
          <p:spPr bwMode="auto">
            <a:xfrm flipV="1">
              <a:off x="2986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80" name="AutoShape 2"/>
            <p:cNvCxnSpPr>
              <a:cxnSpLocks noChangeShapeType="1"/>
            </p:cNvCxnSpPr>
            <p:nvPr/>
          </p:nvCxnSpPr>
          <p:spPr bwMode="auto">
            <a:xfrm flipV="1">
              <a:off x="6473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71" name="Group 21"/>
          <p:cNvGrpSpPr>
            <a:grpSpLocks/>
          </p:cNvGrpSpPr>
          <p:nvPr/>
        </p:nvGrpSpPr>
        <p:grpSpPr bwMode="auto">
          <a:xfrm>
            <a:off x="1676400" y="3579813"/>
            <a:ext cx="5183188" cy="230187"/>
            <a:chOff x="1676400" y="3429000"/>
            <a:chExt cx="5182394" cy="229394"/>
          </a:xfrm>
        </p:grpSpPr>
        <p:cxnSp>
          <p:nvCxnSpPr>
            <p:cNvPr id="44073" name="AutoShape 7"/>
            <p:cNvCxnSpPr>
              <a:cxnSpLocks noChangeShapeType="1"/>
            </p:cNvCxnSpPr>
            <p:nvPr/>
          </p:nvCxnSpPr>
          <p:spPr bwMode="auto">
            <a:xfrm>
              <a:off x="1720850" y="3429000"/>
              <a:ext cx="51371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4" name="AutoShape 8"/>
            <p:cNvCxnSpPr>
              <a:cxnSpLocks noChangeShapeType="1"/>
            </p:cNvCxnSpPr>
            <p:nvPr/>
          </p:nvCxnSpPr>
          <p:spPr bwMode="auto">
            <a:xfrm rot="5400000">
              <a:off x="1584325" y="3521075"/>
              <a:ext cx="228600" cy="44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5" name="AutoShape 9"/>
            <p:cNvCxnSpPr>
              <a:cxnSpLocks noChangeShapeType="1"/>
            </p:cNvCxnSpPr>
            <p:nvPr/>
          </p:nvCxnSpPr>
          <p:spPr bwMode="auto">
            <a:xfrm rot="5400000">
              <a:off x="3166567" y="3539034"/>
              <a:ext cx="228600" cy="85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6" name="AutoShape 10"/>
            <p:cNvCxnSpPr>
              <a:cxnSpLocks noChangeShapeType="1"/>
            </p:cNvCxnSpPr>
            <p:nvPr/>
          </p:nvCxnSpPr>
          <p:spPr bwMode="auto">
            <a:xfrm rot="16200000" flipH="1">
              <a:off x="4836878" y="3541478"/>
              <a:ext cx="228600" cy="3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7" name="AutoShape 11"/>
            <p:cNvCxnSpPr>
              <a:cxnSpLocks noChangeShapeType="1"/>
            </p:cNvCxnSpPr>
            <p:nvPr/>
          </p:nvCxnSpPr>
          <p:spPr bwMode="auto">
            <a:xfrm rot="5400000">
              <a:off x="6743700" y="3543300"/>
              <a:ext cx="228600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72" name="TextBox 16"/>
          <p:cNvSpPr txBox="1">
            <a:spLocks noChangeArrowheads="1"/>
          </p:cNvSpPr>
          <p:nvPr/>
        </p:nvSpPr>
        <p:spPr bwMode="auto">
          <a:xfrm>
            <a:off x="990600" y="31242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3333CC"/>
                </a:solidFill>
              </a:rPr>
              <a:t>Example: Not in 2NF</a:t>
            </a:r>
          </a:p>
        </p:txBody>
      </p:sp>
    </p:spTree>
    <p:extLst>
      <p:ext uri="{BB962C8B-B14F-4D97-AF65-F5344CB8AC3E}">
        <p14:creationId xmlns:p14="http://schemas.microsoft.com/office/powerpoint/2010/main" val="341653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  <a:endParaRPr lang="en-GB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6600"/>
                </a:solidFill>
              </a:rPr>
              <a:t>Lossless join decomposition</a:t>
            </a:r>
            <a:r>
              <a:rPr lang="en-US" altLang="en-US" smtClean="0"/>
              <a:t>:</a:t>
            </a:r>
          </a:p>
          <a:p>
            <a:pPr lvl="1" eaLnBrk="1" hangingPunct="1"/>
            <a:r>
              <a:rPr lang="en-US" altLang="en-US" sz="2400" smtClean="0"/>
              <a:t>Decomposition of R into X and Y is </a:t>
            </a:r>
            <a:r>
              <a:rPr lang="en-US" altLang="en-US" sz="2400" i="1" u="sng" smtClean="0">
                <a:solidFill>
                  <a:srgbClr val="FF0000"/>
                </a:solidFill>
              </a:rPr>
              <a:t>lossless-join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/>
              <a:t>w.r.t. a set of FDs F if, for every instance 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 that satisfies F:</a:t>
            </a:r>
          </a:p>
          <a:p>
            <a:pPr lvl="2" eaLnBrk="1" hangingPunct="1">
              <a:buSzPct val="75000"/>
            </a:pPr>
            <a:r>
              <a:rPr lang="en-US" altLang="en-US" sz="2100" smtClean="0">
                <a:sym typeface="Symbol" panose="05050102010706020507" pitchFamily="18" charset="2"/>
              </a:rPr>
              <a:t></a:t>
            </a:r>
            <a:r>
              <a:rPr lang="en-US" altLang="en-US" sz="2100" baseline="-25000" smtClean="0"/>
              <a:t>X</a:t>
            </a:r>
            <a:r>
              <a:rPr lang="en-US" altLang="en-US" sz="2100" smtClean="0"/>
              <a:t>(</a:t>
            </a:r>
            <a:r>
              <a:rPr lang="en-US" altLang="en-US" sz="2100" i="1" smtClean="0"/>
              <a:t>r</a:t>
            </a:r>
            <a:r>
              <a:rPr lang="en-US" altLang="en-US" sz="2100" smtClean="0"/>
              <a:t>) </a:t>
            </a:r>
            <a:r>
              <a:rPr lang="en-US" altLang="en-US" sz="2800" smtClean="0">
                <a:sym typeface="Symbol" panose="05050102010706020507" pitchFamily="18" charset="2"/>
              </a:rPr>
              <a:t></a:t>
            </a:r>
            <a:r>
              <a:rPr lang="en-US" altLang="en-US" sz="2100" smtClean="0"/>
              <a:t> </a:t>
            </a:r>
            <a:r>
              <a:rPr lang="en-US" altLang="en-US" sz="2100" smtClean="0">
                <a:sym typeface="Symbol" panose="05050102010706020507" pitchFamily="18" charset="2"/>
              </a:rPr>
              <a:t></a:t>
            </a:r>
            <a:r>
              <a:rPr lang="en-US" altLang="en-US" sz="2100" baseline="-25000" smtClean="0"/>
              <a:t>Y</a:t>
            </a:r>
            <a:r>
              <a:rPr lang="en-US" altLang="en-US" sz="2100" smtClean="0"/>
              <a:t> (</a:t>
            </a:r>
            <a:r>
              <a:rPr lang="en-US" altLang="en-US" sz="2100" i="1" smtClean="0"/>
              <a:t>r</a:t>
            </a:r>
            <a:r>
              <a:rPr lang="en-US" altLang="en-US" sz="2100" smtClean="0"/>
              <a:t>)   =  </a:t>
            </a:r>
            <a:r>
              <a:rPr lang="en-US" altLang="en-US" sz="2100" i="1" smtClean="0"/>
              <a:t>r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b="1" smtClean="0"/>
              <a:t>		</a:t>
            </a:r>
            <a:r>
              <a:rPr lang="en-US" altLang="en-US" sz="2400" b="1" smtClean="0"/>
              <a:t>Theorem:</a:t>
            </a:r>
          </a:p>
          <a:p>
            <a:pPr eaLnBrk="1" hangingPunct="1">
              <a:buFontTx/>
              <a:buNone/>
            </a:pPr>
            <a:endParaRPr lang="en-GB" altLang="en-US" smtClean="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990600" y="4648200"/>
            <a:ext cx="69342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0"/>
              <a:t>This condition holds if attributes common to </a:t>
            </a:r>
          </a:p>
          <a:p>
            <a:pPr algn="ctr" eaLnBrk="1" hangingPunct="1"/>
            <a:r>
              <a:rPr lang="en-US" altLang="en-US" b="0"/>
              <a:t>X and Y contains a key for either X or Y</a:t>
            </a:r>
          </a:p>
        </p:txBody>
      </p:sp>
    </p:spTree>
    <p:extLst>
      <p:ext uri="{BB962C8B-B14F-4D97-AF65-F5344CB8AC3E}">
        <p14:creationId xmlns:p14="http://schemas.microsoft.com/office/powerpoint/2010/main" val="123889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solidFill>
                  <a:srgbClr val="00CC00"/>
                </a:solidFill>
              </a:rPr>
              <a:t>Removing partial dependency</a:t>
            </a:r>
            <a:endParaRPr lang="en-AU" altLang="en-US" sz="3600" smtClean="0">
              <a:solidFill>
                <a:srgbClr val="00CC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>
              <a:solidFill>
                <a:srgbClr val="009900"/>
              </a:solidFill>
            </a:endParaRPr>
          </a:p>
          <a:p>
            <a:pPr eaLnBrk="1" hangingPunct="1"/>
            <a:r>
              <a:rPr lang="en-US" altLang="en-US" smtClean="0"/>
              <a:t>Place the attributes that create the partial dependency in a separate table.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Make sure that the new table's primary key is left in the original table.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906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617590" name="Group 118"/>
          <p:cNvGraphicFramePr>
            <a:graphicFrameLocks noGrp="1"/>
          </p:cNvGraphicFramePr>
          <p:nvPr/>
        </p:nvGraphicFramePr>
        <p:xfrm>
          <a:off x="1066800" y="1752600"/>
          <a:ext cx="7620000" cy="1614487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40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AU" altLang="en-US" sz="1800" b="0"/>
          </a:p>
        </p:txBody>
      </p:sp>
      <p:grpSp>
        <p:nvGrpSpPr>
          <p:cNvPr id="47141" name="Group 1"/>
          <p:cNvGrpSpPr>
            <a:grpSpLocks/>
          </p:cNvGrpSpPr>
          <p:nvPr/>
        </p:nvGrpSpPr>
        <p:grpSpPr bwMode="auto">
          <a:xfrm>
            <a:off x="3276600" y="3352800"/>
            <a:ext cx="2971800" cy="371475"/>
            <a:chOff x="2986" y="12220"/>
            <a:chExt cx="3487" cy="225"/>
          </a:xfrm>
        </p:grpSpPr>
        <p:cxnSp>
          <p:nvCxnSpPr>
            <p:cNvPr id="47148" name="AutoShape 4"/>
            <p:cNvCxnSpPr>
              <a:cxnSpLocks noChangeShapeType="1"/>
            </p:cNvCxnSpPr>
            <p:nvPr/>
          </p:nvCxnSpPr>
          <p:spPr bwMode="auto">
            <a:xfrm>
              <a:off x="2986" y="12445"/>
              <a:ext cx="348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9" name="AutoShape 3"/>
            <p:cNvCxnSpPr>
              <a:cxnSpLocks noChangeShapeType="1"/>
            </p:cNvCxnSpPr>
            <p:nvPr/>
          </p:nvCxnSpPr>
          <p:spPr bwMode="auto">
            <a:xfrm flipV="1">
              <a:off x="2986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0" name="AutoShape 2"/>
            <p:cNvCxnSpPr>
              <a:cxnSpLocks noChangeShapeType="1"/>
            </p:cNvCxnSpPr>
            <p:nvPr/>
          </p:nvCxnSpPr>
          <p:spPr bwMode="auto">
            <a:xfrm flipV="1">
              <a:off x="6473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42" name="Group 21"/>
          <p:cNvGrpSpPr>
            <a:grpSpLocks/>
          </p:cNvGrpSpPr>
          <p:nvPr/>
        </p:nvGrpSpPr>
        <p:grpSpPr bwMode="auto">
          <a:xfrm>
            <a:off x="1676400" y="1371600"/>
            <a:ext cx="5183188" cy="230188"/>
            <a:chOff x="1676400" y="3429000"/>
            <a:chExt cx="5182394" cy="229394"/>
          </a:xfrm>
        </p:grpSpPr>
        <p:cxnSp>
          <p:nvCxnSpPr>
            <p:cNvPr id="47143" name="AutoShape 7"/>
            <p:cNvCxnSpPr>
              <a:cxnSpLocks noChangeShapeType="1"/>
            </p:cNvCxnSpPr>
            <p:nvPr/>
          </p:nvCxnSpPr>
          <p:spPr bwMode="auto">
            <a:xfrm>
              <a:off x="1720850" y="3429000"/>
              <a:ext cx="51371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4" name="AutoShape 8"/>
            <p:cNvCxnSpPr>
              <a:cxnSpLocks noChangeShapeType="1"/>
            </p:cNvCxnSpPr>
            <p:nvPr/>
          </p:nvCxnSpPr>
          <p:spPr bwMode="auto">
            <a:xfrm rot="5400000">
              <a:off x="1584325" y="3521075"/>
              <a:ext cx="228600" cy="44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5" name="AutoShape 9"/>
            <p:cNvCxnSpPr>
              <a:cxnSpLocks noChangeShapeType="1"/>
            </p:cNvCxnSpPr>
            <p:nvPr/>
          </p:nvCxnSpPr>
          <p:spPr bwMode="auto">
            <a:xfrm rot="5400000">
              <a:off x="3166567" y="3539034"/>
              <a:ext cx="228600" cy="85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6" name="AutoShape 10"/>
            <p:cNvCxnSpPr>
              <a:cxnSpLocks noChangeShapeType="1"/>
            </p:cNvCxnSpPr>
            <p:nvPr/>
          </p:nvCxnSpPr>
          <p:spPr bwMode="auto">
            <a:xfrm rot="16200000" flipH="1">
              <a:off x="4836878" y="3541478"/>
              <a:ext cx="228600" cy="3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7" name="AutoShape 11"/>
            <p:cNvCxnSpPr>
              <a:cxnSpLocks noChangeShapeType="1"/>
            </p:cNvCxnSpPr>
            <p:nvPr/>
          </p:nvCxnSpPr>
          <p:spPr bwMode="auto">
            <a:xfrm rot="5400000">
              <a:off x="6743700" y="3543300"/>
              <a:ext cx="228600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33249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36913" name="Group 49"/>
          <p:cNvGraphicFramePr>
            <a:graphicFrameLocks noGrp="1"/>
          </p:cNvGraphicFramePr>
          <p:nvPr>
            <p:ph idx="4294967295"/>
          </p:nvPr>
        </p:nvGraphicFramePr>
        <p:xfrm>
          <a:off x="5029200" y="4759325"/>
          <a:ext cx="3810000" cy="10668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0689" name="Group 17"/>
          <p:cNvGraphicFramePr>
            <a:graphicFrameLocks noGrp="1"/>
          </p:cNvGraphicFramePr>
          <p:nvPr/>
        </p:nvGraphicFramePr>
        <p:xfrm>
          <a:off x="762000" y="2514600"/>
          <a:ext cx="5562600" cy="1962377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172" name="TextBox 8"/>
          <p:cNvSpPr txBox="1">
            <a:spLocks noChangeArrowheads="1"/>
          </p:cNvSpPr>
          <p:nvPr/>
        </p:nvSpPr>
        <p:spPr bwMode="auto">
          <a:xfrm>
            <a:off x="685800" y="1839913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Example: After normalized into 2NF</a:t>
            </a:r>
          </a:p>
        </p:txBody>
      </p:sp>
    </p:spTree>
    <p:extLst>
      <p:ext uri="{BB962C8B-B14F-4D97-AF65-F5344CB8AC3E}">
        <p14:creationId xmlns:p14="http://schemas.microsoft.com/office/powerpoint/2010/main" val="233258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Another 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EMP_PROJ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41700" name="Group 4"/>
          <p:cNvGraphicFramePr>
            <a:graphicFrameLocks noGrp="1"/>
          </p:cNvGraphicFramePr>
          <p:nvPr/>
        </p:nvGraphicFramePr>
        <p:xfrm>
          <a:off x="685800" y="3733800"/>
          <a:ext cx="8153400" cy="7366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9172" name="Group 20"/>
          <p:cNvGrpSpPr>
            <a:grpSpLocks/>
          </p:cNvGrpSpPr>
          <p:nvPr/>
        </p:nvGrpSpPr>
        <p:grpSpPr bwMode="auto">
          <a:xfrm>
            <a:off x="533400" y="4537075"/>
            <a:ext cx="3581400" cy="457200"/>
            <a:chOff x="0" y="2090"/>
            <a:chExt cx="2256" cy="288"/>
          </a:xfrm>
        </p:grpSpPr>
        <p:sp>
          <p:nvSpPr>
            <p:cNvPr id="49184" name="Line 21"/>
            <p:cNvSpPr>
              <a:spLocks noChangeShapeType="1"/>
            </p:cNvSpPr>
            <p:nvPr/>
          </p:nvSpPr>
          <p:spPr bwMode="auto">
            <a:xfrm>
              <a:off x="432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5" name="Line 22"/>
            <p:cNvSpPr>
              <a:spLocks noChangeShapeType="1"/>
            </p:cNvSpPr>
            <p:nvPr/>
          </p:nvSpPr>
          <p:spPr bwMode="auto">
            <a:xfrm>
              <a:off x="1104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6" name="Line 23"/>
            <p:cNvSpPr>
              <a:spLocks noChangeShapeType="1"/>
            </p:cNvSpPr>
            <p:nvPr/>
          </p:nvSpPr>
          <p:spPr bwMode="auto">
            <a:xfrm>
              <a:off x="432" y="235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7" name="Line 24"/>
            <p:cNvSpPr>
              <a:spLocks noChangeShapeType="1"/>
            </p:cNvSpPr>
            <p:nvPr/>
          </p:nvSpPr>
          <p:spPr bwMode="auto">
            <a:xfrm flipV="1">
              <a:off x="2256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8" name="Text Box 25"/>
            <p:cNvSpPr txBox="1">
              <a:spLocks noChangeArrowheads="1"/>
            </p:cNvSpPr>
            <p:nvPr/>
          </p:nvSpPr>
          <p:spPr bwMode="auto">
            <a:xfrm>
              <a:off x="0" y="209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49173" name="Group 26"/>
          <p:cNvGrpSpPr>
            <a:grpSpLocks/>
          </p:cNvGrpSpPr>
          <p:nvPr/>
        </p:nvGrpSpPr>
        <p:grpSpPr bwMode="auto">
          <a:xfrm>
            <a:off x="533400" y="5029200"/>
            <a:ext cx="5029200" cy="457200"/>
            <a:chOff x="0" y="2400"/>
            <a:chExt cx="3168" cy="288"/>
          </a:xfrm>
        </p:grpSpPr>
        <p:sp>
          <p:nvSpPr>
            <p:cNvPr id="49180" name="Line 27"/>
            <p:cNvSpPr>
              <a:spLocks noChangeShapeType="1"/>
            </p:cNvSpPr>
            <p:nvPr/>
          </p:nvSpPr>
          <p:spPr bwMode="auto">
            <a:xfrm>
              <a:off x="432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1" name="Line 28"/>
            <p:cNvSpPr>
              <a:spLocks noChangeShapeType="1"/>
            </p:cNvSpPr>
            <p:nvPr/>
          </p:nvSpPr>
          <p:spPr bwMode="auto">
            <a:xfrm>
              <a:off x="432" y="2640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2" name="Line 29"/>
            <p:cNvSpPr>
              <a:spLocks noChangeShapeType="1"/>
            </p:cNvSpPr>
            <p:nvPr/>
          </p:nvSpPr>
          <p:spPr bwMode="auto">
            <a:xfrm flipV="1">
              <a:off x="316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3" name="Text Box 30"/>
            <p:cNvSpPr txBox="1">
              <a:spLocks noChangeArrowheads="1"/>
            </p:cNvSpPr>
            <p:nvPr/>
          </p:nvSpPr>
          <p:spPr bwMode="auto">
            <a:xfrm>
              <a:off x="0" y="240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49174" name="Group 31"/>
          <p:cNvGrpSpPr>
            <a:grpSpLocks/>
          </p:cNvGrpSpPr>
          <p:nvPr/>
        </p:nvGrpSpPr>
        <p:grpSpPr bwMode="auto">
          <a:xfrm>
            <a:off x="533400" y="5486400"/>
            <a:ext cx="8001000" cy="533400"/>
            <a:chOff x="0" y="2688"/>
            <a:chExt cx="5040" cy="336"/>
          </a:xfrm>
        </p:grpSpPr>
        <p:sp>
          <p:nvSpPr>
            <p:cNvPr id="49175" name="Line 32"/>
            <p:cNvSpPr>
              <a:spLocks noChangeShapeType="1"/>
            </p:cNvSpPr>
            <p:nvPr/>
          </p:nvSpPr>
          <p:spPr bwMode="auto">
            <a:xfrm>
              <a:off x="1104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Line 33"/>
            <p:cNvSpPr>
              <a:spLocks noChangeShapeType="1"/>
            </p:cNvSpPr>
            <p:nvPr/>
          </p:nvSpPr>
          <p:spPr bwMode="auto">
            <a:xfrm>
              <a:off x="1104" y="2928"/>
              <a:ext cx="3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7" name="Line 34"/>
            <p:cNvSpPr>
              <a:spLocks noChangeShapeType="1"/>
            </p:cNvSpPr>
            <p:nvPr/>
          </p:nvSpPr>
          <p:spPr bwMode="auto">
            <a:xfrm flipV="1">
              <a:off x="4176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Line 35"/>
            <p:cNvSpPr>
              <a:spLocks noChangeShapeType="1"/>
            </p:cNvSpPr>
            <p:nvPr/>
          </p:nvSpPr>
          <p:spPr bwMode="auto">
            <a:xfrm flipV="1">
              <a:off x="5040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9" name="Text Box 36"/>
            <p:cNvSpPr txBox="1">
              <a:spLocks noChangeArrowheads="1"/>
            </p:cNvSpPr>
            <p:nvPr/>
          </p:nvSpPr>
          <p:spPr bwMode="auto">
            <a:xfrm>
              <a:off x="0" y="2736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552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542723" name="Group 3"/>
          <p:cNvGraphicFramePr>
            <a:graphicFrameLocks noGrp="1"/>
          </p:cNvGraphicFramePr>
          <p:nvPr/>
        </p:nvGraphicFramePr>
        <p:xfrm>
          <a:off x="1143000" y="2362200"/>
          <a:ext cx="4267200" cy="533400"/>
        </p:xfrm>
        <a:graphic>
          <a:graphicData uri="http://schemas.openxmlformats.org/drawingml/2006/table">
            <a:tbl>
              <a:tblPr/>
              <a:tblGrid>
                <a:gridCol w="113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733" name="Group 13"/>
          <p:cNvGraphicFramePr>
            <a:graphicFrameLocks noGrp="1"/>
          </p:cNvGraphicFramePr>
          <p:nvPr>
            <p:ph type="body" idx="4294967295"/>
          </p:nvPr>
        </p:nvGraphicFramePr>
        <p:xfrm>
          <a:off x="1039813" y="3516313"/>
          <a:ext cx="2895600" cy="533400"/>
        </p:xfrm>
        <a:graphic>
          <a:graphicData uri="http://schemas.openxmlformats.org/drawingml/2006/table">
            <a:tbl>
              <a:tblPr/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741" name="Group 21"/>
          <p:cNvGraphicFramePr>
            <a:graphicFrameLocks noGrp="1"/>
          </p:cNvGraphicFramePr>
          <p:nvPr/>
        </p:nvGraphicFramePr>
        <p:xfrm>
          <a:off x="1143000" y="4648200"/>
          <a:ext cx="4267200" cy="533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PLOC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441325" y="2327275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EP1</a:t>
            </a:r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381000" y="35052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EP2</a:t>
            </a:r>
          </a:p>
        </p:txBody>
      </p:sp>
      <p:sp>
        <p:nvSpPr>
          <p:cNvPr id="50209" name="Text Box 33"/>
          <p:cNvSpPr txBox="1">
            <a:spLocks noChangeArrowheads="1"/>
          </p:cNvSpPr>
          <p:nvPr/>
        </p:nvSpPr>
        <p:spPr bwMode="auto">
          <a:xfrm>
            <a:off x="441325" y="4689475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EP3</a:t>
            </a:r>
          </a:p>
        </p:txBody>
      </p:sp>
      <p:sp>
        <p:nvSpPr>
          <p:cNvPr id="50210" name="Line 34"/>
          <p:cNvSpPr>
            <a:spLocks noChangeShapeType="1"/>
          </p:cNvSpPr>
          <p:nvPr/>
        </p:nvSpPr>
        <p:spPr bwMode="auto">
          <a:xfrm>
            <a:off x="14478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1" name="Line 35"/>
          <p:cNvSpPr>
            <a:spLocks noChangeShapeType="1"/>
          </p:cNvSpPr>
          <p:nvPr/>
        </p:nvSpPr>
        <p:spPr bwMode="auto">
          <a:xfrm>
            <a:off x="28956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2" name="Line 36"/>
          <p:cNvSpPr>
            <a:spLocks noChangeShapeType="1"/>
          </p:cNvSpPr>
          <p:nvPr/>
        </p:nvSpPr>
        <p:spPr bwMode="auto">
          <a:xfrm>
            <a:off x="1447800" y="32004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3" name="Line 37"/>
          <p:cNvSpPr>
            <a:spLocks noChangeShapeType="1"/>
          </p:cNvSpPr>
          <p:nvPr/>
        </p:nvSpPr>
        <p:spPr bwMode="auto">
          <a:xfrm flipV="1">
            <a:off x="44196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4" name="Line 38"/>
          <p:cNvSpPr>
            <a:spLocks noChangeShapeType="1"/>
          </p:cNvSpPr>
          <p:nvPr/>
        </p:nvSpPr>
        <p:spPr bwMode="auto">
          <a:xfrm>
            <a:off x="2057400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5" name="Line 39"/>
          <p:cNvSpPr>
            <a:spLocks noChangeShapeType="1"/>
          </p:cNvSpPr>
          <p:nvPr/>
        </p:nvSpPr>
        <p:spPr bwMode="auto">
          <a:xfrm>
            <a:off x="2057400" y="4267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6" name="Line 40"/>
          <p:cNvSpPr>
            <a:spLocks noChangeShapeType="1"/>
          </p:cNvSpPr>
          <p:nvPr/>
        </p:nvSpPr>
        <p:spPr bwMode="auto">
          <a:xfrm flipV="1">
            <a:off x="3657600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7" name="Line 41"/>
          <p:cNvSpPr>
            <a:spLocks noChangeShapeType="1"/>
          </p:cNvSpPr>
          <p:nvPr/>
        </p:nvSpPr>
        <p:spPr bwMode="auto">
          <a:xfrm>
            <a:off x="16002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8" name="Line 42"/>
          <p:cNvSpPr>
            <a:spLocks noChangeShapeType="1"/>
          </p:cNvSpPr>
          <p:nvPr/>
        </p:nvSpPr>
        <p:spPr bwMode="auto">
          <a:xfrm>
            <a:off x="1600200" y="5486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9" name="Line 43"/>
          <p:cNvSpPr>
            <a:spLocks noChangeShapeType="1"/>
          </p:cNvSpPr>
          <p:nvPr/>
        </p:nvSpPr>
        <p:spPr bwMode="auto">
          <a:xfrm flipV="1">
            <a:off x="32004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0" name="Line 44"/>
          <p:cNvSpPr>
            <a:spLocks noChangeShapeType="1"/>
          </p:cNvSpPr>
          <p:nvPr/>
        </p:nvSpPr>
        <p:spPr bwMode="auto">
          <a:xfrm flipV="1">
            <a:off x="48006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8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5181600" cy="51816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2400" b="1" smtClean="0">
              <a:solidFill>
                <a:srgbClr val="FF66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b="1" smtClean="0">
                <a:solidFill>
                  <a:srgbClr val="FF6600"/>
                </a:solidFill>
              </a:rPr>
              <a:t>3</a:t>
            </a:r>
            <a:r>
              <a:rPr lang="en-US" altLang="en-US" sz="2400" b="1" baseline="30000" smtClean="0">
                <a:solidFill>
                  <a:srgbClr val="FF6600"/>
                </a:solidFill>
              </a:rPr>
              <a:t>rd</a:t>
            </a:r>
            <a:r>
              <a:rPr lang="en-US" altLang="en-US" sz="2400" b="1" smtClean="0">
                <a:solidFill>
                  <a:srgbClr val="FF6600"/>
                </a:solidFill>
              </a:rPr>
              <a:t> Normal Form:</a:t>
            </a:r>
          </a:p>
          <a:p>
            <a:pPr eaLnBrk="1" hangingPunct="1"/>
            <a:r>
              <a:rPr lang="en-US" altLang="en-US" smtClean="0"/>
              <a:t>A relation R is in 3</a:t>
            </a:r>
            <a:r>
              <a:rPr lang="en-US" altLang="en-US" baseline="30000" smtClean="0"/>
              <a:t>rd</a:t>
            </a:r>
            <a:r>
              <a:rPr lang="en-US" altLang="en-US" smtClean="0"/>
              <a:t> normal form (3NF) if every </a:t>
            </a:r>
          </a:p>
          <a:p>
            <a:pPr eaLnBrk="1" hangingPunct="1"/>
            <a:endParaRPr lang="en-US" altLang="en-US" smtClean="0"/>
          </a:p>
          <a:p>
            <a:pPr lvl="1" eaLnBrk="1" hangingPunct="1"/>
            <a:r>
              <a:rPr lang="en-US" altLang="en-US" sz="2400" smtClean="0"/>
              <a:t>R is in 2NF, and</a:t>
            </a:r>
          </a:p>
          <a:p>
            <a:pPr lvl="1" eaLnBrk="1" hangingPunct="1"/>
            <a:r>
              <a:rPr lang="en-US" altLang="en-US" sz="2400" smtClean="0"/>
              <a:t>No nonprime attribute is </a:t>
            </a:r>
            <a:r>
              <a:rPr lang="en-US" altLang="en-US" sz="2400" b="1" smtClean="0">
                <a:solidFill>
                  <a:srgbClr val="009900"/>
                </a:solidFill>
              </a:rPr>
              <a:t>transitively dependent</a:t>
            </a:r>
            <a:r>
              <a:rPr lang="en-US" altLang="en-US" sz="2400" smtClean="0"/>
              <a:t> on any key.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51204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33600"/>
            <a:ext cx="21431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85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533400"/>
            <a:ext cx="8686800" cy="2895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smtClean="0"/>
              <a:t>                      </a:t>
            </a:r>
            <a:r>
              <a:rPr lang="en-US" altLang="en-US" b="1" smtClean="0">
                <a:solidFill>
                  <a:srgbClr val="009900"/>
                </a:solidFill>
              </a:rPr>
              <a:t>Transitive dependency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Attribute is dependent on another attribute that is not part of the primary key.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Requires the decomposition of the table containing the transitive dependency.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44772" name="Group 4"/>
          <p:cNvGraphicFramePr>
            <a:graphicFrameLocks noGrp="1"/>
          </p:cNvGraphicFramePr>
          <p:nvPr/>
        </p:nvGraphicFramePr>
        <p:xfrm>
          <a:off x="152400" y="4038600"/>
          <a:ext cx="8991600" cy="518048"/>
        </p:xfrm>
        <a:graphic>
          <a:graphicData uri="http://schemas.openxmlformats.org/drawingml/2006/table">
            <a:tbl>
              <a:tblPr/>
              <a:tblGrid>
                <a:gridCol w="15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245" name="Group 22"/>
          <p:cNvGrpSpPr>
            <a:grpSpLocks/>
          </p:cNvGrpSpPr>
          <p:nvPr/>
        </p:nvGrpSpPr>
        <p:grpSpPr bwMode="auto">
          <a:xfrm>
            <a:off x="533400" y="4572000"/>
            <a:ext cx="8077200" cy="762000"/>
            <a:chOff x="336" y="2208"/>
            <a:chExt cx="5088" cy="480"/>
          </a:xfrm>
        </p:grpSpPr>
        <p:sp>
          <p:nvSpPr>
            <p:cNvPr id="52247" name="Line 23"/>
            <p:cNvSpPr>
              <a:spLocks noChangeShapeType="1"/>
            </p:cNvSpPr>
            <p:nvPr/>
          </p:nvSpPr>
          <p:spPr bwMode="auto">
            <a:xfrm>
              <a:off x="1344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8" name="Line 24"/>
            <p:cNvSpPr>
              <a:spLocks noChangeShapeType="1"/>
            </p:cNvSpPr>
            <p:nvPr/>
          </p:nvSpPr>
          <p:spPr bwMode="auto">
            <a:xfrm>
              <a:off x="336" y="2448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9" name="Line 25"/>
            <p:cNvSpPr>
              <a:spLocks noChangeShapeType="1"/>
            </p:cNvSpPr>
            <p:nvPr/>
          </p:nvSpPr>
          <p:spPr bwMode="auto">
            <a:xfrm flipV="1">
              <a:off x="336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 flipV="1">
              <a:off x="211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1" name="Line 27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2" name="Line 28"/>
            <p:cNvSpPr>
              <a:spLocks noChangeShapeType="1"/>
            </p:cNvSpPr>
            <p:nvPr/>
          </p:nvSpPr>
          <p:spPr bwMode="auto">
            <a:xfrm flipV="1">
              <a:off x="355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3" name="Line 29"/>
            <p:cNvSpPr>
              <a:spLocks noChangeShapeType="1"/>
            </p:cNvSpPr>
            <p:nvPr/>
          </p:nvSpPr>
          <p:spPr bwMode="auto">
            <a:xfrm>
              <a:off x="355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4" name="Line 30"/>
            <p:cNvSpPr>
              <a:spLocks noChangeShapeType="1"/>
            </p:cNvSpPr>
            <p:nvPr/>
          </p:nvSpPr>
          <p:spPr bwMode="auto">
            <a:xfrm>
              <a:off x="3552" y="268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5" name="Line 31"/>
            <p:cNvSpPr>
              <a:spLocks noChangeShapeType="1"/>
            </p:cNvSpPr>
            <p:nvPr/>
          </p:nvSpPr>
          <p:spPr bwMode="auto">
            <a:xfrm flipV="1">
              <a:off x="446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6" name="Line 32"/>
            <p:cNvSpPr>
              <a:spLocks noChangeShapeType="1"/>
            </p:cNvSpPr>
            <p:nvPr/>
          </p:nvSpPr>
          <p:spPr bwMode="auto">
            <a:xfrm flipV="1">
              <a:off x="542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46" name="Text Box 33"/>
          <p:cNvSpPr txBox="1">
            <a:spLocks noChangeArrowheads="1"/>
          </p:cNvSpPr>
          <p:nvPr/>
        </p:nvSpPr>
        <p:spPr bwMode="auto">
          <a:xfrm>
            <a:off x="304800" y="3505200"/>
            <a:ext cx="155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>
                <a:solidFill>
                  <a:srgbClr val="3333CC"/>
                </a:solidFill>
              </a:rPr>
              <a:t>EMP_DEPT</a:t>
            </a:r>
          </a:p>
        </p:txBody>
      </p:sp>
    </p:spTree>
    <p:extLst>
      <p:ext uri="{BB962C8B-B14F-4D97-AF65-F5344CB8AC3E}">
        <p14:creationId xmlns:p14="http://schemas.microsoft.com/office/powerpoint/2010/main" val="154766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solidFill>
                  <a:srgbClr val="00CC00"/>
                </a:solidFill>
              </a:rPr>
              <a:t>Removing transitive dependency</a:t>
            </a:r>
            <a:endParaRPr lang="en-AU" altLang="en-US" sz="3600" smtClean="0">
              <a:solidFill>
                <a:srgbClr val="00CC00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>
              <a:solidFill>
                <a:srgbClr val="009900"/>
              </a:solidFill>
            </a:endParaRPr>
          </a:p>
          <a:p>
            <a:pPr eaLnBrk="1" hangingPunct="1"/>
            <a:r>
              <a:rPr lang="en-US" altLang="en-US" smtClean="0"/>
              <a:t>Place the attributes that create the transitive dependency in a separate table.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Make sure that the new table's primary key attribute is the foreign key in the original table.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6123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2438400"/>
            <a:ext cx="8686800" cy="4191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 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</a:p>
        </p:txBody>
      </p:sp>
      <p:graphicFrame>
        <p:nvGraphicFramePr>
          <p:cNvPr id="612423" name="Group 71"/>
          <p:cNvGraphicFramePr>
            <a:graphicFrameLocks noGrp="1"/>
          </p:cNvGraphicFramePr>
          <p:nvPr/>
        </p:nvGraphicFramePr>
        <p:xfrm>
          <a:off x="838200" y="4648200"/>
          <a:ext cx="6400800" cy="76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2421" name="Group 69"/>
          <p:cNvGraphicFramePr>
            <a:graphicFrameLocks noGrp="1"/>
          </p:cNvGraphicFramePr>
          <p:nvPr/>
        </p:nvGraphicFramePr>
        <p:xfrm>
          <a:off x="1143000" y="2895600"/>
          <a:ext cx="6096000" cy="8382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2379" name="Line 28"/>
          <p:cNvSpPr>
            <a:spLocks noChangeShapeType="1"/>
          </p:cNvSpPr>
          <p:nvPr/>
        </p:nvSpPr>
        <p:spPr bwMode="auto">
          <a:xfrm>
            <a:off x="2743200" y="548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0" name="Line 29"/>
          <p:cNvSpPr>
            <a:spLocks noChangeShapeType="1"/>
          </p:cNvSpPr>
          <p:nvPr/>
        </p:nvSpPr>
        <p:spPr bwMode="auto">
          <a:xfrm>
            <a:off x="1447800" y="57912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1" name="Line 30"/>
          <p:cNvSpPr>
            <a:spLocks noChangeShapeType="1"/>
          </p:cNvSpPr>
          <p:nvPr/>
        </p:nvSpPr>
        <p:spPr bwMode="auto">
          <a:xfrm flipV="1">
            <a:off x="14478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2" name="Line 31"/>
          <p:cNvSpPr>
            <a:spLocks noChangeShapeType="1"/>
          </p:cNvSpPr>
          <p:nvPr/>
        </p:nvSpPr>
        <p:spPr bwMode="auto">
          <a:xfrm flipV="1">
            <a:off x="4114800" y="541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3" name="Line 32"/>
          <p:cNvSpPr>
            <a:spLocks noChangeShapeType="1"/>
          </p:cNvSpPr>
          <p:nvPr/>
        </p:nvSpPr>
        <p:spPr bwMode="auto">
          <a:xfrm flipV="1">
            <a:off x="5562600" y="541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4" name="Line 33"/>
          <p:cNvSpPr>
            <a:spLocks noChangeShapeType="1"/>
          </p:cNvSpPr>
          <p:nvPr/>
        </p:nvSpPr>
        <p:spPr bwMode="auto">
          <a:xfrm flipV="1">
            <a:off x="6705600" y="548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905000" y="3733800"/>
            <a:ext cx="4191000" cy="381000"/>
            <a:chOff x="1152" y="3504"/>
            <a:chExt cx="2640" cy="240"/>
          </a:xfrm>
        </p:grpSpPr>
        <p:sp>
          <p:nvSpPr>
            <p:cNvPr id="54336" name="Line 35"/>
            <p:cNvSpPr>
              <a:spLocks noChangeShapeType="1"/>
            </p:cNvSpPr>
            <p:nvPr/>
          </p:nvSpPr>
          <p:spPr bwMode="auto">
            <a:xfrm>
              <a:off x="1152" y="3744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7" name="Line 36"/>
            <p:cNvSpPr>
              <a:spLocks noChangeShapeType="1"/>
            </p:cNvSpPr>
            <p:nvPr/>
          </p:nvSpPr>
          <p:spPr bwMode="auto">
            <a:xfrm flipV="1">
              <a:off x="2496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8" name="Line 37"/>
            <p:cNvSpPr>
              <a:spLocks noChangeShapeType="1"/>
            </p:cNvSpPr>
            <p:nvPr/>
          </p:nvSpPr>
          <p:spPr bwMode="auto">
            <a:xfrm flipV="1">
              <a:off x="115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9" name="Line 38"/>
            <p:cNvSpPr>
              <a:spLocks noChangeShapeType="1"/>
            </p:cNvSpPr>
            <p:nvPr/>
          </p:nvSpPr>
          <p:spPr bwMode="auto">
            <a:xfrm flipV="1">
              <a:off x="379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12390" name="Group 38"/>
          <p:cNvGraphicFramePr>
            <a:graphicFrameLocks noGrp="1"/>
          </p:cNvGraphicFramePr>
          <p:nvPr/>
        </p:nvGraphicFramePr>
        <p:xfrm>
          <a:off x="152400" y="685800"/>
          <a:ext cx="8991600" cy="518048"/>
        </p:xfrm>
        <a:graphic>
          <a:graphicData uri="http://schemas.openxmlformats.org/drawingml/2006/table">
            <a:tbl>
              <a:tblPr/>
              <a:tblGrid>
                <a:gridCol w="15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4324" name="Group 22"/>
          <p:cNvGrpSpPr>
            <a:grpSpLocks/>
          </p:cNvGrpSpPr>
          <p:nvPr/>
        </p:nvGrpSpPr>
        <p:grpSpPr bwMode="auto">
          <a:xfrm>
            <a:off x="533400" y="1219200"/>
            <a:ext cx="8077200" cy="762000"/>
            <a:chOff x="336" y="2208"/>
            <a:chExt cx="5088" cy="480"/>
          </a:xfrm>
        </p:grpSpPr>
        <p:sp>
          <p:nvSpPr>
            <p:cNvPr id="54326" name="Line 23"/>
            <p:cNvSpPr>
              <a:spLocks noChangeShapeType="1"/>
            </p:cNvSpPr>
            <p:nvPr/>
          </p:nvSpPr>
          <p:spPr bwMode="auto">
            <a:xfrm>
              <a:off x="1344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7" name="Line 24"/>
            <p:cNvSpPr>
              <a:spLocks noChangeShapeType="1"/>
            </p:cNvSpPr>
            <p:nvPr/>
          </p:nvSpPr>
          <p:spPr bwMode="auto">
            <a:xfrm>
              <a:off x="336" y="2448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8" name="Line 25"/>
            <p:cNvSpPr>
              <a:spLocks noChangeShapeType="1"/>
            </p:cNvSpPr>
            <p:nvPr/>
          </p:nvSpPr>
          <p:spPr bwMode="auto">
            <a:xfrm flipV="1">
              <a:off x="336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9" name="Line 26"/>
            <p:cNvSpPr>
              <a:spLocks noChangeShapeType="1"/>
            </p:cNvSpPr>
            <p:nvPr/>
          </p:nvSpPr>
          <p:spPr bwMode="auto">
            <a:xfrm flipV="1">
              <a:off x="211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0" name="Line 27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1" name="Line 28"/>
            <p:cNvSpPr>
              <a:spLocks noChangeShapeType="1"/>
            </p:cNvSpPr>
            <p:nvPr/>
          </p:nvSpPr>
          <p:spPr bwMode="auto">
            <a:xfrm flipV="1">
              <a:off x="355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2" name="Line 29"/>
            <p:cNvSpPr>
              <a:spLocks noChangeShapeType="1"/>
            </p:cNvSpPr>
            <p:nvPr/>
          </p:nvSpPr>
          <p:spPr bwMode="auto">
            <a:xfrm>
              <a:off x="355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3" name="Line 30"/>
            <p:cNvSpPr>
              <a:spLocks noChangeShapeType="1"/>
            </p:cNvSpPr>
            <p:nvPr/>
          </p:nvSpPr>
          <p:spPr bwMode="auto">
            <a:xfrm>
              <a:off x="3552" y="268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4" name="Line 31"/>
            <p:cNvSpPr>
              <a:spLocks noChangeShapeType="1"/>
            </p:cNvSpPr>
            <p:nvPr/>
          </p:nvSpPr>
          <p:spPr bwMode="auto">
            <a:xfrm flipV="1">
              <a:off x="446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5" name="Line 32"/>
            <p:cNvSpPr>
              <a:spLocks noChangeShapeType="1"/>
            </p:cNvSpPr>
            <p:nvPr/>
          </p:nvSpPr>
          <p:spPr bwMode="auto">
            <a:xfrm flipV="1">
              <a:off x="542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2422" name="Line 70"/>
          <p:cNvSpPr>
            <a:spLocks noChangeShapeType="1"/>
          </p:cNvSpPr>
          <p:nvPr/>
        </p:nvSpPr>
        <p:spPr bwMode="auto">
          <a:xfrm>
            <a:off x="2209800" y="3733800"/>
            <a:ext cx="4572000" cy="838200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7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79" grpId="0" animBg="1"/>
      <p:bldP spid="612380" grpId="0" animBg="1"/>
      <p:bldP spid="612381" grpId="0" animBg="1"/>
      <p:bldP spid="612382" grpId="0" animBg="1"/>
      <p:bldP spid="612383" grpId="0" animBg="1"/>
      <p:bldP spid="612384" grpId="0" animBg="1"/>
      <p:bldP spid="6124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143000"/>
          <a:ext cx="7086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012" t="13370" r="3799" b="11755"/>
                      <a:stretch>
                        <a:fillRect/>
                      </a:stretch>
                    </p:blipFill>
                    <p:spPr bwMode="auto">
                      <a:xfrm>
                        <a:off x="1219200" y="1143000"/>
                        <a:ext cx="70866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7"/>
          <p:cNvSpPr txBox="1">
            <a:spLocks noChangeArrowheads="1"/>
          </p:cNvSpPr>
          <p:nvPr/>
        </p:nvSpPr>
        <p:spPr bwMode="auto">
          <a:xfrm>
            <a:off x="990600" y="3516313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Remove the Transitive dependency</a:t>
            </a:r>
            <a:r>
              <a:rPr lang="en-US" altLang="en-US"/>
              <a:t> </a:t>
            </a:r>
            <a:endParaRPr lang="en-AU" altLang="en-US"/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38200" y="3352800"/>
            <a:ext cx="7467600" cy="297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/>
              <a:t>Is the table  in 3NF?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Why? </a:t>
            </a:r>
          </a:p>
          <a:p>
            <a:pPr eaLnBrk="1" hangingPunct="1"/>
            <a:r>
              <a:rPr lang="en-US" altLang="en-US" sz="2800" dirty="0"/>
              <a:t>      </a:t>
            </a:r>
          </a:p>
          <a:p>
            <a:pPr eaLnBrk="1" hangingPunct="1"/>
            <a:r>
              <a:rPr lang="en-US" altLang="en-US" sz="2800" dirty="0"/>
              <a:t>Remove Transitive Dependency</a:t>
            </a:r>
            <a:endParaRPr lang="en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5188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143000"/>
          <a:ext cx="7086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012" t="13370" r="3799" b="11755"/>
                      <a:stretch>
                        <a:fillRect/>
                      </a:stretch>
                    </p:blipFill>
                    <p:spPr bwMode="auto">
                      <a:xfrm>
                        <a:off x="1219200" y="1143000"/>
                        <a:ext cx="70866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27" name="Line 3"/>
          <p:cNvSpPr>
            <a:spLocks noChangeShapeType="1"/>
          </p:cNvSpPr>
          <p:nvPr/>
        </p:nvSpPr>
        <p:spPr bwMode="auto">
          <a:xfrm flipH="1">
            <a:off x="1600200" y="4343400"/>
            <a:ext cx="3505200" cy="914400"/>
          </a:xfrm>
          <a:prstGeom prst="line">
            <a:avLst/>
          </a:prstGeom>
          <a:noFill/>
          <a:ln w="31750">
            <a:solidFill>
              <a:srgbClr val="FF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2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Keys: PropertyID, (County_Name, Lot#)</a:t>
            </a:r>
          </a:p>
        </p:txBody>
      </p:sp>
      <p:graphicFrame>
        <p:nvGraphicFramePr>
          <p:cNvPr id="546820" name="Group 4"/>
          <p:cNvGraphicFramePr>
            <a:graphicFrameLocks noGrp="1"/>
          </p:cNvGraphicFramePr>
          <p:nvPr/>
        </p:nvGraphicFramePr>
        <p:xfrm>
          <a:off x="304800" y="1981200"/>
          <a:ext cx="8382000" cy="9652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PROPERTY_ID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COUNTY_NAME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LOT#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TAX_RATE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5316" name="Group 20"/>
          <p:cNvGrpSpPr>
            <a:grpSpLocks/>
          </p:cNvGrpSpPr>
          <p:nvPr/>
        </p:nvGrpSpPr>
        <p:grpSpPr bwMode="auto">
          <a:xfrm>
            <a:off x="381000" y="3429000"/>
            <a:ext cx="7696200" cy="609600"/>
            <a:chOff x="240" y="2160"/>
            <a:chExt cx="4848" cy="384"/>
          </a:xfrm>
        </p:grpSpPr>
        <p:sp>
          <p:nvSpPr>
            <p:cNvPr id="55336" name="Line 21"/>
            <p:cNvSpPr>
              <a:spLocks noChangeShapeType="1"/>
            </p:cNvSpPr>
            <p:nvPr/>
          </p:nvSpPr>
          <p:spPr bwMode="auto">
            <a:xfrm>
              <a:off x="7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7" name="Line 22"/>
            <p:cNvSpPr>
              <a:spLocks noChangeShapeType="1"/>
            </p:cNvSpPr>
            <p:nvPr/>
          </p:nvSpPr>
          <p:spPr bwMode="auto">
            <a:xfrm>
              <a:off x="768" y="254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8" name="Line 23"/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9" name="Line 24"/>
            <p:cNvSpPr>
              <a:spLocks noChangeShapeType="1"/>
            </p:cNvSpPr>
            <p:nvPr/>
          </p:nvSpPr>
          <p:spPr bwMode="auto">
            <a:xfrm flipV="1">
              <a:off x="19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0" name="Line 25"/>
            <p:cNvSpPr>
              <a:spLocks noChangeShapeType="1"/>
            </p:cNvSpPr>
            <p:nvPr/>
          </p:nvSpPr>
          <p:spPr bwMode="auto">
            <a:xfrm flipV="1">
              <a:off x="292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1" name="Line 26"/>
            <p:cNvSpPr>
              <a:spLocks noChangeShapeType="1"/>
            </p:cNvSpPr>
            <p:nvPr/>
          </p:nvSpPr>
          <p:spPr bwMode="auto">
            <a:xfrm flipV="1">
              <a:off x="3792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2" name="Line 27"/>
            <p:cNvSpPr>
              <a:spLocks noChangeShapeType="1"/>
            </p:cNvSpPr>
            <p:nvPr/>
          </p:nvSpPr>
          <p:spPr bwMode="auto">
            <a:xfrm flipV="1">
              <a:off x="4512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3" name="Text Box 28"/>
            <p:cNvSpPr txBox="1">
              <a:spLocks noChangeArrowheads="1"/>
            </p:cNvSpPr>
            <p:nvPr/>
          </p:nvSpPr>
          <p:spPr bwMode="auto">
            <a:xfrm>
              <a:off x="240" y="2256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55317" name="Group 29"/>
          <p:cNvGrpSpPr>
            <a:grpSpLocks/>
          </p:cNvGrpSpPr>
          <p:nvPr/>
        </p:nvGrpSpPr>
        <p:grpSpPr bwMode="auto">
          <a:xfrm>
            <a:off x="381000" y="4191000"/>
            <a:ext cx="7696200" cy="533400"/>
            <a:chOff x="240" y="2640"/>
            <a:chExt cx="4848" cy="336"/>
          </a:xfrm>
        </p:grpSpPr>
        <p:sp>
          <p:nvSpPr>
            <p:cNvPr id="55328" name="Line 30"/>
            <p:cNvSpPr>
              <a:spLocks noChangeShapeType="1"/>
            </p:cNvSpPr>
            <p:nvPr/>
          </p:nvSpPr>
          <p:spPr bwMode="auto">
            <a:xfrm>
              <a:off x="19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9" name="Line 31"/>
            <p:cNvSpPr>
              <a:spLocks noChangeShapeType="1"/>
            </p:cNvSpPr>
            <p:nvPr/>
          </p:nvSpPr>
          <p:spPr bwMode="auto">
            <a:xfrm>
              <a:off x="292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0" name="Line 32"/>
            <p:cNvSpPr>
              <a:spLocks noChangeShapeType="1"/>
            </p:cNvSpPr>
            <p:nvPr/>
          </p:nvSpPr>
          <p:spPr bwMode="auto">
            <a:xfrm>
              <a:off x="768" y="2880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1" name="Line 33"/>
            <p:cNvSpPr>
              <a:spLocks noChangeShapeType="1"/>
            </p:cNvSpPr>
            <p:nvPr/>
          </p:nvSpPr>
          <p:spPr bwMode="auto">
            <a:xfrm flipV="1">
              <a:off x="7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2" name="Line 34"/>
            <p:cNvSpPr>
              <a:spLocks noChangeShapeType="1"/>
            </p:cNvSpPr>
            <p:nvPr/>
          </p:nvSpPr>
          <p:spPr bwMode="auto">
            <a:xfrm flipV="1">
              <a:off x="379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3" name="Line 35"/>
            <p:cNvSpPr>
              <a:spLocks noChangeShapeType="1"/>
            </p:cNvSpPr>
            <p:nvPr/>
          </p:nvSpPr>
          <p:spPr bwMode="auto">
            <a:xfrm flipV="1">
              <a:off x="451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4" name="Line 36"/>
            <p:cNvSpPr>
              <a:spLocks noChangeShapeType="1"/>
            </p:cNvSpPr>
            <p:nvPr/>
          </p:nvSpPr>
          <p:spPr bwMode="auto">
            <a:xfrm flipV="1">
              <a:off x="508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240" y="2688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55318" name="Group 38"/>
          <p:cNvGrpSpPr>
            <a:grpSpLocks/>
          </p:cNvGrpSpPr>
          <p:nvPr/>
        </p:nvGrpSpPr>
        <p:grpSpPr bwMode="auto">
          <a:xfrm>
            <a:off x="2133600" y="4648200"/>
            <a:ext cx="5867400" cy="685800"/>
            <a:chOff x="1344" y="2928"/>
            <a:chExt cx="3696" cy="432"/>
          </a:xfrm>
        </p:grpSpPr>
        <p:sp>
          <p:nvSpPr>
            <p:cNvPr id="55324" name="Line 39"/>
            <p:cNvSpPr>
              <a:spLocks noChangeShapeType="1"/>
            </p:cNvSpPr>
            <p:nvPr/>
          </p:nvSpPr>
          <p:spPr bwMode="auto">
            <a:xfrm>
              <a:off x="1968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40"/>
            <p:cNvSpPr>
              <a:spLocks noChangeShapeType="1"/>
            </p:cNvSpPr>
            <p:nvPr/>
          </p:nvSpPr>
          <p:spPr bwMode="auto">
            <a:xfrm>
              <a:off x="1968" y="3264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41"/>
            <p:cNvSpPr>
              <a:spLocks noChangeShapeType="1"/>
            </p:cNvSpPr>
            <p:nvPr/>
          </p:nvSpPr>
          <p:spPr bwMode="auto">
            <a:xfrm flipV="1"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42"/>
            <p:cNvSpPr txBox="1">
              <a:spLocks noChangeArrowheads="1"/>
            </p:cNvSpPr>
            <p:nvPr/>
          </p:nvSpPr>
          <p:spPr bwMode="auto">
            <a:xfrm>
              <a:off x="1344" y="307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FD3</a:t>
              </a:r>
            </a:p>
          </p:txBody>
        </p:sp>
      </p:grpSp>
      <p:grpSp>
        <p:nvGrpSpPr>
          <p:cNvPr id="55319" name="Group 43"/>
          <p:cNvGrpSpPr>
            <a:grpSpLocks/>
          </p:cNvGrpSpPr>
          <p:nvPr/>
        </p:nvGrpSpPr>
        <p:grpSpPr bwMode="auto">
          <a:xfrm>
            <a:off x="5029200" y="5257800"/>
            <a:ext cx="2133600" cy="457200"/>
            <a:chOff x="3168" y="3312"/>
            <a:chExt cx="1344" cy="288"/>
          </a:xfrm>
        </p:grpSpPr>
        <p:sp>
          <p:nvSpPr>
            <p:cNvPr id="55320" name="Line 44"/>
            <p:cNvSpPr>
              <a:spLocks noChangeShapeType="1"/>
            </p:cNvSpPr>
            <p:nvPr/>
          </p:nvSpPr>
          <p:spPr bwMode="auto">
            <a:xfrm>
              <a:off x="379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45"/>
            <p:cNvSpPr>
              <a:spLocks noChangeShapeType="1"/>
            </p:cNvSpPr>
            <p:nvPr/>
          </p:nvSpPr>
          <p:spPr bwMode="auto">
            <a:xfrm>
              <a:off x="3792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46"/>
            <p:cNvSpPr>
              <a:spLocks noChangeShapeType="1"/>
            </p:cNvSpPr>
            <p:nvPr/>
          </p:nvSpPr>
          <p:spPr bwMode="auto">
            <a:xfrm flipV="1">
              <a:off x="451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Text Box 47"/>
            <p:cNvSpPr txBox="1">
              <a:spLocks noChangeArrowheads="1"/>
            </p:cNvSpPr>
            <p:nvPr/>
          </p:nvSpPr>
          <p:spPr bwMode="auto">
            <a:xfrm>
              <a:off x="3168" y="331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02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1NF, 2NF &amp; 3NF guarantee to preserve </a:t>
            </a:r>
            <a:r>
              <a:rPr lang="en-US" altLang="en-US" b="1" smtClean="0">
                <a:solidFill>
                  <a:srgbClr val="FF6600"/>
                </a:solidFill>
              </a:rPr>
              <a:t>lossless join property.</a:t>
            </a:r>
          </a:p>
          <a:p>
            <a:pPr eaLnBrk="1" hangingPunct="1"/>
            <a:endParaRPr lang="en-US" altLang="en-US" smtClean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15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en-US" dirty="0" smtClean="0">
              <a:solidFill>
                <a:srgbClr val="FF6600"/>
              </a:solidFill>
            </a:endParaRP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177635"/>
              </p:ext>
            </p:extLst>
          </p:nvPr>
        </p:nvGraphicFramePr>
        <p:xfrm>
          <a:off x="1129145" y="1602220"/>
          <a:ext cx="64008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Presentation" r:id="rId4" imgW="4571967" imgH="3429060" progId="PowerPoint.Show.8">
                  <p:embed/>
                </p:oleObj>
              </mc:Choice>
              <mc:Fallback>
                <p:oleObj name="Presentation" r:id="rId4" imgW="4571967" imgH="3429060" progId="PowerPoint.Show.8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041" t="37883" r="19833" b="35376"/>
                      <a:stretch>
                        <a:fillRect/>
                      </a:stretch>
                    </p:blipFill>
                    <p:spPr bwMode="auto">
                      <a:xfrm>
                        <a:off x="1129145" y="1602220"/>
                        <a:ext cx="64008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914400" y="1066800"/>
            <a:ext cx="2754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Dependency diagram</a:t>
            </a:r>
            <a:endParaRPr lang="en-AU" altLang="en-US"/>
          </a:p>
        </p:txBody>
      </p:sp>
      <p:sp>
        <p:nvSpPr>
          <p:cNvPr id="3077" name="Text Box 7"/>
          <p:cNvSpPr txBox="1">
            <a:spLocks noChangeArrowheads="1"/>
          </p:cNvSpPr>
          <p:nvPr/>
        </p:nvSpPr>
        <p:spPr bwMode="auto">
          <a:xfrm>
            <a:off x="1143000" y="4572000"/>
            <a:ext cx="678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33CC"/>
                </a:solidFill>
              </a:rPr>
              <a:t>Identify the dependencies shown in the above diagram</a:t>
            </a:r>
            <a:endParaRPr lang="en-AU" altLang="en-US">
              <a:solidFill>
                <a:srgbClr val="FF33CC"/>
              </a:solidFill>
            </a:endParaRPr>
          </a:p>
        </p:txBody>
      </p:sp>
      <p:sp>
        <p:nvSpPr>
          <p:cNvPr id="604168" name="Text Box 8"/>
          <p:cNvSpPr txBox="1">
            <a:spLocks noChangeArrowheads="1"/>
          </p:cNvSpPr>
          <p:nvPr/>
        </p:nvSpPr>
        <p:spPr bwMode="auto">
          <a:xfrm>
            <a:off x="1295400" y="5133975"/>
            <a:ext cx="70786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C1-&gt;C2                              partial dependency</a:t>
            </a:r>
          </a:p>
          <a:p>
            <a:pPr eaLnBrk="1" hangingPunct="1"/>
            <a:r>
              <a:rPr lang="en-US" altLang="en-US" sz="2400"/>
              <a:t>C4 -&gt;C5                             transitive dependency</a:t>
            </a:r>
          </a:p>
          <a:p>
            <a:pPr eaLnBrk="1" hangingPunct="1"/>
            <a:r>
              <a:rPr lang="en-US" altLang="en-US" sz="2400"/>
              <a:t>C1,C3 -&gt; C2,C4,C5           functional dependency</a:t>
            </a:r>
            <a:endParaRPr lang="en-AU" altLang="en-US" sz="2400"/>
          </a:p>
        </p:txBody>
      </p:sp>
    </p:spTree>
    <p:extLst>
      <p:ext uri="{BB962C8B-B14F-4D97-AF65-F5344CB8AC3E}">
        <p14:creationId xmlns:p14="http://schemas.microsoft.com/office/powerpoint/2010/main" val="336244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"/>
            <a:ext cx="6248400" cy="1219200"/>
          </a:xfrm>
        </p:spPr>
        <p:txBody>
          <a:bodyPr/>
          <a:lstStyle/>
          <a:p>
            <a:pPr eaLnBrk="1" hangingPunct="1"/>
            <a:r>
              <a:rPr lang="en-US" altLang="en-US" sz="2400" b="1" smtClean="0"/>
              <a:t>Create a database whose tables are at least in 2NF, showing the dependency diagrams for each table.</a:t>
            </a:r>
            <a:endParaRPr lang="en-AU" altLang="en-US" sz="2400" b="1" smtClean="0"/>
          </a:p>
        </p:txBody>
      </p:sp>
      <p:graphicFrame>
        <p:nvGraphicFramePr>
          <p:cNvPr id="60723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1676400"/>
          <a:ext cx="74676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607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029" t="23529" r="17828" b="28337"/>
                      <a:stretch>
                        <a:fillRect/>
                      </a:stretch>
                    </p:blipFill>
                    <p:spPr bwMode="auto">
                      <a:xfrm>
                        <a:off x="990600" y="1676400"/>
                        <a:ext cx="74676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66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Create a database whose tables are at least in 3NF</a:t>
            </a:r>
            <a:endParaRPr lang="en-AU" altLang="en-US" sz="3200" smtClean="0"/>
          </a:p>
        </p:txBody>
      </p:sp>
      <p:graphicFrame>
        <p:nvGraphicFramePr>
          <p:cNvPr id="60928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38200" y="1485900"/>
          <a:ext cx="7848600" cy="48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609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046" t="21393" r="15825" b="19777"/>
                      <a:stretch>
                        <a:fillRect/>
                      </a:stretch>
                    </p:blipFill>
                    <p:spPr bwMode="auto">
                      <a:xfrm>
                        <a:off x="838200" y="1485900"/>
                        <a:ext cx="7848600" cy="48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00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4724400" cy="5181600"/>
          </a:xfrm>
        </p:spPr>
        <p:txBody>
          <a:bodyPr/>
          <a:lstStyle/>
          <a:p>
            <a:pPr eaLnBrk="1" hangingPunct="1"/>
            <a:r>
              <a:rPr lang="en-US" altLang="en-US" smtClean="0"/>
              <a:t>Denormalization…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  <a:r>
              <a:rPr lang="en-US" altLang="en-US" sz="2400" smtClean="0"/>
              <a:t>Sometime for performance reasons, database designer may leave the relation in a lower normal form. This process is known as </a:t>
            </a:r>
            <a:r>
              <a:rPr lang="en-US" altLang="en-US" sz="2400" b="1" smtClean="0">
                <a:solidFill>
                  <a:srgbClr val="FF6600"/>
                </a:solidFill>
              </a:rPr>
              <a:t>denormalization</a:t>
            </a:r>
            <a:r>
              <a:rPr lang="en-US" altLang="en-US" sz="2400" smtClean="0"/>
              <a:t>.</a:t>
            </a:r>
          </a:p>
        </p:txBody>
      </p:sp>
      <p:pic>
        <p:nvPicPr>
          <p:cNvPr id="57348" name="Picture 4" descr="men4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33600"/>
            <a:ext cx="1830388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233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Normalization complete </a:t>
            </a:r>
            <a:r>
              <a:rPr lang="en-US" altLang="en-US" smtClean="0">
                <a:sym typeface="Wingdings" panose="05000000000000000000" pitchFamily="2" charset="2"/>
              </a:rPr>
              <a:t></a:t>
            </a:r>
          </a:p>
          <a:p>
            <a:pPr eaLnBrk="1" hangingPunct="1"/>
            <a:endParaRPr lang="en-US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Any questions ???</a:t>
            </a:r>
          </a:p>
          <a:p>
            <a:pPr eaLnBrk="1" hangingPunct="1">
              <a:buFontTx/>
              <a:buNone/>
            </a:pPr>
            <a:endParaRPr lang="en-US" altLang="en-US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1198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Normalization Flow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2627313" y="176053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UNF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627313" y="2736850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1NF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2627313" y="367823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2NF</a:t>
            </a: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2627313" y="467518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b="0"/>
              <a:t>3NF</a:t>
            </a:r>
          </a:p>
        </p:txBody>
      </p:sp>
      <p:cxnSp>
        <p:nvCxnSpPr>
          <p:cNvPr id="59399" name="AutoShape 7"/>
          <p:cNvCxnSpPr>
            <a:cxnSpLocks noChangeShapeType="1"/>
            <a:stCxn id="59395" idx="2"/>
            <a:endCxn id="59396" idx="0"/>
          </p:cNvCxnSpPr>
          <p:nvPr/>
        </p:nvCxnSpPr>
        <p:spPr bwMode="auto">
          <a:xfrm>
            <a:off x="4248150" y="2192338"/>
            <a:ext cx="0" cy="5445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0" name="AutoShape 8"/>
          <p:cNvCxnSpPr>
            <a:cxnSpLocks noChangeShapeType="1"/>
            <a:stCxn id="59396" idx="2"/>
            <a:endCxn id="59397" idx="0"/>
          </p:cNvCxnSpPr>
          <p:nvPr/>
        </p:nvCxnSpPr>
        <p:spPr bwMode="auto">
          <a:xfrm>
            <a:off x="4248150" y="3168650"/>
            <a:ext cx="0" cy="509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1" name="AutoShape 9"/>
          <p:cNvCxnSpPr>
            <a:cxnSpLocks noChangeShapeType="1"/>
            <a:stCxn id="59397" idx="2"/>
            <a:endCxn id="59398" idx="0"/>
          </p:cNvCxnSpPr>
          <p:nvPr/>
        </p:nvCxnSpPr>
        <p:spPr bwMode="auto">
          <a:xfrm>
            <a:off x="4248150" y="4110038"/>
            <a:ext cx="0" cy="565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4551363" y="2198688"/>
            <a:ext cx="310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repeating groups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4551363" y="3135313"/>
            <a:ext cx="3544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partial dependencies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4591050" y="4143375"/>
            <a:ext cx="3868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transitive dependencies</a:t>
            </a:r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4211638" y="510698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3255963" y="5583238"/>
            <a:ext cx="2778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More normalized forms</a:t>
            </a:r>
          </a:p>
        </p:txBody>
      </p:sp>
    </p:spTree>
    <p:extLst>
      <p:ext uri="{BB962C8B-B14F-4D97-AF65-F5344CB8AC3E}">
        <p14:creationId xmlns:p14="http://schemas.microsoft.com/office/powerpoint/2010/main" val="241077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404813"/>
            <a:ext cx="6121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smtClean="0"/>
              <a:t>Your Turn!</a:t>
            </a:r>
            <a:r>
              <a:rPr lang="en-US" altLang="en-US" sz="3200" smtClean="0"/>
              <a:t> </a:t>
            </a:r>
            <a:br>
              <a:rPr lang="en-US" altLang="en-US" sz="3200" smtClean="0"/>
            </a:br>
            <a:r>
              <a:rPr lang="en-US" altLang="en-US" sz="3200" smtClean="0">
                <a:solidFill>
                  <a:srgbClr val="008000"/>
                </a:solidFill>
              </a:rPr>
              <a:t>Student Results Table</a:t>
            </a:r>
          </a:p>
        </p:txBody>
      </p:sp>
      <p:graphicFrame>
        <p:nvGraphicFramePr>
          <p:cNvPr id="6146" name="Object 3"/>
          <p:cNvGraphicFramePr>
            <a:graphicFrameLocks noGrp="1" noChangeAspect="1"/>
          </p:cNvGraphicFramePr>
          <p:nvPr>
            <p:ph type="tbl" idx="1"/>
          </p:nvPr>
        </p:nvGraphicFramePr>
        <p:xfrm>
          <a:off x="835025" y="1604963"/>
          <a:ext cx="7932738" cy="485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Document" r:id="rId4" imgW="7729200" imgH="4727160" progId="Word.Document.8">
                  <p:embed/>
                </p:oleObj>
              </mc:Choice>
              <mc:Fallback>
                <p:oleObj name="Document" r:id="rId4" imgW="7729200" imgH="4727160" progId="Word.Document.8">
                  <p:embed/>
                  <p:pic>
                    <p:nvPicPr>
                      <p:cNvPr id="61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1604963"/>
                        <a:ext cx="7932738" cy="485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772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840</TotalTime>
  <Words>1211</Words>
  <Application>Microsoft Office PowerPoint</Application>
  <PresentationFormat>On-screen Show (4:3)</PresentationFormat>
  <Paragraphs>446</Paragraphs>
  <Slides>34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</vt:lpstr>
      <vt:lpstr>Calibri</vt:lpstr>
      <vt:lpstr>CG Times</vt:lpstr>
      <vt:lpstr>Comic Sans MS</vt:lpstr>
      <vt:lpstr>Latha</vt:lpstr>
      <vt:lpstr>Symbol</vt:lpstr>
      <vt:lpstr>Tahoma</vt:lpstr>
      <vt:lpstr>Times New Roman</vt:lpstr>
      <vt:lpstr>Wingdings</vt:lpstr>
      <vt:lpstr>HNDIT</vt:lpstr>
      <vt:lpstr>1_HNDIT</vt:lpstr>
      <vt:lpstr>Presentation</vt:lpstr>
      <vt:lpstr>Document</vt:lpstr>
      <vt:lpstr>HNDIT 1105  DBMS</vt:lpstr>
      <vt:lpstr>Unnormalized Form (UNF)</vt:lpstr>
      <vt:lpstr>Another example of UNF</vt:lpstr>
      <vt:lpstr>UNF to 1NF</vt:lpstr>
      <vt:lpstr>Normalization (contd.)</vt:lpstr>
      <vt:lpstr>Normalization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Removing partial dependency</vt:lpstr>
      <vt:lpstr>Normalization (contd.)</vt:lpstr>
      <vt:lpstr>Normalization (contd.)</vt:lpstr>
      <vt:lpstr>Another Example</vt:lpstr>
      <vt:lpstr>Normalization (contd.)</vt:lpstr>
      <vt:lpstr>Normalization (contd.)</vt:lpstr>
      <vt:lpstr>PowerPoint Presentation</vt:lpstr>
      <vt:lpstr>Removing transitive dependency</vt:lpstr>
      <vt:lpstr>PowerPoint Presentation</vt:lpstr>
      <vt:lpstr>PowerPoint Presentation</vt:lpstr>
      <vt:lpstr>PowerPoint Presentation</vt:lpstr>
      <vt:lpstr>Normalization (contd.)</vt:lpstr>
      <vt:lpstr>Normalization (contd.)</vt:lpstr>
      <vt:lpstr>PowerPoint Presentation</vt:lpstr>
      <vt:lpstr>PowerPoint Presentation</vt:lpstr>
      <vt:lpstr>Create a database whose tables are at least in 3NF</vt:lpstr>
      <vt:lpstr>Normalization (contd.)</vt:lpstr>
      <vt:lpstr>Normalization</vt:lpstr>
      <vt:lpstr>Normalization Flow</vt:lpstr>
      <vt:lpstr>Your Turn!  Student Results Table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Ewis</cp:lastModifiedBy>
  <cp:revision>135</cp:revision>
  <dcterms:created xsi:type="dcterms:W3CDTF">2014-03-07T13:02:25Z</dcterms:created>
  <dcterms:modified xsi:type="dcterms:W3CDTF">2018-06-20T04:58:15Z</dcterms:modified>
</cp:coreProperties>
</file>