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57" r:id="rId8"/>
    <p:sldId id="267" r:id="rId9"/>
    <p:sldId id="263" r:id="rId10"/>
    <p:sldId id="264" r:id="rId11"/>
    <p:sldId id="265"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22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960E282-4121-4165-8D94-248CC85176B9}" type="datetimeFigureOut">
              <a:rPr lang="en-US" smtClean="0"/>
              <a:t>5/4/2016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870B9B-FD8B-44C1-939B-20C1CD5BCAC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960E282-4121-4165-8D94-248CC85176B9}" type="datetimeFigureOut">
              <a:rPr lang="en-US" smtClean="0"/>
              <a:t>5/4/2016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870B9B-FD8B-44C1-939B-20C1CD5BCAC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960E282-4121-4165-8D94-248CC85176B9}" type="datetimeFigureOut">
              <a:rPr lang="en-US" smtClean="0"/>
              <a:t>5/4/2016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870B9B-FD8B-44C1-939B-20C1CD5BCAC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960E282-4121-4165-8D94-248CC85176B9}" type="datetimeFigureOut">
              <a:rPr lang="en-US" smtClean="0"/>
              <a:t>5/4/2016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870B9B-FD8B-44C1-939B-20C1CD5BCAC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960E282-4121-4165-8D94-248CC85176B9}" type="datetimeFigureOut">
              <a:rPr lang="en-US" smtClean="0"/>
              <a:t>5/4/2016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C870B9B-FD8B-44C1-939B-20C1CD5BCAC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960E282-4121-4165-8D94-248CC85176B9}" type="datetimeFigureOut">
              <a:rPr lang="en-US" smtClean="0"/>
              <a:t>5/4/2016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C870B9B-FD8B-44C1-939B-20C1CD5BCAC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60E282-4121-4165-8D94-248CC85176B9}" type="datetimeFigureOut">
              <a:rPr lang="en-US" smtClean="0"/>
              <a:t>5/4/2016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C870B9B-FD8B-44C1-939B-20C1CD5BCAC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960E282-4121-4165-8D94-248CC85176B9}" type="datetimeFigureOut">
              <a:rPr lang="en-US" smtClean="0"/>
              <a:t>5/4/2016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870B9B-FD8B-44C1-939B-20C1CD5BCAC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960E282-4121-4165-8D94-248CC85176B9}" type="datetimeFigureOut">
              <a:rPr lang="en-US" smtClean="0"/>
              <a:t>5/4/2016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870B9B-FD8B-44C1-939B-20C1CD5BCAC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960E282-4121-4165-8D94-248CC85176B9}" type="datetimeFigureOut">
              <a:rPr lang="en-US" smtClean="0"/>
              <a:t>5/4/2016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870B9B-FD8B-44C1-939B-20C1CD5BCAC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960E282-4121-4165-8D94-248CC85176B9}" type="datetimeFigureOut">
              <a:rPr lang="en-US" smtClean="0"/>
              <a:t>5/4/2016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870B9B-FD8B-44C1-939B-20C1CD5BCAC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60E282-4121-4165-8D94-248CC85176B9}" type="datetimeFigureOut">
              <a:rPr lang="en-US" smtClean="0"/>
              <a:t>5/4/2016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870B9B-FD8B-44C1-939B-20C1CD5BCAC3}"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hyperlink" Target="https://support.office.com/en-us/article/Control-data-entry-formats-with-input-masks-e125997a-7791-49e5-8672-4a47832de8da#__toc292266517"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mtClean="0"/>
              <a:t>MS Access 2013</a:t>
            </a:r>
            <a:endParaRPr lang="en-US"/>
          </a:p>
        </p:txBody>
      </p:sp>
      <p:sp>
        <p:nvSpPr>
          <p:cNvPr id="3" name="Subtitle 2"/>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Input Masks</a:t>
            </a:r>
            <a:endParaRPr lang="en-US" sz="4000" dirty="0">
              <a:solidFill>
                <a:schemeClr val="dk1"/>
              </a:solidFill>
              <a:latin typeface="+mn-lt"/>
              <a:ea typeface="+mn-ea"/>
              <a:cs typeface="+mn-cs"/>
            </a:endParaRPr>
          </a:p>
        </p:txBody>
      </p:sp>
      <p:sp>
        <p:nvSpPr>
          <p:cNvPr id="3" name="Content Placeholder 2"/>
          <p:cNvSpPr>
            <a:spLocks noGrp="1"/>
          </p:cNvSpPr>
          <p:nvPr>
            <p:ph idx="1"/>
          </p:nvPr>
        </p:nvSpPr>
        <p:spPr>
          <a:xfrm>
            <a:off x="457200" y="1417638"/>
            <a:ext cx="8229600" cy="4708525"/>
          </a:xfrm>
        </p:spPr>
        <p:txBody>
          <a:bodyPr>
            <a:normAutofit fontScale="92500" lnSpcReduction="10000"/>
          </a:bodyPr>
          <a:lstStyle/>
          <a:p>
            <a:r>
              <a:rPr lang="en-US" sz="2800" dirty="0"/>
              <a:t>When you have several people entering data in your Access database, you can define how users must enter data in specific fields to help maintain consistency and to make your database easier to </a:t>
            </a:r>
            <a:r>
              <a:rPr lang="en-US" sz="2800" dirty="0" smtClean="0"/>
              <a:t>manage</a:t>
            </a:r>
          </a:p>
          <a:p>
            <a:r>
              <a:rPr lang="en-US" sz="2800" dirty="0"/>
              <a:t>Input masks provide a set format for data entry in a field by using characters and symbols. When you apply an input mask to a field, anyone who inputs data in that field must follow the specific pattern defined by the input </a:t>
            </a:r>
            <a:r>
              <a:rPr lang="en-US" sz="2800" dirty="0" smtClean="0"/>
              <a:t>mask.</a:t>
            </a:r>
          </a:p>
          <a:p>
            <a:r>
              <a:rPr lang="en-US" sz="2800" dirty="0"/>
              <a:t>Input masks provide a large amount of data validation and prevent users from entering invalid data (such as a phone number in a date field).</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three parts of an input mask</a:t>
            </a:r>
          </a:p>
        </p:txBody>
      </p:sp>
      <p:sp>
        <p:nvSpPr>
          <p:cNvPr id="3" name="Content Placeholder 2"/>
          <p:cNvSpPr>
            <a:spLocks noGrp="1"/>
          </p:cNvSpPr>
          <p:nvPr>
            <p:ph idx="1"/>
          </p:nvPr>
        </p:nvSpPr>
        <p:spPr/>
        <p:txBody>
          <a:bodyPr>
            <a:normAutofit fontScale="70000" lnSpcReduction="20000"/>
          </a:bodyPr>
          <a:lstStyle/>
          <a:p>
            <a:r>
              <a:rPr lang="en-US" dirty="0"/>
              <a:t>The three parts of an input </a:t>
            </a:r>
            <a:r>
              <a:rPr lang="en-US" dirty="0" smtClean="0"/>
              <a:t>mask.</a:t>
            </a:r>
            <a:endParaRPr lang="en-US" dirty="0"/>
          </a:p>
          <a:p>
            <a:r>
              <a:rPr lang="en-US" dirty="0"/>
              <a:t>Input masks are made up one mandatory part and two optional parts, and each part is separated by a semicolon. </a:t>
            </a:r>
            <a:endParaRPr lang="en-US" dirty="0" smtClean="0"/>
          </a:p>
          <a:p>
            <a:r>
              <a:rPr lang="en-US" dirty="0" smtClean="0"/>
              <a:t>The </a:t>
            </a:r>
            <a:r>
              <a:rPr lang="en-US" dirty="0"/>
              <a:t>purpose of each part is as follows</a:t>
            </a:r>
            <a:r>
              <a:rPr lang="en-US" dirty="0" smtClean="0"/>
              <a:t>:</a:t>
            </a:r>
          </a:p>
          <a:p>
            <a:pPr lvl="1"/>
            <a:r>
              <a:rPr lang="en-US" dirty="0"/>
              <a:t>The first part is mandatory. It includes the mask characters or string (series of characters) along with placeholders and literal data such as, parentheses, periods, and hyphens.</a:t>
            </a:r>
          </a:p>
          <a:p>
            <a:pPr lvl="1"/>
            <a:r>
              <a:rPr lang="en-US" dirty="0"/>
              <a:t>The second part is optional and refers to the embedded mask characters and how they are stored within the field. If the second part is set to </a:t>
            </a:r>
            <a:r>
              <a:rPr lang="en-US" b="1" dirty="0"/>
              <a:t>0</a:t>
            </a:r>
            <a:r>
              <a:rPr lang="en-US" dirty="0"/>
              <a:t>, the characters are stored with the data, and if it is set to </a:t>
            </a:r>
            <a:r>
              <a:rPr lang="en-US" b="1" dirty="0"/>
              <a:t>1</a:t>
            </a:r>
            <a:r>
              <a:rPr lang="en-US" dirty="0"/>
              <a:t>, the characters are only displayed and not stored. Setting the second part to </a:t>
            </a:r>
            <a:r>
              <a:rPr lang="en-US" b="1" dirty="0"/>
              <a:t>1</a:t>
            </a:r>
            <a:r>
              <a:rPr lang="en-US" dirty="0"/>
              <a:t> can save database storage space.</a:t>
            </a:r>
          </a:p>
          <a:p>
            <a:pPr lvl="1"/>
            <a:r>
              <a:rPr lang="en-US" dirty="0"/>
              <a:t>The third part of the input mask is also optional and indicates a single character or space that is used as a placeholder. By default, Access uses the underscore (_). If you want to use another character, enter it in the third part of your mask.</a:t>
            </a:r>
          </a:p>
          <a:p>
            <a:endParaRPr lang="en-US" dirty="0"/>
          </a:p>
        </p:txBody>
      </p:sp>
    </p:spTree>
    <p:extLst>
      <p:ext uri="{BB962C8B-B14F-4D97-AF65-F5344CB8AC3E}">
        <p14:creationId xmlns:p14="http://schemas.microsoft.com/office/powerpoint/2010/main" val="8293013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altLang="en-US" sz="3200" dirty="0">
                <a:solidFill>
                  <a:srgbClr val="363636"/>
                </a:solidFill>
                <a:latin typeface="wf_segoe-ui_light"/>
              </a:rPr>
              <a:t>Characters that define input masks</a:t>
            </a:r>
            <a:br>
              <a:rPr lang="en-US" altLang="en-US" sz="3200" dirty="0">
                <a:solidFill>
                  <a:srgbClr val="363636"/>
                </a:solidFill>
                <a:latin typeface="wf_segoe-ui_light"/>
              </a:rPr>
            </a:br>
            <a:endParaRPr lang="en-US" sz="32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36216907"/>
              </p:ext>
            </p:extLst>
          </p:nvPr>
        </p:nvGraphicFramePr>
        <p:xfrm>
          <a:off x="990599" y="1066797"/>
          <a:ext cx="6248400" cy="5526704"/>
        </p:xfrm>
        <a:graphic>
          <a:graphicData uri="http://schemas.openxmlformats.org/drawingml/2006/table">
            <a:tbl>
              <a:tblPr/>
              <a:tblGrid>
                <a:gridCol w="762001"/>
                <a:gridCol w="5486399"/>
              </a:tblGrid>
              <a:tr h="182154">
                <a:tc>
                  <a:txBody>
                    <a:bodyPr/>
                    <a:lstStyle/>
                    <a:p>
                      <a:pPr fontAlgn="t"/>
                      <a:r>
                        <a:rPr lang="en-US" sz="800" b="1" dirty="0">
                          <a:solidFill>
                            <a:srgbClr val="363636"/>
                          </a:solidFill>
                          <a:effectLst/>
                        </a:rPr>
                        <a:t>Character</a:t>
                      </a:r>
                      <a:endParaRPr lang="en-US" sz="800" dirty="0">
                        <a:solidFill>
                          <a:srgbClr val="363636"/>
                        </a:solidFill>
                        <a:effectLst/>
                      </a:endParaRP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8D8D8"/>
                    </a:solidFill>
                  </a:tcPr>
                </a:tc>
                <a:tc>
                  <a:txBody>
                    <a:bodyPr/>
                    <a:lstStyle/>
                    <a:p>
                      <a:pPr fontAlgn="t"/>
                      <a:r>
                        <a:rPr lang="en-US" sz="800" b="1">
                          <a:solidFill>
                            <a:srgbClr val="363636"/>
                          </a:solidFill>
                          <a:effectLst/>
                        </a:rPr>
                        <a:t>Explanation</a:t>
                      </a:r>
                      <a:endParaRPr lang="en-US" sz="800">
                        <a:solidFill>
                          <a:srgbClr val="363636"/>
                        </a:solidFill>
                        <a:effectLst/>
                      </a:endParaRP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8D8D8"/>
                    </a:solidFill>
                  </a:tcPr>
                </a:tc>
              </a:tr>
              <a:tr h="182154">
                <a:tc>
                  <a:txBody>
                    <a:bodyPr/>
                    <a:lstStyle/>
                    <a:p>
                      <a:pPr fontAlgn="t"/>
                      <a:r>
                        <a:rPr lang="en-US" sz="1400">
                          <a:solidFill>
                            <a:srgbClr val="363636"/>
                          </a:solidFill>
                          <a:effectLst/>
                        </a:rPr>
                        <a:t>0</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sz="1400">
                          <a:solidFill>
                            <a:srgbClr val="363636"/>
                          </a:solidFill>
                          <a:effectLst/>
                        </a:rPr>
                        <a:t>User must enter a digit (0 to 9).</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182154">
                <a:tc>
                  <a:txBody>
                    <a:bodyPr/>
                    <a:lstStyle/>
                    <a:p>
                      <a:pPr fontAlgn="t"/>
                      <a:r>
                        <a:rPr lang="en-US" sz="1400" dirty="0">
                          <a:solidFill>
                            <a:srgbClr val="363636"/>
                          </a:solidFill>
                          <a:effectLst/>
                        </a:rPr>
                        <a:t>9</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c>
                  <a:txBody>
                    <a:bodyPr/>
                    <a:lstStyle/>
                    <a:p>
                      <a:pPr fontAlgn="t"/>
                      <a:r>
                        <a:rPr lang="en-US" sz="1400">
                          <a:solidFill>
                            <a:srgbClr val="363636"/>
                          </a:solidFill>
                          <a:effectLst/>
                        </a:rPr>
                        <a:t>User can enter a digit (0 to 9).</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r>
              <a:tr h="541132">
                <a:tc>
                  <a:txBody>
                    <a:bodyPr/>
                    <a:lstStyle/>
                    <a:p>
                      <a:pPr fontAlgn="t"/>
                      <a:r>
                        <a:rPr lang="en-US" sz="1400">
                          <a:solidFill>
                            <a:srgbClr val="363636"/>
                          </a:solidFill>
                          <a:effectLst/>
                        </a:rPr>
                        <a:t>#</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sz="1400" dirty="0">
                          <a:solidFill>
                            <a:srgbClr val="363636"/>
                          </a:solidFill>
                          <a:effectLst/>
                        </a:rPr>
                        <a:t>User can enter a digit, space, plus or minus sign. If skipped, Access enters a blank space.</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182154">
                <a:tc>
                  <a:txBody>
                    <a:bodyPr/>
                    <a:lstStyle/>
                    <a:p>
                      <a:pPr fontAlgn="t"/>
                      <a:r>
                        <a:rPr lang="en-US" sz="1400">
                          <a:solidFill>
                            <a:srgbClr val="363636"/>
                          </a:solidFill>
                          <a:effectLst/>
                        </a:rPr>
                        <a:t>L</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c>
                  <a:txBody>
                    <a:bodyPr/>
                    <a:lstStyle/>
                    <a:p>
                      <a:pPr fontAlgn="t"/>
                      <a:r>
                        <a:rPr lang="en-US" sz="1400">
                          <a:solidFill>
                            <a:srgbClr val="363636"/>
                          </a:solidFill>
                          <a:effectLst/>
                        </a:rPr>
                        <a:t>User must enter a letter.</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r>
              <a:tr h="182154">
                <a:tc>
                  <a:txBody>
                    <a:bodyPr/>
                    <a:lstStyle/>
                    <a:p>
                      <a:pPr fontAlgn="t"/>
                      <a:r>
                        <a:rPr lang="en-US" sz="1400">
                          <a:solidFill>
                            <a:srgbClr val="363636"/>
                          </a:solidFill>
                          <a:effectLst/>
                        </a:rPr>
                        <a:t>?</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sz="1400">
                          <a:solidFill>
                            <a:srgbClr val="363636"/>
                          </a:solidFill>
                          <a:effectLst/>
                        </a:rPr>
                        <a:t>User can enter a letter.</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182154">
                <a:tc>
                  <a:txBody>
                    <a:bodyPr/>
                    <a:lstStyle/>
                    <a:p>
                      <a:pPr fontAlgn="t"/>
                      <a:r>
                        <a:rPr lang="en-US" sz="1400">
                          <a:solidFill>
                            <a:srgbClr val="363636"/>
                          </a:solidFill>
                          <a:effectLst/>
                        </a:rPr>
                        <a:t>A</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c>
                  <a:txBody>
                    <a:bodyPr/>
                    <a:lstStyle/>
                    <a:p>
                      <a:pPr fontAlgn="t"/>
                      <a:r>
                        <a:rPr lang="en-US" sz="1400">
                          <a:solidFill>
                            <a:srgbClr val="363636"/>
                          </a:solidFill>
                          <a:effectLst/>
                        </a:rPr>
                        <a:t>User must enter a letter or a digit.</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r>
              <a:tr h="182154">
                <a:tc>
                  <a:txBody>
                    <a:bodyPr/>
                    <a:lstStyle/>
                    <a:p>
                      <a:pPr fontAlgn="t"/>
                      <a:r>
                        <a:rPr lang="en-US" sz="1400">
                          <a:solidFill>
                            <a:srgbClr val="363636"/>
                          </a:solidFill>
                          <a:effectLst/>
                        </a:rPr>
                        <a:t>a</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sz="1400">
                          <a:solidFill>
                            <a:srgbClr val="363636"/>
                          </a:solidFill>
                          <a:effectLst/>
                        </a:rPr>
                        <a:t>User can enter a letter or a digit.</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324708">
                <a:tc>
                  <a:txBody>
                    <a:bodyPr/>
                    <a:lstStyle/>
                    <a:p>
                      <a:pPr fontAlgn="t"/>
                      <a:r>
                        <a:rPr lang="en-US" sz="1400">
                          <a:solidFill>
                            <a:srgbClr val="363636"/>
                          </a:solidFill>
                          <a:effectLst/>
                        </a:rPr>
                        <a:t>&amp;</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c>
                  <a:txBody>
                    <a:bodyPr/>
                    <a:lstStyle/>
                    <a:p>
                      <a:pPr fontAlgn="t"/>
                      <a:r>
                        <a:rPr lang="en-US" sz="1400" dirty="0">
                          <a:solidFill>
                            <a:srgbClr val="363636"/>
                          </a:solidFill>
                          <a:effectLst/>
                        </a:rPr>
                        <a:t>User must enter either a character or a space.</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r>
              <a:tr h="324708">
                <a:tc>
                  <a:txBody>
                    <a:bodyPr/>
                    <a:lstStyle/>
                    <a:p>
                      <a:pPr fontAlgn="t"/>
                      <a:r>
                        <a:rPr lang="en-US" sz="1400">
                          <a:solidFill>
                            <a:srgbClr val="363636"/>
                          </a:solidFill>
                          <a:effectLst/>
                        </a:rPr>
                        <a:t>C</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sz="1400">
                          <a:solidFill>
                            <a:srgbClr val="363636"/>
                          </a:solidFill>
                          <a:effectLst/>
                        </a:rPr>
                        <a:t>User can enter characters or spaces.</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752372">
                <a:tc>
                  <a:txBody>
                    <a:bodyPr/>
                    <a:lstStyle/>
                    <a:p>
                      <a:pPr fontAlgn="t"/>
                      <a:r>
                        <a:rPr lang="en-US" sz="1400">
                          <a:solidFill>
                            <a:srgbClr val="363636"/>
                          </a:solidFill>
                          <a:effectLst/>
                        </a:rPr>
                        <a:t>. , : ; - /</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c>
                  <a:txBody>
                    <a:bodyPr/>
                    <a:lstStyle/>
                    <a:p>
                      <a:pPr fontAlgn="t"/>
                      <a:r>
                        <a:rPr lang="en-US" sz="1400">
                          <a:solidFill>
                            <a:srgbClr val="363636"/>
                          </a:solidFill>
                          <a:effectLst/>
                        </a:rPr>
                        <a:t>Decimal and thousands placeholders, date and time separators. The character you select depends on your Microsoft Windows regional settings.</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r>
              <a:tr h="324708">
                <a:tc>
                  <a:txBody>
                    <a:bodyPr/>
                    <a:lstStyle/>
                    <a:p>
                      <a:pPr fontAlgn="t"/>
                      <a:r>
                        <a:rPr lang="en-US" sz="1400">
                          <a:solidFill>
                            <a:srgbClr val="363636"/>
                          </a:solidFill>
                          <a:effectLst/>
                        </a:rPr>
                        <a:t>&gt;</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sz="1400">
                          <a:solidFill>
                            <a:srgbClr val="363636"/>
                          </a:solidFill>
                          <a:effectLst/>
                        </a:rPr>
                        <a:t>Coverts all characters that follow to uppercase.</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324708">
                <a:tc>
                  <a:txBody>
                    <a:bodyPr/>
                    <a:lstStyle/>
                    <a:p>
                      <a:pPr fontAlgn="t"/>
                      <a:r>
                        <a:rPr lang="en-US" sz="1400">
                          <a:solidFill>
                            <a:srgbClr val="363636"/>
                          </a:solidFill>
                          <a:effectLst/>
                        </a:rPr>
                        <a:t>&lt;</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c>
                  <a:txBody>
                    <a:bodyPr/>
                    <a:lstStyle/>
                    <a:p>
                      <a:pPr fontAlgn="t"/>
                      <a:r>
                        <a:rPr lang="en-US" sz="1400">
                          <a:solidFill>
                            <a:srgbClr val="363636"/>
                          </a:solidFill>
                          <a:effectLst/>
                        </a:rPr>
                        <a:t>Converts all characters that follow to lowercase.</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r>
              <a:tr h="467263">
                <a:tc>
                  <a:txBody>
                    <a:bodyPr/>
                    <a:lstStyle/>
                    <a:p>
                      <a:pPr fontAlgn="t"/>
                      <a:r>
                        <a:rPr lang="en-US" sz="1400">
                          <a:solidFill>
                            <a:srgbClr val="363636"/>
                          </a:solidFill>
                          <a:effectLst/>
                        </a:rPr>
                        <a:t>!</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sz="1400">
                          <a:solidFill>
                            <a:srgbClr val="363636"/>
                          </a:solidFill>
                          <a:effectLst/>
                        </a:rPr>
                        <a:t>Causes the input mask to fill from left to right instead of from right to left.</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324708">
                <a:tc>
                  <a:txBody>
                    <a:bodyPr/>
                    <a:lstStyle/>
                    <a:p>
                      <a:pPr fontAlgn="t"/>
                      <a:r>
                        <a:rPr lang="en-US" sz="1400">
                          <a:solidFill>
                            <a:srgbClr val="363636"/>
                          </a:solidFill>
                          <a:effectLst/>
                        </a:rPr>
                        <a:t>\</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c>
                  <a:txBody>
                    <a:bodyPr/>
                    <a:lstStyle/>
                    <a:p>
                      <a:pPr fontAlgn="t"/>
                      <a:r>
                        <a:rPr lang="en-US" sz="1400">
                          <a:solidFill>
                            <a:srgbClr val="363636"/>
                          </a:solidFill>
                          <a:effectLst/>
                        </a:rPr>
                        <a:t>Characters immediately following will be displayed literally.</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r>
              <a:tr h="467263">
                <a:tc>
                  <a:txBody>
                    <a:bodyPr/>
                    <a:lstStyle/>
                    <a:p>
                      <a:pPr fontAlgn="t"/>
                      <a:r>
                        <a:rPr lang="en-US" sz="1400">
                          <a:solidFill>
                            <a:srgbClr val="363636"/>
                          </a:solidFill>
                          <a:effectLst/>
                        </a:rPr>
                        <a:t>""</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sz="1400" dirty="0">
                          <a:solidFill>
                            <a:srgbClr val="363636"/>
                          </a:solidFill>
                          <a:effectLst/>
                        </a:rPr>
                        <a:t>Characters enclosed in double quotation marks will be displayed literally.</a:t>
                      </a:r>
                    </a:p>
                  </a:txBody>
                  <a:tcPr marL="22169" marR="44337" marT="17735" marB="17735">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5" name="Rectangle 1"/>
          <p:cNvSpPr>
            <a:spLocks noChangeArrowheads="1"/>
          </p:cNvSpPr>
          <p:nvPr/>
        </p:nvSpPr>
        <p:spPr bwMode="auto">
          <a:xfrm>
            <a:off x="609600" y="846138"/>
            <a:ext cx="8250464" cy="392685"/>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160287"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smtClean="0">
                <a:ln>
                  <a:noFill/>
                </a:ln>
                <a:solidFill>
                  <a:srgbClr val="363636"/>
                </a:solidFill>
                <a:effectLst/>
                <a:latin typeface="Segoe UI" panose="020B0502040204020203" pitchFamily="34" charset="0"/>
                <a:cs typeface="Segoe UI" panose="020B0502040204020203" pitchFamily="34" charset="0"/>
              </a:rPr>
              <a:t>The following table lists the placeholder and literal characters for an input mask and explains how it controls data entry:</a:t>
            </a:r>
            <a:endParaRPr kumimoji="0" lang="en-US" altLang="en-US" sz="1200" b="0" i="0" u="none" strike="noStrike" cap="none" normalizeH="0" baseline="0" dirty="0" smtClean="0">
              <a:ln>
                <a:noFill/>
              </a:ln>
              <a:solidFill>
                <a:schemeClr val="tx1"/>
              </a:solidFill>
              <a:effectLst/>
            </a:endParaRPr>
          </a:p>
        </p:txBody>
      </p:sp>
    </p:spTree>
    <p:extLst>
      <p:ext uri="{BB962C8B-B14F-4D97-AF65-F5344CB8AC3E}">
        <p14:creationId xmlns:p14="http://schemas.microsoft.com/office/powerpoint/2010/main" val="199903375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152400"/>
            <a:ext cx="8229600" cy="1143000"/>
          </a:xfrm>
        </p:spPr>
        <p:txBody>
          <a:bodyPr>
            <a:normAutofit fontScale="90000"/>
          </a:bodyPr>
          <a:lstStyle/>
          <a:p>
            <a:r>
              <a:rPr lang="en-US" dirty="0"/>
              <a:t>Add an input mask to a table field</a:t>
            </a:r>
            <a:br>
              <a:rPr lang="en-US" dirty="0"/>
            </a:br>
            <a:endParaRPr lang="en-US" dirty="0"/>
          </a:p>
        </p:txBody>
      </p:sp>
      <p:sp>
        <p:nvSpPr>
          <p:cNvPr id="3" name="Content Placeholder 2"/>
          <p:cNvSpPr>
            <a:spLocks noGrp="1"/>
          </p:cNvSpPr>
          <p:nvPr>
            <p:ph idx="1"/>
          </p:nvPr>
        </p:nvSpPr>
        <p:spPr>
          <a:xfrm>
            <a:off x="304800" y="609600"/>
            <a:ext cx="9067800" cy="5943600"/>
          </a:xfrm>
        </p:spPr>
        <p:txBody>
          <a:bodyPr>
            <a:noAutofit/>
          </a:bodyPr>
          <a:lstStyle/>
          <a:p>
            <a:endParaRPr lang="en-US" sz="1200" dirty="0"/>
          </a:p>
          <a:p>
            <a:r>
              <a:rPr lang="en-US" sz="1800" dirty="0"/>
              <a:t>You can use input masks with fields that are set to the Text, Number (except </a:t>
            </a:r>
            <a:r>
              <a:rPr lang="en-US" sz="1800" dirty="0" err="1"/>
              <a:t>ReplicationID</a:t>
            </a:r>
            <a:r>
              <a:rPr lang="en-US" sz="1800" dirty="0"/>
              <a:t>), Currency, and Date/Time data types.</a:t>
            </a:r>
          </a:p>
          <a:p>
            <a:endParaRPr lang="en-US" sz="1800" dirty="0"/>
          </a:p>
          <a:p>
            <a:r>
              <a:rPr lang="en-US" sz="1800" dirty="0"/>
              <a:t>NOTE: If you use an input mask for a Date/Time field, the Date Picker control becomes unavailable for that field.</a:t>
            </a:r>
          </a:p>
          <a:p>
            <a:pPr marL="0" indent="0">
              <a:spcBef>
                <a:spcPts val="0"/>
              </a:spcBef>
            </a:pPr>
            <a:endParaRPr lang="en-US" sz="1400" dirty="0"/>
          </a:p>
          <a:p>
            <a:pPr marL="0" lvl="2" indent="0">
              <a:spcBef>
                <a:spcPts val="0"/>
              </a:spcBef>
            </a:pPr>
            <a:r>
              <a:rPr lang="en-US" sz="1400" b="1" dirty="0"/>
              <a:t>In the Navigation Pane, right-click the table and click Design View on the shortcut menu.</a:t>
            </a:r>
          </a:p>
          <a:p>
            <a:pPr marL="0" lvl="1" indent="0">
              <a:spcBef>
                <a:spcPts val="0"/>
              </a:spcBef>
            </a:pPr>
            <a:endParaRPr lang="en-US" sz="1400" b="1" dirty="0"/>
          </a:p>
          <a:p>
            <a:pPr marL="0" lvl="2" indent="0">
              <a:spcBef>
                <a:spcPts val="0"/>
              </a:spcBef>
            </a:pPr>
            <a:r>
              <a:rPr lang="en-US" sz="1400" b="1" dirty="0"/>
              <a:t>Click the field where you want to add the input mask.</a:t>
            </a:r>
          </a:p>
          <a:p>
            <a:pPr marL="0" lvl="1" indent="0">
              <a:spcBef>
                <a:spcPts val="0"/>
              </a:spcBef>
            </a:pPr>
            <a:endParaRPr lang="en-US" sz="1400" b="1" dirty="0"/>
          </a:p>
          <a:p>
            <a:pPr marL="0" lvl="2" indent="0">
              <a:spcBef>
                <a:spcPts val="0"/>
              </a:spcBef>
            </a:pPr>
            <a:r>
              <a:rPr lang="en-US" sz="1400" b="1" dirty="0"/>
              <a:t>Under Field Properties, on the General tab, click the Input Mask property box.</a:t>
            </a:r>
          </a:p>
          <a:p>
            <a:pPr marL="0" lvl="1" indent="0">
              <a:spcBef>
                <a:spcPts val="0"/>
              </a:spcBef>
            </a:pPr>
            <a:endParaRPr lang="en-US" sz="1400" b="1" dirty="0"/>
          </a:p>
          <a:p>
            <a:pPr marL="0" lvl="2" indent="0">
              <a:spcBef>
                <a:spcPts val="0"/>
              </a:spcBef>
            </a:pPr>
            <a:r>
              <a:rPr lang="en-US" sz="1400" b="1" dirty="0"/>
              <a:t>Click the Build button  Builder button to start the Input Mask Wizard.</a:t>
            </a:r>
          </a:p>
          <a:p>
            <a:pPr marL="0" lvl="1" indent="0">
              <a:spcBef>
                <a:spcPts val="0"/>
              </a:spcBef>
            </a:pPr>
            <a:endParaRPr lang="en-US" sz="1400" b="1" dirty="0"/>
          </a:p>
          <a:p>
            <a:pPr marL="0" lvl="2" indent="0">
              <a:spcBef>
                <a:spcPts val="0"/>
              </a:spcBef>
            </a:pPr>
            <a:r>
              <a:rPr lang="en-US" sz="1400" b="1" dirty="0"/>
              <a:t>In the Input Mask list, select the type of mask that you want to add.</a:t>
            </a:r>
          </a:p>
          <a:p>
            <a:pPr marL="0" lvl="1" indent="0">
              <a:spcBef>
                <a:spcPts val="0"/>
              </a:spcBef>
            </a:pPr>
            <a:endParaRPr lang="en-US" sz="1400" b="1" dirty="0"/>
          </a:p>
          <a:p>
            <a:pPr marL="0" lvl="2" indent="0">
              <a:spcBef>
                <a:spcPts val="0"/>
              </a:spcBef>
            </a:pPr>
            <a:r>
              <a:rPr lang="en-US" sz="1400" b="1" dirty="0"/>
              <a:t>Input Mask Wizard in Access desktop database</a:t>
            </a:r>
          </a:p>
          <a:p>
            <a:pPr marL="0" lvl="1" indent="0">
              <a:spcBef>
                <a:spcPts val="0"/>
              </a:spcBef>
            </a:pPr>
            <a:endParaRPr lang="en-US" sz="1400" b="1" dirty="0"/>
          </a:p>
          <a:p>
            <a:pPr marL="0" lvl="2" indent="0">
              <a:spcBef>
                <a:spcPts val="0"/>
              </a:spcBef>
            </a:pPr>
            <a:r>
              <a:rPr lang="en-US" sz="1400" b="1" dirty="0"/>
              <a:t>Click Try it and enter data to test how the mask displays.</a:t>
            </a:r>
          </a:p>
          <a:p>
            <a:pPr marL="0" lvl="1" indent="0">
              <a:spcBef>
                <a:spcPts val="0"/>
              </a:spcBef>
            </a:pPr>
            <a:endParaRPr lang="en-US" sz="1400" b="1" dirty="0"/>
          </a:p>
          <a:p>
            <a:pPr marL="0" lvl="2" indent="0">
              <a:spcBef>
                <a:spcPts val="0"/>
              </a:spcBef>
            </a:pPr>
            <a:r>
              <a:rPr lang="en-US" sz="1400" b="1" dirty="0"/>
              <a:t>To keep the input mask without any changes, click Next.</a:t>
            </a:r>
          </a:p>
          <a:p>
            <a:pPr marL="0" lvl="1" indent="0">
              <a:spcBef>
                <a:spcPts val="0"/>
              </a:spcBef>
            </a:pPr>
            <a:endParaRPr lang="en-US" sz="1400" b="1" dirty="0"/>
          </a:p>
          <a:p>
            <a:pPr marL="0" lvl="2" indent="0">
              <a:spcBef>
                <a:spcPts val="0"/>
              </a:spcBef>
            </a:pPr>
            <a:r>
              <a:rPr lang="en-US" sz="1400" b="1" dirty="0"/>
              <a:t>Select an option for how you want the data to be stored.</a:t>
            </a:r>
          </a:p>
          <a:p>
            <a:pPr marL="0" lvl="1" indent="0">
              <a:spcBef>
                <a:spcPts val="0"/>
              </a:spcBef>
            </a:pPr>
            <a:endParaRPr lang="en-US" sz="1400" b="1" dirty="0"/>
          </a:p>
          <a:p>
            <a:pPr marL="0" lvl="2" indent="0">
              <a:spcBef>
                <a:spcPts val="0"/>
              </a:spcBef>
            </a:pPr>
            <a:r>
              <a:rPr lang="en-US" sz="1400" b="1" dirty="0"/>
              <a:t>Click Finish and save your changes</a:t>
            </a:r>
            <a:r>
              <a:rPr lang="en-US" sz="1400" dirty="0"/>
              <a:t>.</a:t>
            </a:r>
          </a:p>
        </p:txBody>
      </p:sp>
    </p:spTree>
    <p:extLst>
      <p:ext uri="{BB962C8B-B14F-4D97-AF65-F5344CB8AC3E}">
        <p14:creationId xmlns:p14="http://schemas.microsoft.com/office/powerpoint/2010/main" val="62049162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 an input mask to a table field</a:t>
            </a:r>
          </a:p>
        </p:txBody>
      </p:sp>
      <p:sp>
        <p:nvSpPr>
          <p:cNvPr id="3" name="Content Placeholder 2"/>
          <p:cNvSpPr>
            <a:spLocks noGrp="1"/>
          </p:cNvSpPr>
          <p:nvPr>
            <p:ph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838200" y="1068571"/>
            <a:ext cx="6477000" cy="5573233"/>
          </a:xfrm>
          <a:prstGeom prst="rect">
            <a:avLst/>
          </a:prstGeom>
        </p:spPr>
      </p:pic>
    </p:spTree>
    <p:extLst>
      <p:ext uri="{BB962C8B-B14F-4D97-AF65-F5344CB8AC3E}">
        <p14:creationId xmlns:p14="http://schemas.microsoft.com/office/powerpoint/2010/main" val="225190921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To Create an Input Mask for a Field:</a:t>
            </a:r>
            <a:endParaRPr lang="en-US" dirty="0"/>
          </a:p>
        </p:txBody>
      </p:sp>
      <p:sp>
        <p:nvSpPr>
          <p:cNvPr id="3" name="Content Placeholder 2"/>
          <p:cNvSpPr>
            <a:spLocks noGrp="1"/>
          </p:cNvSpPr>
          <p:nvPr>
            <p:ph idx="1"/>
          </p:nvPr>
        </p:nvSpPr>
        <p:spPr/>
        <p:txBody>
          <a:bodyPr>
            <a:normAutofit fontScale="77500" lnSpcReduction="20000"/>
          </a:bodyPr>
          <a:lstStyle/>
          <a:p>
            <a:pPr marL="514350" indent="-514350">
              <a:buFont typeface="+mj-lt"/>
              <a:buAutoNum type="arabicPeriod"/>
            </a:pPr>
            <a:r>
              <a:rPr lang="en-US" dirty="0"/>
              <a:t>In Design View, click in a field for which you’d like to apply an input </a:t>
            </a:r>
            <a:r>
              <a:rPr lang="en-US" dirty="0" smtClean="0"/>
              <a:t>mask</a:t>
            </a:r>
          </a:p>
          <a:p>
            <a:pPr marL="514350" indent="-514350">
              <a:buFont typeface="+mj-lt"/>
              <a:buAutoNum type="arabicPeriod"/>
            </a:pPr>
            <a:r>
              <a:rPr lang="en-US" dirty="0" smtClean="0"/>
              <a:t>In </a:t>
            </a:r>
            <a:r>
              <a:rPr lang="en-US" dirty="0"/>
              <a:t>the Field Properties section at the bottom of the screen, click in the Input Mask line </a:t>
            </a:r>
            <a:r>
              <a:rPr lang="en-US" dirty="0" smtClean="0"/>
              <a:t>and notice </a:t>
            </a:r>
            <a:r>
              <a:rPr lang="en-US" dirty="0"/>
              <a:t>the Build button that appears at the right end of the </a:t>
            </a:r>
            <a:r>
              <a:rPr lang="en-US" dirty="0" smtClean="0"/>
              <a:t>line (shown next slide).</a:t>
            </a:r>
          </a:p>
          <a:p>
            <a:pPr marL="514350" indent="-514350">
              <a:buFont typeface="+mj-lt"/>
              <a:buAutoNum type="arabicPeriod"/>
            </a:pPr>
            <a:r>
              <a:rPr lang="en-US" dirty="0"/>
              <a:t>Click the Build button to start the Input Mask Wizard (</a:t>
            </a:r>
            <a:r>
              <a:rPr lang="en-US" dirty="0" smtClean="0"/>
              <a:t>shown next slide).</a:t>
            </a:r>
          </a:p>
          <a:p>
            <a:pPr marL="514350" indent="-514350">
              <a:buFont typeface="+mj-lt"/>
              <a:buAutoNum type="arabicPeriod"/>
            </a:pPr>
            <a:r>
              <a:rPr lang="en-US" dirty="0" smtClean="0"/>
              <a:t>Select </a:t>
            </a:r>
            <a:r>
              <a:rPr lang="en-US" dirty="0"/>
              <a:t>the appropriate input </a:t>
            </a:r>
            <a:r>
              <a:rPr lang="en-US" dirty="0" smtClean="0"/>
              <a:t>mask</a:t>
            </a:r>
          </a:p>
          <a:p>
            <a:pPr marL="514350" indent="-514350">
              <a:buFont typeface="+mj-lt"/>
              <a:buAutoNum type="arabicPeriod"/>
            </a:pPr>
            <a:r>
              <a:rPr lang="en-US" dirty="0" smtClean="0"/>
              <a:t>Click Next</a:t>
            </a:r>
          </a:p>
          <a:p>
            <a:pPr marL="514350" indent="-514350">
              <a:buFont typeface="+mj-lt"/>
              <a:buAutoNum type="arabicPeriod"/>
            </a:pPr>
            <a:r>
              <a:rPr lang="en-US" dirty="0" smtClean="0"/>
              <a:t>Click </a:t>
            </a:r>
            <a:r>
              <a:rPr lang="en-US" dirty="0"/>
              <a:t>Next for additional screens on which you can set options for the input </a:t>
            </a:r>
            <a:r>
              <a:rPr lang="en-US" dirty="0" smtClean="0"/>
              <a:t>mask</a:t>
            </a:r>
          </a:p>
          <a:p>
            <a:pPr marL="514350" indent="-514350">
              <a:buFont typeface="+mj-lt"/>
              <a:buAutoNum type="arabicPeriod"/>
            </a:pPr>
            <a:r>
              <a:rPr lang="en-US" dirty="0" smtClean="0"/>
              <a:t>Click </a:t>
            </a:r>
            <a:r>
              <a:rPr lang="en-US" dirty="0"/>
              <a:t>Finish on the last screen of the input mask wizard</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Create custom input masks</a:t>
            </a:r>
            <a:br>
              <a:rPr lang="en-US" dirty="0"/>
            </a:br>
            <a:endParaRPr lang="en-US" dirty="0"/>
          </a:p>
        </p:txBody>
      </p:sp>
      <p:sp>
        <p:nvSpPr>
          <p:cNvPr id="3" name="Content Placeholder 2"/>
          <p:cNvSpPr>
            <a:spLocks noGrp="1"/>
          </p:cNvSpPr>
          <p:nvPr>
            <p:ph idx="1"/>
          </p:nvPr>
        </p:nvSpPr>
        <p:spPr/>
        <p:txBody>
          <a:bodyPr/>
          <a:lstStyle/>
          <a:p>
            <a:pPr marL="457200" lvl="0" indent="-457200">
              <a:buFont typeface="+mj-lt"/>
              <a:buAutoNum type="arabicPeriod"/>
            </a:pPr>
            <a:r>
              <a:rPr lang="en-US" altLang="en-US" sz="2000" dirty="0">
                <a:solidFill>
                  <a:srgbClr val="363636"/>
                </a:solidFill>
                <a:latin typeface="Segoe UI" panose="020B0502040204020203" pitchFamily="34" charset="0"/>
                <a:cs typeface="Segoe UI" panose="020B0502040204020203" pitchFamily="34" charset="0"/>
              </a:rPr>
              <a:t>Open the object in Design View, and click the field where you want to add the custom input mask</a:t>
            </a:r>
            <a:r>
              <a:rPr lang="en-US" altLang="en-US" sz="2000" dirty="0" smtClean="0">
                <a:solidFill>
                  <a:srgbClr val="363636"/>
                </a:solidFill>
                <a:latin typeface="Segoe UI" panose="020B0502040204020203" pitchFamily="34" charset="0"/>
                <a:cs typeface="Segoe UI" panose="020B0502040204020203" pitchFamily="34" charset="0"/>
              </a:rPr>
              <a:t>.</a:t>
            </a:r>
          </a:p>
          <a:p>
            <a:pPr marL="457200" indent="-457200">
              <a:buFont typeface="+mj-lt"/>
              <a:buAutoNum type="arabicPeriod"/>
            </a:pPr>
            <a:r>
              <a:rPr lang="en-US" altLang="en-US" sz="2000" dirty="0">
                <a:solidFill>
                  <a:srgbClr val="363636"/>
                </a:solidFill>
                <a:latin typeface="Segoe UI" panose="020B0502040204020203" pitchFamily="34" charset="0"/>
                <a:cs typeface="Segoe UI" panose="020B0502040204020203" pitchFamily="34" charset="0"/>
              </a:rPr>
              <a:t>Click the </a:t>
            </a:r>
            <a:r>
              <a:rPr lang="en-US" altLang="en-US" sz="2000" b="1" dirty="0">
                <a:solidFill>
                  <a:srgbClr val="363636"/>
                </a:solidFill>
                <a:latin typeface="Segoe UI" panose="020B0502040204020203" pitchFamily="34" charset="0"/>
                <a:cs typeface="Segoe UI" panose="020B0502040204020203" pitchFamily="34" charset="0"/>
              </a:rPr>
              <a:t>Build</a:t>
            </a:r>
            <a:r>
              <a:rPr lang="en-US" altLang="en-US" sz="2000" dirty="0">
                <a:solidFill>
                  <a:srgbClr val="363636"/>
                </a:solidFill>
                <a:latin typeface="Segoe UI" panose="020B0502040204020203" pitchFamily="34" charset="0"/>
                <a:cs typeface="Segoe UI" panose="020B0502040204020203" pitchFamily="34" charset="0"/>
              </a:rPr>
              <a:t>    to start the Input Mask </a:t>
            </a:r>
            <a:r>
              <a:rPr lang="en-US" altLang="en-US" sz="2000" dirty="0" smtClean="0">
                <a:solidFill>
                  <a:srgbClr val="363636"/>
                </a:solidFill>
                <a:latin typeface="Segoe UI" panose="020B0502040204020203" pitchFamily="34" charset="0"/>
                <a:cs typeface="Segoe UI" panose="020B0502040204020203" pitchFamily="34" charset="0"/>
              </a:rPr>
              <a:t>Wizard.</a:t>
            </a:r>
          </a:p>
          <a:p>
            <a:pPr marL="457200" indent="-457200">
              <a:buFont typeface="+mj-lt"/>
              <a:buAutoNum type="arabicPeriod"/>
            </a:pPr>
            <a:r>
              <a:rPr lang="en-US" altLang="en-US" sz="2000" dirty="0" smtClean="0">
                <a:solidFill>
                  <a:srgbClr val="363636"/>
                </a:solidFill>
                <a:latin typeface="Segoe UI" panose="020B0502040204020203" pitchFamily="34" charset="0"/>
                <a:cs typeface="Segoe UI" panose="020B0502040204020203" pitchFamily="34" charset="0"/>
              </a:rPr>
              <a:t>Click</a:t>
            </a:r>
            <a:r>
              <a:rPr lang="en-US" altLang="en-US" sz="2000" dirty="0">
                <a:solidFill>
                  <a:srgbClr val="363636"/>
                </a:solidFill>
                <a:latin typeface="Segoe UI" panose="020B0502040204020203" pitchFamily="34" charset="0"/>
                <a:cs typeface="Segoe UI" panose="020B0502040204020203" pitchFamily="34" charset="0"/>
              </a:rPr>
              <a:t> </a:t>
            </a:r>
            <a:r>
              <a:rPr lang="en-US" altLang="en-US" sz="2000" b="1" dirty="0">
                <a:solidFill>
                  <a:srgbClr val="363636"/>
                </a:solidFill>
                <a:latin typeface="Segoe UI" panose="020B0502040204020203" pitchFamily="34" charset="0"/>
                <a:cs typeface="Segoe UI" panose="020B0502040204020203" pitchFamily="34" charset="0"/>
              </a:rPr>
              <a:t>Edit </a:t>
            </a:r>
            <a:r>
              <a:rPr lang="en-US" altLang="en-US" sz="2000" b="1" dirty="0" smtClean="0">
                <a:solidFill>
                  <a:srgbClr val="363636"/>
                </a:solidFill>
                <a:latin typeface="Segoe UI" panose="020B0502040204020203" pitchFamily="34" charset="0"/>
                <a:cs typeface="Segoe UI" panose="020B0502040204020203" pitchFamily="34" charset="0"/>
              </a:rPr>
              <a:t>List</a:t>
            </a:r>
            <a:r>
              <a:rPr lang="en-US" altLang="en-US" sz="2000" dirty="0" smtClean="0">
                <a:solidFill>
                  <a:srgbClr val="363636"/>
                </a:solidFill>
                <a:latin typeface="Segoe UI" panose="020B0502040204020203" pitchFamily="34" charset="0"/>
                <a:cs typeface="Segoe UI" panose="020B0502040204020203" pitchFamily="34" charset="0"/>
              </a:rPr>
              <a:t>.  The</a:t>
            </a:r>
            <a:r>
              <a:rPr lang="en-US" altLang="en-US" sz="2000" dirty="0">
                <a:solidFill>
                  <a:srgbClr val="363636"/>
                </a:solidFill>
                <a:latin typeface="Segoe UI" panose="020B0502040204020203" pitchFamily="34" charset="0"/>
                <a:cs typeface="Segoe UI" panose="020B0502040204020203" pitchFamily="34" charset="0"/>
              </a:rPr>
              <a:t> </a:t>
            </a:r>
            <a:r>
              <a:rPr lang="en-US" altLang="en-US" sz="2000" b="1" dirty="0">
                <a:solidFill>
                  <a:srgbClr val="363636"/>
                </a:solidFill>
                <a:latin typeface="Segoe UI" panose="020B0502040204020203" pitchFamily="34" charset="0"/>
                <a:cs typeface="Segoe UI" panose="020B0502040204020203" pitchFamily="34" charset="0"/>
              </a:rPr>
              <a:t>Customize Input Mask Wizard</a:t>
            </a:r>
            <a:r>
              <a:rPr lang="en-US" altLang="en-US" sz="2000" dirty="0">
                <a:solidFill>
                  <a:srgbClr val="363636"/>
                </a:solidFill>
                <a:latin typeface="Segoe UI" panose="020B0502040204020203" pitchFamily="34" charset="0"/>
                <a:cs typeface="Segoe UI" panose="020B0502040204020203" pitchFamily="34" charset="0"/>
              </a:rPr>
              <a:t> dialog box </a:t>
            </a:r>
            <a:r>
              <a:rPr lang="en-US" altLang="en-US" sz="2000" dirty="0" smtClean="0">
                <a:solidFill>
                  <a:srgbClr val="363636"/>
                </a:solidFill>
                <a:latin typeface="Segoe UI" panose="020B0502040204020203" pitchFamily="34" charset="0"/>
                <a:cs typeface="Segoe UI" panose="020B0502040204020203" pitchFamily="34" charset="0"/>
              </a:rPr>
              <a:t>appears.</a:t>
            </a:r>
          </a:p>
          <a:p>
            <a:pPr marL="457200" indent="-457200">
              <a:buFont typeface="+mj-lt"/>
              <a:buAutoNum type="arabicPeriod"/>
            </a:pPr>
            <a:r>
              <a:rPr lang="en-US" sz="2000" dirty="0" smtClean="0">
                <a:solidFill>
                  <a:srgbClr val="363636"/>
                </a:solidFill>
                <a:latin typeface="Segoe UI" panose="020B0502040204020203" pitchFamily="34" charset="0"/>
                <a:cs typeface="Segoe UI" panose="020B0502040204020203" pitchFamily="34" charset="0"/>
              </a:rPr>
              <a:t>Enter </a:t>
            </a:r>
            <a:r>
              <a:rPr lang="en-US" sz="2000" dirty="0">
                <a:solidFill>
                  <a:srgbClr val="363636"/>
                </a:solidFill>
                <a:latin typeface="Segoe UI" panose="020B0502040204020203" pitchFamily="34" charset="0"/>
                <a:cs typeface="Segoe UI" panose="020B0502040204020203" pitchFamily="34" charset="0"/>
              </a:rPr>
              <a:t>a new description in the Description text box using characters and placeholders from the </a:t>
            </a:r>
            <a:r>
              <a:rPr lang="en-US" sz="2000" dirty="0">
                <a:solidFill>
                  <a:srgbClr val="363636"/>
                </a:solidFill>
                <a:latin typeface="Segoe UI" panose="020B0502040204020203" pitchFamily="34" charset="0"/>
                <a:cs typeface="Segoe UI" panose="020B0502040204020203" pitchFamily="34" charset="0"/>
                <a:hlinkClick r:id="rId2" tooltip="table"/>
              </a:rPr>
              <a:t>table</a:t>
            </a:r>
            <a:r>
              <a:rPr lang="en-US" sz="2000" dirty="0" smtClean="0">
                <a:solidFill>
                  <a:srgbClr val="363636"/>
                </a:solidFill>
                <a:latin typeface="Segoe UI" panose="020B0502040204020203" pitchFamily="34" charset="0"/>
                <a:cs typeface="Segoe UI" panose="020B0502040204020203" pitchFamily="34" charset="0"/>
              </a:rPr>
              <a:t>.</a:t>
            </a:r>
          </a:p>
          <a:p>
            <a:pPr marL="457200" indent="-457200">
              <a:buFont typeface="+mj-lt"/>
              <a:buAutoNum type="arabicPeriod"/>
            </a:pPr>
            <a:r>
              <a:rPr lang="en-US" sz="2000" dirty="0"/>
              <a:t>Click the </a:t>
            </a:r>
            <a:r>
              <a:rPr lang="en-US" sz="2000" b="1" dirty="0"/>
              <a:t>Mask Type</a:t>
            </a:r>
            <a:r>
              <a:rPr lang="en-US" sz="2000" dirty="0"/>
              <a:t> down arrow and select a suitable mask type</a:t>
            </a:r>
            <a:r>
              <a:rPr lang="en-US" sz="2000" dirty="0" smtClean="0"/>
              <a:t>.</a:t>
            </a:r>
          </a:p>
          <a:p>
            <a:pPr marL="457200" indent="-457200">
              <a:buFont typeface="+mj-lt"/>
              <a:buAutoNum type="arabicPeriod"/>
            </a:pPr>
            <a:r>
              <a:rPr lang="en-US" sz="2000" dirty="0"/>
              <a:t>Click </a:t>
            </a:r>
            <a:r>
              <a:rPr lang="en-US" sz="2000" b="1" dirty="0"/>
              <a:t>Close</a:t>
            </a:r>
            <a:r>
              <a:rPr lang="en-US" sz="2000" dirty="0"/>
              <a:t>. The new input mask displays in the list.</a:t>
            </a:r>
            <a:endParaRPr lang="en-US" sz="2000" dirty="0">
              <a:solidFill>
                <a:srgbClr val="363636"/>
              </a:solidFill>
              <a:latin typeface="Segoe UI" panose="020B0502040204020203" pitchFamily="34" charset="0"/>
              <a:cs typeface="Segoe UI" panose="020B0502040204020203" pitchFamily="34" charset="0"/>
            </a:endParaRPr>
          </a:p>
        </p:txBody>
      </p:sp>
      <p:pic>
        <p:nvPicPr>
          <p:cNvPr id="1026" name="Picture 2" descr="Builder butto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58525" y="-1568450"/>
            <a:ext cx="200025" cy="190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6340635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3212149244"/>
              </p:ext>
            </p:extLst>
          </p:nvPr>
        </p:nvGraphicFramePr>
        <p:xfrm>
          <a:off x="228600" y="1600199"/>
          <a:ext cx="8839200" cy="4582088"/>
        </p:xfrm>
        <a:graphic>
          <a:graphicData uri="http://schemas.openxmlformats.org/drawingml/2006/table">
            <a:tbl>
              <a:tblPr/>
              <a:tblGrid>
                <a:gridCol w="2057400"/>
                <a:gridCol w="2590800"/>
                <a:gridCol w="4191000"/>
              </a:tblGrid>
              <a:tr h="145655">
                <a:tc>
                  <a:txBody>
                    <a:bodyPr/>
                    <a:lstStyle/>
                    <a:p>
                      <a:pPr fontAlgn="t"/>
                      <a:r>
                        <a:rPr lang="en-US" sz="1600" b="1" dirty="0">
                          <a:solidFill>
                            <a:srgbClr val="363636"/>
                          </a:solidFill>
                          <a:effectLst/>
                        </a:rPr>
                        <a:t>This input mask</a:t>
                      </a:r>
                      <a:endParaRPr lang="en-US" sz="1600" dirty="0">
                        <a:solidFill>
                          <a:srgbClr val="363636"/>
                        </a:solidFill>
                        <a:effectLst/>
                      </a:endParaRP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8D8D8"/>
                    </a:solidFill>
                  </a:tcPr>
                </a:tc>
                <a:tc>
                  <a:txBody>
                    <a:bodyPr/>
                    <a:lstStyle/>
                    <a:p>
                      <a:pPr fontAlgn="t"/>
                      <a:r>
                        <a:rPr lang="en-US" sz="1600" b="1">
                          <a:solidFill>
                            <a:srgbClr val="363636"/>
                          </a:solidFill>
                          <a:effectLst/>
                        </a:rPr>
                        <a:t>Provides this type of value</a:t>
                      </a:r>
                      <a:endParaRPr lang="en-US" sz="1600">
                        <a:solidFill>
                          <a:srgbClr val="363636"/>
                        </a:solidFill>
                        <a:effectLst/>
                      </a:endParaRP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8D8D8"/>
                    </a:solidFill>
                  </a:tcPr>
                </a:tc>
                <a:tc>
                  <a:txBody>
                    <a:bodyPr/>
                    <a:lstStyle/>
                    <a:p>
                      <a:pPr fontAlgn="t"/>
                      <a:r>
                        <a:rPr lang="en-US" sz="1600" b="1" dirty="0">
                          <a:solidFill>
                            <a:srgbClr val="363636"/>
                          </a:solidFill>
                          <a:effectLst/>
                        </a:rPr>
                        <a:t>Notes</a:t>
                      </a:r>
                      <a:endParaRPr lang="en-US" sz="1600" dirty="0">
                        <a:solidFill>
                          <a:srgbClr val="363636"/>
                        </a:solidFill>
                        <a:effectLst/>
                      </a:endParaRP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D8D8D8"/>
                    </a:solidFill>
                  </a:tcPr>
                </a:tc>
              </a:tr>
              <a:tr h="465386">
                <a:tc>
                  <a:txBody>
                    <a:bodyPr/>
                    <a:lstStyle/>
                    <a:p>
                      <a:pPr fontAlgn="t"/>
                      <a:r>
                        <a:rPr lang="en-US" sz="2000" dirty="0">
                          <a:solidFill>
                            <a:srgbClr val="363636"/>
                          </a:solidFill>
                          <a:effectLst/>
                        </a:rPr>
                        <a:t>(000) 000-0000</a:t>
                      </a: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sz="2000">
                          <a:solidFill>
                            <a:srgbClr val="363636"/>
                          </a:solidFill>
                          <a:effectLst/>
                        </a:rPr>
                        <a:t>(206) 555-0199</a:t>
                      </a: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sz="2000">
                          <a:solidFill>
                            <a:srgbClr val="363636"/>
                          </a:solidFill>
                          <a:effectLst/>
                        </a:rPr>
                        <a:t>In this case, you must enter an area code because that section of the mask (000, enclosed in parentheses) uses the 0 placeholder.</a:t>
                      </a: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529332">
                <a:tc>
                  <a:txBody>
                    <a:bodyPr/>
                    <a:lstStyle/>
                    <a:p>
                      <a:pPr fontAlgn="t"/>
                      <a:r>
                        <a:rPr lang="en-US" sz="2000" dirty="0">
                          <a:solidFill>
                            <a:srgbClr val="363636"/>
                          </a:solidFill>
                          <a:effectLst/>
                        </a:rPr>
                        <a:t>(999) 000-0000!</a:t>
                      </a: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c>
                  <a:txBody>
                    <a:bodyPr/>
                    <a:lstStyle/>
                    <a:p>
                      <a:pPr fontAlgn="t"/>
                      <a:r>
                        <a:rPr lang="en-US" sz="2000">
                          <a:solidFill>
                            <a:srgbClr val="363636"/>
                          </a:solidFill>
                          <a:effectLst/>
                        </a:rPr>
                        <a:t>(206) 555-0199</a:t>
                      </a:r>
                      <a:br>
                        <a:rPr lang="en-US" sz="2000">
                          <a:solidFill>
                            <a:srgbClr val="363636"/>
                          </a:solidFill>
                          <a:effectLst/>
                        </a:rPr>
                      </a:br>
                      <a:r>
                        <a:rPr lang="en-US" sz="2000">
                          <a:solidFill>
                            <a:srgbClr val="363636"/>
                          </a:solidFill>
                          <a:effectLst/>
                        </a:rPr>
                        <a:t>( ) 555-0199</a:t>
                      </a: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c>
                  <a:txBody>
                    <a:bodyPr/>
                    <a:lstStyle/>
                    <a:p>
                      <a:pPr fontAlgn="t"/>
                      <a:r>
                        <a:rPr lang="en-US" sz="2000">
                          <a:solidFill>
                            <a:srgbClr val="363636"/>
                          </a:solidFill>
                          <a:effectLst/>
                        </a:rPr>
                        <a:t>In this case, the area code section uses the 9 placeholder, so area codes are optional. Also, the exclamation point (!) causes the mask to fill in from left to right.</a:t>
                      </a: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r>
              <a:tr h="593278">
                <a:tc>
                  <a:txBody>
                    <a:bodyPr/>
                    <a:lstStyle/>
                    <a:p>
                      <a:pPr fontAlgn="t"/>
                      <a:r>
                        <a:rPr lang="en-US" sz="2000" dirty="0">
                          <a:solidFill>
                            <a:srgbClr val="363636"/>
                          </a:solidFill>
                          <a:effectLst/>
                        </a:rPr>
                        <a:t>(000) AAA-AAAA</a:t>
                      </a: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sz="2000">
                          <a:solidFill>
                            <a:srgbClr val="363636"/>
                          </a:solidFill>
                          <a:effectLst/>
                        </a:rPr>
                        <a:t>(206) 555-TELE</a:t>
                      </a: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sz="2000" dirty="0">
                          <a:solidFill>
                            <a:srgbClr val="363636"/>
                          </a:solidFill>
                          <a:effectLst/>
                        </a:rPr>
                        <a:t>Allows you to substitute the last four digits of a U.S. style phone number with letters. Note the use of the 0 placeholder in the area code section, which makes the area code mandatory.</a:t>
                      </a: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87869445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043472691"/>
              </p:ext>
            </p:extLst>
          </p:nvPr>
        </p:nvGraphicFramePr>
        <p:xfrm>
          <a:off x="457200" y="1600200"/>
          <a:ext cx="8686800" cy="3853710"/>
        </p:xfrm>
        <a:graphic>
          <a:graphicData uri="http://schemas.openxmlformats.org/drawingml/2006/table">
            <a:tbl>
              <a:tblPr/>
              <a:tblGrid>
                <a:gridCol w="2057400"/>
                <a:gridCol w="2590800"/>
                <a:gridCol w="4038600"/>
              </a:tblGrid>
              <a:tr h="465386">
                <a:tc>
                  <a:txBody>
                    <a:bodyPr/>
                    <a:lstStyle/>
                    <a:p>
                      <a:pPr fontAlgn="t"/>
                      <a:r>
                        <a:rPr lang="en-US" sz="1600" b="1" dirty="0">
                          <a:solidFill>
                            <a:srgbClr val="363636"/>
                          </a:solidFill>
                          <a:effectLst/>
                        </a:rPr>
                        <a:t>This input mask</a:t>
                      </a:r>
                      <a:endParaRPr lang="en-US" sz="1600" dirty="0">
                        <a:solidFill>
                          <a:srgbClr val="363636"/>
                        </a:solidFill>
                        <a:effectLst/>
                      </a:endParaRP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c>
                  <a:txBody>
                    <a:bodyPr/>
                    <a:lstStyle/>
                    <a:p>
                      <a:pPr fontAlgn="t"/>
                      <a:r>
                        <a:rPr lang="en-US" sz="1600" b="1">
                          <a:solidFill>
                            <a:srgbClr val="363636"/>
                          </a:solidFill>
                          <a:effectLst/>
                        </a:rPr>
                        <a:t>Provides this type of value</a:t>
                      </a:r>
                      <a:endParaRPr lang="en-US" sz="1600">
                        <a:solidFill>
                          <a:srgbClr val="363636"/>
                        </a:solidFill>
                        <a:effectLst/>
                      </a:endParaRP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c>
                  <a:txBody>
                    <a:bodyPr/>
                    <a:lstStyle/>
                    <a:p>
                      <a:pPr fontAlgn="t"/>
                      <a:r>
                        <a:rPr lang="en-US" sz="1600" b="1" dirty="0">
                          <a:solidFill>
                            <a:srgbClr val="363636"/>
                          </a:solidFill>
                          <a:effectLst/>
                        </a:rPr>
                        <a:t>Notes</a:t>
                      </a:r>
                      <a:endParaRPr lang="en-US" sz="1600" dirty="0">
                        <a:solidFill>
                          <a:srgbClr val="363636"/>
                        </a:solidFill>
                        <a:effectLst/>
                      </a:endParaRP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r>
              <a:tr h="465386">
                <a:tc>
                  <a:txBody>
                    <a:bodyPr/>
                    <a:lstStyle/>
                    <a:p>
                      <a:pPr fontAlgn="t"/>
                      <a:r>
                        <a:rPr lang="en-US" sz="2000" dirty="0">
                          <a:solidFill>
                            <a:srgbClr val="363636"/>
                          </a:solidFill>
                          <a:effectLst/>
                        </a:rPr>
                        <a:t>#999</a:t>
                      </a: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c>
                  <a:txBody>
                    <a:bodyPr/>
                    <a:lstStyle/>
                    <a:p>
                      <a:pPr fontAlgn="t"/>
                      <a:r>
                        <a:rPr lang="en-US" sz="2000" dirty="0">
                          <a:solidFill>
                            <a:srgbClr val="363636"/>
                          </a:solidFill>
                          <a:effectLst/>
                        </a:rPr>
                        <a:t>-20</a:t>
                      </a:r>
                      <a:br>
                        <a:rPr lang="en-US" sz="2000" dirty="0">
                          <a:solidFill>
                            <a:srgbClr val="363636"/>
                          </a:solidFill>
                          <a:effectLst/>
                        </a:rPr>
                      </a:br>
                      <a:r>
                        <a:rPr lang="en-US" sz="2000" dirty="0">
                          <a:solidFill>
                            <a:srgbClr val="363636"/>
                          </a:solidFill>
                          <a:effectLst/>
                        </a:rPr>
                        <a:t>2000</a:t>
                      </a: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c>
                  <a:txBody>
                    <a:bodyPr/>
                    <a:lstStyle/>
                    <a:p>
                      <a:pPr fontAlgn="t"/>
                      <a:r>
                        <a:rPr lang="en-US" sz="2000">
                          <a:solidFill>
                            <a:srgbClr val="363636"/>
                          </a:solidFill>
                          <a:effectLst/>
                        </a:rPr>
                        <a:t>Any positive or negative number, no more than four characters, and with no thousands separator or decimal places.</a:t>
                      </a: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r>
              <a:tr h="785116">
                <a:tc>
                  <a:txBody>
                    <a:bodyPr/>
                    <a:lstStyle/>
                    <a:p>
                      <a:pPr fontAlgn="t"/>
                      <a:r>
                        <a:rPr lang="en-US" sz="2000">
                          <a:solidFill>
                            <a:srgbClr val="363636"/>
                          </a:solidFill>
                          <a:effectLst/>
                        </a:rPr>
                        <a:t>&gt;L????L?000L0</a:t>
                      </a: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sz="2000" dirty="0">
                          <a:solidFill>
                            <a:srgbClr val="363636"/>
                          </a:solidFill>
                          <a:effectLst/>
                        </a:rPr>
                        <a:t>GREENGR339M3</a:t>
                      </a:r>
                      <a:br>
                        <a:rPr lang="en-US" sz="2000" dirty="0">
                          <a:solidFill>
                            <a:srgbClr val="363636"/>
                          </a:solidFill>
                          <a:effectLst/>
                        </a:rPr>
                      </a:br>
                      <a:r>
                        <a:rPr lang="en-US" sz="2000" dirty="0">
                          <a:solidFill>
                            <a:srgbClr val="363636"/>
                          </a:solidFill>
                          <a:effectLst/>
                        </a:rPr>
                        <a:t>MAY R 452B7</a:t>
                      </a: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sz="2000" dirty="0">
                          <a:solidFill>
                            <a:srgbClr val="363636"/>
                          </a:solidFill>
                          <a:effectLst/>
                        </a:rPr>
                        <a:t>A combination of mandatory (L) and optional (?) letters and mandatory numbers (0). The greater-than sign forces users to enter all letters in uppercase. To use an input mask of this type, you must set the data type for the table field to </a:t>
                      </a:r>
                      <a:r>
                        <a:rPr lang="en-US" sz="2000" b="1" dirty="0">
                          <a:solidFill>
                            <a:srgbClr val="363636"/>
                          </a:solidFill>
                          <a:effectLst/>
                        </a:rPr>
                        <a:t>Text</a:t>
                      </a:r>
                      <a:r>
                        <a:rPr lang="en-US" sz="2000" dirty="0">
                          <a:solidFill>
                            <a:srgbClr val="363636"/>
                          </a:solidFill>
                          <a:effectLst/>
                        </a:rPr>
                        <a:t> or </a:t>
                      </a:r>
                      <a:r>
                        <a:rPr lang="en-US" sz="2000" b="1" dirty="0">
                          <a:solidFill>
                            <a:srgbClr val="363636"/>
                          </a:solidFill>
                          <a:effectLst/>
                        </a:rPr>
                        <a:t>Memo</a:t>
                      </a:r>
                      <a:r>
                        <a:rPr lang="en-US" sz="2000" dirty="0">
                          <a:solidFill>
                            <a:srgbClr val="363636"/>
                          </a:solidFill>
                          <a:effectLst/>
                        </a:rPr>
                        <a:t>.</a:t>
                      </a: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155011177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3477116"/>
              </p:ext>
            </p:extLst>
          </p:nvPr>
        </p:nvGraphicFramePr>
        <p:xfrm>
          <a:off x="457200" y="1600200"/>
          <a:ext cx="8610600" cy="4295050"/>
        </p:xfrm>
        <a:graphic>
          <a:graphicData uri="http://schemas.openxmlformats.org/drawingml/2006/table">
            <a:tbl>
              <a:tblPr/>
              <a:tblGrid>
                <a:gridCol w="2057400"/>
                <a:gridCol w="2590800"/>
                <a:gridCol w="3962400"/>
              </a:tblGrid>
              <a:tr h="209601">
                <a:tc>
                  <a:txBody>
                    <a:bodyPr/>
                    <a:lstStyle/>
                    <a:p>
                      <a:pPr fontAlgn="t"/>
                      <a:r>
                        <a:rPr lang="en-US" sz="1600" b="1" dirty="0">
                          <a:solidFill>
                            <a:srgbClr val="363636"/>
                          </a:solidFill>
                          <a:effectLst/>
                        </a:rPr>
                        <a:t>This input mask</a:t>
                      </a:r>
                      <a:endParaRPr lang="en-US" sz="1600" dirty="0">
                        <a:solidFill>
                          <a:srgbClr val="363636"/>
                        </a:solidFill>
                        <a:effectLst/>
                      </a:endParaRP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c>
                  <a:txBody>
                    <a:bodyPr/>
                    <a:lstStyle/>
                    <a:p>
                      <a:pPr fontAlgn="t"/>
                      <a:r>
                        <a:rPr lang="en-US" sz="1600" b="1">
                          <a:solidFill>
                            <a:srgbClr val="363636"/>
                          </a:solidFill>
                          <a:effectLst/>
                        </a:rPr>
                        <a:t>Provides this type of value</a:t>
                      </a:r>
                      <a:endParaRPr lang="en-US" sz="1600">
                        <a:solidFill>
                          <a:srgbClr val="363636"/>
                        </a:solidFill>
                        <a:effectLst/>
                      </a:endParaRP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c>
                  <a:txBody>
                    <a:bodyPr/>
                    <a:lstStyle/>
                    <a:p>
                      <a:pPr fontAlgn="t"/>
                      <a:r>
                        <a:rPr lang="en-US" sz="1600" b="1" dirty="0">
                          <a:solidFill>
                            <a:srgbClr val="363636"/>
                          </a:solidFill>
                          <a:effectLst/>
                        </a:rPr>
                        <a:t>Notes</a:t>
                      </a:r>
                      <a:endParaRPr lang="en-US" sz="1600" dirty="0">
                        <a:solidFill>
                          <a:srgbClr val="363636"/>
                        </a:solidFill>
                        <a:effectLst/>
                      </a:endParaRP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r>
              <a:tr h="209601">
                <a:tc>
                  <a:txBody>
                    <a:bodyPr/>
                    <a:lstStyle/>
                    <a:p>
                      <a:pPr fontAlgn="t"/>
                      <a:r>
                        <a:rPr lang="en-US" sz="2000" dirty="0">
                          <a:solidFill>
                            <a:srgbClr val="363636"/>
                          </a:solidFill>
                          <a:effectLst/>
                        </a:rPr>
                        <a:t>00000-9999</a:t>
                      </a: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c>
                  <a:txBody>
                    <a:bodyPr/>
                    <a:lstStyle/>
                    <a:p>
                      <a:pPr fontAlgn="t"/>
                      <a:r>
                        <a:rPr lang="en-US" sz="2000" dirty="0">
                          <a:solidFill>
                            <a:srgbClr val="363636"/>
                          </a:solidFill>
                          <a:effectLst/>
                        </a:rPr>
                        <a:t>98115-</a:t>
                      </a:r>
                      <a:br>
                        <a:rPr lang="en-US" sz="2000" dirty="0">
                          <a:solidFill>
                            <a:srgbClr val="363636"/>
                          </a:solidFill>
                          <a:effectLst/>
                        </a:rPr>
                      </a:br>
                      <a:r>
                        <a:rPr lang="en-US" sz="2000" dirty="0">
                          <a:solidFill>
                            <a:srgbClr val="363636"/>
                          </a:solidFill>
                          <a:effectLst/>
                        </a:rPr>
                        <a:t>98115-3007</a:t>
                      </a: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c>
                  <a:txBody>
                    <a:bodyPr/>
                    <a:lstStyle/>
                    <a:p>
                      <a:pPr fontAlgn="t"/>
                      <a:r>
                        <a:rPr lang="en-US" sz="2000" dirty="0">
                          <a:solidFill>
                            <a:srgbClr val="363636"/>
                          </a:solidFill>
                          <a:effectLst/>
                        </a:rPr>
                        <a:t>A mandatory postal code and an optional plus-four section.</a:t>
                      </a: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r>
              <a:tr h="273547">
                <a:tc>
                  <a:txBody>
                    <a:bodyPr/>
                    <a:lstStyle/>
                    <a:p>
                      <a:pPr fontAlgn="t"/>
                      <a:r>
                        <a:rPr lang="en-US" sz="2000" dirty="0">
                          <a:solidFill>
                            <a:srgbClr val="363636"/>
                          </a:solidFill>
                          <a:effectLst/>
                        </a:rPr>
                        <a:t>&gt;L&lt;??????????????</a:t>
                      </a: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sz="2000" dirty="0">
                          <a:solidFill>
                            <a:srgbClr val="363636"/>
                          </a:solidFill>
                          <a:effectLst/>
                        </a:rPr>
                        <a:t>Maria</a:t>
                      </a:r>
                      <a:br>
                        <a:rPr lang="en-US" sz="2000" dirty="0">
                          <a:solidFill>
                            <a:srgbClr val="363636"/>
                          </a:solidFill>
                          <a:effectLst/>
                        </a:rPr>
                      </a:br>
                      <a:r>
                        <a:rPr lang="en-US" sz="2000" dirty="0">
                          <a:solidFill>
                            <a:srgbClr val="363636"/>
                          </a:solidFill>
                          <a:effectLst/>
                        </a:rPr>
                        <a:t>Pierre</a:t>
                      </a: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sz="2000" dirty="0">
                          <a:solidFill>
                            <a:srgbClr val="363636"/>
                          </a:solidFill>
                          <a:effectLst/>
                        </a:rPr>
                        <a:t>A first or last name with the first letter automatically capitalized.</a:t>
                      </a: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465386">
                <a:tc>
                  <a:txBody>
                    <a:bodyPr/>
                    <a:lstStyle/>
                    <a:p>
                      <a:pPr fontAlgn="t"/>
                      <a:r>
                        <a:rPr lang="en-US" sz="2000">
                          <a:solidFill>
                            <a:srgbClr val="363636"/>
                          </a:solidFill>
                          <a:effectLst/>
                        </a:rPr>
                        <a:t>ISBN 0-&amp;&amp;&amp;&amp;&amp;&amp;&amp;&amp;&amp;-0</a:t>
                      </a: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c>
                  <a:txBody>
                    <a:bodyPr/>
                    <a:lstStyle/>
                    <a:p>
                      <a:pPr fontAlgn="t"/>
                      <a:r>
                        <a:rPr lang="en-US" sz="2000" dirty="0">
                          <a:solidFill>
                            <a:srgbClr val="363636"/>
                          </a:solidFill>
                          <a:effectLst/>
                        </a:rPr>
                        <a:t>ISBN 1-55615-507-7</a:t>
                      </a: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c>
                  <a:txBody>
                    <a:bodyPr/>
                    <a:lstStyle/>
                    <a:p>
                      <a:pPr fontAlgn="t"/>
                      <a:r>
                        <a:rPr lang="en-US" sz="2000" dirty="0">
                          <a:solidFill>
                            <a:srgbClr val="363636"/>
                          </a:solidFill>
                          <a:effectLst/>
                        </a:rPr>
                        <a:t>A book number with the literal text, mandatory first and last digits, and any combination of letters and characters between those digits.</a:t>
                      </a: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3F3F3"/>
                    </a:solidFill>
                  </a:tcPr>
                </a:tc>
              </a:tr>
              <a:tr h="593278">
                <a:tc>
                  <a:txBody>
                    <a:bodyPr/>
                    <a:lstStyle/>
                    <a:p>
                      <a:pPr fontAlgn="t"/>
                      <a:r>
                        <a:rPr lang="en-US" sz="2000">
                          <a:solidFill>
                            <a:srgbClr val="363636"/>
                          </a:solidFill>
                          <a:effectLst/>
                        </a:rPr>
                        <a:t>&gt;LL00000-0000</a:t>
                      </a: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sz="2000">
                          <a:solidFill>
                            <a:srgbClr val="363636"/>
                          </a:solidFill>
                          <a:effectLst/>
                        </a:rPr>
                        <a:t>DB51392-0493</a:t>
                      </a: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fontAlgn="t"/>
                      <a:r>
                        <a:rPr lang="en-US" sz="2000" dirty="0">
                          <a:solidFill>
                            <a:srgbClr val="363636"/>
                          </a:solidFill>
                          <a:effectLst/>
                        </a:rPr>
                        <a:t>A combination of mandatory letters and characters, all uppercase. Use this type of input mask, for example, to help users enter part numbers or other forms of inventory correctly.</a:t>
                      </a:r>
                    </a:p>
                  </a:txBody>
                  <a:tcPr marL="11102" marR="22204" marT="8881" marB="8881">
                    <a:lnL>
                      <a:noFill/>
                    </a:lnL>
                    <a:lnR>
                      <a:noFill/>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Tree>
    <p:extLst>
      <p:ext uri="{BB962C8B-B14F-4D97-AF65-F5344CB8AC3E}">
        <p14:creationId xmlns:p14="http://schemas.microsoft.com/office/powerpoint/2010/main" val="165705401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143</TotalTime>
  <Words>1096</Words>
  <Application>Microsoft Office PowerPoint</Application>
  <PresentationFormat>On-screen Show (4:3)</PresentationFormat>
  <Paragraphs>126</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Segoe UI</vt:lpstr>
      <vt:lpstr>wf_segoe-ui_light</vt:lpstr>
      <vt:lpstr>Office Theme</vt:lpstr>
      <vt:lpstr>MS Access 2013</vt:lpstr>
      <vt:lpstr>Input Masks</vt:lpstr>
      <vt:lpstr>The three parts of an input mask</vt:lpstr>
      <vt:lpstr>Characters that define input masks </vt:lpstr>
      <vt:lpstr>Add an input mask to a table field </vt:lpstr>
      <vt:lpstr>Add an input mask to a table field</vt:lpstr>
      <vt:lpstr>To Create an Input Mask for a Field:</vt:lpstr>
      <vt:lpstr>Create custom input masks </vt:lpstr>
      <vt:lpstr>Example</vt:lpstr>
      <vt:lpstr>Example……………….</vt:lpstr>
      <vt:lpstr>Example………………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SRI SETHUPARAN</dc:creator>
  <cp:lastModifiedBy>Admin</cp:lastModifiedBy>
  <cp:revision>9</cp:revision>
  <dcterms:created xsi:type="dcterms:W3CDTF">2016-04-25T18:17:11Z</dcterms:created>
  <dcterms:modified xsi:type="dcterms:W3CDTF">2016-05-04T08:35:50Z</dcterms:modified>
</cp:coreProperties>
</file>