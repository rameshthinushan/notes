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58"/>
  </p:notesMasterIdLst>
  <p:sldIdLst>
    <p:sldId id="304" r:id="rId3"/>
    <p:sldId id="305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19" r:id="rId18"/>
    <p:sldId id="320" r:id="rId19"/>
    <p:sldId id="321" r:id="rId20"/>
    <p:sldId id="322" r:id="rId21"/>
    <p:sldId id="323" r:id="rId22"/>
    <p:sldId id="324" r:id="rId23"/>
    <p:sldId id="325" r:id="rId24"/>
    <p:sldId id="326" r:id="rId25"/>
    <p:sldId id="327" r:id="rId26"/>
    <p:sldId id="328" r:id="rId27"/>
    <p:sldId id="329" r:id="rId28"/>
    <p:sldId id="330" r:id="rId29"/>
    <p:sldId id="331" r:id="rId30"/>
    <p:sldId id="332" r:id="rId31"/>
    <p:sldId id="333" r:id="rId32"/>
    <p:sldId id="334" r:id="rId33"/>
    <p:sldId id="335" r:id="rId34"/>
    <p:sldId id="336" r:id="rId35"/>
    <p:sldId id="337" r:id="rId36"/>
    <p:sldId id="338" r:id="rId37"/>
    <p:sldId id="339" r:id="rId38"/>
    <p:sldId id="340" r:id="rId39"/>
    <p:sldId id="341" r:id="rId40"/>
    <p:sldId id="342" r:id="rId41"/>
    <p:sldId id="343" r:id="rId42"/>
    <p:sldId id="344" r:id="rId43"/>
    <p:sldId id="345" r:id="rId44"/>
    <p:sldId id="346" r:id="rId45"/>
    <p:sldId id="347" r:id="rId46"/>
    <p:sldId id="348" r:id="rId47"/>
    <p:sldId id="349" r:id="rId48"/>
    <p:sldId id="350" r:id="rId49"/>
    <p:sldId id="351" r:id="rId50"/>
    <p:sldId id="352" r:id="rId51"/>
    <p:sldId id="353" r:id="rId52"/>
    <p:sldId id="354" r:id="rId53"/>
    <p:sldId id="267" r:id="rId54"/>
    <p:sldId id="268" r:id="rId55"/>
    <p:sldId id="269" r:id="rId56"/>
    <p:sldId id="303" r:id="rId5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39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23204-145E-4E9A-8825-0DF9FD80C698}" type="datetimeFigureOut">
              <a:rPr lang="en-US" smtClean="0"/>
              <a:pPr/>
              <a:t>6/20/2018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677AEE-D46A-4C91-9543-7FBC6ED44F7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138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E20EDD0-B047-4E8B-B419-2987068AC9C9}" type="slidenum">
              <a:rPr lang="en-US" altLang="en-US" sz="1200" b="0"/>
              <a:pPr eaLnBrk="1" hangingPunct="1"/>
              <a:t>45</a:t>
            </a:fld>
            <a:endParaRPr lang="en-US" altLang="en-US" sz="1200" b="0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mtClean="0"/>
              <a:t>C1 </a:t>
            </a:r>
            <a:r>
              <a:rPr lang="en-US" altLang="en-US" b="1" smtClean="0">
                <a:sym typeface="Symbol" panose="05050102010706020507" pitchFamily="18" charset="2"/>
              </a:rPr>
              <a:t></a:t>
            </a:r>
            <a:r>
              <a:rPr lang="en-US" altLang="en-US" smtClean="0"/>
              <a:t> C2 represents a </a:t>
            </a:r>
            <a:r>
              <a:rPr lang="en-US" altLang="en-US" i="1" smtClean="0"/>
              <a:t>partial dependency</a:t>
            </a:r>
            <a:r>
              <a:rPr lang="en-US" altLang="en-US" smtClean="0"/>
              <a:t>, because C2 depends only on C1, rather than on the entire primary key composed of C1 and C3.</a:t>
            </a:r>
          </a:p>
          <a:p>
            <a:pPr eaLnBrk="1" hangingPunct="1"/>
            <a:r>
              <a:rPr lang="en-US" altLang="en-US" smtClean="0"/>
              <a:t>C4 </a:t>
            </a:r>
            <a:r>
              <a:rPr lang="en-US" altLang="en-US" b="1" smtClean="0">
                <a:sym typeface="Symbol" panose="05050102010706020507" pitchFamily="18" charset="2"/>
              </a:rPr>
              <a:t></a:t>
            </a:r>
            <a:r>
              <a:rPr lang="en-US" altLang="en-US" smtClean="0"/>
              <a:t> C5 represents a </a:t>
            </a:r>
            <a:r>
              <a:rPr lang="en-US" altLang="en-US" i="1" smtClean="0"/>
              <a:t>transitive dependency</a:t>
            </a:r>
            <a:r>
              <a:rPr lang="en-US" altLang="en-US" smtClean="0"/>
              <a:t>, because C5 depends on an attribute (C4) that is not part of a primary key.</a:t>
            </a:r>
          </a:p>
          <a:p>
            <a:pPr eaLnBrk="1" hangingPunct="1"/>
            <a:r>
              <a:rPr lang="en-US" altLang="en-US" smtClean="0"/>
              <a:t>C1, C3  </a:t>
            </a:r>
            <a:r>
              <a:rPr lang="en-US" altLang="en-US" b="1" smtClean="0">
                <a:sym typeface="Symbol" panose="05050102010706020507" pitchFamily="18" charset="2"/>
              </a:rPr>
              <a:t></a:t>
            </a:r>
            <a:r>
              <a:rPr lang="en-US" altLang="en-US" smtClean="0"/>
              <a:t> C2,</a:t>
            </a:r>
            <a:r>
              <a:rPr lang="en-US" altLang="en-US" b="1" smtClean="0"/>
              <a:t> </a:t>
            </a:r>
            <a:r>
              <a:rPr lang="en-US" altLang="en-US" smtClean="0"/>
              <a:t>C4, C5 represents a functional dependency, because C2, C4, and C5 depend on the primary key composed of C1 and C3.</a:t>
            </a:r>
            <a:endParaRPr lang="en-AU" altLang="en-US" smtClean="0"/>
          </a:p>
        </p:txBody>
      </p:sp>
    </p:spTree>
    <p:extLst>
      <p:ext uri="{BB962C8B-B14F-4D97-AF65-F5344CB8AC3E}">
        <p14:creationId xmlns:p14="http://schemas.microsoft.com/office/powerpoint/2010/main" val="1266916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01ED648-35FD-4B1C-A636-1D2D94594748}" type="slidenum">
              <a:rPr lang="en-US" altLang="en-US" sz="1200" b="0"/>
              <a:pPr eaLnBrk="1" hangingPunct="1"/>
              <a:t>51</a:t>
            </a:fld>
            <a:endParaRPr lang="en-US" altLang="en-US" sz="1200" b="0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8575" y="803275"/>
            <a:ext cx="4259263" cy="3194050"/>
          </a:xfrm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350" y="4268788"/>
            <a:ext cx="5064125" cy="3990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smtClean="0"/>
              <a:t>Student results table</a:t>
            </a:r>
          </a:p>
        </p:txBody>
      </p:sp>
    </p:spTree>
    <p:extLst>
      <p:ext uri="{BB962C8B-B14F-4D97-AF65-F5344CB8AC3E}">
        <p14:creationId xmlns:p14="http://schemas.microsoft.com/office/powerpoint/2010/main" val="1294277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9C55-B1F5-4DCD-B44C-56F4D10DFF02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C9F0-F6FA-4EF5-9B02-32D7E772F3DA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24C-E9C5-4837-990A-2D89EDE17F40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1C87-DFFE-40DD-88ED-115007FBF96B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10CCB-6840-48E9-8232-4140365FD666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C12BC-620C-4804-A68B-E5D136F30A82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E3FF4-2F5D-4D00-8619-BEEFC2A769C0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6F5A-D08C-4C6E-9A94-889EC7EE21A6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78FA-CAA3-494E-AE22-6AE9783FAB5B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B3BF-CA00-44EF-B758-B15ECF3DFDAF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D5A7-B666-4055-9430-CD0CBCBD1CF8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9C55-B1F5-4DCD-B44C-56F4D10DFF02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3677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C9F0-F6FA-4EF5-9B02-32D7E772F3DA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0373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24C-E9C5-4837-990A-2D89EDE17F40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060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1C87-DFFE-40DD-88ED-115007FBF96B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8858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10CCB-6840-48E9-8232-4140365FD666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7334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C12BC-620C-4804-A68B-E5D136F30A82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6906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E3FF4-2F5D-4D00-8619-BEEFC2A769C0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1376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6F5A-D08C-4C6E-9A94-889EC7EE21A6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506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78FA-CAA3-494E-AE22-6AE9783FAB5B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436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B3BF-CA00-44EF-B758-B15ECF3DFDAF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546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D5A7-B666-4055-9430-CD0CBCBD1CF8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225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361950"/>
            <a:ext cx="6324600" cy="7048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295400"/>
            <a:ext cx="4267200" cy="5181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267200" cy="5181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849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361950"/>
            <a:ext cx="6324600" cy="7048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28600" y="1295400"/>
            <a:ext cx="8686800" cy="5181600"/>
          </a:xfrm>
        </p:spPr>
        <p:txBody>
          <a:bodyPr/>
          <a:lstStyle/>
          <a:p>
            <a:pPr lvl="0"/>
            <a:endParaRPr lang="en-US" noProof="0" smtClean="0"/>
          </a:p>
        </p:txBody>
      </p:sp>
    </p:spTree>
    <p:extLst>
      <p:ext uri="{BB962C8B-B14F-4D97-AF65-F5344CB8AC3E}">
        <p14:creationId xmlns:p14="http://schemas.microsoft.com/office/powerpoint/2010/main" val="1654041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2FDDB-310E-4072-8B61-ACE857F405FC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2FDDB-310E-4072-8B61-ACE857F405FC}" type="datetime1">
              <a:rPr lang="en-US" smtClean="0"/>
              <a:t>6/20/2018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26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6" r:id="rId12"/>
    <p:sldLayoutId id="2147483687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e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3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0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1.em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6.bin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8000"/>
                </a:solidFill>
              </a:rPr>
              <a:t>Database Design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/>
                <a:ea typeface="Calibri"/>
                <a:cs typeface="Latha"/>
              </a:rPr>
              <a:t>HNDIT 1105 </a:t>
            </a:r>
            <a:r>
              <a:rPr lang="en-US" dirty="0">
                <a:ea typeface="Calibri"/>
                <a:cs typeface="Latha"/>
              </a:rPr>
              <a:t/>
            </a:r>
            <a:br>
              <a:rPr lang="en-US" dirty="0">
                <a:ea typeface="Calibri"/>
                <a:cs typeface="Latha"/>
              </a:rPr>
            </a:br>
            <a:r>
              <a:rPr lang="en-US" dirty="0">
                <a:ea typeface="Calibri"/>
                <a:cs typeface="Latha"/>
              </a:rPr>
              <a:t>DBMS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171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endParaRPr lang="en-US" dirty="0" smtClean="0"/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Database design process can be divided into 6 major steps: </a:t>
            </a:r>
          </a:p>
          <a:p>
            <a:pPr marL="971550" lvl="1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dirty="0" smtClean="0"/>
              <a:t>Requirements Analysis</a:t>
            </a:r>
          </a:p>
          <a:p>
            <a:pPr marL="971550" lvl="1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dirty="0" smtClean="0"/>
              <a:t>Conceptual Database Design</a:t>
            </a:r>
          </a:p>
          <a:p>
            <a:pPr marL="971550" lvl="1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dirty="0" smtClean="0"/>
              <a:t>Logical Database Design</a:t>
            </a:r>
          </a:p>
          <a:p>
            <a:pPr marL="971550" lvl="1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dirty="0" smtClean="0"/>
              <a:t>Schema Refinement</a:t>
            </a:r>
          </a:p>
          <a:p>
            <a:pPr marL="971550" lvl="1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dirty="0" smtClean="0"/>
              <a:t>Physical Database Design</a:t>
            </a:r>
          </a:p>
          <a:p>
            <a:pPr marL="971550" lvl="1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dirty="0" smtClean="0"/>
              <a:t>Security Design</a:t>
            </a: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Database Design</a:t>
            </a:r>
          </a:p>
        </p:txBody>
      </p:sp>
    </p:spTree>
    <p:extLst>
      <p:ext uri="{BB962C8B-B14F-4D97-AF65-F5344CB8AC3E}">
        <p14:creationId xmlns:p14="http://schemas.microsoft.com/office/powerpoint/2010/main" val="4058916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41218"/>
            <a:ext cx="8229600" cy="1143000"/>
          </a:xfrm>
        </p:spPr>
        <p:txBody>
          <a:bodyPr/>
          <a:lstStyle/>
          <a:p>
            <a:pPr eaLnBrk="1" hangingPunct="1"/>
            <a:r>
              <a:rPr lang="en-GB" altLang="en-US" smtClean="0"/>
              <a:t>Introduction</a:t>
            </a:r>
          </a:p>
        </p:txBody>
      </p:sp>
      <p:sp>
        <p:nvSpPr>
          <p:cNvPr id="437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GB" altLang="en-US" sz="2400" dirty="0" smtClean="0"/>
              <a:t>Relations derived from ER model may be ‘faulty’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dirty="0" smtClean="0"/>
              <a:t>Subjective process.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dirty="0" smtClean="0"/>
              <a:t>May cause data redundancy, and insert/delete/update anomalies.</a:t>
            </a:r>
          </a:p>
          <a:p>
            <a:pPr lvl="1" eaLnBrk="1" hangingPunct="1">
              <a:lnSpc>
                <a:spcPct val="90000"/>
              </a:lnSpc>
            </a:pPr>
            <a:endParaRPr lang="en-GB" altLang="en-US" sz="2400" dirty="0" smtClean="0"/>
          </a:p>
          <a:p>
            <a:pPr eaLnBrk="1" hangingPunct="1">
              <a:lnSpc>
                <a:spcPct val="90000"/>
              </a:lnSpc>
            </a:pPr>
            <a:r>
              <a:rPr lang="en-GB" altLang="en-US" sz="2400" dirty="0" smtClean="0"/>
              <a:t>We use some mathematical (semantic?) properties of relations to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dirty="0" smtClean="0"/>
              <a:t>locate these faults and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dirty="0" smtClean="0"/>
              <a:t>fix them</a:t>
            </a:r>
          </a:p>
          <a:p>
            <a:pPr lvl="1" eaLnBrk="1" hangingPunct="1">
              <a:lnSpc>
                <a:spcPct val="90000"/>
              </a:lnSpc>
            </a:pPr>
            <a:endParaRPr lang="en-GB" altLang="en-US" sz="2400" dirty="0" smtClean="0"/>
          </a:p>
          <a:p>
            <a:pPr eaLnBrk="1" hangingPunct="1">
              <a:lnSpc>
                <a:spcPct val="90000"/>
              </a:lnSpc>
            </a:pPr>
            <a:r>
              <a:rPr lang="en-GB" altLang="en-US" sz="2400" dirty="0" smtClean="0"/>
              <a:t>Process is called</a:t>
            </a:r>
            <a:r>
              <a:rPr lang="en-GB" altLang="en-US" sz="2400" dirty="0" smtClean="0">
                <a:solidFill>
                  <a:schemeClr val="accent2"/>
                </a:solidFill>
              </a:rPr>
              <a:t> </a:t>
            </a:r>
            <a:r>
              <a:rPr lang="en-GB" altLang="en-US" sz="2400" b="1" dirty="0" smtClean="0">
                <a:solidFill>
                  <a:srgbClr val="FF33CC"/>
                </a:solidFill>
              </a:rPr>
              <a:t>Normalization.</a:t>
            </a:r>
          </a:p>
        </p:txBody>
      </p:sp>
    </p:spTree>
    <p:extLst>
      <p:ext uri="{BB962C8B-B14F-4D97-AF65-F5344CB8AC3E}">
        <p14:creationId xmlns:p14="http://schemas.microsoft.com/office/powerpoint/2010/main" val="703051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7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7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7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7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37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37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37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37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7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7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37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37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37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37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Data Redundancy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GB" altLang="en-US" sz="2400" dirty="0" smtClean="0"/>
          </a:p>
          <a:p>
            <a:pPr eaLnBrk="1" hangingPunct="1">
              <a:lnSpc>
                <a:spcPct val="90000"/>
              </a:lnSpc>
            </a:pPr>
            <a:r>
              <a:rPr lang="en-GB" altLang="en-US" sz="2400" dirty="0" smtClean="0"/>
              <a:t>Major aim of relational database design is 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200" dirty="0" smtClean="0"/>
              <a:t>to group attributes into relations to minimize data redundancy and 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200" dirty="0" smtClean="0"/>
              <a:t>to reduce file storage space required by base relations.</a:t>
            </a:r>
          </a:p>
          <a:p>
            <a:pPr lvl="1" eaLnBrk="1" hangingPunct="1">
              <a:lnSpc>
                <a:spcPct val="90000"/>
              </a:lnSpc>
            </a:pPr>
            <a:endParaRPr lang="en-GB" altLang="en-US" sz="2200" dirty="0" smtClean="0"/>
          </a:p>
          <a:p>
            <a:pPr eaLnBrk="1" hangingPunct="1">
              <a:lnSpc>
                <a:spcPct val="90000"/>
              </a:lnSpc>
            </a:pPr>
            <a:r>
              <a:rPr lang="en-GB" altLang="en-US" sz="2400" dirty="0" smtClean="0"/>
              <a:t>Data redundancy is undesirable because of the following anomalies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200" dirty="0" smtClean="0">
                <a:latin typeface="Comic Sans MS" panose="030F0702030302020204" pitchFamily="66" charset="0"/>
              </a:rPr>
              <a:t>‘</a:t>
            </a:r>
            <a:r>
              <a:rPr lang="en-GB" altLang="en-US" sz="2200" dirty="0" smtClean="0"/>
              <a:t>Insert</a:t>
            </a:r>
            <a:r>
              <a:rPr lang="en-GB" altLang="en-US" sz="2200" dirty="0" smtClean="0">
                <a:latin typeface="Comic Sans MS" panose="030F0702030302020204" pitchFamily="66" charset="0"/>
              </a:rPr>
              <a:t>’</a:t>
            </a:r>
            <a:r>
              <a:rPr lang="en-GB" altLang="en-US" sz="2200" dirty="0" smtClean="0"/>
              <a:t> anomalies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200" dirty="0" smtClean="0">
                <a:latin typeface="Comic Sans MS" panose="030F0702030302020204" pitchFamily="66" charset="0"/>
              </a:rPr>
              <a:t>‘</a:t>
            </a:r>
            <a:r>
              <a:rPr lang="en-GB" altLang="en-US" sz="2200" dirty="0" smtClean="0"/>
              <a:t>Delete</a:t>
            </a:r>
            <a:r>
              <a:rPr lang="en-GB" altLang="en-US" sz="2200" dirty="0" smtClean="0">
                <a:latin typeface="Comic Sans MS" panose="030F0702030302020204" pitchFamily="66" charset="0"/>
              </a:rPr>
              <a:t>’</a:t>
            </a:r>
            <a:r>
              <a:rPr lang="en-GB" altLang="en-US" sz="2200" dirty="0" smtClean="0"/>
              <a:t> anomalies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200" dirty="0" smtClean="0">
                <a:latin typeface="Comic Sans MS" panose="030F0702030302020204" pitchFamily="66" charset="0"/>
              </a:rPr>
              <a:t>‘</a:t>
            </a:r>
            <a:r>
              <a:rPr lang="en-GB" altLang="en-US" sz="2200" dirty="0" smtClean="0"/>
              <a:t>Update</a:t>
            </a:r>
            <a:r>
              <a:rPr lang="en-GB" altLang="en-US" sz="2200" dirty="0" smtClean="0">
                <a:latin typeface="Comic Sans MS" panose="030F0702030302020204" pitchFamily="66" charset="0"/>
              </a:rPr>
              <a:t>’</a:t>
            </a:r>
            <a:r>
              <a:rPr lang="en-GB" altLang="en-US" sz="2200" dirty="0" smtClean="0"/>
              <a:t> anomalies</a:t>
            </a:r>
          </a:p>
        </p:txBody>
      </p:sp>
    </p:spTree>
    <p:extLst>
      <p:ext uri="{BB962C8B-B14F-4D97-AF65-F5344CB8AC3E}">
        <p14:creationId xmlns:p14="http://schemas.microsoft.com/office/powerpoint/2010/main" val="968542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342900" indent="-342900" eaLnBrk="1" hangingPunct="1"/>
            <a:r>
              <a:rPr lang="en-US" altLang="en-US" smtClean="0"/>
              <a:t>Anomalies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915400" cy="453072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mtClean="0"/>
              <a:t>	Too many attributes…</a:t>
            </a:r>
          </a:p>
          <a:p>
            <a:pPr eaLnBrk="1" hangingPunct="1">
              <a:buFontTx/>
              <a:buNone/>
            </a:pPr>
            <a:r>
              <a:rPr lang="en-US" altLang="en-US" smtClean="0"/>
              <a:t>	For example, </a:t>
            </a:r>
          </a:p>
          <a:p>
            <a:pPr eaLnBrk="1" hangingPunct="1">
              <a:buFontTx/>
              <a:buNone/>
            </a:pPr>
            <a:endParaRPr lang="en-US" altLang="en-US" sz="2400" smtClean="0"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2400" smtClean="0">
                <a:cs typeface="Times New Roman" panose="02020603050405020304" pitchFamily="18" charset="0"/>
              </a:rPr>
              <a:t>	LECTURER (</a:t>
            </a:r>
            <a:r>
              <a:rPr lang="en-US" altLang="en-US" sz="2400" u="sng" smtClean="0">
                <a:cs typeface="Times New Roman" panose="02020603050405020304" pitchFamily="18" charset="0"/>
              </a:rPr>
              <a:t>id</a:t>
            </a:r>
            <a:r>
              <a:rPr lang="en-US" altLang="en-US" sz="2400" smtClean="0">
                <a:cs typeface="Times New Roman" panose="02020603050405020304" pitchFamily="18" charset="0"/>
              </a:rPr>
              <a:t>, name, address, salary, department, building)</a:t>
            </a:r>
            <a:r>
              <a:rPr lang="en-US" altLang="en-US" sz="240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2385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Anomalies (contd.)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981200"/>
            <a:ext cx="4953000" cy="281940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en-US" dirty="0" smtClean="0">
                <a:solidFill>
                  <a:srgbClr val="FF6600"/>
                </a:solidFill>
              </a:rPr>
              <a:t>Insertion Anomaly…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dirty="0" smtClean="0"/>
              <a:t>1. </a:t>
            </a:r>
            <a:r>
              <a:rPr lang="en-US" altLang="en-US" sz="2200" dirty="0" smtClean="0"/>
              <a:t>Inserting a new lecturer to the Teacher table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2200" dirty="0" smtClean="0"/>
              <a:t>	- Department information is repeated (ensure that correct department information is inserted).</a:t>
            </a:r>
          </a:p>
        </p:txBody>
      </p:sp>
      <p:pic>
        <p:nvPicPr>
          <p:cNvPr id="19460" name="Picture 4" descr="eleve_prof-12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905000"/>
            <a:ext cx="2282825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838200" y="5562600"/>
            <a:ext cx="669644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0" dirty="0">
                <a:solidFill>
                  <a:srgbClr val="3333CC"/>
                </a:solidFill>
              </a:rPr>
              <a:t>Teacher</a:t>
            </a:r>
            <a:r>
              <a:rPr lang="en-US" altLang="en-US" b="0" dirty="0" smtClean="0">
                <a:solidFill>
                  <a:srgbClr val="3333CC"/>
                </a:solidFill>
              </a:rPr>
              <a:t> </a:t>
            </a:r>
            <a:r>
              <a:rPr lang="en-US" altLang="en-US" b="0" dirty="0">
                <a:solidFill>
                  <a:srgbClr val="3333CC"/>
                </a:solidFill>
              </a:rPr>
              <a:t>(</a:t>
            </a:r>
            <a:r>
              <a:rPr lang="en-US" altLang="en-US" b="0" u="sng" dirty="0">
                <a:solidFill>
                  <a:srgbClr val="3333CC"/>
                </a:solidFill>
              </a:rPr>
              <a:t>id</a:t>
            </a:r>
            <a:r>
              <a:rPr lang="en-US" altLang="en-US" b="0" dirty="0">
                <a:solidFill>
                  <a:srgbClr val="3333CC"/>
                </a:solidFill>
              </a:rPr>
              <a:t>, name, address, salary, department, building)</a:t>
            </a:r>
          </a:p>
        </p:txBody>
      </p:sp>
    </p:spTree>
    <p:extLst>
      <p:ext uri="{BB962C8B-B14F-4D97-AF65-F5344CB8AC3E}">
        <p14:creationId xmlns:p14="http://schemas.microsoft.com/office/powerpoint/2010/main" val="3627542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Anomalies (contd.)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altLang="en-US" dirty="0" smtClean="0"/>
          </a:p>
          <a:p>
            <a:pPr eaLnBrk="1" hangingPunct="1"/>
            <a:r>
              <a:rPr lang="en-US" altLang="en-US" dirty="0" smtClean="0"/>
              <a:t>   Inserting a department with no teacher</a:t>
            </a:r>
          </a:p>
          <a:p>
            <a:pPr lvl="1" eaLnBrk="1" hangingPunct="1"/>
            <a:r>
              <a:rPr lang="en-US" altLang="en-US" dirty="0" smtClean="0"/>
              <a:t>(Impossible – b/c null values for </a:t>
            </a:r>
            <a:r>
              <a:rPr lang="en-US" altLang="en-US" i="1" dirty="0" smtClean="0"/>
              <a:t>id</a:t>
            </a:r>
            <a:r>
              <a:rPr lang="en-US" altLang="en-US" dirty="0" smtClean="0"/>
              <a:t> is not allowed) </a:t>
            </a:r>
          </a:p>
        </p:txBody>
      </p:sp>
    </p:spTree>
    <p:extLst>
      <p:ext uri="{BB962C8B-B14F-4D97-AF65-F5344CB8AC3E}">
        <p14:creationId xmlns:p14="http://schemas.microsoft.com/office/powerpoint/2010/main" val="326387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Anomalies (contd.)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295400"/>
            <a:ext cx="4724400" cy="365760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endParaRPr lang="en-US" altLang="en-US" smtClean="0"/>
          </a:p>
          <a:p>
            <a:pPr marL="609600" indent="-609600" eaLnBrk="1" hangingPunct="1">
              <a:buFontTx/>
              <a:buNone/>
            </a:pPr>
            <a:r>
              <a:rPr lang="en-US" altLang="en-US" smtClean="0">
                <a:solidFill>
                  <a:srgbClr val="FF6600"/>
                </a:solidFill>
              </a:rPr>
              <a:t>Deletion Anomalies…</a:t>
            </a:r>
          </a:p>
          <a:p>
            <a:pPr marL="609600" indent="-609600" eaLnBrk="1" hangingPunct="1">
              <a:buFontTx/>
              <a:buNone/>
            </a:pPr>
            <a:endParaRPr lang="en-US" altLang="en-US" smtClean="0">
              <a:solidFill>
                <a:srgbClr val="FF6600"/>
              </a:solidFill>
            </a:endParaRPr>
          </a:p>
          <a:p>
            <a:pPr marL="609600" indent="-609600" eaLnBrk="1" hangingPunct="1"/>
            <a:r>
              <a:rPr lang="en-US" altLang="en-US" sz="2400" smtClean="0"/>
              <a:t>Deleting the last lecturer from the department will lose information about the department.</a:t>
            </a:r>
          </a:p>
        </p:txBody>
      </p:sp>
      <p:pic>
        <p:nvPicPr>
          <p:cNvPr id="21508" name="Picture 4" descr="eleve_prof-12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209800"/>
            <a:ext cx="2143125" cy="235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685800" y="5257800"/>
            <a:ext cx="7069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0">
                <a:solidFill>
                  <a:srgbClr val="3333CC"/>
                </a:solidFill>
              </a:rPr>
              <a:t>LECTURER (</a:t>
            </a:r>
            <a:r>
              <a:rPr lang="en-US" altLang="en-US" b="0" u="sng">
                <a:solidFill>
                  <a:srgbClr val="3333CC"/>
                </a:solidFill>
              </a:rPr>
              <a:t>id</a:t>
            </a:r>
            <a:r>
              <a:rPr lang="en-US" altLang="en-US" b="0">
                <a:solidFill>
                  <a:srgbClr val="3333CC"/>
                </a:solidFill>
              </a:rPr>
              <a:t>, name, address, salary, department, building)</a:t>
            </a:r>
          </a:p>
        </p:txBody>
      </p:sp>
    </p:spTree>
    <p:extLst>
      <p:ext uri="{BB962C8B-B14F-4D97-AF65-F5344CB8AC3E}">
        <p14:creationId xmlns:p14="http://schemas.microsoft.com/office/powerpoint/2010/main" val="4162812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Anomalies (contd.)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295400"/>
            <a:ext cx="4267200" cy="33528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altLang="en-US" smtClean="0"/>
          </a:p>
          <a:p>
            <a:pPr eaLnBrk="1" hangingPunct="1">
              <a:buFontTx/>
              <a:buNone/>
            </a:pPr>
            <a:r>
              <a:rPr lang="en-US" altLang="en-US" smtClean="0">
                <a:solidFill>
                  <a:srgbClr val="FF6600"/>
                </a:solidFill>
              </a:rPr>
              <a:t>Updating Anomalies…</a:t>
            </a:r>
          </a:p>
          <a:p>
            <a:pPr eaLnBrk="1" hangingPunct="1"/>
            <a:endParaRPr lang="en-US" altLang="en-US" smtClean="0">
              <a:solidFill>
                <a:srgbClr val="FF6600"/>
              </a:solidFill>
            </a:endParaRPr>
          </a:p>
          <a:p>
            <a:pPr eaLnBrk="1" hangingPunct="1"/>
            <a:r>
              <a:rPr lang="en-US" altLang="en-US" sz="2400" smtClean="0"/>
              <a:t>Updating the department’s building needs to be done for all lecturers working for that department.</a:t>
            </a:r>
          </a:p>
        </p:txBody>
      </p:sp>
      <p:pic>
        <p:nvPicPr>
          <p:cNvPr id="22532" name="Picture 4" descr="eleve_prof-12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133600"/>
            <a:ext cx="2143125" cy="235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838200" y="5562600"/>
            <a:ext cx="66438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0" dirty="0" smtClean="0">
                <a:solidFill>
                  <a:srgbClr val="3333CC"/>
                </a:solidFill>
              </a:rPr>
              <a:t>Teacher </a:t>
            </a:r>
            <a:r>
              <a:rPr lang="en-US" altLang="en-US" b="0" dirty="0">
                <a:solidFill>
                  <a:srgbClr val="3333CC"/>
                </a:solidFill>
              </a:rPr>
              <a:t>(</a:t>
            </a:r>
            <a:r>
              <a:rPr lang="en-US" altLang="en-US" b="0" u="sng" dirty="0">
                <a:solidFill>
                  <a:srgbClr val="3333CC"/>
                </a:solidFill>
              </a:rPr>
              <a:t>id</a:t>
            </a:r>
            <a:r>
              <a:rPr lang="en-US" altLang="en-US" b="0" dirty="0">
                <a:solidFill>
                  <a:srgbClr val="3333CC"/>
                </a:solidFill>
              </a:rPr>
              <a:t>, name, address, salary, department, building)</a:t>
            </a:r>
          </a:p>
        </p:txBody>
      </p:sp>
    </p:spTree>
    <p:extLst>
      <p:ext uri="{BB962C8B-B14F-4D97-AF65-F5344CB8AC3E}">
        <p14:creationId xmlns:p14="http://schemas.microsoft.com/office/powerpoint/2010/main" val="1937599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Decomposition of Relations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endParaRPr lang="en-GB" altLang="en-US" sz="2400" smtClean="0"/>
          </a:p>
          <a:p>
            <a:pPr eaLnBrk="1" hangingPunct="1"/>
            <a:r>
              <a:rPr lang="en-GB" altLang="en-US" sz="2400" smtClean="0"/>
              <a:t>Staff and Branch relations which are obtained by decomposing StaffBranch do not suffer from these anomalies.</a:t>
            </a:r>
          </a:p>
          <a:p>
            <a:pPr eaLnBrk="1" hangingPunct="1"/>
            <a:endParaRPr lang="en-GB" altLang="en-US" sz="2400" smtClean="0"/>
          </a:p>
          <a:p>
            <a:pPr eaLnBrk="1" hangingPunct="1"/>
            <a:r>
              <a:rPr lang="en-GB" altLang="en-US" sz="2400" smtClean="0"/>
              <a:t>Two important properties of decomposition</a:t>
            </a:r>
          </a:p>
          <a:p>
            <a:pPr lvl="1" eaLnBrk="1" hangingPunct="1"/>
            <a:r>
              <a:rPr lang="en-GB" altLang="en-US" sz="2400" b="1" u="sng" smtClean="0">
                <a:solidFill>
                  <a:srgbClr val="FF33CC"/>
                </a:solidFill>
              </a:rPr>
              <a:t>Lossless-join property</a:t>
            </a:r>
            <a:r>
              <a:rPr lang="en-GB" altLang="en-US" sz="2400" smtClean="0"/>
              <a:t> enables us to find any instance of original relation from corresponding instances in the smaller relations.</a:t>
            </a:r>
          </a:p>
          <a:p>
            <a:pPr lvl="1" eaLnBrk="1" hangingPunct="1"/>
            <a:r>
              <a:rPr lang="en-GB" altLang="en-US" sz="2400" b="1" u="sng" smtClean="0">
                <a:solidFill>
                  <a:srgbClr val="FF33CC"/>
                </a:solidFill>
              </a:rPr>
              <a:t>Dependency preservation property</a:t>
            </a:r>
            <a:r>
              <a:rPr lang="en-GB" altLang="en-US" sz="2400" smtClean="0"/>
              <a:t> enables us to enforce a constraint on original relation by enforcing some constraint on each of the smaller relations.</a:t>
            </a:r>
          </a:p>
        </p:txBody>
      </p:sp>
      <p:pic>
        <p:nvPicPr>
          <p:cNvPr id="23556" name="Picture 4" descr="down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3200400"/>
            <a:ext cx="838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2168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Loss-less join property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smtClean="0"/>
              <a:t>	</a:t>
            </a:r>
          </a:p>
          <a:p>
            <a:pPr eaLnBrk="1" hangingPunct="1">
              <a:buFontTx/>
              <a:buNone/>
            </a:pPr>
            <a:r>
              <a:rPr lang="en-US" altLang="en-US" sz="2400" smtClean="0"/>
              <a:t>	Decomposing the relation into too smaller relations…</a:t>
            </a:r>
          </a:p>
          <a:p>
            <a:pPr eaLnBrk="1" hangingPunct="1"/>
            <a:endParaRPr lang="en-US" altLang="en-US" sz="2400" smtClean="0"/>
          </a:p>
          <a:p>
            <a:pPr eaLnBrk="1" hangingPunct="1"/>
            <a:r>
              <a:rPr lang="en-US" altLang="en-US" sz="2400" b="1" smtClean="0">
                <a:solidFill>
                  <a:srgbClr val="FF6600"/>
                </a:solidFill>
              </a:rPr>
              <a:t>Loss-less join property</a:t>
            </a:r>
            <a:r>
              <a:rPr lang="en-US" altLang="en-US" sz="2400" smtClean="0"/>
              <a:t>: we might lose information if we decompose relations…</a:t>
            </a:r>
          </a:p>
          <a:p>
            <a:pPr eaLnBrk="1" hangingPunct="1">
              <a:buFontTx/>
              <a:buNone/>
            </a:pPr>
            <a:endParaRPr lang="en-US" altLang="en-US" sz="2400" smtClean="0"/>
          </a:p>
          <a:p>
            <a:pPr eaLnBrk="1" hangingPunct="1"/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973445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Loss-less join property (contd.)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mtClean="0"/>
              <a:t>For example, </a:t>
            </a:r>
          </a:p>
          <a:p>
            <a:pPr eaLnBrk="1" hangingPunct="1">
              <a:buFontTx/>
              <a:buNone/>
            </a:pPr>
            <a:endParaRPr lang="en-US" altLang="en-US" smtClean="0"/>
          </a:p>
          <a:p>
            <a:pPr eaLnBrk="1" hangingPunct="1">
              <a:buFontTx/>
              <a:buNone/>
            </a:pPr>
            <a:endParaRPr lang="en-US" altLang="en-US" smtClean="0"/>
          </a:p>
        </p:txBody>
      </p:sp>
      <p:graphicFrame>
        <p:nvGraphicFramePr>
          <p:cNvPr id="524292" name="Group 4"/>
          <p:cNvGraphicFramePr>
            <a:graphicFrameLocks noGrp="1"/>
          </p:cNvGraphicFramePr>
          <p:nvPr/>
        </p:nvGraphicFramePr>
        <p:xfrm>
          <a:off x="685800" y="3429000"/>
          <a:ext cx="2743200" cy="2073276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S1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P1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D1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S2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P2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D2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S3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P1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D3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24314" name="Group 26"/>
          <p:cNvGraphicFramePr>
            <a:graphicFrameLocks noGrp="1"/>
          </p:cNvGraphicFramePr>
          <p:nvPr/>
        </p:nvGraphicFramePr>
        <p:xfrm>
          <a:off x="4114800" y="3505200"/>
          <a:ext cx="2057400" cy="2087757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S1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P1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0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S2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P2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0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S3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P1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24331" name="Group 43"/>
          <p:cNvGraphicFramePr>
            <a:graphicFrameLocks noGrp="1"/>
          </p:cNvGraphicFramePr>
          <p:nvPr/>
        </p:nvGraphicFramePr>
        <p:xfrm>
          <a:off x="6553200" y="3429000"/>
          <a:ext cx="2057400" cy="2073276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P1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D1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P2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D2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P1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D3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516" name="Text Box 60"/>
          <p:cNvSpPr txBox="1">
            <a:spLocks noChangeArrowheads="1"/>
          </p:cNvSpPr>
          <p:nvPr/>
        </p:nvSpPr>
        <p:spPr bwMode="auto">
          <a:xfrm>
            <a:off x="1905000" y="28956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9517" name="Text Box 61"/>
          <p:cNvSpPr txBox="1">
            <a:spLocks noChangeArrowheads="1"/>
          </p:cNvSpPr>
          <p:nvPr/>
        </p:nvSpPr>
        <p:spPr bwMode="auto">
          <a:xfrm>
            <a:off x="4876800" y="2971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0">
                <a:latin typeface="Times New Roman" panose="02020603050405020304" pitchFamily="18" charset="0"/>
              </a:rPr>
              <a:t>R</a:t>
            </a:r>
            <a:r>
              <a:rPr lang="en-US" altLang="en-US" sz="2400" b="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9518" name="Text Box 62"/>
          <p:cNvSpPr txBox="1">
            <a:spLocks noChangeArrowheads="1"/>
          </p:cNvSpPr>
          <p:nvPr/>
        </p:nvSpPr>
        <p:spPr bwMode="auto">
          <a:xfrm>
            <a:off x="7391400" y="2971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0">
                <a:latin typeface="Times New Roman" panose="02020603050405020304" pitchFamily="18" charset="0"/>
              </a:rPr>
              <a:t>R</a:t>
            </a:r>
            <a:r>
              <a:rPr lang="en-US" altLang="en-US" sz="2400" b="0" baseline="-25000">
                <a:latin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3979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4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4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24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24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24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24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 autoUpdateAnimBg="0"/>
      <p:bldP spid="19516" grpId="0" autoUpdateAnimBg="0"/>
      <p:bldP spid="19517" grpId="0" autoUpdateAnimBg="0"/>
      <p:bldP spid="19518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Loss-less join property (contd.)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752600"/>
            <a:ext cx="7772400" cy="4267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smtClean="0"/>
              <a:t>	Joining them together, we get </a:t>
            </a:r>
            <a:r>
              <a:rPr lang="en-US" altLang="en-US" sz="2400" smtClean="0">
                <a:solidFill>
                  <a:srgbClr val="FF33CC"/>
                </a:solidFill>
              </a:rPr>
              <a:t>spurious tuples</a:t>
            </a:r>
            <a:r>
              <a:rPr lang="en-US" altLang="en-US" sz="2400" smtClean="0"/>
              <a:t>…</a:t>
            </a:r>
          </a:p>
          <a:p>
            <a:pPr eaLnBrk="1" hangingPunct="1">
              <a:buFontTx/>
              <a:buNone/>
            </a:pPr>
            <a:endParaRPr lang="en-US" altLang="en-US" sz="2400" smtClean="0"/>
          </a:p>
          <a:p>
            <a:pPr eaLnBrk="1" hangingPunct="1">
              <a:buFontTx/>
              <a:buNone/>
            </a:pPr>
            <a:endParaRPr lang="en-US" altLang="en-US" sz="2400" smtClean="0"/>
          </a:p>
        </p:txBody>
      </p:sp>
      <p:graphicFrame>
        <p:nvGraphicFramePr>
          <p:cNvPr id="525316" name="Group 4"/>
          <p:cNvGraphicFramePr>
            <a:graphicFrameLocks noGrp="1"/>
          </p:cNvGraphicFramePr>
          <p:nvPr/>
        </p:nvGraphicFramePr>
        <p:xfrm>
          <a:off x="3352800" y="2895600"/>
          <a:ext cx="3505200" cy="3559176"/>
        </p:xfrm>
        <a:graphic>
          <a:graphicData uri="http://schemas.openxmlformats.org/drawingml/2006/table">
            <a:tbl>
              <a:tblPr/>
              <a:tblGrid>
                <a:gridCol w="111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P1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D1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P1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D3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S2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P2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D2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S3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P1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D1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S3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P1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ahoma" pitchFamily="34" charset="0"/>
                        </a:rPr>
                        <a:t>D3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898525" y="4114800"/>
            <a:ext cx="1479550" cy="498475"/>
            <a:chOff x="566" y="2592"/>
            <a:chExt cx="932" cy="314"/>
          </a:xfrm>
        </p:grpSpPr>
        <p:sp>
          <p:nvSpPr>
            <p:cNvPr id="26659" name="Text Box 35"/>
            <p:cNvSpPr txBox="1">
              <a:spLocks noChangeArrowheads="1"/>
            </p:cNvSpPr>
            <p:nvPr/>
          </p:nvSpPr>
          <p:spPr bwMode="auto">
            <a:xfrm>
              <a:off x="566" y="2618"/>
              <a:ext cx="9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0">
                  <a:latin typeface="Times New Roman" panose="02020603050405020304" pitchFamily="18" charset="0"/>
                </a:rPr>
                <a:t>R</a:t>
              </a:r>
              <a:r>
                <a:rPr lang="en-US" altLang="en-US" sz="2400" b="0" baseline="-25000">
                  <a:latin typeface="Times New Roman" panose="02020603050405020304" pitchFamily="18" charset="0"/>
                </a:rPr>
                <a:t>1 </a:t>
              </a:r>
              <a:r>
                <a:rPr lang="en-US" altLang="en-US" sz="2400" b="0">
                  <a:latin typeface="Times New Roman" panose="02020603050405020304" pitchFamily="18" charset="0"/>
                </a:rPr>
                <a:t> 	 R</a:t>
              </a:r>
              <a:r>
                <a:rPr lang="en-US" altLang="en-US" sz="2400" b="0" baseline="-25000">
                  <a:latin typeface="Times New Roman" panose="02020603050405020304" pitchFamily="18" charset="0"/>
                </a:rPr>
                <a:t>2</a:t>
              </a:r>
            </a:p>
          </p:txBody>
        </p:sp>
        <p:grpSp>
          <p:nvGrpSpPr>
            <p:cNvPr id="26660" name="Group 36"/>
            <p:cNvGrpSpPr>
              <a:grpSpLocks/>
            </p:cNvGrpSpPr>
            <p:nvPr/>
          </p:nvGrpSpPr>
          <p:grpSpPr bwMode="auto">
            <a:xfrm>
              <a:off x="816" y="2592"/>
              <a:ext cx="346" cy="288"/>
              <a:chOff x="758" y="3482"/>
              <a:chExt cx="346" cy="288"/>
            </a:xfrm>
          </p:grpSpPr>
          <p:sp>
            <p:nvSpPr>
              <p:cNvPr id="26661" name="Text Box 37"/>
              <p:cNvSpPr txBox="1">
                <a:spLocks noChangeArrowheads="1"/>
              </p:cNvSpPr>
              <p:nvPr/>
            </p:nvSpPr>
            <p:spPr bwMode="auto">
              <a:xfrm>
                <a:off x="758" y="3482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62" name="Line 38"/>
              <p:cNvSpPr>
                <a:spLocks noChangeShapeType="1"/>
              </p:cNvSpPr>
              <p:nvPr/>
            </p:nvSpPr>
            <p:spPr bwMode="auto">
              <a:xfrm flipV="1">
                <a:off x="816" y="355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63" name="Line 39"/>
              <p:cNvSpPr>
                <a:spLocks noChangeShapeType="1"/>
              </p:cNvSpPr>
              <p:nvPr/>
            </p:nvSpPr>
            <p:spPr bwMode="auto">
              <a:xfrm>
                <a:off x="816" y="3552"/>
                <a:ext cx="288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64" name="Line 40"/>
              <p:cNvSpPr>
                <a:spLocks noChangeShapeType="1"/>
              </p:cNvSpPr>
              <p:nvPr/>
            </p:nvSpPr>
            <p:spPr bwMode="auto">
              <a:xfrm flipV="1">
                <a:off x="816" y="3552"/>
                <a:ext cx="288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65" name="Line 41"/>
              <p:cNvSpPr>
                <a:spLocks noChangeShapeType="1"/>
              </p:cNvSpPr>
              <p:nvPr/>
            </p:nvSpPr>
            <p:spPr bwMode="auto">
              <a:xfrm>
                <a:off x="1104" y="355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1715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5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5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The Process of Normalization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533400" indent="-533400" eaLnBrk="1" hangingPunct="1">
              <a:lnSpc>
                <a:spcPct val="80000"/>
              </a:lnSpc>
            </a:pPr>
            <a:r>
              <a:rPr lang="en-GB" altLang="en-US" sz="2200" smtClean="0"/>
              <a:t>Formal technique for analyzing a relation based on its primary key and functional dependencies between its attributes.</a:t>
            </a:r>
          </a:p>
          <a:p>
            <a:pPr marL="533400" indent="-533400" eaLnBrk="1" hangingPunct="1">
              <a:lnSpc>
                <a:spcPct val="20000"/>
              </a:lnSpc>
            </a:pPr>
            <a:endParaRPr lang="en-GB" altLang="en-US" sz="2200" smtClean="0"/>
          </a:p>
          <a:p>
            <a:pPr marL="533400" indent="-533400" eaLnBrk="1" hangingPunct="1">
              <a:lnSpc>
                <a:spcPct val="80000"/>
              </a:lnSpc>
            </a:pPr>
            <a:r>
              <a:rPr lang="en-GB" altLang="en-US" sz="2200" smtClean="0"/>
              <a:t>Often executed as a series of steps.  Each step corresponds to a specific normal form, which has known properties.</a:t>
            </a:r>
          </a:p>
          <a:p>
            <a:pPr marL="533400" indent="-533400" eaLnBrk="1" hangingPunct="1">
              <a:lnSpc>
                <a:spcPct val="20000"/>
              </a:lnSpc>
            </a:pPr>
            <a:endParaRPr lang="en-GB" altLang="en-US" sz="2200" smtClean="0"/>
          </a:p>
          <a:p>
            <a:pPr marL="533400" indent="-533400" eaLnBrk="1" hangingPunct="1">
              <a:lnSpc>
                <a:spcPct val="80000"/>
              </a:lnSpc>
            </a:pPr>
            <a:r>
              <a:rPr lang="en-GB" altLang="en-US" sz="2200" smtClean="0"/>
              <a:t>As normalization proceeds, relations become progressively more restricted (stronger) in format and also less vulnerable to update anomalies.</a:t>
            </a:r>
          </a:p>
          <a:p>
            <a:pPr marL="533400" indent="-533400" eaLnBrk="1" hangingPunct="1">
              <a:lnSpc>
                <a:spcPct val="80000"/>
              </a:lnSpc>
            </a:pPr>
            <a:endParaRPr lang="en-GB" altLang="en-US" sz="2200" smtClean="0"/>
          </a:p>
          <a:p>
            <a:pPr marL="533400" indent="-533400" eaLnBrk="1" hangingPunct="1">
              <a:lnSpc>
                <a:spcPct val="80000"/>
              </a:lnSpc>
            </a:pPr>
            <a:r>
              <a:rPr lang="en-GB" altLang="en-US" sz="2200" smtClean="0"/>
              <a:t>Given a relation, use the following cycle</a:t>
            </a:r>
          </a:p>
          <a:p>
            <a:pPr marL="952500" lvl="1" indent="-495300" eaLnBrk="1" hangingPunct="1">
              <a:lnSpc>
                <a:spcPct val="80000"/>
              </a:lnSpc>
            </a:pPr>
            <a:r>
              <a:rPr lang="en-GB" altLang="en-US" sz="2200" smtClean="0"/>
              <a:t>Find out what normal form it is in</a:t>
            </a:r>
          </a:p>
          <a:p>
            <a:pPr marL="952500" lvl="1" indent="-495300" eaLnBrk="1" hangingPunct="1">
              <a:lnSpc>
                <a:spcPct val="80000"/>
              </a:lnSpc>
            </a:pPr>
            <a:r>
              <a:rPr lang="en-GB" altLang="en-US" sz="2200" smtClean="0"/>
              <a:t>Transform the relation to the next higher form by decomposing it to form simpler relations</a:t>
            </a:r>
          </a:p>
          <a:p>
            <a:pPr marL="952500" lvl="1" indent="-495300" eaLnBrk="1" hangingPunct="1">
              <a:lnSpc>
                <a:spcPct val="80000"/>
              </a:lnSpc>
            </a:pPr>
            <a:r>
              <a:rPr lang="en-GB" altLang="en-US" sz="2200" smtClean="0"/>
              <a:t>You may need to refine the relation further if decomposition resulted in undesirable properties</a:t>
            </a:r>
          </a:p>
          <a:p>
            <a:pPr marL="952500" lvl="1" indent="-495300" eaLnBrk="1" hangingPunct="1">
              <a:lnSpc>
                <a:spcPct val="80000"/>
              </a:lnSpc>
            </a:pPr>
            <a:endParaRPr lang="en-GB" altLang="en-US" sz="2200" smtClean="0"/>
          </a:p>
          <a:p>
            <a:pPr marL="952500" lvl="1" indent="-495300" eaLnBrk="1" hangingPunct="1">
              <a:lnSpc>
                <a:spcPct val="80000"/>
              </a:lnSpc>
              <a:buFontTx/>
              <a:buNone/>
            </a:pPr>
            <a:r>
              <a:rPr lang="en-GB" altLang="en-US" sz="2200" smtClean="0"/>
              <a:t>Normalization is based on</a:t>
            </a:r>
            <a:r>
              <a:rPr lang="en-GB" altLang="en-US" sz="2200" smtClean="0">
                <a:solidFill>
                  <a:schemeClr val="accent2"/>
                </a:solidFill>
              </a:rPr>
              <a:t> </a:t>
            </a:r>
            <a:r>
              <a:rPr lang="en-GB" altLang="en-US" sz="2200" smtClean="0">
                <a:solidFill>
                  <a:srgbClr val="FF5050"/>
                </a:solidFill>
              </a:rPr>
              <a:t>Functional Dependencies</a:t>
            </a:r>
          </a:p>
        </p:txBody>
      </p:sp>
    </p:spTree>
    <p:extLst>
      <p:ext uri="{BB962C8B-B14F-4D97-AF65-F5344CB8AC3E}">
        <p14:creationId xmlns:p14="http://schemas.microsoft.com/office/powerpoint/2010/main" val="2279411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800" smtClean="0"/>
              <a:t>Functional dependency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981200"/>
            <a:ext cx="84582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A functional dependency, denoted by X</a:t>
            </a:r>
            <a:r>
              <a:rPr lang="en-US" altLang="en-US" sz="2400" smtClean="0">
                <a:sym typeface="Wingdings" panose="05000000000000000000" pitchFamily="2" charset="2"/>
              </a:rPr>
              <a:t> Y,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mtClean="0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mtClean="0">
                <a:latin typeface="Times New Roman" panose="02020603050405020304" pitchFamily="18" charset="0"/>
              </a:rPr>
              <a:t> </a:t>
            </a:r>
            <a:r>
              <a:rPr lang="en-US" altLang="en-US" smtClean="0">
                <a:solidFill>
                  <a:srgbClr val="FF33CC"/>
                </a:solidFill>
                <a:latin typeface="Times New Roman" panose="02020603050405020304" pitchFamily="18" charset="0"/>
              </a:rPr>
              <a:t>functionally determines</a:t>
            </a:r>
            <a:r>
              <a:rPr lang="en-US" altLang="en-US" smtClean="0">
                <a:latin typeface="Times New Roman" panose="02020603050405020304" pitchFamily="18" charset="0"/>
              </a:rPr>
              <a:t> </a:t>
            </a:r>
            <a:r>
              <a:rPr lang="en-US" altLang="en-US" smtClean="0">
                <a:solidFill>
                  <a:schemeClr val="accent2"/>
                </a:solidFill>
                <a:latin typeface="Times New Roman" panose="02020603050405020304" pitchFamily="18" charset="0"/>
              </a:rPr>
              <a:t>Y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mtClean="0">
                <a:solidFill>
                  <a:schemeClr val="accent2"/>
                </a:solidFill>
                <a:latin typeface="Times New Roman" panose="02020603050405020304" pitchFamily="18" charset="0"/>
              </a:rPr>
              <a:t>Y</a:t>
            </a:r>
            <a:r>
              <a:rPr lang="en-US" altLang="en-US" smtClean="0">
                <a:latin typeface="Times New Roman" panose="02020603050405020304" pitchFamily="18" charset="0"/>
              </a:rPr>
              <a:t> </a:t>
            </a:r>
            <a:r>
              <a:rPr lang="en-US" altLang="en-US" smtClean="0">
                <a:solidFill>
                  <a:srgbClr val="FF33CC"/>
                </a:solidFill>
                <a:latin typeface="Times New Roman" panose="02020603050405020304" pitchFamily="18" charset="0"/>
              </a:rPr>
              <a:t>is functionally dependent on</a:t>
            </a:r>
            <a:r>
              <a:rPr lang="en-US" altLang="en-US" smtClean="0">
                <a:latin typeface="Times New Roman" panose="02020603050405020304" pitchFamily="18" charset="0"/>
              </a:rPr>
              <a:t> </a:t>
            </a:r>
            <a:r>
              <a:rPr lang="en-US" altLang="en-US" smtClean="0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endParaRPr lang="en-US" altLang="en-US" smtClean="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400" smtClean="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sym typeface="Wingdings" panose="05000000000000000000" pitchFamily="2" charset="2"/>
              </a:rPr>
              <a:t>where X and Y are sets of attributes in relation R, specifies  the following constraint: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/>
              <a:t>	Let t</a:t>
            </a:r>
            <a:r>
              <a:rPr lang="en-US" altLang="en-US" sz="2400" baseline="-25000" smtClean="0"/>
              <a:t>1</a:t>
            </a:r>
            <a:r>
              <a:rPr lang="en-US" altLang="en-US" sz="2400" smtClean="0"/>
              <a:t> and t</a:t>
            </a:r>
            <a:r>
              <a:rPr lang="en-US" altLang="en-US" sz="2400" baseline="-25000" smtClean="0"/>
              <a:t>2</a:t>
            </a:r>
            <a:r>
              <a:rPr lang="en-US" altLang="en-US" sz="2400" smtClean="0"/>
              <a:t> be tuples of relation R for any given instance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/>
              <a:t>	Whenever t</a:t>
            </a:r>
            <a:r>
              <a:rPr lang="en-US" altLang="en-US" sz="2400" baseline="-25000" smtClean="0"/>
              <a:t>1</a:t>
            </a:r>
            <a:r>
              <a:rPr lang="en-US" altLang="en-US" sz="2400" smtClean="0"/>
              <a:t>[X] = t</a:t>
            </a:r>
            <a:r>
              <a:rPr lang="en-US" altLang="en-US" sz="2400" baseline="-25000" smtClean="0"/>
              <a:t>2</a:t>
            </a:r>
            <a:r>
              <a:rPr lang="en-US" altLang="en-US" sz="2400" smtClean="0"/>
              <a:t>[X] then t</a:t>
            </a:r>
            <a:r>
              <a:rPr lang="en-US" altLang="en-US" sz="2400" baseline="-25000" smtClean="0"/>
              <a:t>1</a:t>
            </a:r>
            <a:r>
              <a:rPr lang="en-US" altLang="en-US" sz="2400" smtClean="0"/>
              <a:t>[Y] = t</a:t>
            </a:r>
            <a:r>
              <a:rPr lang="en-US" altLang="en-US" sz="2400" baseline="-25000" smtClean="0"/>
              <a:t>2</a:t>
            </a:r>
            <a:r>
              <a:rPr lang="en-US" altLang="en-US" sz="2400" smtClean="0"/>
              <a:t>[Y]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4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/>
              <a:t>	where t</a:t>
            </a:r>
            <a:r>
              <a:rPr lang="en-US" altLang="en-US" sz="2400" baseline="-25000" smtClean="0"/>
              <a:t>i</a:t>
            </a:r>
            <a:r>
              <a:rPr lang="en-US" altLang="en-US" sz="2400" smtClean="0"/>
              <a:t>[X] represents the values for X in tuple t</a:t>
            </a:r>
            <a:r>
              <a:rPr lang="en-US" altLang="en-US" sz="2400" baseline="-25000" smtClean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626987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4"/>
          <p:cNvGrpSpPr>
            <a:grpSpLocks/>
          </p:cNvGrpSpPr>
          <p:nvPr/>
        </p:nvGrpSpPr>
        <p:grpSpPr bwMode="auto">
          <a:xfrm>
            <a:off x="762000" y="1447800"/>
            <a:ext cx="6934200" cy="3810000"/>
            <a:chOff x="576" y="672"/>
            <a:chExt cx="4368" cy="2400"/>
          </a:xfrm>
        </p:grpSpPr>
        <p:grpSp>
          <p:nvGrpSpPr>
            <p:cNvPr id="29701" name="Group 5"/>
            <p:cNvGrpSpPr>
              <a:grpSpLocks/>
            </p:cNvGrpSpPr>
            <p:nvPr/>
          </p:nvGrpSpPr>
          <p:grpSpPr bwMode="auto">
            <a:xfrm>
              <a:off x="576" y="960"/>
              <a:ext cx="4368" cy="2112"/>
              <a:chOff x="-3" y="-3"/>
              <a:chExt cx="2611" cy="3633"/>
            </a:xfrm>
          </p:grpSpPr>
          <p:grpSp>
            <p:nvGrpSpPr>
              <p:cNvPr id="29703" name="Group 6"/>
              <p:cNvGrpSpPr>
                <a:grpSpLocks/>
              </p:cNvGrpSpPr>
              <p:nvPr/>
            </p:nvGrpSpPr>
            <p:grpSpPr bwMode="auto">
              <a:xfrm>
                <a:off x="0" y="0"/>
                <a:ext cx="2605" cy="3627"/>
                <a:chOff x="0" y="0"/>
                <a:chExt cx="2605" cy="3627"/>
              </a:xfrm>
            </p:grpSpPr>
            <p:grpSp>
              <p:nvGrpSpPr>
                <p:cNvPr id="29705" name="Group 7"/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705" cy="403"/>
                  <a:chOff x="0" y="0"/>
                  <a:chExt cx="705" cy="403"/>
                </a:xfrm>
              </p:grpSpPr>
              <p:sp>
                <p:nvSpPr>
                  <p:cNvPr id="29784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619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/>
                    <a:r>
                      <a:rPr lang="en-US" altLang="en-US">
                        <a:cs typeface="Times New Roman" panose="02020603050405020304" pitchFamily="18" charset="0"/>
                      </a:rPr>
                      <a:t>STUDENT</a:t>
                    </a:r>
                    <a:endParaRPr lang="en-US" altLang="en-US" b="0">
                      <a:cs typeface="Times New Roman" panose="02020603050405020304" pitchFamily="18" charset="0"/>
                    </a:endParaRPr>
                  </a:p>
                  <a:p>
                    <a:pPr algn="ctr" eaLnBrk="1" hangingPunct="1"/>
                    <a:endParaRPr lang="en-US" altLang="en-US" b="0"/>
                  </a:p>
                </p:txBody>
              </p:sp>
              <p:sp>
                <p:nvSpPr>
                  <p:cNvPr id="29785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705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AU" altLang="en-US" sz="1800" b="0"/>
                  </a:p>
                </p:txBody>
              </p:sp>
            </p:grpSp>
            <p:grpSp>
              <p:nvGrpSpPr>
                <p:cNvPr id="29706" name="Group 10"/>
                <p:cNvGrpSpPr>
                  <a:grpSpLocks/>
                </p:cNvGrpSpPr>
                <p:nvPr/>
              </p:nvGrpSpPr>
              <p:grpSpPr bwMode="auto">
                <a:xfrm>
                  <a:off x="705" y="0"/>
                  <a:ext cx="1022" cy="403"/>
                  <a:chOff x="705" y="0"/>
                  <a:chExt cx="1022" cy="403"/>
                </a:xfrm>
              </p:grpSpPr>
              <p:sp>
                <p:nvSpPr>
                  <p:cNvPr id="29782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748" y="0"/>
                    <a:ext cx="936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/>
                    <a:r>
                      <a:rPr lang="en-US" altLang="en-US">
                        <a:cs typeface="Times New Roman" panose="02020603050405020304" pitchFamily="18" charset="0"/>
                      </a:rPr>
                      <a:t>COURSE</a:t>
                    </a:r>
                    <a:endParaRPr lang="en-US" altLang="en-US" b="0">
                      <a:cs typeface="Times New Roman" panose="02020603050405020304" pitchFamily="18" charset="0"/>
                    </a:endParaRPr>
                  </a:p>
                  <a:p>
                    <a:pPr algn="ctr" eaLnBrk="1" hangingPunct="1"/>
                    <a:endParaRPr lang="en-US" altLang="en-US" b="0"/>
                  </a:p>
                </p:txBody>
              </p:sp>
              <p:sp>
                <p:nvSpPr>
                  <p:cNvPr id="29783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705" y="0"/>
                    <a:ext cx="1022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AU" altLang="en-US" sz="1800" b="0"/>
                  </a:p>
                </p:txBody>
              </p:sp>
            </p:grpSp>
            <p:grpSp>
              <p:nvGrpSpPr>
                <p:cNvPr id="29707" name="Group 13"/>
                <p:cNvGrpSpPr>
                  <a:grpSpLocks/>
                </p:cNvGrpSpPr>
                <p:nvPr/>
              </p:nvGrpSpPr>
              <p:grpSpPr bwMode="auto">
                <a:xfrm>
                  <a:off x="1719" y="0"/>
                  <a:ext cx="886" cy="403"/>
                  <a:chOff x="1719" y="0"/>
                  <a:chExt cx="886" cy="403"/>
                </a:xfrm>
              </p:grpSpPr>
              <p:sp>
                <p:nvSpPr>
                  <p:cNvPr id="29780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1719" y="0"/>
                    <a:ext cx="792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/>
                    <a:r>
                      <a:rPr lang="en-US" altLang="en-US">
                        <a:cs typeface="Times New Roman" panose="02020603050405020304" pitchFamily="18" charset="0"/>
                      </a:rPr>
                      <a:t>TEACHER</a:t>
                    </a:r>
                    <a:endParaRPr lang="en-US" altLang="en-US" b="0">
                      <a:cs typeface="Times New Roman" panose="02020603050405020304" pitchFamily="18" charset="0"/>
                    </a:endParaRPr>
                  </a:p>
                  <a:p>
                    <a:pPr algn="ctr" eaLnBrk="1" hangingPunct="1"/>
                    <a:endParaRPr lang="en-US" altLang="en-US" b="0"/>
                  </a:p>
                </p:txBody>
              </p:sp>
              <p:sp>
                <p:nvSpPr>
                  <p:cNvPr id="29781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1727" y="0"/>
                    <a:ext cx="878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AU" altLang="en-US" sz="1800" b="0"/>
                  </a:p>
                </p:txBody>
              </p:sp>
            </p:grpSp>
            <p:grpSp>
              <p:nvGrpSpPr>
                <p:cNvPr id="29708" name="Group 16"/>
                <p:cNvGrpSpPr>
                  <a:grpSpLocks/>
                </p:cNvGrpSpPr>
                <p:nvPr/>
              </p:nvGrpSpPr>
              <p:grpSpPr bwMode="auto">
                <a:xfrm>
                  <a:off x="0" y="403"/>
                  <a:ext cx="705" cy="403"/>
                  <a:chOff x="0" y="403"/>
                  <a:chExt cx="705" cy="403"/>
                </a:xfrm>
              </p:grpSpPr>
              <p:sp>
                <p:nvSpPr>
                  <p:cNvPr id="29778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403"/>
                    <a:ext cx="619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b="0">
                        <a:cs typeface="Times New Roman" panose="02020603050405020304" pitchFamily="18" charset="0"/>
                      </a:rPr>
                      <a:t>Narayana</a:t>
                    </a:r>
                  </a:p>
                  <a:p>
                    <a:pPr eaLnBrk="1" hangingPunct="1"/>
                    <a:endParaRPr lang="en-US" altLang="en-US" b="0"/>
                  </a:p>
                </p:txBody>
              </p:sp>
              <p:sp>
                <p:nvSpPr>
                  <p:cNvPr id="29779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0" y="403"/>
                    <a:ext cx="705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AU" altLang="en-US" sz="1800" b="0"/>
                  </a:p>
                </p:txBody>
              </p:sp>
            </p:grpSp>
            <p:grpSp>
              <p:nvGrpSpPr>
                <p:cNvPr id="29709" name="Group 19"/>
                <p:cNvGrpSpPr>
                  <a:grpSpLocks/>
                </p:cNvGrpSpPr>
                <p:nvPr/>
              </p:nvGrpSpPr>
              <p:grpSpPr bwMode="auto">
                <a:xfrm>
                  <a:off x="705" y="403"/>
                  <a:ext cx="1022" cy="403"/>
                  <a:chOff x="705" y="403"/>
                  <a:chExt cx="1022" cy="403"/>
                </a:xfrm>
              </p:grpSpPr>
              <p:sp>
                <p:nvSpPr>
                  <p:cNvPr id="80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748" y="403"/>
                    <a:ext cx="936" cy="403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r>
                      <a:rPr lang="en-US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cs typeface="Times New Roman" pitchFamily="18" charset="0"/>
                      </a:rPr>
                      <a:t>Database</a:t>
                    </a:r>
                  </a:p>
                  <a:p>
                    <a:pPr>
                      <a:defRPr/>
                    </a:pPr>
                    <a:endParaRPr lang="en-US" b="0" dirty="0"/>
                  </a:p>
                </p:txBody>
              </p:sp>
              <p:sp>
                <p:nvSpPr>
                  <p:cNvPr id="29777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705" y="403"/>
                    <a:ext cx="1022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AU" altLang="en-US" sz="1800" b="0"/>
                  </a:p>
                </p:txBody>
              </p:sp>
            </p:grpSp>
            <p:grpSp>
              <p:nvGrpSpPr>
                <p:cNvPr id="29710" name="Group 22"/>
                <p:cNvGrpSpPr>
                  <a:grpSpLocks/>
                </p:cNvGrpSpPr>
                <p:nvPr/>
              </p:nvGrpSpPr>
              <p:grpSpPr bwMode="auto">
                <a:xfrm>
                  <a:off x="1727" y="403"/>
                  <a:ext cx="878" cy="403"/>
                  <a:chOff x="1727" y="403"/>
                  <a:chExt cx="878" cy="403"/>
                </a:xfrm>
              </p:grpSpPr>
              <p:sp>
                <p:nvSpPr>
                  <p:cNvPr id="78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1770" y="403"/>
                    <a:ext cx="792" cy="403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r>
                      <a:rPr lang="en-US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cs typeface="Times New Roman" pitchFamily="18" charset="0"/>
                      </a:rPr>
                      <a:t>ABC</a:t>
                    </a:r>
                  </a:p>
                  <a:p>
                    <a:pPr>
                      <a:defRPr/>
                    </a:pPr>
                    <a:endParaRPr lang="en-US" b="0" dirty="0"/>
                  </a:p>
                </p:txBody>
              </p:sp>
              <p:sp>
                <p:nvSpPr>
                  <p:cNvPr id="29775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1727" y="403"/>
                    <a:ext cx="878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AU" altLang="en-US" sz="1800" b="0"/>
                  </a:p>
                </p:txBody>
              </p:sp>
            </p:grpSp>
            <p:grpSp>
              <p:nvGrpSpPr>
                <p:cNvPr id="29711" name="Group 25"/>
                <p:cNvGrpSpPr>
                  <a:grpSpLocks/>
                </p:cNvGrpSpPr>
                <p:nvPr/>
              </p:nvGrpSpPr>
              <p:grpSpPr bwMode="auto">
                <a:xfrm>
                  <a:off x="0" y="806"/>
                  <a:ext cx="705" cy="403"/>
                  <a:chOff x="0" y="806"/>
                  <a:chExt cx="705" cy="403"/>
                </a:xfrm>
              </p:grpSpPr>
              <p:sp>
                <p:nvSpPr>
                  <p:cNvPr id="29772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806"/>
                    <a:ext cx="619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b="0">
                        <a:cs typeface="Times New Roman" panose="02020603050405020304" pitchFamily="18" charset="0"/>
                      </a:rPr>
                      <a:t>Sumith</a:t>
                    </a:r>
                  </a:p>
                  <a:p>
                    <a:pPr eaLnBrk="1" hangingPunct="1"/>
                    <a:endParaRPr lang="en-US" altLang="en-US" b="0"/>
                  </a:p>
                </p:txBody>
              </p:sp>
              <p:sp>
                <p:nvSpPr>
                  <p:cNvPr id="29773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0" y="806"/>
                    <a:ext cx="705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AU" altLang="en-US" sz="1800" b="0"/>
                  </a:p>
                </p:txBody>
              </p:sp>
            </p:grpSp>
            <p:grpSp>
              <p:nvGrpSpPr>
                <p:cNvPr id="29712" name="Group 28"/>
                <p:cNvGrpSpPr>
                  <a:grpSpLocks/>
                </p:cNvGrpSpPr>
                <p:nvPr/>
              </p:nvGrpSpPr>
              <p:grpSpPr bwMode="auto">
                <a:xfrm>
                  <a:off x="705" y="806"/>
                  <a:ext cx="1022" cy="403"/>
                  <a:chOff x="705" y="806"/>
                  <a:chExt cx="1022" cy="403"/>
                </a:xfrm>
              </p:grpSpPr>
              <p:sp>
                <p:nvSpPr>
                  <p:cNvPr id="74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748" y="804"/>
                    <a:ext cx="936" cy="409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r>
                      <a:rPr lang="en-US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cs typeface="Times New Roman" pitchFamily="18" charset="0"/>
                      </a:rPr>
                      <a:t>Database</a:t>
                    </a:r>
                  </a:p>
                  <a:p>
                    <a:pPr>
                      <a:defRPr/>
                    </a:pPr>
                    <a:endParaRPr lang="en-US" b="0" dirty="0"/>
                  </a:p>
                </p:txBody>
              </p:sp>
              <p:sp>
                <p:nvSpPr>
                  <p:cNvPr id="29771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705" y="806"/>
                    <a:ext cx="1022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AU" altLang="en-US" sz="1800" b="0"/>
                  </a:p>
                </p:txBody>
              </p:sp>
            </p:grpSp>
            <p:grpSp>
              <p:nvGrpSpPr>
                <p:cNvPr id="29713" name="Group 31"/>
                <p:cNvGrpSpPr>
                  <a:grpSpLocks/>
                </p:cNvGrpSpPr>
                <p:nvPr/>
              </p:nvGrpSpPr>
              <p:grpSpPr bwMode="auto">
                <a:xfrm>
                  <a:off x="1727" y="806"/>
                  <a:ext cx="878" cy="403"/>
                  <a:chOff x="1727" y="806"/>
                  <a:chExt cx="878" cy="403"/>
                </a:xfrm>
              </p:grpSpPr>
              <p:sp>
                <p:nvSpPr>
                  <p:cNvPr id="72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1770" y="804"/>
                    <a:ext cx="792" cy="409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r>
                      <a:rPr lang="en-US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cs typeface="Times New Roman" pitchFamily="18" charset="0"/>
                      </a:rPr>
                      <a:t>ABC</a:t>
                    </a:r>
                  </a:p>
                  <a:p>
                    <a:pPr>
                      <a:defRPr/>
                    </a:pPr>
                    <a:endParaRPr lang="en-US" b="0" dirty="0"/>
                  </a:p>
                </p:txBody>
              </p:sp>
              <p:sp>
                <p:nvSpPr>
                  <p:cNvPr id="29769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1727" y="806"/>
                    <a:ext cx="878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AU" altLang="en-US" sz="1800" b="0"/>
                  </a:p>
                </p:txBody>
              </p:sp>
            </p:grpSp>
            <p:grpSp>
              <p:nvGrpSpPr>
                <p:cNvPr id="29714" name="Group 34"/>
                <p:cNvGrpSpPr>
                  <a:grpSpLocks/>
                </p:cNvGrpSpPr>
                <p:nvPr/>
              </p:nvGrpSpPr>
              <p:grpSpPr bwMode="auto">
                <a:xfrm>
                  <a:off x="0" y="1209"/>
                  <a:ext cx="705" cy="403"/>
                  <a:chOff x="0" y="1209"/>
                  <a:chExt cx="705" cy="403"/>
                </a:xfrm>
              </p:grpSpPr>
              <p:sp>
                <p:nvSpPr>
                  <p:cNvPr id="29766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1209"/>
                    <a:ext cx="619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b="0">
                        <a:cs typeface="Times New Roman" panose="02020603050405020304" pitchFamily="18" charset="0"/>
                      </a:rPr>
                      <a:t>Nalin</a:t>
                    </a:r>
                  </a:p>
                  <a:p>
                    <a:pPr eaLnBrk="1" hangingPunct="1"/>
                    <a:endParaRPr lang="en-US" altLang="en-US" b="0"/>
                  </a:p>
                </p:txBody>
              </p:sp>
              <p:sp>
                <p:nvSpPr>
                  <p:cNvPr id="29767" name="Rectangle 36"/>
                  <p:cNvSpPr>
                    <a:spLocks noChangeArrowheads="1"/>
                  </p:cNvSpPr>
                  <p:nvPr/>
                </p:nvSpPr>
                <p:spPr bwMode="auto">
                  <a:xfrm>
                    <a:off x="0" y="1209"/>
                    <a:ext cx="705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AU" altLang="en-US" sz="1800" b="0"/>
                  </a:p>
                </p:txBody>
              </p:sp>
            </p:grpSp>
            <p:grpSp>
              <p:nvGrpSpPr>
                <p:cNvPr id="29715" name="Group 37"/>
                <p:cNvGrpSpPr>
                  <a:grpSpLocks/>
                </p:cNvGrpSpPr>
                <p:nvPr/>
              </p:nvGrpSpPr>
              <p:grpSpPr bwMode="auto">
                <a:xfrm>
                  <a:off x="705" y="1209"/>
                  <a:ext cx="1022" cy="403"/>
                  <a:chOff x="705" y="1209"/>
                  <a:chExt cx="1022" cy="403"/>
                </a:xfrm>
              </p:grpSpPr>
              <p:sp>
                <p:nvSpPr>
                  <p:cNvPr id="68" name="Rectangle 38"/>
                  <p:cNvSpPr>
                    <a:spLocks noChangeArrowheads="1"/>
                  </p:cNvSpPr>
                  <p:nvPr/>
                </p:nvSpPr>
                <p:spPr bwMode="auto">
                  <a:xfrm>
                    <a:off x="748" y="1211"/>
                    <a:ext cx="936" cy="403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r>
                      <a:rPr lang="en-US" b="0" dirty="0">
                        <a:solidFill>
                          <a:schemeClr val="accent6">
                            <a:lumMod val="75000"/>
                          </a:schemeClr>
                        </a:solidFill>
                        <a:cs typeface="Times New Roman" pitchFamily="18" charset="0"/>
                      </a:rPr>
                      <a:t>Operating Systems</a:t>
                    </a:r>
                  </a:p>
                  <a:p>
                    <a:pPr>
                      <a:defRPr/>
                    </a:pPr>
                    <a:endParaRPr lang="en-US" b="0" dirty="0"/>
                  </a:p>
                </p:txBody>
              </p:sp>
              <p:sp>
                <p:nvSpPr>
                  <p:cNvPr id="29765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705" y="1209"/>
                    <a:ext cx="1022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AU" altLang="en-US" sz="1800" b="0"/>
                  </a:p>
                </p:txBody>
              </p:sp>
            </p:grpSp>
            <p:grpSp>
              <p:nvGrpSpPr>
                <p:cNvPr id="29716" name="Group 40"/>
                <p:cNvGrpSpPr>
                  <a:grpSpLocks/>
                </p:cNvGrpSpPr>
                <p:nvPr/>
              </p:nvGrpSpPr>
              <p:grpSpPr bwMode="auto">
                <a:xfrm>
                  <a:off x="1727" y="1209"/>
                  <a:ext cx="878" cy="403"/>
                  <a:chOff x="1727" y="1209"/>
                  <a:chExt cx="878" cy="403"/>
                </a:xfrm>
              </p:grpSpPr>
              <p:sp>
                <p:nvSpPr>
                  <p:cNvPr id="66" name="Rectangle 41"/>
                  <p:cNvSpPr>
                    <a:spLocks noChangeArrowheads="1"/>
                  </p:cNvSpPr>
                  <p:nvPr/>
                </p:nvSpPr>
                <p:spPr bwMode="auto">
                  <a:xfrm>
                    <a:off x="1770" y="1211"/>
                    <a:ext cx="792" cy="403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r>
                      <a:rPr lang="en-US" b="0" dirty="0">
                        <a:solidFill>
                          <a:schemeClr val="accent6">
                            <a:lumMod val="75000"/>
                          </a:schemeClr>
                        </a:solidFill>
                        <a:cs typeface="Times New Roman" pitchFamily="18" charset="0"/>
                      </a:rPr>
                      <a:t>Samantha</a:t>
                    </a:r>
                  </a:p>
                  <a:p>
                    <a:pPr>
                      <a:defRPr/>
                    </a:pPr>
                    <a:endParaRPr lang="en-US" b="0" dirty="0"/>
                  </a:p>
                </p:txBody>
              </p:sp>
              <p:sp>
                <p:nvSpPr>
                  <p:cNvPr id="29763" name="Rectangle 42"/>
                  <p:cNvSpPr>
                    <a:spLocks noChangeArrowheads="1"/>
                  </p:cNvSpPr>
                  <p:nvPr/>
                </p:nvSpPr>
                <p:spPr bwMode="auto">
                  <a:xfrm>
                    <a:off x="1727" y="1209"/>
                    <a:ext cx="878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AU" altLang="en-US" sz="1800" b="0"/>
                  </a:p>
                </p:txBody>
              </p:sp>
            </p:grpSp>
            <p:grpSp>
              <p:nvGrpSpPr>
                <p:cNvPr id="29717" name="Group 43"/>
                <p:cNvGrpSpPr>
                  <a:grpSpLocks/>
                </p:cNvGrpSpPr>
                <p:nvPr/>
              </p:nvGrpSpPr>
              <p:grpSpPr bwMode="auto">
                <a:xfrm>
                  <a:off x="0" y="1612"/>
                  <a:ext cx="705" cy="403"/>
                  <a:chOff x="0" y="1612"/>
                  <a:chExt cx="705" cy="403"/>
                </a:xfrm>
              </p:grpSpPr>
              <p:sp>
                <p:nvSpPr>
                  <p:cNvPr id="29760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1612"/>
                    <a:ext cx="619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b="0">
                        <a:cs typeface="Times New Roman" panose="02020603050405020304" pitchFamily="18" charset="0"/>
                      </a:rPr>
                      <a:t>Kamal</a:t>
                    </a:r>
                  </a:p>
                  <a:p>
                    <a:pPr eaLnBrk="1" hangingPunct="1"/>
                    <a:endParaRPr lang="en-US" altLang="en-US" b="0"/>
                  </a:p>
                </p:txBody>
              </p:sp>
              <p:sp>
                <p:nvSpPr>
                  <p:cNvPr id="29761" name="Rectangle 45"/>
                  <p:cNvSpPr>
                    <a:spLocks noChangeArrowheads="1"/>
                  </p:cNvSpPr>
                  <p:nvPr/>
                </p:nvSpPr>
                <p:spPr bwMode="auto">
                  <a:xfrm>
                    <a:off x="0" y="1612"/>
                    <a:ext cx="705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AU" altLang="en-US" sz="1800" b="0"/>
                  </a:p>
                </p:txBody>
              </p:sp>
            </p:grpSp>
            <p:grpSp>
              <p:nvGrpSpPr>
                <p:cNvPr id="29718" name="Group 46"/>
                <p:cNvGrpSpPr>
                  <a:grpSpLocks/>
                </p:cNvGrpSpPr>
                <p:nvPr/>
              </p:nvGrpSpPr>
              <p:grpSpPr bwMode="auto">
                <a:xfrm>
                  <a:off x="705" y="1612"/>
                  <a:ext cx="1022" cy="403"/>
                  <a:chOff x="705" y="1612"/>
                  <a:chExt cx="1022" cy="403"/>
                </a:xfrm>
              </p:grpSpPr>
              <p:sp>
                <p:nvSpPr>
                  <p:cNvPr id="29758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748" y="1612"/>
                    <a:ext cx="936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b="0">
                        <a:solidFill>
                          <a:srgbClr val="00B050"/>
                        </a:solidFill>
                        <a:cs typeface="Times New Roman" panose="02020603050405020304" pitchFamily="18" charset="0"/>
                      </a:rPr>
                      <a:t>Mathematics</a:t>
                    </a:r>
                  </a:p>
                  <a:p>
                    <a:pPr eaLnBrk="1" hangingPunct="1"/>
                    <a:endParaRPr lang="en-US" altLang="en-US" b="0"/>
                  </a:p>
                </p:txBody>
              </p:sp>
              <p:sp>
                <p:nvSpPr>
                  <p:cNvPr id="29759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705" y="1612"/>
                    <a:ext cx="1022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AU" altLang="en-US" sz="1800" b="0"/>
                  </a:p>
                </p:txBody>
              </p:sp>
            </p:grpSp>
            <p:grpSp>
              <p:nvGrpSpPr>
                <p:cNvPr id="29719" name="Group 49"/>
                <p:cNvGrpSpPr>
                  <a:grpSpLocks/>
                </p:cNvGrpSpPr>
                <p:nvPr/>
              </p:nvGrpSpPr>
              <p:grpSpPr bwMode="auto">
                <a:xfrm>
                  <a:off x="1727" y="1612"/>
                  <a:ext cx="878" cy="403"/>
                  <a:chOff x="1727" y="1612"/>
                  <a:chExt cx="878" cy="403"/>
                </a:xfrm>
              </p:grpSpPr>
              <p:sp>
                <p:nvSpPr>
                  <p:cNvPr id="29756" name="Rectangle 50"/>
                  <p:cNvSpPr>
                    <a:spLocks noChangeArrowheads="1"/>
                  </p:cNvSpPr>
                  <p:nvPr/>
                </p:nvSpPr>
                <p:spPr bwMode="auto">
                  <a:xfrm>
                    <a:off x="1770" y="1612"/>
                    <a:ext cx="792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b="0">
                        <a:solidFill>
                          <a:srgbClr val="00B050"/>
                        </a:solidFill>
                        <a:cs typeface="Times New Roman" panose="02020603050405020304" pitchFamily="18" charset="0"/>
                      </a:rPr>
                      <a:t>Chandrika</a:t>
                    </a:r>
                  </a:p>
                  <a:p>
                    <a:pPr eaLnBrk="1" hangingPunct="1"/>
                    <a:endParaRPr lang="en-US" altLang="en-US" b="0"/>
                  </a:p>
                </p:txBody>
              </p:sp>
              <p:sp>
                <p:nvSpPr>
                  <p:cNvPr id="29757" name="Rectangle 51"/>
                  <p:cNvSpPr>
                    <a:spLocks noChangeArrowheads="1"/>
                  </p:cNvSpPr>
                  <p:nvPr/>
                </p:nvSpPr>
                <p:spPr bwMode="auto">
                  <a:xfrm>
                    <a:off x="1727" y="1612"/>
                    <a:ext cx="878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AU" altLang="en-US" sz="1800" b="0"/>
                  </a:p>
                </p:txBody>
              </p:sp>
            </p:grpSp>
            <p:grpSp>
              <p:nvGrpSpPr>
                <p:cNvPr id="29720" name="Group 52"/>
                <p:cNvGrpSpPr>
                  <a:grpSpLocks/>
                </p:cNvGrpSpPr>
                <p:nvPr/>
              </p:nvGrpSpPr>
              <p:grpSpPr bwMode="auto">
                <a:xfrm>
                  <a:off x="0" y="2015"/>
                  <a:ext cx="705" cy="403"/>
                  <a:chOff x="0" y="2015"/>
                  <a:chExt cx="705" cy="403"/>
                </a:xfrm>
              </p:grpSpPr>
              <p:sp>
                <p:nvSpPr>
                  <p:cNvPr id="29754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2015"/>
                    <a:ext cx="619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b="0">
                        <a:cs typeface="Times New Roman" panose="02020603050405020304" pitchFamily="18" charset="0"/>
                      </a:rPr>
                      <a:t>Janith</a:t>
                    </a:r>
                  </a:p>
                  <a:p>
                    <a:pPr eaLnBrk="1" hangingPunct="1"/>
                    <a:endParaRPr lang="en-US" altLang="en-US" b="0"/>
                  </a:p>
                </p:txBody>
              </p:sp>
              <p:sp>
                <p:nvSpPr>
                  <p:cNvPr id="29755" name="Rectangle 54"/>
                  <p:cNvSpPr>
                    <a:spLocks noChangeArrowheads="1"/>
                  </p:cNvSpPr>
                  <p:nvPr/>
                </p:nvSpPr>
                <p:spPr bwMode="auto">
                  <a:xfrm>
                    <a:off x="0" y="2015"/>
                    <a:ext cx="705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AU" altLang="en-US" sz="1800" b="0"/>
                  </a:p>
                </p:txBody>
              </p:sp>
            </p:grpSp>
            <p:grpSp>
              <p:nvGrpSpPr>
                <p:cNvPr id="29721" name="Group 55"/>
                <p:cNvGrpSpPr>
                  <a:grpSpLocks/>
                </p:cNvGrpSpPr>
                <p:nvPr/>
              </p:nvGrpSpPr>
              <p:grpSpPr bwMode="auto">
                <a:xfrm>
                  <a:off x="705" y="2015"/>
                  <a:ext cx="1022" cy="403"/>
                  <a:chOff x="705" y="2015"/>
                  <a:chExt cx="1022" cy="403"/>
                </a:xfrm>
              </p:grpSpPr>
              <p:sp>
                <p:nvSpPr>
                  <p:cNvPr id="56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748" y="2015"/>
                    <a:ext cx="936" cy="403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r>
                      <a:rPr lang="en-US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cs typeface="Times New Roman" pitchFamily="18" charset="0"/>
                      </a:rPr>
                      <a:t>Database</a:t>
                    </a:r>
                  </a:p>
                  <a:p>
                    <a:pPr>
                      <a:defRPr/>
                    </a:pPr>
                    <a:endParaRPr lang="en-US" b="0" dirty="0"/>
                  </a:p>
                </p:txBody>
              </p:sp>
              <p:sp>
                <p:nvSpPr>
                  <p:cNvPr id="29753" name="Rectangle 57"/>
                  <p:cNvSpPr>
                    <a:spLocks noChangeArrowheads="1"/>
                  </p:cNvSpPr>
                  <p:nvPr/>
                </p:nvSpPr>
                <p:spPr bwMode="auto">
                  <a:xfrm>
                    <a:off x="705" y="2015"/>
                    <a:ext cx="1022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AU" altLang="en-US" sz="1800" b="0"/>
                  </a:p>
                </p:txBody>
              </p:sp>
            </p:grpSp>
            <p:grpSp>
              <p:nvGrpSpPr>
                <p:cNvPr id="29722" name="Group 58"/>
                <p:cNvGrpSpPr>
                  <a:grpSpLocks/>
                </p:cNvGrpSpPr>
                <p:nvPr/>
              </p:nvGrpSpPr>
              <p:grpSpPr bwMode="auto">
                <a:xfrm>
                  <a:off x="1727" y="2015"/>
                  <a:ext cx="878" cy="403"/>
                  <a:chOff x="1727" y="2015"/>
                  <a:chExt cx="878" cy="403"/>
                </a:xfrm>
              </p:grpSpPr>
              <p:sp>
                <p:nvSpPr>
                  <p:cNvPr id="54" name="Rectangle 59"/>
                  <p:cNvSpPr>
                    <a:spLocks noChangeArrowheads="1"/>
                  </p:cNvSpPr>
                  <p:nvPr/>
                </p:nvSpPr>
                <p:spPr bwMode="auto">
                  <a:xfrm>
                    <a:off x="1770" y="2015"/>
                    <a:ext cx="792" cy="403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r>
                      <a:rPr lang="en-US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cs typeface="Times New Roman" pitchFamily="18" charset="0"/>
                      </a:rPr>
                      <a:t>ABC</a:t>
                    </a:r>
                  </a:p>
                  <a:p>
                    <a:pPr>
                      <a:defRPr/>
                    </a:pPr>
                    <a:endParaRPr lang="en-US" b="0" dirty="0"/>
                  </a:p>
                </p:txBody>
              </p:sp>
              <p:sp>
                <p:nvSpPr>
                  <p:cNvPr id="29751" name="Rectangle 60"/>
                  <p:cNvSpPr>
                    <a:spLocks noChangeArrowheads="1"/>
                  </p:cNvSpPr>
                  <p:nvPr/>
                </p:nvSpPr>
                <p:spPr bwMode="auto">
                  <a:xfrm>
                    <a:off x="1727" y="2015"/>
                    <a:ext cx="878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AU" altLang="en-US" sz="1800" b="0"/>
                  </a:p>
                </p:txBody>
              </p:sp>
            </p:grpSp>
            <p:grpSp>
              <p:nvGrpSpPr>
                <p:cNvPr id="29723" name="Group 61"/>
                <p:cNvGrpSpPr>
                  <a:grpSpLocks/>
                </p:cNvGrpSpPr>
                <p:nvPr/>
              </p:nvGrpSpPr>
              <p:grpSpPr bwMode="auto">
                <a:xfrm>
                  <a:off x="0" y="2418"/>
                  <a:ext cx="705" cy="403"/>
                  <a:chOff x="0" y="2418"/>
                  <a:chExt cx="705" cy="403"/>
                </a:xfrm>
              </p:grpSpPr>
              <p:sp>
                <p:nvSpPr>
                  <p:cNvPr id="29748" name="Rectangle 62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2418"/>
                    <a:ext cx="619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b="0">
                        <a:cs typeface="Times New Roman" panose="02020603050405020304" pitchFamily="18" charset="0"/>
                      </a:rPr>
                      <a:t>Ranil</a:t>
                    </a:r>
                  </a:p>
                  <a:p>
                    <a:pPr eaLnBrk="1" hangingPunct="1"/>
                    <a:endParaRPr lang="en-US" altLang="en-US" b="0"/>
                  </a:p>
                </p:txBody>
              </p:sp>
              <p:sp>
                <p:nvSpPr>
                  <p:cNvPr id="29749" name="Rectangle 63"/>
                  <p:cNvSpPr>
                    <a:spLocks noChangeArrowheads="1"/>
                  </p:cNvSpPr>
                  <p:nvPr/>
                </p:nvSpPr>
                <p:spPr bwMode="auto">
                  <a:xfrm>
                    <a:off x="0" y="2418"/>
                    <a:ext cx="705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AU" altLang="en-US" sz="1800" b="0"/>
                  </a:p>
                </p:txBody>
              </p:sp>
            </p:grpSp>
            <p:grpSp>
              <p:nvGrpSpPr>
                <p:cNvPr id="29724" name="Group 64"/>
                <p:cNvGrpSpPr>
                  <a:grpSpLocks/>
                </p:cNvGrpSpPr>
                <p:nvPr/>
              </p:nvGrpSpPr>
              <p:grpSpPr bwMode="auto">
                <a:xfrm>
                  <a:off x="705" y="2418"/>
                  <a:ext cx="1022" cy="403"/>
                  <a:chOff x="705" y="2418"/>
                  <a:chExt cx="1022" cy="403"/>
                </a:xfrm>
              </p:grpSpPr>
              <p:sp>
                <p:nvSpPr>
                  <p:cNvPr id="50" name="Rectangle 65"/>
                  <p:cNvSpPr>
                    <a:spLocks noChangeArrowheads="1"/>
                  </p:cNvSpPr>
                  <p:nvPr/>
                </p:nvSpPr>
                <p:spPr bwMode="auto">
                  <a:xfrm>
                    <a:off x="748" y="2416"/>
                    <a:ext cx="936" cy="409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r>
                      <a:rPr lang="en-US" b="0" dirty="0">
                        <a:solidFill>
                          <a:schemeClr val="accent6">
                            <a:lumMod val="75000"/>
                          </a:schemeClr>
                        </a:solidFill>
                        <a:cs typeface="Times New Roman" pitchFamily="18" charset="0"/>
                      </a:rPr>
                      <a:t>Operating Systems</a:t>
                    </a:r>
                  </a:p>
                  <a:p>
                    <a:pPr>
                      <a:defRPr/>
                    </a:pPr>
                    <a:endParaRPr lang="en-US" b="0" dirty="0"/>
                  </a:p>
                </p:txBody>
              </p:sp>
              <p:sp>
                <p:nvSpPr>
                  <p:cNvPr id="29747" name="Rectangle 66"/>
                  <p:cNvSpPr>
                    <a:spLocks noChangeArrowheads="1"/>
                  </p:cNvSpPr>
                  <p:nvPr/>
                </p:nvSpPr>
                <p:spPr bwMode="auto">
                  <a:xfrm>
                    <a:off x="705" y="2418"/>
                    <a:ext cx="1022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AU" altLang="en-US" sz="1800" b="0"/>
                  </a:p>
                </p:txBody>
              </p:sp>
            </p:grpSp>
            <p:grpSp>
              <p:nvGrpSpPr>
                <p:cNvPr id="29725" name="Group 67"/>
                <p:cNvGrpSpPr>
                  <a:grpSpLocks/>
                </p:cNvGrpSpPr>
                <p:nvPr/>
              </p:nvGrpSpPr>
              <p:grpSpPr bwMode="auto">
                <a:xfrm>
                  <a:off x="1727" y="2418"/>
                  <a:ext cx="878" cy="403"/>
                  <a:chOff x="1727" y="2418"/>
                  <a:chExt cx="878" cy="403"/>
                </a:xfrm>
              </p:grpSpPr>
              <p:sp>
                <p:nvSpPr>
                  <p:cNvPr id="48" name="Rectangle 68"/>
                  <p:cNvSpPr>
                    <a:spLocks noChangeArrowheads="1"/>
                  </p:cNvSpPr>
                  <p:nvPr/>
                </p:nvSpPr>
                <p:spPr bwMode="auto">
                  <a:xfrm>
                    <a:off x="1770" y="2416"/>
                    <a:ext cx="792" cy="409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r>
                      <a:rPr lang="en-US" b="0" dirty="0">
                        <a:solidFill>
                          <a:schemeClr val="accent6">
                            <a:lumMod val="75000"/>
                          </a:schemeClr>
                        </a:solidFill>
                        <a:cs typeface="Times New Roman" pitchFamily="18" charset="0"/>
                      </a:rPr>
                      <a:t>Samantha</a:t>
                    </a:r>
                  </a:p>
                  <a:p>
                    <a:pPr>
                      <a:defRPr/>
                    </a:pPr>
                    <a:endParaRPr lang="en-US" b="0" dirty="0"/>
                  </a:p>
                </p:txBody>
              </p:sp>
              <p:sp>
                <p:nvSpPr>
                  <p:cNvPr id="29745" name="Rectangle 69"/>
                  <p:cNvSpPr>
                    <a:spLocks noChangeArrowheads="1"/>
                  </p:cNvSpPr>
                  <p:nvPr/>
                </p:nvSpPr>
                <p:spPr bwMode="auto">
                  <a:xfrm>
                    <a:off x="1727" y="2418"/>
                    <a:ext cx="878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AU" altLang="en-US" sz="1800" b="0"/>
                  </a:p>
                </p:txBody>
              </p:sp>
            </p:grpSp>
            <p:grpSp>
              <p:nvGrpSpPr>
                <p:cNvPr id="29726" name="Group 70"/>
                <p:cNvGrpSpPr>
                  <a:grpSpLocks/>
                </p:cNvGrpSpPr>
                <p:nvPr/>
              </p:nvGrpSpPr>
              <p:grpSpPr bwMode="auto">
                <a:xfrm>
                  <a:off x="0" y="2821"/>
                  <a:ext cx="705" cy="403"/>
                  <a:chOff x="0" y="2821"/>
                  <a:chExt cx="705" cy="403"/>
                </a:xfrm>
              </p:grpSpPr>
              <p:sp>
                <p:nvSpPr>
                  <p:cNvPr id="29742" name="Rectangle 71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2821"/>
                    <a:ext cx="619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b="0">
                        <a:cs typeface="Times New Roman" panose="02020603050405020304" pitchFamily="18" charset="0"/>
                      </a:rPr>
                      <a:t>Saman</a:t>
                    </a:r>
                  </a:p>
                  <a:p>
                    <a:pPr eaLnBrk="1" hangingPunct="1"/>
                    <a:endParaRPr lang="en-US" altLang="en-US" b="0"/>
                  </a:p>
                </p:txBody>
              </p:sp>
              <p:sp>
                <p:nvSpPr>
                  <p:cNvPr id="29743" name="Rectangle 72"/>
                  <p:cNvSpPr>
                    <a:spLocks noChangeArrowheads="1"/>
                  </p:cNvSpPr>
                  <p:nvPr/>
                </p:nvSpPr>
                <p:spPr bwMode="auto">
                  <a:xfrm>
                    <a:off x="0" y="2821"/>
                    <a:ext cx="705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AU" altLang="en-US" sz="1800" b="0"/>
                  </a:p>
                </p:txBody>
              </p:sp>
            </p:grpSp>
            <p:grpSp>
              <p:nvGrpSpPr>
                <p:cNvPr id="29727" name="Group 73"/>
                <p:cNvGrpSpPr>
                  <a:grpSpLocks/>
                </p:cNvGrpSpPr>
                <p:nvPr/>
              </p:nvGrpSpPr>
              <p:grpSpPr bwMode="auto">
                <a:xfrm>
                  <a:off x="705" y="2821"/>
                  <a:ext cx="1022" cy="403"/>
                  <a:chOff x="705" y="2821"/>
                  <a:chExt cx="1022" cy="403"/>
                </a:xfrm>
              </p:grpSpPr>
              <p:sp>
                <p:nvSpPr>
                  <p:cNvPr id="29740" name="Rectangle 74"/>
                  <p:cNvSpPr>
                    <a:spLocks noChangeArrowheads="1"/>
                  </p:cNvSpPr>
                  <p:nvPr/>
                </p:nvSpPr>
                <p:spPr bwMode="auto">
                  <a:xfrm>
                    <a:off x="748" y="2821"/>
                    <a:ext cx="936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b="0">
                        <a:solidFill>
                          <a:srgbClr val="00B050"/>
                        </a:solidFill>
                        <a:cs typeface="Times New Roman" panose="02020603050405020304" pitchFamily="18" charset="0"/>
                      </a:rPr>
                      <a:t>Mathematics</a:t>
                    </a:r>
                  </a:p>
                  <a:p>
                    <a:pPr eaLnBrk="1" hangingPunct="1"/>
                    <a:endParaRPr lang="en-US" altLang="en-US" b="0"/>
                  </a:p>
                </p:txBody>
              </p:sp>
              <p:sp>
                <p:nvSpPr>
                  <p:cNvPr id="29741" name="Rectangle 75"/>
                  <p:cNvSpPr>
                    <a:spLocks noChangeArrowheads="1"/>
                  </p:cNvSpPr>
                  <p:nvPr/>
                </p:nvSpPr>
                <p:spPr bwMode="auto">
                  <a:xfrm>
                    <a:off x="705" y="2821"/>
                    <a:ext cx="1022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AU" altLang="en-US" sz="1800" b="0"/>
                  </a:p>
                </p:txBody>
              </p:sp>
            </p:grpSp>
            <p:grpSp>
              <p:nvGrpSpPr>
                <p:cNvPr id="29728" name="Group 76"/>
                <p:cNvGrpSpPr>
                  <a:grpSpLocks/>
                </p:cNvGrpSpPr>
                <p:nvPr/>
              </p:nvGrpSpPr>
              <p:grpSpPr bwMode="auto">
                <a:xfrm>
                  <a:off x="1727" y="2821"/>
                  <a:ext cx="878" cy="403"/>
                  <a:chOff x="1727" y="2821"/>
                  <a:chExt cx="878" cy="403"/>
                </a:xfrm>
              </p:grpSpPr>
              <p:sp>
                <p:nvSpPr>
                  <p:cNvPr id="29738" name="Rectangle 77"/>
                  <p:cNvSpPr>
                    <a:spLocks noChangeArrowheads="1"/>
                  </p:cNvSpPr>
                  <p:nvPr/>
                </p:nvSpPr>
                <p:spPr bwMode="auto">
                  <a:xfrm>
                    <a:off x="1770" y="2821"/>
                    <a:ext cx="792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b="0">
                        <a:solidFill>
                          <a:srgbClr val="00B050"/>
                        </a:solidFill>
                        <a:cs typeface="Times New Roman" panose="02020603050405020304" pitchFamily="18" charset="0"/>
                      </a:rPr>
                      <a:t>Chandrika</a:t>
                    </a:r>
                  </a:p>
                  <a:p>
                    <a:pPr eaLnBrk="1" hangingPunct="1"/>
                    <a:endParaRPr lang="en-US" altLang="en-US" b="0"/>
                  </a:p>
                </p:txBody>
              </p:sp>
              <p:sp>
                <p:nvSpPr>
                  <p:cNvPr id="29739" name="Rectangle 78"/>
                  <p:cNvSpPr>
                    <a:spLocks noChangeArrowheads="1"/>
                  </p:cNvSpPr>
                  <p:nvPr/>
                </p:nvSpPr>
                <p:spPr bwMode="auto">
                  <a:xfrm>
                    <a:off x="1727" y="2821"/>
                    <a:ext cx="878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AU" altLang="en-US" sz="1800" b="0"/>
                  </a:p>
                </p:txBody>
              </p:sp>
            </p:grpSp>
            <p:grpSp>
              <p:nvGrpSpPr>
                <p:cNvPr id="29729" name="Group 79"/>
                <p:cNvGrpSpPr>
                  <a:grpSpLocks/>
                </p:cNvGrpSpPr>
                <p:nvPr/>
              </p:nvGrpSpPr>
              <p:grpSpPr bwMode="auto">
                <a:xfrm>
                  <a:off x="0" y="3224"/>
                  <a:ext cx="705" cy="403"/>
                  <a:chOff x="0" y="3224"/>
                  <a:chExt cx="705" cy="403"/>
                </a:xfrm>
              </p:grpSpPr>
              <p:sp>
                <p:nvSpPr>
                  <p:cNvPr id="29736" name="Rectangle 80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3224"/>
                    <a:ext cx="619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b="0">
                        <a:cs typeface="Times New Roman" panose="02020603050405020304" pitchFamily="18" charset="0"/>
                      </a:rPr>
                      <a:t>Ruwan</a:t>
                    </a:r>
                  </a:p>
                  <a:p>
                    <a:pPr eaLnBrk="1" hangingPunct="1"/>
                    <a:endParaRPr lang="en-US" altLang="en-US" b="0"/>
                  </a:p>
                </p:txBody>
              </p:sp>
              <p:sp>
                <p:nvSpPr>
                  <p:cNvPr id="29737" name="Rectangle 81"/>
                  <p:cNvSpPr>
                    <a:spLocks noChangeArrowheads="1"/>
                  </p:cNvSpPr>
                  <p:nvPr/>
                </p:nvSpPr>
                <p:spPr bwMode="auto">
                  <a:xfrm>
                    <a:off x="0" y="3224"/>
                    <a:ext cx="705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AU" altLang="en-US" sz="1800" b="0"/>
                  </a:p>
                </p:txBody>
              </p:sp>
            </p:grpSp>
            <p:grpSp>
              <p:nvGrpSpPr>
                <p:cNvPr id="29730" name="Group 82"/>
                <p:cNvGrpSpPr>
                  <a:grpSpLocks/>
                </p:cNvGrpSpPr>
                <p:nvPr/>
              </p:nvGrpSpPr>
              <p:grpSpPr bwMode="auto">
                <a:xfrm>
                  <a:off x="705" y="3224"/>
                  <a:ext cx="1022" cy="403"/>
                  <a:chOff x="705" y="3224"/>
                  <a:chExt cx="1022" cy="403"/>
                </a:xfrm>
              </p:grpSpPr>
              <p:sp>
                <p:nvSpPr>
                  <p:cNvPr id="38" name="Rectangle 83"/>
                  <p:cNvSpPr>
                    <a:spLocks noChangeArrowheads="1"/>
                  </p:cNvSpPr>
                  <p:nvPr/>
                </p:nvSpPr>
                <p:spPr bwMode="auto">
                  <a:xfrm>
                    <a:off x="748" y="3224"/>
                    <a:ext cx="936" cy="403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r>
                      <a:rPr lang="en-US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cs typeface="Times New Roman" pitchFamily="18" charset="0"/>
                      </a:rPr>
                      <a:t>Database</a:t>
                    </a:r>
                  </a:p>
                  <a:p>
                    <a:pPr>
                      <a:defRPr/>
                    </a:pPr>
                    <a:endParaRPr lang="en-US" b="0" dirty="0"/>
                  </a:p>
                </p:txBody>
              </p:sp>
              <p:sp>
                <p:nvSpPr>
                  <p:cNvPr id="29735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705" y="3224"/>
                    <a:ext cx="1022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AU" altLang="en-US" sz="1800" b="0"/>
                  </a:p>
                </p:txBody>
              </p:sp>
            </p:grpSp>
            <p:grpSp>
              <p:nvGrpSpPr>
                <p:cNvPr id="29731" name="Group 85"/>
                <p:cNvGrpSpPr>
                  <a:grpSpLocks/>
                </p:cNvGrpSpPr>
                <p:nvPr/>
              </p:nvGrpSpPr>
              <p:grpSpPr bwMode="auto">
                <a:xfrm>
                  <a:off x="1727" y="3224"/>
                  <a:ext cx="878" cy="403"/>
                  <a:chOff x="1727" y="3224"/>
                  <a:chExt cx="878" cy="403"/>
                </a:xfrm>
              </p:grpSpPr>
              <p:sp>
                <p:nvSpPr>
                  <p:cNvPr id="36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1770" y="3224"/>
                    <a:ext cx="792" cy="403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r>
                      <a:rPr lang="en-US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cs typeface="Times New Roman" pitchFamily="18" charset="0"/>
                      </a:rPr>
                      <a:t>ABC</a:t>
                    </a:r>
                  </a:p>
                  <a:p>
                    <a:pPr>
                      <a:defRPr/>
                    </a:pPr>
                    <a:endParaRPr lang="en-US" b="0" dirty="0"/>
                  </a:p>
                </p:txBody>
              </p:sp>
              <p:sp>
                <p:nvSpPr>
                  <p:cNvPr id="29733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1727" y="3224"/>
                    <a:ext cx="878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AU" altLang="en-US" sz="1800" b="0"/>
                  </a:p>
                </p:txBody>
              </p:sp>
            </p:grpSp>
          </p:grpSp>
          <p:sp>
            <p:nvSpPr>
              <p:cNvPr id="29704" name="Rectangle 88"/>
              <p:cNvSpPr>
                <a:spLocks noChangeArrowheads="1"/>
              </p:cNvSpPr>
              <p:nvPr/>
            </p:nvSpPr>
            <p:spPr bwMode="auto">
              <a:xfrm>
                <a:off x="-3" y="-3"/>
                <a:ext cx="2611" cy="3633"/>
              </a:xfrm>
              <a:prstGeom prst="rect">
                <a:avLst/>
              </a:prstGeom>
              <a:noFill/>
              <a:ln w="9525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sp>
          <p:nvSpPr>
            <p:cNvPr id="29702" name="Text Box 89"/>
            <p:cNvSpPr txBox="1">
              <a:spLocks noChangeArrowheads="1"/>
            </p:cNvSpPr>
            <p:nvPr/>
          </p:nvSpPr>
          <p:spPr bwMode="auto">
            <a:xfrm>
              <a:off x="576" y="672"/>
              <a:ext cx="7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0"/>
                <a:t>TEACH</a:t>
              </a:r>
            </a:p>
          </p:txBody>
        </p:sp>
      </p:grpSp>
      <p:sp>
        <p:nvSpPr>
          <p:cNvPr id="2969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800" smtClean="0"/>
              <a:t>Functional dependency (contd.)</a:t>
            </a:r>
          </a:p>
        </p:txBody>
      </p:sp>
      <p:sp>
        <p:nvSpPr>
          <p:cNvPr id="29700" name="TextBox 90"/>
          <p:cNvSpPr txBox="1">
            <a:spLocks noChangeArrowheads="1"/>
          </p:cNvSpPr>
          <p:nvPr/>
        </p:nvSpPr>
        <p:spPr bwMode="auto">
          <a:xfrm>
            <a:off x="914400" y="5562600"/>
            <a:ext cx="6629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TEACHER </a:t>
            </a:r>
            <a:r>
              <a:rPr lang="en-US" altLang="en-US" sz="1800">
                <a:sym typeface="Wingdings" panose="05000000000000000000" pitchFamily="2" charset="2"/>
              </a:rPr>
              <a:t> COURSE</a:t>
            </a:r>
          </a:p>
          <a:p>
            <a:pPr eaLnBrk="1" hangingPunct="1"/>
            <a:r>
              <a:rPr lang="en-US" altLang="en-US" sz="1800">
                <a:sym typeface="Wingdings" panose="05000000000000000000" pitchFamily="2" charset="2"/>
              </a:rPr>
              <a:t> </a:t>
            </a: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3407454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altLang="en-US" smtClean="0"/>
              <a:t>Functional Dependency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295400"/>
            <a:ext cx="8524875" cy="5181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2000" smtClean="0"/>
              <a:t>Diagrammatic representation:</a:t>
            </a:r>
          </a:p>
          <a:p>
            <a:pPr eaLnBrk="1" hangingPunct="1">
              <a:lnSpc>
                <a:spcPct val="80000"/>
              </a:lnSpc>
            </a:pPr>
            <a:endParaRPr lang="en-GB" altLang="en-US" sz="2000" b="1" smtClean="0"/>
          </a:p>
          <a:p>
            <a:pPr eaLnBrk="1" hangingPunct="1">
              <a:lnSpc>
                <a:spcPct val="80000"/>
              </a:lnSpc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endParaRPr lang="en-GB" altLang="en-US" sz="2000" i="1" smtClean="0"/>
          </a:p>
          <a:p>
            <a:pPr eaLnBrk="1" hangingPunct="1">
              <a:lnSpc>
                <a:spcPct val="80000"/>
              </a:lnSpc>
            </a:pPr>
            <a:endParaRPr lang="en-GB" altLang="en-US" sz="2000" i="1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000" i="1" smtClean="0">
                <a:solidFill>
                  <a:srgbClr val="FF6600"/>
                </a:solidFill>
              </a:rPr>
              <a:t>Determinant</a:t>
            </a:r>
            <a:r>
              <a:rPr lang="en-GB" altLang="en-US" sz="2000" smtClean="0">
                <a:solidFill>
                  <a:srgbClr val="FF6600"/>
                </a:solidFill>
              </a:rPr>
              <a:t> </a:t>
            </a:r>
            <a:r>
              <a:rPr lang="en-GB" altLang="en-US" sz="2000" smtClean="0"/>
              <a:t>of a functional dependency refers to attribute or group of attributes on left-hand side of the arrow.</a:t>
            </a:r>
          </a:p>
          <a:p>
            <a:pPr eaLnBrk="1" hangingPunct="1">
              <a:lnSpc>
                <a:spcPct val="80000"/>
              </a:lnSpc>
            </a:pPr>
            <a:endParaRPr lang="en-GB" altLang="en-US" sz="20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000" smtClean="0"/>
              <a:t>If the determinant can maintain the functional dependency with a minimum number of attributes, then we call it full functional dependency.</a:t>
            </a:r>
          </a:p>
        </p:txBody>
      </p:sp>
      <p:pic>
        <p:nvPicPr>
          <p:cNvPr id="513028" name="Picture 4" descr="DS3-Figure 13-0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19200" y="2362200"/>
            <a:ext cx="6611938" cy="854075"/>
          </a:xfrm>
          <a:noFill/>
        </p:spPr>
      </p:pic>
    </p:spTree>
    <p:extLst>
      <p:ext uri="{BB962C8B-B14F-4D97-AF65-F5344CB8AC3E}">
        <p14:creationId xmlns:p14="http://schemas.microsoft.com/office/powerpoint/2010/main" val="4220712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800" smtClean="0"/>
              <a:t>Key Terms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mtClean="0"/>
              <a:t>Review of some terms…</a:t>
            </a:r>
          </a:p>
          <a:p>
            <a:pPr eaLnBrk="1" hangingPunct="1"/>
            <a:r>
              <a:rPr lang="en-US" altLang="en-US" b="1" smtClean="0">
                <a:solidFill>
                  <a:srgbClr val="FF6600"/>
                </a:solidFill>
              </a:rPr>
              <a:t>Superkey</a:t>
            </a:r>
            <a:r>
              <a:rPr lang="en-US" altLang="en-US" smtClean="0"/>
              <a:t>: Set of attributes S in relation R that can be used to identify each tuple uniquely.  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b="1" smtClean="0">
                <a:solidFill>
                  <a:srgbClr val="FF6600"/>
                </a:solidFill>
              </a:rPr>
              <a:t>Key</a:t>
            </a:r>
            <a:r>
              <a:rPr lang="en-US" altLang="en-US" smtClean="0"/>
              <a:t>: A key </a:t>
            </a:r>
            <a:r>
              <a:rPr lang="en-US" altLang="en-US" smtClean="0">
                <a:solidFill>
                  <a:srgbClr val="FF33CC"/>
                </a:solidFill>
              </a:rPr>
              <a:t>is a superkey</a:t>
            </a:r>
            <a:r>
              <a:rPr lang="en-US" altLang="en-US" smtClean="0"/>
              <a:t> with the additional property that removal of any attributes from the key will not satisfy the key condition.</a:t>
            </a:r>
          </a:p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4338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800" smtClean="0"/>
              <a:t>Key Terms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b="1" smtClean="0">
                <a:solidFill>
                  <a:srgbClr val="FF6600"/>
                </a:solidFill>
              </a:rPr>
              <a:t>Candidate Key</a:t>
            </a:r>
            <a:r>
              <a:rPr lang="en-US" altLang="en-US" smtClean="0"/>
              <a:t>: Each key of a relation is called a candidate key.</a:t>
            </a:r>
          </a:p>
          <a:p>
            <a:pPr eaLnBrk="1" hangingPunct="1">
              <a:lnSpc>
                <a:spcPct val="90000"/>
              </a:lnSpc>
            </a:pPr>
            <a:endParaRPr lang="en-US" altLang="en-US" smtClean="0"/>
          </a:p>
          <a:p>
            <a:pPr eaLnBrk="1" hangingPunct="1">
              <a:lnSpc>
                <a:spcPct val="90000"/>
              </a:lnSpc>
            </a:pPr>
            <a:r>
              <a:rPr lang="en-US" altLang="en-US" b="1" smtClean="0">
                <a:solidFill>
                  <a:srgbClr val="FF6600"/>
                </a:solidFill>
              </a:rPr>
              <a:t>Primary Key</a:t>
            </a:r>
            <a:r>
              <a:rPr lang="en-US" altLang="en-US" smtClean="0"/>
              <a:t>: A candidate key is chosen to be the primary key.</a:t>
            </a:r>
          </a:p>
          <a:p>
            <a:pPr eaLnBrk="1" hangingPunct="1">
              <a:lnSpc>
                <a:spcPct val="90000"/>
              </a:lnSpc>
            </a:pPr>
            <a:endParaRPr lang="en-US" altLang="en-US" smtClean="0"/>
          </a:p>
          <a:p>
            <a:pPr eaLnBrk="1" hangingPunct="1">
              <a:lnSpc>
                <a:spcPct val="90000"/>
              </a:lnSpc>
            </a:pPr>
            <a:r>
              <a:rPr lang="en-US" altLang="en-US" b="1" smtClean="0">
                <a:solidFill>
                  <a:srgbClr val="FF6600"/>
                </a:solidFill>
              </a:rPr>
              <a:t>Prime Attribute</a:t>
            </a:r>
            <a:r>
              <a:rPr lang="en-US" altLang="en-US" smtClean="0"/>
              <a:t>: an attribute which is a member of a candidate key.</a:t>
            </a:r>
          </a:p>
          <a:p>
            <a:pPr eaLnBrk="1" hangingPunct="1">
              <a:lnSpc>
                <a:spcPct val="90000"/>
              </a:lnSpc>
            </a:pPr>
            <a:endParaRPr lang="en-US" altLang="en-US" smtClean="0"/>
          </a:p>
          <a:p>
            <a:pPr eaLnBrk="1" hangingPunct="1">
              <a:lnSpc>
                <a:spcPct val="90000"/>
              </a:lnSpc>
            </a:pPr>
            <a:r>
              <a:rPr lang="en-US" altLang="en-US" b="1" smtClean="0">
                <a:solidFill>
                  <a:srgbClr val="FF6600"/>
                </a:solidFill>
              </a:rPr>
              <a:t>Nonprime Attribute</a:t>
            </a:r>
            <a:r>
              <a:rPr lang="en-US" altLang="en-US" smtClean="0"/>
              <a:t>: An attribute which is not prime.</a:t>
            </a:r>
          </a:p>
        </p:txBody>
      </p:sp>
    </p:spTree>
    <p:extLst>
      <p:ext uri="{BB962C8B-B14F-4D97-AF65-F5344CB8AC3E}">
        <p14:creationId xmlns:p14="http://schemas.microsoft.com/office/powerpoint/2010/main" val="2059080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altLang="en-US" smtClean="0"/>
              <a:t>Unnormalized Form (UNF)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347788"/>
            <a:ext cx="8599488" cy="192881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2400" smtClean="0"/>
              <a:t>A table that contains one or more repeating groups.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2400" smtClean="0">
              <a:latin typeface="CG Times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GB" altLang="en-US" sz="2400" smtClean="0"/>
              <a:t>To create an unnormalized table:</a:t>
            </a:r>
            <a:r>
              <a:rPr lang="en-GB" altLang="en-US" sz="2400" smtClean="0">
                <a:latin typeface="CG Times" pitchFamily="18" charset="0"/>
              </a:rPr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2400" smtClean="0"/>
              <a:t>Transform data from information source (e.g. form) into table format with columns and rows.</a:t>
            </a:r>
          </a:p>
        </p:txBody>
      </p:sp>
      <p:graphicFrame>
        <p:nvGraphicFramePr>
          <p:cNvPr id="447513" name="Group 25"/>
          <p:cNvGraphicFramePr>
            <a:graphicFrameLocks noGrp="1"/>
          </p:cNvGraphicFramePr>
          <p:nvPr>
            <p:ph sz="half" idx="2"/>
          </p:nvPr>
        </p:nvGraphicFramePr>
        <p:xfrm>
          <a:off x="315913" y="4208463"/>
          <a:ext cx="8586787" cy="1811338"/>
        </p:xfrm>
        <a:graphic>
          <a:graphicData uri="http://schemas.openxmlformats.org/drawingml/2006/table">
            <a:tbl>
              <a:tblPr/>
              <a:tblGrid>
                <a:gridCol w="183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3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Name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Address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Phone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Sally Singer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123 Broadway New York, NY, 11234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(111) 222-3345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81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Jason Jumper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456 Jolly Jumper St. Trenton NJ, 11547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(222) 334-5566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814" name="Text Box 22"/>
          <p:cNvSpPr txBox="1">
            <a:spLocks noChangeArrowheads="1"/>
          </p:cNvSpPr>
          <p:nvPr/>
        </p:nvSpPr>
        <p:spPr bwMode="auto">
          <a:xfrm>
            <a:off x="684213" y="3422650"/>
            <a:ext cx="7288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 sz="2400" b="0">
                <a:solidFill>
                  <a:srgbClr val="3333CC"/>
                </a:solidFill>
              </a:rPr>
              <a:t>Example 1 – address and name fields are composite</a:t>
            </a:r>
          </a:p>
        </p:txBody>
      </p:sp>
    </p:spTree>
    <p:extLst>
      <p:ext uri="{BB962C8B-B14F-4D97-AF65-F5344CB8AC3E}">
        <p14:creationId xmlns:p14="http://schemas.microsoft.com/office/powerpoint/2010/main" val="323884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altLang="en-US" smtClean="0"/>
              <a:t>Another example of UNF</a:t>
            </a:r>
          </a:p>
        </p:txBody>
      </p:sp>
      <p:graphicFrame>
        <p:nvGraphicFramePr>
          <p:cNvPr id="448559" name="Group 47"/>
          <p:cNvGraphicFramePr>
            <a:graphicFrameLocks noGrp="1"/>
          </p:cNvGraphicFramePr>
          <p:nvPr>
            <p:ph idx="1"/>
          </p:nvPr>
        </p:nvGraphicFramePr>
        <p:xfrm>
          <a:off x="395288" y="3213100"/>
          <a:ext cx="8366125" cy="1873251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4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2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238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Rep 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Representative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Client 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Time 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Client 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Time 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Client 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Time 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TS-89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Gilroy Gladstone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US Corp.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14 hrs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Taggarts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26 hrs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Kilroy Inc.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9 hrs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RK-56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Mary Mayhem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Italiana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67 hrs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Linkers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 hrs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 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 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857" name="Text Box 41"/>
          <p:cNvSpPr txBox="1">
            <a:spLocks noChangeArrowheads="1"/>
          </p:cNvSpPr>
          <p:nvPr/>
        </p:nvSpPr>
        <p:spPr bwMode="auto">
          <a:xfrm>
            <a:off x="457200" y="1550988"/>
            <a:ext cx="78486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 sz="2400" b="0">
                <a:solidFill>
                  <a:srgbClr val="3333CC"/>
                </a:solidFill>
              </a:rPr>
              <a:t>Example 2 – repeating columns for each client &amp;</a:t>
            </a:r>
          </a:p>
          <a:p>
            <a:pPr eaLnBrk="1" hangingPunct="1">
              <a:spcBef>
                <a:spcPct val="20000"/>
              </a:spcBef>
            </a:pPr>
            <a:r>
              <a:rPr lang="en-GB" altLang="en-US" sz="2400" b="0">
                <a:solidFill>
                  <a:srgbClr val="3333CC"/>
                </a:solidFill>
              </a:rPr>
              <a:t> composite name field</a:t>
            </a:r>
          </a:p>
        </p:txBody>
      </p:sp>
    </p:spTree>
    <p:extLst>
      <p:ext uri="{BB962C8B-B14F-4D97-AF65-F5344CB8AC3E}">
        <p14:creationId xmlns:p14="http://schemas.microsoft.com/office/powerpoint/2010/main" val="4216641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UNF to 1NF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GB" altLang="en-US" sz="2400" smtClean="0"/>
          </a:p>
          <a:p>
            <a:pPr eaLnBrk="1" hangingPunct="1"/>
            <a:r>
              <a:rPr lang="en-GB" altLang="en-US" sz="2400" smtClean="0"/>
              <a:t>Remove repeating group by:</a:t>
            </a:r>
          </a:p>
          <a:p>
            <a:pPr lvl="1" eaLnBrk="1" hangingPunct="1"/>
            <a:r>
              <a:rPr lang="en-GB" altLang="en-US" sz="2400" smtClean="0"/>
              <a:t>entering appropriate data into the empty columns of rows containing repeating data (‘flattening’ the table).</a:t>
            </a:r>
          </a:p>
          <a:p>
            <a:pPr eaLnBrk="1" hangingPunct="1">
              <a:buFontTx/>
              <a:buNone/>
            </a:pPr>
            <a:r>
              <a:rPr lang="en-GB" altLang="en-US" sz="2400" smtClean="0"/>
              <a:t>	</a:t>
            </a:r>
          </a:p>
          <a:p>
            <a:pPr eaLnBrk="1" hangingPunct="1">
              <a:buFontTx/>
              <a:buNone/>
            </a:pPr>
            <a:r>
              <a:rPr lang="en-GB" altLang="en-US" sz="2400" smtClean="0"/>
              <a:t>	Or by</a:t>
            </a:r>
            <a:endParaRPr lang="en-GB" altLang="en-US" sz="2400" i="1" smtClean="0"/>
          </a:p>
          <a:p>
            <a:pPr lvl="1" eaLnBrk="1" hangingPunct="1"/>
            <a:r>
              <a:rPr lang="en-GB" altLang="en-US" sz="2400" smtClean="0"/>
              <a:t>placing repeating data along with copy of the original key attribute(s) into a separate relation.</a:t>
            </a:r>
          </a:p>
        </p:txBody>
      </p:sp>
    </p:spTree>
    <p:extLst>
      <p:ext uri="{BB962C8B-B14F-4D97-AF65-F5344CB8AC3E}">
        <p14:creationId xmlns:p14="http://schemas.microsoft.com/office/powerpoint/2010/main" val="3880110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295400"/>
            <a:ext cx="56388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b="1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 smtClean="0">
                <a:solidFill>
                  <a:srgbClr val="FF6600"/>
                </a:solidFill>
              </a:rPr>
              <a:t>1</a:t>
            </a:r>
            <a:r>
              <a:rPr lang="en-US" altLang="en-US" b="1" baseline="30000" smtClean="0">
                <a:solidFill>
                  <a:srgbClr val="FF6600"/>
                </a:solidFill>
              </a:rPr>
              <a:t>st</a:t>
            </a:r>
            <a:r>
              <a:rPr lang="en-US" altLang="en-US" b="1" smtClean="0">
                <a:solidFill>
                  <a:srgbClr val="FF6600"/>
                </a:solidFill>
              </a:rPr>
              <a:t> Normal Form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A relation R is in first normal form (1NF) if domains of all attributes in the relation are </a:t>
            </a:r>
            <a:r>
              <a:rPr lang="en-US" altLang="en-US" i="1" smtClean="0"/>
              <a:t>atomic </a:t>
            </a:r>
            <a:r>
              <a:rPr lang="en-US" altLang="en-US" smtClean="0"/>
              <a:t>(simple &amp; indivisible). </a:t>
            </a:r>
          </a:p>
          <a:p>
            <a:pPr eaLnBrk="1" hangingPunct="1">
              <a:lnSpc>
                <a:spcPct val="90000"/>
              </a:lnSpc>
            </a:pPr>
            <a:endParaRPr lang="en-US" altLang="en-US" smtClean="0"/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Avoid multivalued &amp; composite attributes.</a:t>
            </a:r>
          </a:p>
        </p:txBody>
      </p:sp>
      <p:pic>
        <p:nvPicPr>
          <p:cNvPr id="36868" name="Picture 4" descr="eleve_prof-12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209800"/>
            <a:ext cx="2073275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3993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2"/>
          <p:cNvSpPr>
            <a:spLocks noChangeArrowheads="1"/>
          </p:cNvSpPr>
          <p:nvPr/>
        </p:nvSpPr>
        <p:spPr bwMode="auto">
          <a:xfrm>
            <a:off x="762000" y="3128963"/>
            <a:ext cx="7924800" cy="1695450"/>
          </a:xfrm>
          <a:prstGeom prst="rect">
            <a:avLst/>
          </a:prstGeom>
          <a:solidFill>
            <a:srgbClr val="CCCCFF"/>
          </a:solidFill>
          <a:ln w="9525">
            <a:solidFill>
              <a:srgbClr val="A0A0A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 sz="1800" b="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600200"/>
            <a:ext cx="8305800" cy="4800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mtClean="0"/>
              <a:t>For example…</a:t>
            </a:r>
          </a:p>
          <a:p>
            <a:pPr eaLnBrk="1" hangingPunct="1">
              <a:buFontTx/>
              <a:buNone/>
            </a:pPr>
            <a:r>
              <a:rPr lang="en-US" altLang="en-US" sz="2000" b="1" smtClean="0"/>
              <a:t>DEPARTMENT (Dname,</a:t>
            </a:r>
            <a:r>
              <a:rPr lang="en-US" altLang="en-US" sz="2000" b="1" u="sng" smtClean="0"/>
              <a:t>Dnumber</a:t>
            </a:r>
            <a:r>
              <a:rPr lang="en-US" altLang="en-US" sz="2000" b="1" smtClean="0"/>
              <a:t>, DMGRSSN, DLocation)</a:t>
            </a:r>
          </a:p>
          <a:p>
            <a:pPr eaLnBrk="1" hangingPunct="1">
              <a:buFontTx/>
              <a:buNone/>
            </a:pPr>
            <a:endParaRPr lang="en-US" altLang="en-US" sz="2000" b="1" smtClean="0"/>
          </a:p>
          <a:p>
            <a:pPr eaLnBrk="1" hangingPunct="1">
              <a:buFontTx/>
              <a:buNone/>
            </a:pPr>
            <a:endParaRPr lang="en-US" altLang="en-US" sz="2000" b="1" smtClean="0"/>
          </a:p>
          <a:p>
            <a:pPr eaLnBrk="1" hangingPunct="1">
              <a:buFontTx/>
              <a:buNone/>
            </a:pPr>
            <a:endParaRPr lang="en-US" altLang="en-US" sz="2000" b="1" smtClean="0"/>
          </a:p>
          <a:p>
            <a:pPr eaLnBrk="1" hangingPunct="1">
              <a:buFontTx/>
              <a:buNone/>
            </a:pPr>
            <a:endParaRPr lang="en-US" altLang="en-US" sz="2000" b="1" smtClean="0"/>
          </a:p>
          <a:p>
            <a:pPr eaLnBrk="1" hangingPunct="1">
              <a:buFontTx/>
              <a:buNone/>
            </a:pPr>
            <a:endParaRPr lang="en-US" altLang="en-US" sz="2000" b="1" smtClean="0"/>
          </a:p>
          <a:p>
            <a:pPr eaLnBrk="1" hangingPunct="1">
              <a:buFontTx/>
              <a:buNone/>
            </a:pPr>
            <a:endParaRPr lang="en-US" altLang="en-US" sz="2000" b="1" smtClean="0"/>
          </a:p>
          <a:p>
            <a:pPr eaLnBrk="1" hangingPunct="1">
              <a:buFontTx/>
              <a:buNone/>
            </a:pPr>
            <a:endParaRPr lang="en-US" altLang="en-US" sz="2000" b="1" smtClean="0"/>
          </a:p>
          <a:p>
            <a:pPr eaLnBrk="1" hangingPunct="1"/>
            <a:r>
              <a:rPr lang="en-US" altLang="en-US" sz="2400" smtClean="0"/>
              <a:t>Department relation not in 1NF</a:t>
            </a:r>
          </a:p>
          <a:p>
            <a:pPr eaLnBrk="1" hangingPunct="1"/>
            <a:r>
              <a:rPr lang="en-US" altLang="en-US" sz="2400" smtClean="0"/>
              <a:t>How to take into 1NF ?</a:t>
            </a:r>
          </a:p>
        </p:txBody>
      </p:sp>
      <p:sp>
        <p:nvSpPr>
          <p:cNvPr id="37893" name="Rectangle 19"/>
          <p:cNvSpPr>
            <a:spLocks noChangeArrowheads="1"/>
          </p:cNvSpPr>
          <p:nvPr/>
        </p:nvSpPr>
        <p:spPr bwMode="auto">
          <a:xfrm>
            <a:off x="990600" y="2667000"/>
            <a:ext cx="1447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0"/>
              <a:t>DEPARTMENT</a:t>
            </a:r>
          </a:p>
        </p:txBody>
      </p:sp>
      <p:grpSp>
        <p:nvGrpSpPr>
          <p:cNvPr id="37894" name="Group 71"/>
          <p:cNvGrpSpPr>
            <a:grpSpLocks/>
          </p:cNvGrpSpPr>
          <p:nvPr/>
        </p:nvGrpSpPr>
        <p:grpSpPr bwMode="auto">
          <a:xfrm>
            <a:off x="769938" y="3130550"/>
            <a:ext cx="7908925" cy="1692275"/>
            <a:chOff x="0" y="0"/>
            <a:chExt cx="3142" cy="2419"/>
          </a:xfrm>
        </p:grpSpPr>
        <p:grpSp>
          <p:nvGrpSpPr>
            <p:cNvPr id="37895" name="Group 40"/>
            <p:cNvGrpSpPr>
              <a:grpSpLocks/>
            </p:cNvGrpSpPr>
            <p:nvPr/>
          </p:nvGrpSpPr>
          <p:grpSpPr bwMode="auto">
            <a:xfrm>
              <a:off x="0" y="0"/>
              <a:ext cx="660" cy="980"/>
              <a:chOff x="0" y="0"/>
              <a:chExt cx="660" cy="980"/>
            </a:xfrm>
          </p:grpSpPr>
          <p:sp>
            <p:nvSpPr>
              <p:cNvPr id="37941" name="Rectangle 23"/>
              <p:cNvSpPr>
                <a:spLocks noChangeArrowheads="1"/>
              </p:cNvSpPr>
              <p:nvPr/>
            </p:nvSpPr>
            <p:spPr bwMode="auto">
              <a:xfrm>
                <a:off x="43" y="0"/>
                <a:ext cx="574" cy="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600" b="0">
                  <a:cs typeface="Times New Roman" panose="02020603050405020304" pitchFamily="18" charset="0"/>
                </a:endParaRPr>
              </a:p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DNAME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7942" name="Rectangle 39"/>
              <p:cNvSpPr>
                <a:spLocks noChangeArrowheads="1"/>
              </p:cNvSpPr>
              <p:nvPr/>
            </p:nvSpPr>
            <p:spPr bwMode="auto">
              <a:xfrm>
                <a:off x="0" y="0"/>
                <a:ext cx="660" cy="9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7896" name="Group 42"/>
            <p:cNvGrpSpPr>
              <a:grpSpLocks/>
            </p:cNvGrpSpPr>
            <p:nvPr/>
          </p:nvGrpSpPr>
          <p:grpSpPr bwMode="auto">
            <a:xfrm>
              <a:off x="660" y="0"/>
              <a:ext cx="581" cy="980"/>
              <a:chOff x="660" y="0"/>
              <a:chExt cx="581" cy="980"/>
            </a:xfrm>
          </p:grpSpPr>
          <p:sp>
            <p:nvSpPr>
              <p:cNvPr id="37939" name="Rectangle 24"/>
              <p:cNvSpPr>
                <a:spLocks noChangeArrowheads="1"/>
              </p:cNvSpPr>
              <p:nvPr/>
            </p:nvSpPr>
            <p:spPr bwMode="auto">
              <a:xfrm>
                <a:off x="703" y="0"/>
                <a:ext cx="495" cy="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600" b="0" u="sng">
                  <a:cs typeface="Times New Roman" panose="02020603050405020304" pitchFamily="18" charset="0"/>
                </a:endParaRPr>
              </a:p>
              <a:p>
                <a:pPr algn="ctr" eaLnBrk="1" hangingPunct="1"/>
                <a:r>
                  <a:rPr lang="en-US" altLang="en-US" sz="1600" b="0" u="sng">
                    <a:cs typeface="Times New Roman" panose="02020603050405020304" pitchFamily="18" charset="0"/>
                  </a:rPr>
                  <a:t>DNUMBER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7940" name="Rectangle 41"/>
              <p:cNvSpPr>
                <a:spLocks noChangeArrowheads="1"/>
              </p:cNvSpPr>
              <p:nvPr/>
            </p:nvSpPr>
            <p:spPr bwMode="auto">
              <a:xfrm>
                <a:off x="660" y="0"/>
                <a:ext cx="581" cy="9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7897" name="Group 44"/>
            <p:cNvGrpSpPr>
              <a:grpSpLocks/>
            </p:cNvGrpSpPr>
            <p:nvPr/>
          </p:nvGrpSpPr>
          <p:grpSpPr bwMode="auto">
            <a:xfrm>
              <a:off x="1241" y="0"/>
              <a:ext cx="623" cy="980"/>
              <a:chOff x="1241" y="0"/>
              <a:chExt cx="623" cy="980"/>
            </a:xfrm>
          </p:grpSpPr>
          <p:sp>
            <p:nvSpPr>
              <p:cNvPr id="37937" name="Rectangle 25"/>
              <p:cNvSpPr>
                <a:spLocks noChangeArrowheads="1"/>
              </p:cNvSpPr>
              <p:nvPr/>
            </p:nvSpPr>
            <p:spPr bwMode="auto">
              <a:xfrm>
                <a:off x="1284" y="0"/>
                <a:ext cx="537" cy="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600" b="0">
                  <a:cs typeface="Times New Roman" panose="02020603050405020304" pitchFamily="18" charset="0"/>
                </a:endParaRPr>
              </a:p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DMGRSSN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7938" name="Rectangle 43"/>
              <p:cNvSpPr>
                <a:spLocks noChangeArrowheads="1"/>
              </p:cNvSpPr>
              <p:nvPr/>
            </p:nvSpPr>
            <p:spPr bwMode="auto">
              <a:xfrm>
                <a:off x="1241" y="0"/>
                <a:ext cx="623" cy="9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7898" name="Group 46"/>
            <p:cNvGrpSpPr>
              <a:grpSpLocks/>
            </p:cNvGrpSpPr>
            <p:nvPr/>
          </p:nvGrpSpPr>
          <p:grpSpPr bwMode="auto">
            <a:xfrm>
              <a:off x="1864" y="0"/>
              <a:ext cx="1278" cy="980"/>
              <a:chOff x="1864" y="0"/>
              <a:chExt cx="1278" cy="980"/>
            </a:xfrm>
          </p:grpSpPr>
          <p:sp>
            <p:nvSpPr>
              <p:cNvPr id="37935" name="Rectangle 26"/>
              <p:cNvSpPr>
                <a:spLocks noChangeArrowheads="1"/>
              </p:cNvSpPr>
              <p:nvPr/>
            </p:nvSpPr>
            <p:spPr bwMode="auto">
              <a:xfrm>
                <a:off x="1907" y="0"/>
                <a:ext cx="1192" cy="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1600" b="0">
                  <a:cs typeface="Times New Roman" panose="02020603050405020304" pitchFamily="18" charset="0"/>
                </a:endParaRPr>
              </a:p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DLOCATIONS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7936" name="Rectangle 45"/>
              <p:cNvSpPr>
                <a:spLocks noChangeArrowheads="1"/>
              </p:cNvSpPr>
              <p:nvPr/>
            </p:nvSpPr>
            <p:spPr bwMode="auto">
              <a:xfrm>
                <a:off x="1864" y="0"/>
                <a:ext cx="1278" cy="9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7899" name="Group 48"/>
            <p:cNvGrpSpPr>
              <a:grpSpLocks/>
            </p:cNvGrpSpPr>
            <p:nvPr/>
          </p:nvGrpSpPr>
          <p:grpSpPr bwMode="auto">
            <a:xfrm>
              <a:off x="0" y="980"/>
              <a:ext cx="660" cy="518"/>
              <a:chOff x="0" y="980"/>
              <a:chExt cx="660" cy="518"/>
            </a:xfrm>
          </p:grpSpPr>
          <p:sp>
            <p:nvSpPr>
              <p:cNvPr id="37933" name="Rectangle 27"/>
              <p:cNvSpPr>
                <a:spLocks noChangeArrowheads="1"/>
              </p:cNvSpPr>
              <p:nvPr/>
            </p:nvSpPr>
            <p:spPr bwMode="auto">
              <a:xfrm>
                <a:off x="43" y="980"/>
                <a:ext cx="574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Research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37934" name="Rectangle 47"/>
              <p:cNvSpPr>
                <a:spLocks noChangeArrowheads="1"/>
              </p:cNvSpPr>
              <p:nvPr/>
            </p:nvSpPr>
            <p:spPr bwMode="auto">
              <a:xfrm>
                <a:off x="0" y="980"/>
                <a:ext cx="660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7900" name="Group 50"/>
            <p:cNvGrpSpPr>
              <a:grpSpLocks/>
            </p:cNvGrpSpPr>
            <p:nvPr/>
          </p:nvGrpSpPr>
          <p:grpSpPr bwMode="auto">
            <a:xfrm>
              <a:off x="660" y="980"/>
              <a:ext cx="581" cy="518"/>
              <a:chOff x="660" y="980"/>
              <a:chExt cx="581" cy="518"/>
            </a:xfrm>
          </p:grpSpPr>
          <p:sp>
            <p:nvSpPr>
              <p:cNvPr id="37931" name="Rectangle 28"/>
              <p:cNvSpPr>
                <a:spLocks noChangeArrowheads="1"/>
              </p:cNvSpPr>
              <p:nvPr/>
            </p:nvSpPr>
            <p:spPr bwMode="auto">
              <a:xfrm>
                <a:off x="703" y="980"/>
                <a:ext cx="495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5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7932" name="Rectangle 49"/>
              <p:cNvSpPr>
                <a:spLocks noChangeArrowheads="1"/>
              </p:cNvSpPr>
              <p:nvPr/>
            </p:nvSpPr>
            <p:spPr bwMode="auto">
              <a:xfrm>
                <a:off x="660" y="980"/>
                <a:ext cx="581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7901" name="Group 52"/>
            <p:cNvGrpSpPr>
              <a:grpSpLocks/>
            </p:cNvGrpSpPr>
            <p:nvPr/>
          </p:nvGrpSpPr>
          <p:grpSpPr bwMode="auto">
            <a:xfrm>
              <a:off x="1241" y="980"/>
              <a:ext cx="623" cy="518"/>
              <a:chOff x="1241" y="980"/>
              <a:chExt cx="623" cy="518"/>
            </a:xfrm>
          </p:grpSpPr>
          <p:sp>
            <p:nvSpPr>
              <p:cNvPr id="37929" name="Rectangle 29"/>
              <p:cNvSpPr>
                <a:spLocks noChangeArrowheads="1"/>
              </p:cNvSpPr>
              <p:nvPr/>
            </p:nvSpPr>
            <p:spPr bwMode="auto">
              <a:xfrm>
                <a:off x="1284" y="980"/>
                <a:ext cx="537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333445555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37930" name="Rectangle 51"/>
              <p:cNvSpPr>
                <a:spLocks noChangeArrowheads="1"/>
              </p:cNvSpPr>
              <p:nvPr/>
            </p:nvSpPr>
            <p:spPr bwMode="auto">
              <a:xfrm>
                <a:off x="1241" y="980"/>
                <a:ext cx="623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7902" name="Group 54"/>
            <p:cNvGrpSpPr>
              <a:grpSpLocks/>
            </p:cNvGrpSpPr>
            <p:nvPr/>
          </p:nvGrpSpPr>
          <p:grpSpPr bwMode="auto">
            <a:xfrm>
              <a:off x="1864" y="980"/>
              <a:ext cx="1278" cy="518"/>
              <a:chOff x="1864" y="980"/>
              <a:chExt cx="1278" cy="518"/>
            </a:xfrm>
          </p:grpSpPr>
          <p:sp>
            <p:nvSpPr>
              <p:cNvPr id="37927" name="Rectangle 30"/>
              <p:cNvSpPr>
                <a:spLocks noChangeArrowheads="1"/>
              </p:cNvSpPr>
              <p:nvPr/>
            </p:nvSpPr>
            <p:spPr bwMode="auto">
              <a:xfrm>
                <a:off x="1907" y="980"/>
                <a:ext cx="1192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{Mathara, Kandy, Metro}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7928" name="Rectangle 53"/>
              <p:cNvSpPr>
                <a:spLocks noChangeArrowheads="1"/>
              </p:cNvSpPr>
              <p:nvPr/>
            </p:nvSpPr>
            <p:spPr bwMode="auto">
              <a:xfrm>
                <a:off x="1864" y="980"/>
                <a:ext cx="1278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7903" name="Group 56"/>
            <p:cNvGrpSpPr>
              <a:grpSpLocks/>
            </p:cNvGrpSpPr>
            <p:nvPr/>
          </p:nvGrpSpPr>
          <p:grpSpPr bwMode="auto">
            <a:xfrm>
              <a:off x="0" y="1498"/>
              <a:ext cx="660" cy="518"/>
              <a:chOff x="0" y="1498"/>
              <a:chExt cx="660" cy="518"/>
            </a:xfrm>
          </p:grpSpPr>
          <p:sp>
            <p:nvSpPr>
              <p:cNvPr id="37925" name="Rectangle 31"/>
              <p:cNvSpPr>
                <a:spLocks noChangeArrowheads="1"/>
              </p:cNvSpPr>
              <p:nvPr/>
            </p:nvSpPr>
            <p:spPr bwMode="auto">
              <a:xfrm>
                <a:off x="43" y="1498"/>
                <a:ext cx="574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Administration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37926" name="Rectangle 55"/>
              <p:cNvSpPr>
                <a:spLocks noChangeArrowheads="1"/>
              </p:cNvSpPr>
              <p:nvPr/>
            </p:nvSpPr>
            <p:spPr bwMode="auto">
              <a:xfrm>
                <a:off x="0" y="1498"/>
                <a:ext cx="660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7904" name="Group 58"/>
            <p:cNvGrpSpPr>
              <a:grpSpLocks/>
            </p:cNvGrpSpPr>
            <p:nvPr/>
          </p:nvGrpSpPr>
          <p:grpSpPr bwMode="auto">
            <a:xfrm>
              <a:off x="660" y="1498"/>
              <a:ext cx="581" cy="518"/>
              <a:chOff x="660" y="1498"/>
              <a:chExt cx="581" cy="518"/>
            </a:xfrm>
          </p:grpSpPr>
          <p:sp>
            <p:nvSpPr>
              <p:cNvPr id="37923" name="Rectangle 32"/>
              <p:cNvSpPr>
                <a:spLocks noChangeArrowheads="1"/>
              </p:cNvSpPr>
              <p:nvPr/>
            </p:nvSpPr>
            <p:spPr bwMode="auto">
              <a:xfrm>
                <a:off x="703" y="1498"/>
                <a:ext cx="495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4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7924" name="Rectangle 57"/>
              <p:cNvSpPr>
                <a:spLocks noChangeArrowheads="1"/>
              </p:cNvSpPr>
              <p:nvPr/>
            </p:nvSpPr>
            <p:spPr bwMode="auto">
              <a:xfrm>
                <a:off x="660" y="1498"/>
                <a:ext cx="581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7905" name="Group 60"/>
            <p:cNvGrpSpPr>
              <a:grpSpLocks/>
            </p:cNvGrpSpPr>
            <p:nvPr/>
          </p:nvGrpSpPr>
          <p:grpSpPr bwMode="auto">
            <a:xfrm>
              <a:off x="1241" y="1498"/>
              <a:ext cx="623" cy="518"/>
              <a:chOff x="1241" y="1498"/>
              <a:chExt cx="623" cy="518"/>
            </a:xfrm>
          </p:grpSpPr>
          <p:sp>
            <p:nvSpPr>
              <p:cNvPr id="37921" name="Rectangle 33"/>
              <p:cNvSpPr>
                <a:spLocks noChangeArrowheads="1"/>
              </p:cNvSpPr>
              <p:nvPr/>
            </p:nvSpPr>
            <p:spPr bwMode="auto">
              <a:xfrm>
                <a:off x="1284" y="1498"/>
                <a:ext cx="537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987654321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37922" name="Rectangle 59"/>
              <p:cNvSpPr>
                <a:spLocks noChangeArrowheads="1"/>
              </p:cNvSpPr>
              <p:nvPr/>
            </p:nvSpPr>
            <p:spPr bwMode="auto">
              <a:xfrm>
                <a:off x="1241" y="1498"/>
                <a:ext cx="623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7906" name="Group 62"/>
            <p:cNvGrpSpPr>
              <a:grpSpLocks/>
            </p:cNvGrpSpPr>
            <p:nvPr/>
          </p:nvGrpSpPr>
          <p:grpSpPr bwMode="auto">
            <a:xfrm>
              <a:off x="1864" y="1498"/>
              <a:ext cx="1278" cy="518"/>
              <a:chOff x="1864" y="1498"/>
              <a:chExt cx="1278" cy="518"/>
            </a:xfrm>
          </p:grpSpPr>
          <p:sp>
            <p:nvSpPr>
              <p:cNvPr id="37919" name="Rectangle 34"/>
              <p:cNvSpPr>
                <a:spLocks noChangeArrowheads="1"/>
              </p:cNvSpPr>
              <p:nvPr/>
            </p:nvSpPr>
            <p:spPr bwMode="auto">
              <a:xfrm>
                <a:off x="1907" y="1498"/>
                <a:ext cx="1192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{Malabe}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7920" name="Rectangle 61"/>
              <p:cNvSpPr>
                <a:spLocks noChangeArrowheads="1"/>
              </p:cNvSpPr>
              <p:nvPr/>
            </p:nvSpPr>
            <p:spPr bwMode="auto">
              <a:xfrm>
                <a:off x="1864" y="1498"/>
                <a:ext cx="1278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7907" name="Group 64"/>
            <p:cNvGrpSpPr>
              <a:grpSpLocks/>
            </p:cNvGrpSpPr>
            <p:nvPr/>
          </p:nvGrpSpPr>
          <p:grpSpPr bwMode="auto">
            <a:xfrm>
              <a:off x="0" y="2016"/>
              <a:ext cx="660" cy="403"/>
              <a:chOff x="0" y="2016"/>
              <a:chExt cx="660" cy="403"/>
            </a:xfrm>
          </p:grpSpPr>
          <p:sp>
            <p:nvSpPr>
              <p:cNvPr id="37917" name="Rectangle 35"/>
              <p:cNvSpPr>
                <a:spLocks noChangeArrowheads="1"/>
              </p:cNvSpPr>
              <p:nvPr/>
            </p:nvSpPr>
            <p:spPr bwMode="auto">
              <a:xfrm>
                <a:off x="43" y="2016"/>
                <a:ext cx="574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Headquarters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37918" name="Rectangle 63"/>
              <p:cNvSpPr>
                <a:spLocks noChangeArrowheads="1"/>
              </p:cNvSpPr>
              <p:nvPr/>
            </p:nvSpPr>
            <p:spPr bwMode="auto">
              <a:xfrm>
                <a:off x="0" y="2016"/>
                <a:ext cx="660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7908" name="Group 66"/>
            <p:cNvGrpSpPr>
              <a:grpSpLocks/>
            </p:cNvGrpSpPr>
            <p:nvPr/>
          </p:nvGrpSpPr>
          <p:grpSpPr bwMode="auto">
            <a:xfrm>
              <a:off x="660" y="2016"/>
              <a:ext cx="581" cy="403"/>
              <a:chOff x="660" y="2016"/>
              <a:chExt cx="581" cy="403"/>
            </a:xfrm>
          </p:grpSpPr>
          <p:sp>
            <p:nvSpPr>
              <p:cNvPr id="37915" name="Rectangle 36"/>
              <p:cNvSpPr>
                <a:spLocks noChangeArrowheads="1"/>
              </p:cNvSpPr>
              <p:nvPr/>
            </p:nvSpPr>
            <p:spPr bwMode="auto">
              <a:xfrm>
                <a:off x="703" y="2016"/>
                <a:ext cx="495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1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7916" name="Rectangle 65"/>
              <p:cNvSpPr>
                <a:spLocks noChangeArrowheads="1"/>
              </p:cNvSpPr>
              <p:nvPr/>
            </p:nvSpPr>
            <p:spPr bwMode="auto">
              <a:xfrm>
                <a:off x="660" y="2016"/>
                <a:ext cx="581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7909" name="Group 68"/>
            <p:cNvGrpSpPr>
              <a:grpSpLocks/>
            </p:cNvGrpSpPr>
            <p:nvPr/>
          </p:nvGrpSpPr>
          <p:grpSpPr bwMode="auto">
            <a:xfrm>
              <a:off x="1241" y="2016"/>
              <a:ext cx="623" cy="403"/>
              <a:chOff x="1241" y="2016"/>
              <a:chExt cx="623" cy="403"/>
            </a:xfrm>
          </p:grpSpPr>
          <p:sp>
            <p:nvSpPr>
              <p:cNvPr id="37913" name="Rectangle 37"/>
              <p:cNvSpPr>
                <a:spLocks noChangeArrowheads="1"/>
              </p:cNvSpPr>
              <p:nvPr/>
            </p:nvSpPr>
            <p:spPr bwMode="auto">
              <a:xfrm>
                <a:off x="1284" y="2016"/>
                <a:ext cx="537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888665555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37914" name="Rectangle 67"/>
              <p:cNvSpPr>
                <a:spLocks noChangeArrowheads="1"/>
              </p:cNvSpPr>
              <p:nvPr/>
            </p:nvSpPr>
            <p:spPr bwMode="auto">
              <a:xfrm>
                <a:off x="1241" y="2016"/>
                <a:ext cx="623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7910" name="Group 70"/>
            <p:cNvGrpSpPr>
              <a:grpSpLocks/>
            </p:cNvGrpSpPr>
            <p:nvPr/>
          </p:nvGrpSpPr>
          <p:grpSpPr bwMode="auto">
            <a:xfrm>
              <a:off x="1864" y="2016"/>
              <a:ext cx="1278" cy="403"/>
              <a:chOff x="1864" y="2016"/>
              <a:chExt cx="1278" cy="403"/>
            </a:xfrm>
          </p:grpSpPr>
          <p:sp>
            <p:nvSpPr>
              <p:cNvPr id="37911" name="Rectangle 38"/>
              <p:cNvSpPr>
                <a:spLocks noChangeArrowheads="1"/>
              </p:cNvSpPr>
              <p:nvPr/>
            </p:nvSpPr>
            <p:spPr bwMode="auto">
              <a:xfrm>
                <a:off x="1907" y="2016"/>
                <a:ext cx="119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{Metro}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7912" name="Rectangle 69"/>
              <p:cNvSpPr>
                <a:spLocks noChangeArrowheads="1"/>
              </p:cNvSpPr>
              <p:nvPr/>
            </p:nvSpPr>
            <p:spPr bwMode="auto">
              <a:xfrm>
                <a:off x="1864" y="2016"/>
                <a:ext cx="127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06667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en-US" sz="24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solidFill>
                  <a:srgbClr val="FF6600"/>
                </a:solidFill>
              </a:rPr>
              <a:t>Solution 1</a:t>
            </a:r>
            <a:r>
              <a:rPr lang="en-US" altLang="en-US" sz="2400" smtClean="0"/>
              <a:t>: Create a separate DLOCATION relation with foreign key.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solidFill>
                  <a:srgbClr val="FF6600"/>
                </a:solidFill>
              </a:rPr>
              <a:t>Solution 2</a:t>
            </a:r>
            <a:r>
              <a:rPr lang="en-US" altLang="en-US" sz="2400" smtClean="0"/>
              <a:t>: If max number of locations is known, create a column for each location (may have lots of null values).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solidFill>
                  <a:srgbClr val="FF6600"/>
                </a:solidFill>
              </a:rPr>
              <a:t>Solution 3</a:t>
            </a:r>
            <a:r>
              <a:rPr lang="en-US" altLang="en-US" sz="2400" smtClean="0"/>
              <a:t>: Repeat the same info (redundancy + new key attribute).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483522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80"/>
          <p:cNvSpPr>
            <a:spLocks noChangeArrowheads="1"/>
          </p:cNvSpPr>
          <p:nvPr/>
        </p:nvSpPr>
        <p:spPr bwMode="auto">
          <a:xfrm>
            <a:off x="687388" y="2133600"/>
            <a:ext cx="7847012" cy="2133600"/>
          </a:xfrm>
          <a:prstGeom prst="rect">
            <a:avLst/>
          </a:prstGeom>
          <a:solidFill>
            <a:srgbClr val="CCCCFF"/>
          </a:solidFill>
          <a:ln w="9525">
            <a:solidFill>
              <a:srgbClr val="A0A0A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 sz="1800" b="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76200"/>
            <a:ext cx="7772400" cy="1104900"/>
          </a:xfrm>
        </p:spPr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</a:p>
        </p:txBody>
      </p:sp>
      <p:sp>
        <p:nvSpPr>
          <p:cNvPr id="39940" name="Rectangle 8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85800" y="4838700"/>
            <a:ext cx="7924800" cy="18669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200" smtClean="0"/>
              <a:t>Expand the key so that there will be a separate tuple in the original DEPARTMENT relation for each location of the DEPARTMENT.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smtClean="0"/>
              <a:t>This solution has the disadvantage of introducing redundancy in the relation.</a:t>
            </a:r>
          </a:p>
        </p:txBody>
      </p:sp>
      <p:grpSp>
        <p:nvGrpSpPr>
          <p:cNvPr id="39941" name="Group 7"/>
          <p:cNvGrpSpPr>
            <a:grpSpLocks/>
          </p:cNvGrpSpPr>
          <p:nvPr/>
        </p:nvGrpSpPr>
        <p:grpSpPr bwMode="auto">
          <a:xfrm>
            <a:off x="695325" y="2136775"/>
            <a:ext cx="7831138" cy="2130425"/>
            <a:chOff x="0" y="0"/>
            <a:chExt cx="3142" cy="3110"/>
          </a:xfrm>
        </p:grpSpPr>
        <p:grpSp>
          <p:nvGrpSpPr>
            <p:cNvPr id="39945" name="Group 8"/>
            <p:cNvGrpSpPr>
              <a:grpSpLocks/>
            </p:cNvGrpSpPr>
            <p:nvPr/>
          </p:nvGrpSpPr>
          <p:grpSpPr bwMode="auto">
            <a:xfrm>
              <a:off x="0" y="0"/>
              <a:ext cx="660" cy="980"/>
              <a:chOff x="0" y="0"/>
              <a:chExt cx="660" cy="980"/>
            </a:xfrm>
          </p:grpSpPr>
          <p:sp>
            <p:nvSpPr>
              <p:cNvPr id="40015" name="Rectangle 9"/>
              <p:cNvSpPr>
                <a:spLocks noChangeArrowheads="1"/>
              </p:cNvSpPr>
              <p:nvPr/>
            </p:nvSpPr>
            <p:spPr bwMode="auto">
              <a:xfrm>
                <a:off x="43" y="0"/>
                <a:ext cx="574" cy="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DNAME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40016" name="Rectangle 1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660" cy="9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46" name="Group 11"/>
            <p:cNvGrpSpPr>
              <a:grpSpLocks/>
            </p:cNvGrpSpPr>
            <p:nvPr/>
          </p:nvGrpSpPr>
          <p:grpSpPr bwMode="auto">
            <a:xfrm>
              <a:off x="660" y="0"/>
              <a:ext cx="581" cy="980"/>
              <a:chOff x="660" y="0"/>
              <a:chExt cx="581" cy="980"/>
            </a:xfrm>
          </p:grpSpPr>
          <p:sp>
            <p:nvSpPr>
              <p:cNvPr id="40013" name="Rectangle 12"/>
              <p:cNvSpPr>
                <a:spLocks noChangeArrowheads="1"/>
              </p:cNvSpPr>
              <p:nvPr/>
            </p:nvSpPr>
            <p:spPr bwMode="auto">
              <a:xfrm>
                <a:off x="703" y="0"/>
                <a:ext cx="495" cy="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 u="sng">
                    <a:cs typeface="Times New Roman" panose="02020603050405020304" pitchFamily="18" charset="0"/>
                  </a:rPr>
                  <a:t>DNUMBER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40014" name="Rectangle 13"/>
              <p:cNvSpPr>
                <a:spLocks noChangeArrowheads="1"/>
              </p:cNvSpPr>
              <p:nvPr/>
            </p:nvSpPr>
            <p:spPr bwMode="auto">
              <a:xfrm>
                <a:off x="660" y="0"/>
                <a:ext cx="581" cy="9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47" name="Group 14"/>
            <p:cNvGrpSpPr>
              <a:grpSpLocks/>
            </p:cNvGrpSpPr>
            <p:nvPr/>
          </p:nvGrpSpPr>
          <p:grpSpPr bwMode="auto">
            <a:xfrm>
              <a:off x="1241" y="0"/>
              <a:ext cx="623" cy="980"/>
              <a:chOff x="1241" y="0"/>
              <a:chExt cx="623" cy="980"/>
            </a:xfrm>
          </p:grpSpPr>
          <p:sp>
            <p:nvSpPr>
              <p:cNvPr id="40011" name="Rectangle 15"/>
              <p:cNvSpPr>
                <a:spLocks noChangeArrowheads="1"/>
              </p:cNvSpPr>
              <p:nvPr/>
            </p:nvSpPr>
            <p:spPr bwMode="auto">
              <a:xfrm>
                <a:off x="1284" y="0"/>
                <a:ext cx="537" cy="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DMGRSSN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40012" name="Rectangle 16"/>
              <p:cNvSpPr>
                <a:spLocks noChangeArrowheads="1"/>
              </p:cNvSpPr>
              <p:nvPr/>
            </p:nvSpPr>
            <p:spPr bwMode="auto">
              <a:xfrm>
                <a:off x="1241" y="0"/>
                <a:ext cx="623" cy="9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48" name="Group 17"/>
            <p:cNvGrpSpPr>
              <a:grpSpLocks/>
            </p:cNvGrpSpPr>
            <p:nvPr/>
          </p:nvGrpSpPr>
          <p:grpSpPr bwMode="auto">
            <a:xfrm>
              <a:off x="1864" y="0"/>
              <a:ext cx="1278" cy="980"/>
              <a:chOff x="1864" y="0"/>
              <a:chExt cx="1278" cy="980"/>
            </a:xfrm>
          </p:grpSpPr>
          <p:sp>
            <p:nvSpPr>
              <p:cNvPr id="40009" name="Rectangle 18"/>
              <p:cNvSpPr>
                <a:spLocks noChangeArrowheads="1"/>
              </p:cNvSpPr>
              <p:nvPr/>
            </p:nvSpPr>
            <p:spPr bwMode="auto">
              <a:xfrm>
                <a:off x="1907" y="0"/>
                <a:ext cx="1192" cy="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 u="sng">
                    <a:cs typeface="Times New Roman" panose="02020603050405020304" pitchFamily="18" charset="0"/>
                  </a:rPr>
                  <a:t>DLOCATIONS</a:t>
                </a:r>
              </a:p>
              <a:p>
                <a:pPr algn="ctr" eaLnBrk="1" hangingPunct="1"/>
                <a:endParaRPr lang="en-US" altLang="en-US" sz="1600" b="0" u="sng"/>
              </a:p>
            </p:txBody>
          </p:sp>
          <p:sp>
            <p:nvSpPr>
              <p:cNvPr id="40010" name="Rectangle 19"/>
              <p:cNvSpPr>
                <a:spLocks noChangeArrowheads="1"/>
              </p:cNvSpPr>
              <p:nvPr/>
            </p:nvSpPr>
            <p:spPr bwMode="auto">
              <a:xfrm>
                <a:off x="1864" y="0"/>
                <a:ext cx="1278" cy="98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49" name="Group 20"/>
            <p:cNvGrpSpPr>
              <a:grpSpLocks/>
            </p:cNvGrpSpPr>
            <p:nvPr/>
          </p:nvGrpSpPr>
          <p:grpSpPr bwMode="auto">
            <a:xfrm>
              <a:off x="0" y="980"/>
              <a:ext cx="660" cy="403"/>
              <a:chOff x="0" y="980"/>
              <a:chExt cx="660" cy="403"/>
            </a:xfrm>
          </p:grpSpPr>
          <p:sp>
            <p:nvSpPr>
              <p:cNvPr id="40007" name="Rectangle 21"/>
              <p:cNvSpPr>
                <a:spLocks noChangeArrowheads="1"/>
              </p:cNvSpPr>
              <p:nvPr/>
            </p:nvSpPr>
            <p:spPr bwMode="auto">
              <a:xfrm>
                <a:off x="43" y="980"/>
                <a:ext cx="574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Research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40008" name="Rectangle 22"/>
              <p:cNvSpPr>
                <a:spLocks noChangeArrowheads="1"/>
              </p:cNvSpPr>
              <p:nvPr/>
            </p:nvSpPr>
            <p:spPr bwMode="auto">
              <a:xfrm>
                <a:off x="0" y="980"/>
                <a:ext cx="660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50" name="Group 23"/>
            <p:cNvGrpSpPr>
              <a:grpSpLocks/>
            </p:cNvGrpSpPr>
            <p:nvPr/>
          </p:nvGrpSpPr>
          <p:grpSpPr bwMode="auto">
            <a:xfrm>
              <a:off x="660" y="980"/>
              <a:ext cx="581" cy="403"/>
              <a:chOff x="660" y="980"/>
              <a:chExt cx="581" cy="403"/>
            </a:xfrm>
          </p:grpSpPr>
          <p:sp>
            <p:nvSpPr>
              <p:cNvPr id="40005" name="Rectangle 24"/>
              <p:cNvSpPr>
                <a:spLocks noChangeArrowheads="1"/>
              </p:cNvSpPr>
              <p:nvPr/>
            </p:nvSpPr>
            <p:spPr bwMode="auto">
              <a:xfrm>
                <a:off x="703" y="980"/>
                <a:ext cx="495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5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40006" name="Rectangle 25"/>
              <p:cNvSpPr>
                <a:spLocks noChangeArrowheads="1"/>
              </p:cNvSpPr>
              <p:nvPr/>
            </p:nvSpPr>
            <p:spPr bwMode="auto">
              <a:xfrm>
                <a:off x="660" y="980"/>
                <a:ext cx="581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51" name="Group 26"/>
            <p:cNvGrpSpPr>
              <a:grpSpLocks/>
            </p:cNvGrpSpPr>
            <p:nvPr/>
          </p:nvGrpSpPr>
          <p:grpSpPr bwMode="auto">
            <a:xfrm>
              <a:off x="1241" y="980"/>
              <a:ext cx="623" cy="403"/>
              <a:chOff x="1241" y="980"/>
              <a:chExt cx="623" cy="403"/>
            </a:xfrm>
          </p:grpSpPr>
          <p:sp>
            <p:nvSpPr>
              <p:cNvPr id="40003" name="Rectangle 27"/>
              <p:cNvSpPr>
                <a:spLocks noChangeArrowheads="1"/>
              </p:cNvSpPr>
              <p:nvPr/>
            </p:nvSpPr>
            <p:spPr bwMode="auto">
              <a:xfrm>
                <a:off x="1284" y="980"/>
                <a:ext cx="537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333445555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40004" name="Rectangle 28"/>
              <p:cNvSpPr>
                <a:spLocks noChangeArrowheads="1"/>
              </p:cNvSpPr>
              <p:nvPr/>
            </p:nvSpPr>
            <p:spPr bwMode="auto">
              <a:xfrm>
                <a:off x="1241" y="980"/>
                <a:ext cx="623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52" name="Group 29"/>
            <p:cNvGrpSpPr>
              <a:grpSpLocks/>
            </p:cNvGrpSpPr>
            <p:nvPr/>
          </p:nvGrpSpPr>
          <p:grpSpPr bwMode="auto">
            <a:xfrm>
              <a:off x="1864" y="980"/>
              <a:ext cx="1278" cy="403"/>
              <a:chOff x="1864" y="980"/>
              <a:chExt cx="1278" cy="403"/>
            </a:xfrm>
          </p:grpSpPr>
          <p:sp>
            <p:nvSpPr>
              <p:cNvPr id="40001" name="Rectangle 30"/>
              <p:cNvSpPr>
                <a:spLocks noChangeArrowheads="1"/>
              </p:cNvSpPr>
              <p:nvPr/>
            </p:nvSpPr>
            <p:spPr bwMode="auto">
              <a:xfrm>
                <a:off x="1907" y="980"/>
                <a:ext cx="119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Mathara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40002" name="Rectangle 31"/>
              <p:cNvSpPr>
                <a:spLocks noChangeArrowheads="1"/>
              </p:cNvSpPr>
              <p:nvPr/>
            </p:nvSpPr>
            <p:spPr bwMode="auto">
              <a:xfrm>
                <a:off x="1864" y="980"/>
                <a:ext cx="127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53" name="Group 32"/>
            <p:cNvGrpSpPr>
              <a:grpSpLocks/>
            </p:cNvGrpSpPr>
            <p:nvPr/>
          </p:nvGrpSpPr>
          <p:grpSpPr bwMode="auto">
            <a:xfrm>
              <a:off x="0" y="1383"/>
              <a:ext cx="660" cy="403"/>
              <a:chOff x="0" y="1383"/>
              <a:chExt cx="660" cy="403"/>
            </a:xfrm>
          </p:grpSpPr>
          <p:sp>
            <p:nvSpPr>
              <p:cNvPr id="39999" name="Rectangle 33"/>
              <p:cNvSpPr>
                <a:spLocks noChangeArrowheads="1"/>
              </p:cNvSpPr>
              <p:nvPr/>
            </p:nvSpPr>
            <p:spPr bwMode="auto">
              <a:xfrm>
                <a:off x="43" y="1383"/>
                <a:ext cx="574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Research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40000" name="Rectangle 34"/>
              <p:cNvSpPr>
                <a:spLocks noChangeArrowheads="1"/>
              </p:cNvSpPr>
              <p:nvPr/>
            </p:nvSpPr>
            <p:spPr bwMode="auto">
              <a:xfrm>
                <a:off x="0" y="1383"/>
                <a:ext cx="660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54" name="Group 35"/>
            <p:cNvGrpSpPr>
              <a:grpSpLocks/>
            </p:cNvGrpSpPr>
            <p:nvPr/>
          </p:nvGrpSpPr>
          <p:grpSpPr bwMode="auto">
            <a:xfrm>
              <a:off x="660" y="1383"/>
              <a:ext cx="581" cy="403"/>
              <a:chOff x="660" y="1383"/>
              <a:chExt cx="581" cy="403"/>
            </a:xfrm>
          </p:grpSpPr>
          <p:sp>
            <p:nvSpPr>
              <p:cNvPr id="39997" name="Rectangle 36"/>
              <p:cNvSpPr>
                <a:spLocks noChangeArrowheads="1"/>
              </p:cNvSpPr>
              <p:nvPr/>
            </p:nvSpPr>
            <p:spPr bwMode="auto">
              <a:xfrm>
                <a:off x="703" y="1383"/>
                <a:ext cx="495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5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9998" name="Rectangle 37"/>
              <p:cNvSpPr>
                <a:spLocks noChangeArrowheads="1"/>
              </p:cNvSpPr>
              <p:nvPr/>
            </p:nvSpPr>
            <p:spPr bwMode="auto">
              <a:xfrm>
                <a:off x="660" y="1383"/>
                <a:ext cx="581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55" name="Group 38"/>
            <p:cNvGrpSpPr>
              <a:grpSpLocks/>
            </p:cNvGrpSpPr>
            <p:nvPr/>
          </p:nvGrpSpPr>
          <p:grpSpPr bwMode="auto">
            <a:xfrm>
              <a:off x="1241" y="1383"/>
              <a:ext cx="623" cy="403"/>
              <a:chOff x="1241" y="1383"/>
              <a:chExt cx="623" cy="403"/>
            </a:xfrm>
          </p:grpSpPr>
          <p:sp>
            <p:nvSpPr>
              <p:cNvPr id="39995" name="Rectangle 39"/>
              <p:cNvSpPr>
                <a:spLocks noChangeArrowheads="1"/>
              </p:cNvSpPr>
              <p:nvPr/>
            </p:nvSpPr>
            <p:spPr bwMode="auto">
              <a:xfrm>
                <a:off x="1284" y="1383"/>
                <a:ext cx="537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333445555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39996" name="Rectangle 40"/>
              <p:cNvSpPr>
                <a:spLocks noChangeArrowheads="1"/>
              </p:cNvSpPr>
              <p:nvPr/>
            </p:nvSpPr>
            <p:spPr bwMode="auto">
              <a:xfrm>
                <a:off x="1241" y="1383"/>
                <a:ext cx="623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56" name="Group 41"/>
            <p:cNvGrpSpPr>
              <a:grpSpLocks/>
            </p:cNvGrpSpPr>
            <p:nvPr/>
          </p:nvGrpSpPr>
          <p:grpSpPr bwMode="auto">
            <a:xfrm>
              <a:off x="1864" y="1383"/>
              <a:ext cx="1278" cy="403"/>
              <a:chOff x="1864" y="1383"/>
              <a:chExt cx="1278" cy="403"/>
            </a:xfrm>
          </p:grpSpPr>
          <p:sp>
            <p:nvSpPr>
              <p:cNvPr id="39993" name="Rectangle 42"/>
              <p:cNvSpPr>
                <a:spLocks noChangeArrowheads="1"/>
              </p:cNvSpPr>
              <p:nvPr/>
            </p:nvSpPr>
            <p:spPr bwMode="auto">
              <a:xfrm>
                <a:off x="1907" y="1383"/>
                <a:ext cx="119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Kandy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9994" name="Rectangle 43"/>
              <p:cNvSpPr>
                <a:spLocks noChangeArrowheads="1"/>
              </p:cNvSpPr>
              <p:nvPr/>
            </p:nvSpPr>
            <p:spPr bwMode="auto">
              <a:xfrm>
                <a:off x="1864" y="1383"/>
                <a:ext cx="127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57" name="Group 44"/>
            <p:cNvGrpSpPr>
              <a:grpSpLocks/>
            </p:cNvGrpSpPr>
            <p:nvPr/>
          </p:nvGrpSpPr>
          <p:grpSpPr bwMode="auto">
            <a:xfrm>
              <a:off x="0" y="1786"/>
              <a:ext cx="660" cy="403"/>
              <a:chOff x="0" y="1786"/>
              <a:chExt cx="660" cy="403"/>
            </a:xfrm>
          </p:grpSpPr>
          <p:sp>
            <p:nvSpPr>
              <p:cNvPr id="39991" name="Rectangle 45"/>
              <p:cNvSpPr>
                <a:spLocks noChangeArrowheads="1"/>
              </p:cNvSpPr>
              <p:nvPr/>
            </p:nvSpPr>
            <p:spPr bwMode="auto">
              <a:xfrm>
                <a:off x="43" y="1786"/>
                <a:ext cx="574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Research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39992" name="Rectangle 46"/>
              <p:cNvSpPr>
                <a:spLocks noChangeArrowheads="1"/>
              </p:cNvSpPr>
              <p:nvPr/>
            </p:nvSpPr>
            <p:spPr bwMode="auto">
              <a:xfrm>
                <a:off x="0" y="1786"/>
                <a:ext cx="660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58" name="Group 47"/>
            <p:cNvGrpSpPr>
              <a:grpSpLocks/>
            </p:cNvGrpSpPr>
            <p:nvPr/>
          </p:nvGrpSpPr>
          <p:grpSpPr bwMode="auto">
            <a:xfrm>
              <a:off x="660" y="1786"/>
              <a:ext cx="581" cy="403"/>
              <a:chOff x="660" y="1786"/>
              <a:chExt cx="581" cy="403"/>
            </a:xfrm>
          </p:grpSpPr>
          <p:sp>
            <p:nvSpPr>
              <p:cNvPr id="39989" name="Rectangle 48"/>
              <p:cNvSpPr>
                <a:spLocks noChangeArrowheads="1"/>
              </p:cNvSpPr>
              <p:nvPr/>
            </p:nvSpPr>
            <p:spPr bwMode="auto">
              <a:xfrm>
                <a:off x="703" y="1786"/>
                <a:ext cx="495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5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9990" name="Rectangle 49"/>
              <p:cNvSpPr>
                <a:spLocks noChangeArrowheads="1"/>
              </p:cNvSpPr>
              <p:nvPr/>
            </p:nvSpPr>
            <p:spPr bwMode="auto">
              <a:xfrm>
                <a:off x="660" y="1786"/>
                <a:ext cx="581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59" name="Group 50"/>
            <p:cNvGrpSpPr>
              <a:grpSpLocks/>
            </p:cNvGrpSpPr>
            <p:nvPr/>
          </p:nvGrpSpPr>
          <p:grpSpPr bwMode="auto">
            <a:xfrm>
              <a:off x="1241" y="1786"/>
              <a:ext cx="623" cy="403"/>
              <a:chOff x="1241" y="1786"/>
              <a:chExt cx="623" cy="403"/>
            </a:xfrm>
          </p:grpSpPr>
          <p:sp>
            <p:nvSpPr>
              <p:cNvPr id="39987" name="Rectangle 51"/>
              <p:cNvSpPr>
                <a:spLocks noChangeArrowheads="1"/>
              </p:cNvSpPr>
              <p:nvPr/>
            </p:nvSpPr>
            <p:spPr bwMode="auto">
              <a:xfrm>
                <a:off x="1284" y="1786"/>
                <a:ext cx="537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333445555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39988" name="Rectangle 52"/>
              <p:cNvSpPr>
                <a:spLocks noChangeArrowheads="1"/>
              </p:cNvSpPr>
              <p:nvPr/>
            </p:nvSpPr>
            <p:spPr bwMode="auto">
              <a:xfrm>
                <a:off x="1241" y="1786"/>
                <a:ext cx="623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60" name="Group 53"/>
            <p:cNvGrpSpPr>
              <a:grpSpLocks/>
            </p:cNvGrpSpPr>
            <p:nvPr/>
          </p:nvGrpSpPr>
          <p:grpSpPr bwMode="auto">
            <a:xfrm>
              <a:off x="1864" y="1786"/>
              <a:ext cx="1278" cy="403"/>
              <a:chOff x="1864" y="1786"/>
              <a:chExt cx="1278" cy="403"/>
            </a:xfrm>
          </p:grpSpPr>
          <p:sp>
            <p:nvSpPr>
              <p:cNvPr id="39985" name="Rectangle 54"/>
              <p:cNvSpPr>
                <a:spLocks noChangeArrowheads="1"/>
              </p:cNvSpPr>
              <p:nvPr/>
            </p:nvSpPr>
            <p:spPr bwMode="auto">
              <a:xfrm>
                <a:off x="1907" y="1786"/>
                <a:ext cx="119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Metro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9986" name="Rectangle 55"/>
              <p:cNvSpPr>
                <a:spLocks noChangeArrowheads="1"/>
              </p:cNvSpPr>
              <p:nvPr/>
            </p:nvSpPr>
            <p:spPr bwMode="auto">
              <a:xfrm>
                <a:off x="1864" y="1786"/>
                <a:ext cx="127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61" name="Group 56"/>
            <p:cNvGrpSpPr>
              <a:grpSpLocks/>
            </p:cNvGrpSpPr>
            <p:nvPr/>
          </p:nvGrpSpPr>
          <p:grpSpPr bwMode="auto">
            <a:xfrm>
              <a:off x="0" y="2189"/>
              <a:ext cx="669" cy="518"/>
              <a:chOff x="0" y="2189"/>
              <a:chExt cx="669" cy="518"/>
            </a:xfrm>
          </p:grpSpPr>
          <p:sp>
            <p:nvSpPr>
              <p:cNvPr id="39983" name="Rectangle 57"/>
              <p:cNvSpPr>
                <a:spLocks noChangeArrowheads="1"/>
              </p:cNvSpPr>
              <p:nvPr/>
            </p:nvSpPr>
            <p:spPr bwMode="auto">
              <a:xfrm>
                <a:off x="43" y="2189"/>
                <a:ext cx="626" cy="4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Administration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39984" name="Rectangle 58"/>
              <p:cNvSpPr>
                <a:spLocks noChangeArrowheads="1"/>
              </p:cNvSpPr>
              <p:nvPr/>
            </p:nvSpPr>
            <p:spPr bwMode="auto">
              <a:xfrm>
                <a:off x="0" y="2189"/>
                <a:ext cx="660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62" name="Group 59"/>
            <p:cNvGrpSpPr>
              <a:grpSpLocks/>
            </p:cNvGrpSpPr>
            <p:nvPr/>
          </p:nvGrpSpPr>
          <p:grpSpPr bwMode="auto">
            <a:xfrm>
              <a:off x="660" y="2189"/>
              <a:ext cx="581" cy="518"/>
              <a:chOff x="660" y="2189"/>
              <a:chExt cx="581" cy="518"/>
            </a:xfrm>
          </p:grpSpPr>
          <p:sp>
            <p:nvSpPr>
              <p:cNvPr id="39981" name="Rectangle 60"/>
              <p:cNvSpPr>
                <a:spLocks noChangeArrowheads="1"/>
              </p:cNvSpPr>
              <p:nvPr/>
            </p:nvSpPr>
            <p:spPr bwMode="auto">
              <a:xfrm>
                <a:off x="703" y="2189"/>
                <a:ext cx="495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4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9982" name="Rectangle 61"/>
              <p:cNvSpPr>
                <a:spLocks noChangeArrowheads="1"/>
              </p:cNvSpPr>
              <p:nvPr/>
            </p:nvSpPr>
            <p:spPr bwMode="auto">
              <a:xfrm>
                <a:off x="660" y="2189"/>
                <a:ext cx="581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63" name="Group 62"/>
            <p:cNvGrpSpPr>
              <a:grpSpLocks/>
            </p:cNvGrpSpPr>
            <p:nvPr/>
          </p:nvGrpSpPr>
          <p:grpSpPr bwMode="auto">
            <a:xfrm>
              <a:off x="1241" y="2189"/>
              <a:ext cx="623" cy="518"/>
              <a:chOff x="1241" y="2189"/>
              <a:chExt cx="623" cy="518"/>
            </a:xfrm>
          </p:grpSpPr>
          <p:sp>
            <p:nvSpPr>
              <p:cNvPr id="39979" name="Rectangle 63"/>
              <p:cNvSpPr>
                <a:spLocks noChangeArrowheads="1"/>
              </p:cNvSpPr>
              <p:nvPr/>
            </p:nvSpPr>
            <p:spPr bwMode="auto">
              <a:xfrm>
                <a:off x="1284" y="2189"/>
                <a:ext cx="537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987654321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39980" name="Rectangle 64"/>
              <p:cNvSpPr>
                <a:spLocks noChangeArrowheads="1"/>
              </p:cNvSpPr>
              <p:nvPr/>
            </p:nvSpPr>
            <p:spPr bwMode="auto">
              <a:xfrm>
                <a:off x="1241" y="2189"/>
                <a:ext cx="623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64" name="Group 65"/>
            <p:cNvGrpSpPr>
              <a:grpSpLocks/>
            </p:cNvGrpSpPr>
            <p:nvPr/>
          </p:nvGrpSpPr>
          <p:grpSpPr bwMode="auto">
            <a:xfrm>
              <a:off x="1864" y="2189"/>
              <a:ext cx="1278" cy="518"/>
              <a:chOff x="1864" y="2189"/>
              <a:chExt cx="1278" cy="518"/>
            </a:xfrm>
          </p:grpSpPr>
          <p:sp>
            <p:nvSpPr>
              <p:cNvPr id="39977" name="Rectangle 66"/>
              <p:cNvSpPr>
                <a:spLocks noChangeArrowheads="1"/>
              </p:cNvSpPr>
              <p:nvPr/>
            </p:nvSpPr>
            <p:spPr bwMode="auto">
              <a:xfrm>
                <a:off x="1907" y="2189"/>
                <a:ext cx="1192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Malabe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9978" name="Rectangle 67"/>
              <p:cNvSpPr>
                <a:spLocks noChangeArrowheads="1"/>
              </p:cNvSpPr>
              <p:nvPr/>
            </p:nvSpPr>
            <p:spPr bwMode="auto">
              <a:xfrm>
                <a:off x="1864" y="2189"/>
                <a:ext cx="1278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65" name="Group 68"/>
            <p:cNvGrpSpPr>
              <a:grpSpLocks/>
            </p:cNvGrpSpPr>
            <p:nvPr/>
          </p:nvGrpSpPr>
          <p:grpSpPr bwMode="auto">
            <a:xfrm>
              <a:off x="0" y="2668"/>
              <a:ext cx="669" cy="442"/>
              <a:chOff x="0" y="2668"/>
              <a:chExt cx="669" cy="442"/>
            </a:xfrm>
          </p:grpSpPr>
          <p:sp>
            <p:nvSpPr>
              <p:cNvPr id="39975" name="Rectangle 69"/>
              <p:cNvSpPr>
                <a:spLocks noChangeArrowheads="1"/>
              </p:cNvSpPr>
              <p:nvPr/>
            </p:nvSpPr>
            <p:spPr bwMode="auto">
              <a:xfrm>
                <a:off x="42" y="2668"/>
                <a:ext cx="627" cy="4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Headquarters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39976" name="Rectangle 70"/>
              <p:cNvSpPr>
                <a:spLocks noChangeArrowheads="1"/>
              </p:cNvSpPr>
              <p:nvPr/>
            </p:nvSpPr>
            <p:spPr bwMode="auto">
              <a:xfrm>
                <a:off x="0" y="2707"/>
                <a:ext cx="660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66" name="Group 71"/>
            <p:cNvGrpSpPr>
              <a:grpSpLocks/>
            </p:cNvGrpSpPr>
            <p:nvPr/>
          </p:nvGrpSpPr>
          <p:grpSpPr bwMode="auto">
            <a:xfrm>
              <a:off x="660" y="2707"/>
              <a:ext cx="581" cy="403"/>
              <a:chOff x="660" y="2707"/>
              <a:chExt cx="581" cy="403"/>
            </a:xfrm>
          </p:grpSpPr>
          <p:sp>
            <p:nvSpPr>
              <p:cNvPr id="39973" name="Rectangle 72"/>
              <p:cNvSpPr>
                <a:spLocks noChangeArrowheads="1"/>
              </p:cNvSpPr>
              <p:nvPr/>
            </p:nvSpPr>
            <p:spPr bwMode="auto">
              <a:xfrm>
                <a:off x="703" y="2707"/>
                <a:ext cx="495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1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9974" name="Rectangle 73"/>
              <p:cNvSpPr>
                <a:spLocks noChangeArrowheads="1"/>
              </p:cNvSpPr>
              <p:nvPr/>
            </p:nvSpPr>
            <p:spPr bwMode="auto">
              <a:xfrm>
                <a:off x="660" y="2707"/>
                <a:ext cx="581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67" name="Group 74"/>
            <p:cNvGrpSpPr>
              <a:grpSpLocks/>
            </p:cNvGrpSpPr>
            <p:nvPr/>
          </p:nvGrpSpPr>
          <p:grpSpPr bwMode="auto">
            <a:xfrm>
              <a:off x="1241" y="2707"/>
              <a:ext cx="623" cy="403"/>
              <a:chOff x="1241" y="2707"/>
              <a:chExt cx="623" cy="403"/>
            </a:xfrm>
          </p:grpSpPr>
          <p:sp>
            <p:nvSpPr>
              <p:cNvPr id="39971" name="Rectangle 75"/>
              <p:cNvSpPr>
                <a:spLocks noChangeArrowheads="1"/>
              </p:cNvSpPr>
              <p:nvPr/>
            </p:nvSpPr>
            <p:spPr bwMode="auto">
              <a:xfrm>
                <a:off x="1284" y="2707"/>
                <a:ext cx="537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888665555</a:t>
                </a:r>
              </a:p>
              <a:p>
                <a:pPr eaLnBrk="1" hangingPunct="1"/>
                <a:endParaRPr lang="en-US" altLang="en-US" sz="1600" b="0"/>
              </a:p>
            </p:txBody>
          </p:sp>
          <p:sp>
            <p:nvSpPr>
              <p:cNvPr id="39972" name="Rectangle 76"/>
              <p:cNvSpPr>
                <a:spLocks noChangeArrowheads="1"/>
              </p:cNvSpPr>
              <p:nvPr/>
            </p:nvSpPr>
            <p:spPr bwMode="auto">
              <a:xfrm>
                <a:off x="1241" y="2707"/>
                <a:ext cx="623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39968" name="Group 77"/>
            <p:cNvGrpSpPr>
              <a:grpSpLocks/>
            </p:cNvGrpSpPr>
            <p:nvPr/>
          </p:nvGrpSpPr>
          <p:grpSpPr bwMode="auto">
            <a:xfrm>
              <a:off x="1864" y="2707"/>
              <a:ext cx="1278" cy="403"/>
              <a:chOff x="1864" y="2707"/>
              <a:chExt cx="1278" cy="403"/>
            </a:xfrm>
          </p:grpSpPr>
          <p:sp>
            <p:nvSpPr>
              <p:cNvPr id="39969" name="Rectangle 78"/>
              <p:cNvSpPr>
                <a:spLocks noChangeArrowheads="1"/>
              </p:cNvSpPr>
              <p:nvPr/>
            </p:nvSpPr>
            <p:spPr bwMode="auto">
              <a:xfrm>
                <a:off x="1907" y="2707"/>
                <a:ext cx="119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b="0">
                    <a:cs typeface="Times New Roman" panose="02020603050405020304" pitchFamily="18" charset="0"/>
                  </a:rPr>
                  <a:t>Metro</a:t>
                </a:r>
              </a:p>
              <a:p>
                <a:pPr algn="ctr" eaLnBrk="1" hangingPunct="1"/>
                <a:endParaRPr lang="en-US" altLang="en-US" sz="1600" b="0"/>
              </a:p>
            </p:txBody>
          </p:sp>
          <p:sp>
            <p:nvSpPr>
              <p:cNvPr id="39970" name="Rectangle 79"/>
              <p:cNvSpPr>
                <a:spLocks noChangeArrowheads="1"/>
              </p:cNvSpPr>
              <p:nvPr/>
            </p:nvSpPr>
            <p:spPr bwMode="auto">
              <a:xfrm>
                <a:off x="1864" y="2707"/>
                <a:ext cx="127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</p:grpSp>
      <p:sp>
        <p:nvSpPr>
          <p:cNvPr id="39942" name="Rectangle 83"/>
          <p:cNvSpPr>
            <a:spLocks noChangeArrowheads="1"/>
          </p:cNvSpPr>
          <p:nvPr/>
        </p:nvSpPr>
        <p:spPr bwMode="auto">
          <a:xfrm>
            <a:off x="2667000" y="4311650"/>
            <a:ext cx="303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3333CC"/>
                </a:solidFill>
              </a:rPr>
              <a:t>1NF relation with redundancy</a:t>
            </a:r>
          </a:p>
        </p:txBody>
      </p:sp>
      <p:sp>
        <p:nvSpPr>
          <p:cNvPr id="39943" name="TextBox 83"/>
          <p:cNvSpPr txBox="1">
            <a:spLocks noChangeArrowheads="1"/>
          </p:cNvSpPr>
          <p:nvPr/>
        </p:nvSpPr>
        <p:spPr bwMode="auto">
          <a:xfrm>
            <a:off x="685800" y="114300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0">
                <a:solidFill>
                  <a:srgbClr val="3333CC"/>
                </a:solidFill>
              </a:rPr>
              <a:t>Solution 1:</a:t>
            </a:r>
          </a:p>
        </p:txBody>
      </p:sp>
      <p:sp>
        <p:nvSpPr>
          <p:cNvPr id="39944" name="Rectangle 4"/>
          <p:cNvSpPr>
            <a:spLocks noChangeArrowheads="1"/>
          </p:cNvSpPr>
          <p:nvPr/>
        </p:nvSpPr>
        <p:spPr bwMode="auto">
          <a:xfrm>
            <a:off x="7086600" y="1676400"/>
            <a:ext cx="1447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3333CC"/>
                </a:solidFill>
              </a:rPr>
              <a:t>DEPARTMENT</a:t>
            </a:r>
          </a:p>
        </p:txBody>
      </p:sp>
    </p:spTree>
    <p:extLst>
      <p:ext uri="{BB962C8B-B14F-4D97-AF65-F5344CB8AC3E}">
        <p14:creationId xmlns:p14="http://schemas.microsoft.com/office/powerpoint/2010/main" val="2221526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5554" name="Group 2"/>
          <p:cNvGraphicFramePr>
            <a:graphicFrameLocks noGrp="1"/>
          </p:cNvGraphicFramePr>
          <p:nvPr>
            <p:ph idx="4294967295"/>
          </p:nvPr>
        </p:nvGraphicFramePr>
        <p:xfrm>
          <a:off x="838200" y="2362200"/>
          <a:ext cx="8001000" cy="2667000"/>
        </p:xfrm>
        <a:graphic>
          <a:graphicData uri="http://schemas.openxmlformats.org/drawingml/2006/table">
            <a:tbl>
              <a:tblPr/>
              <a:tblGrid>
                <a:gridCol w="183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9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66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66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DNAME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DNUMBER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DMGRSSN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DLOC1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DLOC2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DLOC3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Research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333445555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Mathara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Kandy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Metro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Administration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987654321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Null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Null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Headquarters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888665555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Metro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Null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Null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0999" name="TextBox 57"/>
          <p:cNvSpPr txBox="1">
            <a:spLocks noChangeArrowheads="1"/>
          </p:cNvSpPr>
          <p:nvPr/>
        </p:nvSpPr>
        <p:spPr bwMode="auto">
          <a:xfrm>
            <a:off x="685800" y="1143000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0">
                <a:solidFill>
                  <a:srgbClr val="3333CC"/>
                </a:solidFill>
              </a:rPr>
              <a:t>Solution 2:</a:t>
            </a:r>
          </a:p>
        </p:txBody>
      </p:sp>
      <p:sp>
        <p:nvSpPr>
          <p:cNvPr id="4100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76200"/>
            <a:ext cx="7772400" cy="1104900"/>
          </a:xfrm>
        </p:spPr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</a:p>
        </p:txBody>
      </p:sp>
      <p:sp>
        <p:nvSpPr>
          <p:cNvPr id="41001" name="TextBox 59"/>
          <p:cNvSpPr txBox="1">
            <a:spLocks noChangeArrowheads="1"/>
          </p:cNvSpPr>
          <p:nvPr/>
        </p:nvSpPr>
        <p:spPr bwMode="auto">
          <a:xfrm>
            <a:off x="762000" y="1905000"/>
            <a:ext cx="2133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3333CC"/>
                </a:solidFill>
              </a:rPr>
              <a:t>DEPARTMENT</a:t>
            </a:r>
          </a:p>
        </p:txBody>
      </p:sp>
      <p:sp>
        <p:nvSpPr>
          <p:cNvPr id="41002" name="TextBox 60"/>
          <p:cNvSpPr txBox="1">
            <a:spLocks noChangeArrowheads="1"/>
          </p:cNvSpPr>
          <p:nvPr/>
        </p:nvSpPr>
        <p:spPr bwMode="auto">
          <a:xfrm>
            <a:off x="838200" y="5181600"/>
            <a:ext cx="76962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98463" indent="-398463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400" b="0">
                <a:solidFill>
                  <a:srgbClr val="3333CC"/>
                </a:solidFill>
              </a:rPr>
              <a:t>Need to know max number of locations.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400" b="0">
                <a:solidFill>
                  <a:srgbClr val="3333CC"/>
                </a:solidFill>
              </a:rPr>
              <a:t>create a column for each location.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400" b="0">
                <a:solidFill>
                  <a:srgbClr val="3333CC"/>
                </a:solidFill>
              </a:rPr>
              <a:t>may have lots of null values.</a:t>
            </a:r>
          </a:p>
        </p:txBody>
      </p:sp>
    </p:spTree>
    <p:extLst>
      <p:ext uri="{BB962C8B-B14F-4D97-AF65-F5344CB8AC3E}">
        <p14:creationId xmlns:p14="http://schemas.microsoft.com/office/powerpoint/2010/main" val="3479004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65"/>
          <p:cNvSpPr>
            <a:spLocks noChangeArrowheads="1"/>
          </p:cNvSpPr>
          <p:nvPr/>
        </p:nvSpPr>
        <p:spPr bwMode="auto">
          <a:xfrm>
            <a:off x="320675" y="4984750"/>
            <a:ext cx="5257800" cy="1447800"/>
          </a:xfrm>
          <a:prstGeom prst="rect">
            <a:avLst/>
          </a:prstGeom>
          <a:solidFill>
            <a:srgbClr val="CCCCFF"/>
          </a:solidFill>
          <a:ln w="9525">
            <a:solidFill>
              <a:srgbClr val="A0A0A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 sz="1800" b="0"/>
          </a:p>
        </p:txBody>
      </p:sp>
      <p:sp>
        <p:nvSpPr>
          <p:cNvPr id="41987" name="Rectangle 44"/>
          <p:cNvSpPr>
            <a:spLocks noChangeArrowheads="1"/>
          </p:cNvSpPr>
          <p:nvPr/>
        </p:nvSpPr>
        <p:spPr bwMode="auto">
          <a:xfrm>
            <a:off x="685800" y="2490788"/>
            <a:ext cx="3962400" cy="1700212"/>
          </a:xfrm>
          <a:prstGeom prst="rect">
            <a:avLst/>
          </a:prstGeom>
          <a:solidFill>
            <a:srgbClr val="CCCCFF"/>
          </a:solidFill>
          <a:ln w="9525">
            <a:solidFill>
              <a:srgbClr val="A0A0A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 sz="1800" b="0">
              <a:solidFill>
                <a:srgbClr val="3333CC"/>
              </a:solidFill>
            </a:endParaRPr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76200"/>
            <a:ext cx="7772400" cy="1104900"/>
          </a:xfrm>
        </p:spPr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</a:p>
        </p:txBody>
      </p:sp>
      <p:sp>
        <p:nvSpPr>
          <p:cNvPr id="41989" name="Rectangle 125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0" y="1638300"/>
            <a:ext cx="3581400" cy="4305300"/>
          </a:xfrm>
        </p:spPr>
        <p:txBody>
          <a:bodyPr/>
          <a:lstStyle/>
          <a:p>
            <a:pPr eaLnBrk="1" hangingPunct="1"/>
            <a:r>
              <a:rPr lang="en-US" altLang="en-US" sz="2000" smtClean="0"/>
              <a:t>Remove the attribute DLOCTION and place it in a separate relation DEPT_LOCTIONS along with the primary key DNUMBER of DEPARTMENT.</a:t>
            </a:r>
          </a:p>
          <a:p>
            <a:pPr eaLnBrk="1" hangingPunct="1"/>
            <a:r>
              <a:rPr lang="en-US" altLang="en-US" sz="2000" smtClean="0"/>
              <a:t>The PK is the combination {DNUMBER, DLOCTION}</a:t>
            </a:r>
          </a:p>
          <a:p>
            <a:pPr eaLnBrk="1" hangingPunct="1"/>
            <a:r>
              <a:rPr lang="en-US" altLang="en-US" sz="2000" smtClean="0"/>
              <a:t>This decompose the non-INF relation into two INF relation.</a:t>
            </a:r>
          </a:p>
          <a:p>
            <a:pPr eaLnBrk="1" hangingPunct="1"/>
            <a:endParaRPr lang="en-US" altLang="en-US" sz="2000" smtClean="0"/>
          </a:p>
        </p:txBody>
      </p:sp>
      <p:sp>
        <p:nvSpPr>
          <p:cNvPr id="41990" name="Text Box 5"/>
          <p:cNvSpPr txBox="1">
            <a:spLocks noChangeArrowheads="1"/>
          </p:cNvSpPr>
          <p:nvPr/>
        </p:nvSpPr>
        <p:spPr bwMode="auto">
          <a:xfrm>
            <a:off x="609600" y="2178050"/>
            <a:ext cx="203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3333CC"/>
                </a:solidFill>
              </a:rPr>
              <a:t>DEPT_LOCATIONS</a:t>
            </a:r>
          </a:p>
        </p:txBody>
      </p:sp>
      <p:grpSp>
        <p:nvGrpSpPr>
          <p:cNvPr id="41991" name="Group 7"/>
          <p:cNvGrpSpPr>
            <a:grpSpLocks/>
          </p:cNvGrpSpPr>
          <p:nvPr/>
        </p:nvGrpSpPr>
        <p:grpSpPr bwMode="auto">
          <a:xfrm>
            <a:off x="693738" y="2492375"/>
            <a:ext cx="3946525" cy="1697038"/>
            <a:chOff x="0" y="0"/>
            <a:chExt cx="1636" cy="2437"/>
          </a:xfrm>
        </p:grpSpPr>
        <p:grpSp>
          <p:nvGrpSpPr>
            <p:cNvPr id="42031" name="Group 8"/>
            <p:cNvGrpSpPr>
              <a:grpSpLocks/>
            </p:cNvGrpSpPr>
            <p:nvPr/>
          </p:nvGrpSpPr>
          <p:grpSpPr bwMode="auto">
            <a:xfrm>
              <a:off x="0" y="0"/>
              <a:ext cx="908" cy="422"/>
              <a:chOff x="0" y="0"/>
              <a:chExt cx="908" cy="422"/>
            </a:xfrm>
          </p:grpSpPr>
          <p:sp>
            <p:nvSpPr>
              <p:cNvPr id="42065" name="Rectangle 9"/>
              <p:cNvSpPr>
                <a:spLocks noChangeArrowheads="1"/>
              </p:cNvSpPr>
              <p:nvPr/>
            </p:nvSpPr>
            <p:spPr bwMode="auto">
              <a:xfrm>
                <a:off x="43" y="0"/>
                <a:ext cx="822" cy="4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u="sng">
                    <a:cs typeface="Times New Roman" panose="02020603050405020304" pitchFamily="18" charset="0"/>
                  </a:rPr>
                  <a:t>DNUMBER</a:t>
                </a: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66" name="Rectangle 1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908" cy="422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32" name="Group 11"/>
            <p:cNvGrpSpPr>
              <a:grpSpLocks/>
            </p:cNvGrpSpPr>
            <p:nvPr/>
          </p:nvGrpSpPr>
          <p:grpSpPr bwMode="auto">
            <a:xfrm>
              <a:off x="908" y="0"/>
              <a:ext cx="728" cy="422"/>
              <a:chOff x="908" y="0"/>
              <a:chExt cx="728" cy="422"/>
            </a:xfrm>
          </p:grpSpPr>
          <p:sp>
            <p:nvSpPr>
              <p:cNvPr id="42063" name="Rectangle 12"/>
              <p:cNvSpPr>
                <a:spLocks noChangeArrowheads="1"/>
              </p:cNvSpPr>
              <p:nvPr/>
            </p:nvSpPr>
            <p:spPr bwMode="auto">
              <a:xfrm>
                <a:off x="951" y="0"/>
                <a:ext cx="642" cy="4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u="sng">
                    <a:cs typeface="Times New Roman" panose="02020603050405020304" pitchFamily="18" charset="0"/>
                  </a:rPr>
                  <a:t>DLOCATIONS</a:t>
                </a:r>
                <a:endParaRPr lang="en-US" altLang="en-US" sz="1400" b="0" u="sng">
                  <a:cs typeface="Times New Roman" panose="02020603050405020304" pitchFamily="18" charset="0"/>
                </a:endParaRP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64" name="Rectangle 13"/>
              <p:cNvSpPr>
                <a:spLocks noChangeArrowheads="1"/>
              </p:cNvSpPr>
              <p:nvPr/>
            </p:nvSpPr>
            <p:spPr bwMode="auto">
              <a:xfrm>
                <a:off x="908" y="0"/>
                <a:ext cx="728" cy="422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33" name="Group 14"/>
            <p:cNvGrpSpPr>
              <a:grpSpLocks/>
            </p:cNvGrpSpPr>
            <p:nvPr/>
          </p:nvGrpSpPr>
          <p:grpSpPr bwMode="auto">
            <a:xfrm>
              <a:off x="0" y="422"/>
              <a:ext cx="908" cy="403"/>
              <a:chOff x="0" y="422"/>
              <a:chExt cx="908" cy="403"/>
            </a:xfrm>
          </p:grpSpPr>
          <p:sp>
            <p:nvSpPr>
              <p:cNvPr id="42061" name="Rectangle 15"/>
              <p:cNvSpPr>
                <a:spLocks noChangeArrowheads="1"/>
              </p:cNvSpPr>
              <p:nvPr/>
            </p:nvSpPr>
            <p:spPr bwMode="auto">
              <a:xfrm>
                <a:off x="43" y="422"/>
                <a:ext cx="82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1</a:t>
                </a: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62" name="Rectangle 16"/>
              <p:cNvSpPr>
                <a:spLocks noChangeArrowheads="1"/>
              </p:cNvSpPr>
              <p:nvPr/>
            </p:nvSpPr>
            <p:spPr bwMode="auto">
              <a:xfrm>
                <a:off x="0" y="422"/>
                <a:ext cx="90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34" name="Group 17"/>
            <p:cNvGrpSpPr>
              <a:grpSpLocks/>
            </p:cNvGrpSpPr>
            <p:nvPr/>
          </p:nvGrpSpPr>
          <p:grpSpPr bwMode="auto">
            <a:xfrm>
              <a:off x="908" y="422"/>
              <a:ext cx="728" cy="403"/>
              <a:chOff x="908" y="422"/>
              <a:chExt cx="728" cy="403"/>
            </a:xfrm>
          </p:grpSpPr>
          <p:sp>
            <p:nvSpPr>
              <p:cNvPr id="42059" name="Rectangle 18"/>
              <p:cNvSpPr>
                <a:spLocks noChangeArrowheads="1"/>
              </p:cNvSpPr>
              <p:nvPr/>
            </p:nvSpPr>
            <p:spPr bwMode="auto">
              <a:xfrm>
                <a:off x="951" y="422"/>
                <a:ext cx="64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Metro</a:t>
                </a:r>
              </a:p>
              <a:p>
                <a:pPr eaLnBrk="1" hangingPunct="1"/>
                <a:endParaRPr lang="en-US" altLang="en-US" sz="1400" b="0"/>
              </a:p>
            </p:txBody>
          </p:sp>
          <p:sp>
            <p:nvSpPr>
              <p:cNvPr id="42060" name="Rectangle 19"/>
              <p:cNvSpPr>
                <a:spLocks noChangeArrowheads="1"/>
              </p:cNvSpPr>
              <p:nvPr/>
            </p:nvSpPr>
            <p:spPr bwMode="auto">
              <a:xfrm>
                <a:off x="908" y="422"/>
                <a:ext cx="72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35" name="Group 20"/>
            <p:cNvGrpSpPr>
              <a:grpSpLocks/>
            </p:cNvGrpSpPr>
            <p:nvPr/>
          </p:nvGrpSpPr>
          <p:grpSpPr bwMode="auto">
            <a:xfrm>
              <a:off x="0" y="825"/>
              <a:ext cx="908" cy="403"/>
              <a:chOff x="0" y="825"/>
              <a:chExt cx="908" cy="403"/>
            </a:xfrm>
          </p:grpSpPr>
          <p:sp>
            <p:nvSpPr>
              <p:cNvPr id="42057" name="Rectangle 21"/>
              <p:cNvSpPr>
                <a:spLocks noChangeArrowheads="1"/>
              </p:cNvSpPr>
              <p:nvPr/>
            </p:nvSpPr>
            <p:spPr bwMode="auto">
              <a:xfrm>
                <a:off x="43" y="825"/>
                <a:ext cx="82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4</a:t>
                </a: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58" name="Rectangle 22"/>
              <p:cNvSpPr>
                <a:spLocks noChangeArrowheads="1"/>
              </p:cNvSpPr>
              <p:nvPr/>
            </p:nvSpPr>
            <p:spPr bwMode="auto">
              <a:xfrm>
                <a:off x="0" y="825"/>
                <a:ext cx="90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36" name="Group 23"/>
            <p:cNvGrpSpPr>
              <a:grpSpLocks/>
            </p:cNvGrpSpPr>
            <p:nvPr/>
          </p:nvGrpSpPr>
          <p:grpSpPr bwMode="auto">
            <a:xfrm>
              <a:off x="908" y="825"/>
              <a:ext cx="728" cy="403"/>
              <a:chOff x="908" y="825"/>
              <a:chExt cx="728" cy="403"/>
            </a:xfrm>
          </p:grpSpPr>
          <p:sp>
            <p:nvSpPr>
              <p:cNvPr id="42055" name="Rectangle 24"/>
              <p:cNvSpPr>
                <a:spLocks noChangeArrowheads="1"/>
              </p:cNvSpPr>
              <p:nvPr/>
            </p:nvSpPr>
            <p:spPr bwMode="auto">
              <a:xfrm>
                <a:off x="951" y="825"/>
                <a:ext cx="64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Malabe</a:t>
                </a:r>
              </a:p>
              <a:p>
                <a:pPr eaLnBrk="1" hangingPunct="1"/>
                <a:endParaRPr lang="en-US" altLang="en-US" sz="1400" b="0"/>
              </a:p>
            </p:txBody>
          </p:sp>
          <p:sp>
            <p:nvSpPr>
              <p:cNvPr id="42056" name="Rectangle 25"/>
              <p:cNvSpPr>
                <a:spLocks noChangeArrowheads="1"/>
              </p:cNvSpPr>
              <p:nvPr/>
            </p:nvSpPr>
            <p:spPr bwMode="auto">
              <a:xfrm>
                <a:off x="908" y="825"/>
                <a:ext cx="72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37" name="Group 26"/>
            <p:cNvGrpSpPr>
              <a:grpSpLocks/>
            </p:cNvGrpSpPr>
            <p:nvPr/>
          </p:nvGrpSpPr>
          <p:grpSpPr bwMode="auto">
            <a:xfrm>
              <a:off x="0" y="1228"/>
              <a:ext cx="908" cy="403"/>
              <a:chOff x="0" y="1228"/>
              <a:chExt cx="908" cy="403"/>
            </a:xfrm>
          </p:grpSpPr>
          <p:sp>
            <p:nvSpPr>
              <p:cNvPr id="42053" name="Rectangle 27"/>
              <p:cNvSpPr>
                <a:spLocks noChangeArrowheads="1"/>
              </p:cNvSpPr>
              <p:nvPr/>
            </p:nvSpPr>
            <p:spPr bwMode="auto">
              <a:xfrm>
                <a:off x="43" y="1228"/>
                <a:ext cx="82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5</a:t>
                </a: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54" name="Rectangle 28"/>
              <p:cNvSpPr>
                <a:spLocks noChangeArrowheads="1"/>
              </p:cNvSpPr>
              <p:nvPr/>
            </p:nvSpPr>
            <p:spPr bwMode="auto">
              <a:xfrm>
                <a:off x="0" y="1228"/>
                <a:ext cx="90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38" name="Group 29"/>
            <p:cNvGrpSpPr>
              <a:grpSpLocks/>
            </p:cNvGrpSpPr>
            <p:nvPr/>
          </p:nvGrpSpPr>
          <p:grpSpPr bwMode="auto">
            <a:xfrm>
              <a:off x="908" y="1228"/>
              <a:ext cx="728" cy="403"/>
              <a:chOff x="908" y="1228"/>
              <a:chExt cx="728" cy="403"/>
            </a:xfrm>
          </p:grpSpPr>
          <p:sp>
            <p:nvSpPr>
              <p:cNvPr id="42051" name="Rectangle 30"/>
              <p:cNvSpPr>
                <a:spLocks noChangeArrowheads="1"/>
              </p:cNvSpPr>
              <p:nvPr/>
            </p:nvSpPr>
            <p:spPr bwMode="auto">
              <a:xfrm>
                <a:off x="951" y="1228"/>
                <a:ext cx="64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Mathara</a:t>
                </a:r>
              </a:p>
              <a:p>
                <a:pPr eaLnBrk="1" hangingPunct="1"/>
                <a:endParaRPr lang="en-US" altLang="en-US" sz="1400" b="0"/>
              </a:p>
            </p:txBody>
          </p:sp>
          <p:sp>
            <p:nvSpPr>
              <p:cNvPr id="42052" name="Rectangle 31"/>
              <p:cNvSpPr>
                <a:spLocks noChangeArrowheads="1"/>
              </p:cNvSpPr>
              <p:nvPr/>
            </p:nvSpPr>
            <p:spPr bwMode="auto">
              <a:xfrm>
                <a:off x="908" y="1228"/>
                <a:ext cx="72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39" name="Group 32"/>
            <p:cNvGrpSpPr>
              <a:grpSpLocks/>
            </p:cNvGrpSpPr>
            <p:nvPr/>
          </p:nvGrpSpPr>
          <p:grpSpPr bwMode="auto">
            <a:xfrm>
              <a:off x="0" y="1631"/>
              <a:ext cx="908" cy="403"/>
              <a:chOff x="0" y="1631"/>
              <a:chExt cx="908" cy="403"/>
            </a:xfrm>
          </p:grpSpPr>
          <p:sp>
            <p:nvSpPr>
              <p:cNvPr id="42049" name="Rectangle 33"/>
              <p:cNvSpPr>
                <a:spLocks noChangeArrowheads="1"/>
              </p:cNvSpPr>
              <p:nvPr/>
            </p:nvSpPr>
            <p:spPr bwMode="auto">
              <a:xfrm>
                <a:off x="43" y="1631"/>
                <a:ext cx="82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5</a:t>
                </a: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50" name="Rectangle 34"/>
              <p:cNvSpPr>
                <a:spLocks noChangeArrowheads="1"/>
              </p:cNvSpPr>
              <p:nvPr/>
            </p:nvSpPr>
            <p:spPr bwMode="auto">
              <a:xfrm>
                <a:off x="0" y="1631"/>
                <a:ext cx="90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40" name="Group 35"/>
            <p:cNvGrpSpPr>
              <a:grpSpLocks/>
            </p:cNvGrpSpPr>
            <p:nvPr/>
          </p:nvGrpSpPr>
          <p:grpSpPr bwMode="auto">
            <a:xfrm>
              <a:off x="908" y="1631"/>
              <a:ext cx="728" cy="403"/>
              <a:chOff x="908" y="1631"/>
              <a:chExt cx="728" cy="403"/>
            </a:xfrm>
          </p:grpSpPr>
          <p:sp>
            <p:nvSpPr>
              <p:cNvPr id="42047" name="Rectangle 36"/>
              <p:cNvSpPr>
                <a:spLocks noChangeArrowheads="1"/>
              </p:cNvSpPr>
              <p:nvPr/>
            </p:nvSpPr>
            <p:spPr bwMode="auto">
              <a:xfrm>
                <a:off x="951" y="1631"/>
                <a:ext cx="64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Kandy</a:t>
                </a:r>
              </a:p>
              <a:p>
                <a:pPr eaLnBrk="1" hangingPunct="1"/>
                <a:endParaRPr lang="en-US" altLang="en-US" sz="1400" b="0"/>
              </a:p>
            </p:txBody>
          </p:sp>
          <p:sp>
            <p:nvSpPr>
              <p:cNvPr id="42048" name="Rectangle 37"/>
              <p:cNvSpPr>
                <a:spLocks noChangeArrowheads="1"/>
              </p:cNvSpPr>
              <p:nvPr/>
            </p:nvSpPr>
            <p:spPr bwMode="auto">
              <a:xfrm>
                <a:off x="908" y="1631"/>
                <a:ext cx="72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41" name="Group 38"/>
            <p:cNvGrpSpPr>
              <a:grpSpLocks/>
            </p:cNvGrpSpPr>
            <p:nvPr/>
          </p:nvGrpSpPr>
          <p:grpSpPr bwMode="auto">
            <a:xfrm>
              <a:off x="0" y="2034"/>
              <a:ext cx="908" cy="403"/>
              <a:chOff x="0" y="2034"/>
              <a:chExt cx="908" cy="403"/>
            </a:xfrm>
          </p:grpSpPr>
          <p:sp>
            <p:nvSpPr>
              <p:cNvPr id="42045" name="Rectangle 39"/>
              <p:cNvSpPr>
                <a:spLocks noChangeArrowheads="1"/>
              </p:cNvSpPr>
              <p:nvPr/>
            </p:nvSpPr>
            <p:spPr bwMode="auto">
              <a:xfrm>
                <a:off x="43" y="2034"/>
                <a:ext cx="82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5</a:t>
                </a: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46" name="Rectangle 40"/>
              <p:cNvSpPr>
                <a:spLocks noChangeArrowheads="1"/>
              </p:cNvSpPr>
              <p:nvPr/>
            </p:nvSpPr>
            <p:spPr bwMode="auto">
              <a:xfrm>
                <a:off x="0" y="2034"/>
                <a:ext cx="90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42" name="Group 41"/>
            <p:cNvGrpSpPr>
              <a:grpSpLocks/>
            </p:cNvGrpSpPr>
            <p:nvPr/>
          </p:nvGrpSpPr>
          <p:grpSpPr bwMode="auto">
            <a:xfrm>
              <a:off x="908" y="2034"/>
              <a:ext cx="728" cy="403"/>
              <a:chOff x="908" y="2034"/>
              <a:chExt cx="728" cy="403"/>
            </a:xfrm>
          </p:grpSpPr>
          <p:sp>
            <p:nvSpPr>
              <p:cNvPr id="42043" name="Rectangle 42"/>
              <p:cNvSpPr>
                <a:spLocks noChangeArrowheads="1"/>
              </p:cNvSpPr>
              <p:nvPr/>
            </p:nvSpPr>
            <p:spPr bwMode="auto">
              <a:xfrm>
                <a:off x="951" y="2034"/>
                <a:ext cx="64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Metro</a:t>
                </a:r>
              </a:p>
              <a:p>
                <a:pPr eaLnBrk="1" hangingPunct="1"/>
                <a:endParaRPr lang="en-US" altLang="en-US" sz="1400" b="0"/>
              </a:p>
            </p:txBody>
          </p:sp>
          <p:sp>
            <p:nvSpPr>
              <p:cNvPr id="42044" name="Rectangle 43"/>
              <p:cNvSpPr>
                <a:spLocks noChangeArrowheads="1"/>
              </p:cNvSpPr>
              <p:nvPr/>
            </p:nvSpPr>
            <p:spPr bwMode="auto">
              <a:xfrm>
                <a:off x="908" y="2034"/>
                <a:ext cx="72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</p:grpSp>
      <p:grpSp>
        <p:nvGrpSpPr>
          <p:cNvPr id="41992" name="Group 128"/>
          <p:cNvGrpSpPr>
            <a:grpSpLocks/>
          </p:cNvGrpSpPr>
          <p:nvPr/>
        </p:nvGrpSpPr>
        <p:grpSpPr bwMode="auto">
          <a:xfrm>
            <a:off x="328613" y="4987925"/>
            <a:ext cx="5241925" cy="1441450"/>
            <a:chOff x="0" y="0"/>
            <a:chExt cx="2169" cy="1727"/>
          </a:xfrm>
        </p:grpSpPr>
        <p:grpSp>
          <p:nvGrpSpPr>
            <p:cNvPr id="41995" name="Group 129"/>
            <p:cNvGrpSpPr>
              <a:grpSpLocks/>
            </p:cNvGrpSpPr>
            <p:nvPr/>
          </p:nvGrpSpPr>
          <p:grpSpPr bwMode="auto">
            <a:xfrm>
              <a:off x="0" y="0"/>
              <a:ext cx="897" cy="518"/>
              <a:chOff x="0" y="0"/>
              <a:chExt cx="897" cy="518"/>
            </a:xfrm>
          </p:grpSpPr>
          <p:sp>
            <p:nvSpPr>
              <p:cNvPr id="42029" name="Rectangle 130"/>
              <p:cNvSpPr>
                <a:spLocks noChangeArrowheads="1"/>
              </p:cNvSpPr>
              <p:nvPr/>
            </p:nvSpPr>
            <p:spPr bwMode="auto">
              <a:xfrm>
                <a:off x="43" y="0"/>
                <a:ext cx="811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>
                    <a:cs typeface="Times New Roman" panose="02020603050405020304" pitchFamily="18" charset="0"/>
                  </a:rPr>
                  <a:t>DNAME</a:t>
                </a:r>
                <a:endParaRPr lang="en-US" altLang="en-US" sz="1400" b="0">
                  <a:cs typeface="Times New Roman" panose="02020603050405020304" pitchFamily="18" charset="0"/>
                </a:endParaRP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30" name="Rectangle 13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897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1996" name="Group 132"/>
            <p:cNvGrpSpPr>
              <a:grpSpLocks/>
            </p:cNvGrpSpPr>
            <p:nvPr/>
          </p:nvGrpSpPr>
          <p:grpSpPr bwMode="auto">
            <a:xfrm>
              <a:off x="897" y="0"/>
              <a:ext cx="720" cy="518"/>
              <a:chOff x="897" y="0"/>
              <a:chExt cx="720" cy="518"/>
            </a:xfrm>
          </p:grpSpPr>
          <p:sp>
            <p:nvSpPr>
              <p:cNvPr id="42027" name="Rectangle 133"/>
              <p:cNvSpPr>
                <a:spLocks noChangeArrowheads="1"/>
              </p:cNvSpPr>
              <p:nvPr/>
            </p:nvSpPr>
            <p:spPr bwMode="auto">
              <a:xfrm>
                <a:off x="940" y="0"/>
                <a:ext cx="634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u="sng">
                    <a:cs typeface="Times New Roman" panose="02020603050405020304" pitchFamily="18" charset="0"/>
                  </a:rPr>
                  <a:t>DNUMBER</a:t>
                </a:r>
                <a:endParaRPr lang="en-US" altLang="en-US" sz="1400" b="0" u="sng">
                  <a:cs typeface="Times New Roman" panose="02020603050405020304" pitchFamily="18" charset="0"/>
                </a:endParaRP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28" name="Rectangle 134"/>
              <p:cNvSpPr>
                <a:spLocks noChangeArrowheads="1"/>
              </p:cNvSpPr>
              <p:nvPr/>
            </p:nvSpPr>
            <p:spPr bwMode="auto">
              <a:xfrm>
                <a:off x="897" y="0"/>
                <a:ext cx="720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1997" name="Group 135"/>
            <p:cNvGrpSpPr>
              <a:grpSpLocks/>
            </p:cNvGrpSpPr>
            <p:nvPr/>
          </p:nvGrpSpPr>
          <p:grpSpPr bwMode="auto">
            <a:xfrm>
              <a:off x="1617" y="0"/>
              <a:ext cx="552" cy="518"/>
              <a:chOff x="1617" y="0"/>
              <a:chExt cx="552" cy="518"/>
            </a:xfrm>
          </p:grpSpPr>
          <p:sp>
            <p:nvSpPr>
              <p:cNvPr id="42025" name="Rectangle 136"/>
              <p:cNvSpPr>
                <a:spLocks noChangeArrowheads="1"/>
              </p:cNvSpPr>
              <p:nvPr/>
            </p:nvSpPr>
            <p:spPr bwMode="auto">
              <a:xfrm>
                <a:off x="1660" y="0"/>
                <a:ext cx="466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>
                    <a:cs typeface="Times New Roman" panose="02020603050405020304" pitchFamily="18" charset="0"/>
                  </a:rPr>
                  <a:t>DMGRSSN</a:t>
                </a:r>
                <a:endParaRPr lang="en-US" altLang="en-US" sz="1400" b="0">
                  <a:cs typeface="Times New Roman" panose="02020603050405020304" pitchFamily="18" charset="0"/>
                </a:endParaRP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26" name="Rectangle 137"/>
              <p:cNvSpPr>
                <a:spLocks noChangeArrowheads="1"/>
              </p:cNvSpPr>
              <p:nvPr/>
            </p:nvSpPr>
            <p:spPr bwMode="auto">
              <a:xfrm>
                <a:off x="1617" y="0"/>
                <a:ext cx="552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1998" name="Group 138"/>
            <p:cNvGrpSpPr>
              <a:grpSpLocks/>
            </p:cNvGrpSpPr>
            <p:nvPr/>
          </p:nvGrpSpPr>
          <p:grpSpPr bwMode="auto">
            <a:xfrm>
              <a:off x="0" y="518"/>
              <a:ext cx="897" cy="403"/>
              <a:chOff x="0" y="518"/>
              <a:chExt cx="897" cy="403"/>
            </a:xfrm>
          </p:grpSpPr>
          <p:sp>
            <p:nvSpPr>
              <p:cNvPr id="42023" name="Rectangle 139"/>
              <p:cNvSpPr>
                <a:spLocks noChangeArrowheads="1"/>
              </p:cNvSpPr>
              <p:nvPr/>
            </p:nvSpPr>
            <p:spPr bwMode="auto">
              <a:xfrm>
                <a:off x="43" y="518"/>
                <a:ext cx="811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Research </a:t>
                </a: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24" name="Rectangle 140"/>
              <p:cNvSpPr>
                <a:spLocks noChangeArrowheads="1"/>
              </p:cNvSpPr>
              <p:nvPr/>
            </p:nvSpPr>
            <p:spPr bwMode="auto">
              <a:xfrm>
                <a:off x="0" y="518"/>
                <a:ext cx="897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1999" name="Group 141"/>
            <p:cNvGrpSpPr>
              <a:grpSpLocks/>
            </p:cNvGrpSpPr>
            <p:nvPr/>
          </p:nvGrpSpPr>
          <p:grpSpPr bwMode="auto">
            <a:xfrm>
              <a:off x="897" y="518"/>
              <a:ext cx="720" cy="403"/>
              <a:chOff x="897" y="518"/>
              <a:chExt cx="720" cy="403"/>
            </a:xfrm>
          </p:grpSpPr>
          <p:sp>
            <p:nvSpPr>
              <p:cNvPr id="42021" name="Rectangle 142"/>
              <p:cNvSpPr>
                <a:spLocks noChangeArrowheads="1"/>
              </p:cNvSpPr>
              <p:nvPr/>
            </p:nvSpPr>
            <p:spPr bwMode="auto">
              <a:xfrm>
                <a:off x="940" y="518"/>
                <a:ext cx="634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5</a:t>
                </a: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22" name="Rectangle 143"/>
              <p:cNvSpPr>
                <a:spLocks noChangeArrowheads="1"/>
              </p:cNvSpPr>
              <p:nvPr/>
            </p:nvSpPr>
            <p:spPr bwMode="auto">
              <a:xfrm>
                <a:off x="897" y="518"/>
                <a:ext cx="720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00" name="Group 144"/>
            <p:cNvGrpSpPr>
              <a:grpSpLocks/>
            </p:cNvGrpSpPr>
            <p:nvPr/>
          </p:nvGrpSpPr>
          <p:grpSpPr bwMode="auto">
            <a:xfrm>
              <a:off x="1617" y="518"/>
              <a:ext cx="552" cy="403"/>
              <a:chOff x="1617" y="518"/>
              <a:chExt cx="552" cy="403"/>
            </a:xfrm>
          </p:grpSpPr>
          <p:sp>
            <p:nvSpPr>
              <p:cNvPr id="42019" name="Rectangle 145"/>
              <p:cNvSpPr>
                <a:spLocks noChangeArrowheads="1"/>
              </p:cNvSpPr>
              <p:nvPr/>
            </p:nvSpPr>
            <p:spPr bwMode="auto">
              <a:xfrm>
                <a:off x="1660" y="518"/>
                <a:ext cx="466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333445555</a:t>
                </a: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20" name="Rectangle 146"/>
              <p:cNvSpPr>
                <a:spLocks noChangeArrowheads="1"/>
              </p:cNvSpPr>
              <p:nvPr/>
            </p:nvSpPr>
            <p:spPr bwMode="auto">
              <a:xfrm>
                <a:off x="1617" y="518"/>
                <a:ext cx="552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01" name="Group 147"/>
            <p:cNvGrpSpPr>
              <a:grpSpLocks/>
            </p:cNvGrpSpPr>
            <p:nvPr/>
          </p:nvGrpSpPr>
          <p:grpSpPr bwMode="auto">
            <a:xfrm>
              <a:off x="0" y="921"/>
              <a:ext cx="897" cy="403"/>
              <a:chOff x="0" y="921"/>
              <a:chExt cx="897" cy="403"/>
            </a:xfrm>
          </p:grpSpPr>
          <p:sp>
            <p:nvSpPr>
              <p:cNvPr id="42017" name="Rectangle 148"/>
              <p:cNvSpPr>
                <a:spLocks noChangeArrowheads="1"/>
              </p:cNvSpPr>
              <p:nvPr/>
            </p:nvSpPr>
            <p:spPr bwMode="auto">
              <a:xfrm>
                <a:off x="43" y="921"/>
                <a:ext cx="811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Administration</a:t>
                </a: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18" name="Rectangle 149"/>
              <p:cNvSpPr>
                <a:spLocks noChangeArrowheads="1"/>
              </p:cNvSpPr>
              <p:nvPr/>
            </p:nvSpPr>
            <p:spPr bwMode="auto">
              <a:xfrm>
                <a:off x="0" y="921"/>
                <a:ext cx="897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02" name="Group 150"/>
            <p:cNvGrpSpPr>
              <a:grpSpLocks/>
            </p:cNvGrpSpPr>
            <p:nvPr/>
          </p:nvGrpSpPr>
          <p:grpSpPr bwMode="auto">
            <a:xfrm>
              <a:off x="897" y="921"/>
              <a:ext cx="720" cy="403"/>
              <a:chOff x="897" y="921"/>
              <a:chExt cx="720" cy="403"/>
            </a:xfrm>
          </p:grpSpPr>
          <p:sp>
            <p:nvSpPr>
              <p:cNvPr id="42015" name="Rectangle 151"/>
              <p:cNvSpPr>
                <a:spLocks noChangeArrowheads="1"/>
              </p:cNvSpPr>
              <p:nvPr/>
            </p:nvSpPr>
            <p:spPr bwMode="auto">
              <a:xfrm>
                <a:off x="940" y="921"/>
                <a:ext cx="634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4</a:t>
                </a: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16" name="Rectangle 152"/>
              <p:cNvSpPr>
                <a:spLocks noChangeArrowheads="1"/>
              </p:cNvSpPr>
              <p:nvPr/>
            </p:nvSpPr>
            <p:spPr bwMode="auto">
              <a:xfrm>
                <a:off x="897" y="921"/>
                <a:ext cx="720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03" name="Group 153"/>
            <p:cNvGrpSpPr>
              <a:grpSpLocks/>
            </p:cNvGrpSpPr>
            <p:nvPr/>
          </p:nvGrpSpPr>
          <p:grpSpPr bwMode="auto">
            <a:xfrm>
              <a:off x="1617" y="921"/>
              <a:ext cx="552" cy="403"/>
              <a:chOff x="1617" y="921"/>
              <a:chExt cx="552" cy="403"/>
            </a:xfrm>
          </p:grpSpPr>
          <p:sp>
            <p:nvSpPr>
              <p:cNvPr id="42013" name="Rectangle 154"/>
              <p:cNvSpPr>
                <a:spLocks noChangeArrowheads="1"/>
              </p:cNvSpPr>
              <p:nvPr/>
            </p:nvSpPr>
            <p:spPr bwMode="auto">
              <a:xfrm>
                <a:off x="1660" y="921"/>
                <a:ext cx="466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987654321</a:t>
                </a: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14" name="Rectangle 155"/>
              <p:cNvSpPr>
                <a:spLocks noChangeArrowheads="1"/>
              </p:cNvSpPr>
              <p:nvPr/>
            </p:nvSpPr>
            <p:spPr bwMode="auto">
              <a:xfrm>
                <a:off x="1617" y="921"/>
                <a:ext cx="552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04" name="Group 156"/>
            <p:cNvGrpSpPr>
              <a:grpSpLocks/>
            </p:cNvGrpSpPr>
            <p:nvPr/>
          </p:nvGrpSpPr>
          <p:grpSpPr bwMode="auto">
            <a:xfrm>
              <a:off x="0" y="1324"/>
              <a:ext cx="897" cy="403"/>
              <a:chOff x="0" y="1324"/>
              <a:chExt cx="897" cy="403"/>
            </a:xfrm>
          </p:grpSpPr>
          <p:sp>
            <p:nvSpPr>
              <p:cNvPr id="42011" name="Rectangle 157"/>
              <p:cNvSpPr>
                <a:spLocks noChangeArrowheads="1"/>
              </p:cNvSpPr>
              <p:nvPr/>
            </p:nvSpPr>
            <p:spPr bwMode="auto">
              <a:xfrm>
                <a:off x="43" y="1324"/>
                <a:ext cx="811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Headquarters </a:t>
                </a: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12" name="Rectangle 158"/>
              <p:cNvSpPr>
                <a:spLocks noChangeArrowheads="1"/>
              </p:cNvSpPr>
              <p:nvPr/>
            </p:nvSpPr>
            <p:spPr bwMode="auto">
              <a:xfrm>
                <a:off x="0" y="1324"/>
                <a:ext cx="897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05" name="Group 159"/>
            <p:cNvGrpSpPr>
              <a:grpSpLocks/>
            </p:cNvGrpSpPr>
            <p:nvPr/>
          </p:nvGrpSpPr>
          <p:grpSpPr bwMode="auto">
            <a:xfrm>
              <a:off x="897" y="1324"/>
              <a:ext cx="720" cy="403"/>
              <a:chOff x="897" y="1324"/>
              <a:chExt cx="720" cy="403"/>
            </a:xfrm>
          </p:grpSpPr>
          <p:sp>
            <p:nvSpPr>
              <p:cNvPr id="42009" name="Rectangle 160"/>
              <p:cNvSpPr>
                <a:spLocks noChangeArrowheads="1"/>
              </p:cNvSpPr>
              <p:nvPr/>
            </p:nvSpPr>
            <p:spPr bwMode="auto">
              <a:xfrm>
                <a:off x="940" y="1324"/>
                <a:ext cx="634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1</a:t>
                </a: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10" name="Rectangle 161"/>
              <p:cNvSpPr>
                <a:spLocks noChangeArrowheads="1"/>
              </p:cNvSpPr>
              <p:nvPr/>
            </p:nvSpPr>
            <p:spPr bwMode="auto">
              <a:xfrm>
                <a:off x="897" y="1324"/>
                <a:ext cx="720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  <p:grpSp>
          <p:nvGrpSpPr>
            <p:cNvPr id="42006" name="Group 162"/>
            <p:cNvGrpSpPr>
              <a:grpSpLocks/>
            </p:cNvGrpSpPr>
            <p:nvPr/>
          </p:nvGrpSpPr>
          <p:grpSpPr bwMode="auto">
            <a:xfrm>
              <a:off x="1617" y="1324"/>
              <a:ext cx="552" cy="403"/>
              <a:chOff x="1617" y="1324"/>
              <a:chExt cx="552" cy="403"/>
            </a:xfrm>
          </p:grpSpPr>
          <p:sp>
            <p:nvSpPr>
              <p:cNvPr id="42007" name="Rectangle 163"/>
              <p:cNvSpPr>
                <a:spLocks noChangeArrowheads="1"/>
              </p:cNvSpPr>
              <p:nvPr/>
            </p:nvSpPr>
            <p:spPr bwMode="auto">
              <a:xfrm>
                <a:off x="1660" y="1324"/>
                <a:ext cx="466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0">
                    <a:cs typeface="Times New Roman" panose="02020603050405020304" pitchFamily="18" charset="0"/>
                  </a:rPr>
                  <a:t>888665555</a:t>
                </a:r>
              </a:p>
              <a:p>
                <a:pPr algn="ctr" eaLnBrk="1" hangingPunct="1"/>
                <a:endParaRPr lang="en-US" altLang="en-US" sz="1400" b="0"/>
              </a:p>
            </p:txBody>
          </p:sp>
          <p:sp>
            <p:nvSpPr>
              <p:cNvPr id="42008" name="Rectangle 164"/>
              <p:cNvSpPr>
                <a:spLocks noChangeArrowheads="1"/>
              </p:cNvSpPr>
              <p:nvPr/>
            </p:nvSpPr>
            <p:spPr bwMode="auto">
              <a:xfrm>
                <a:off x="1617" y="1324"/>
                <a:ext cx="552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AU" altLang="en-US" sz="1800" b="0"/>
              </a:p>
            </p:txBody>
          </p:sp>
        </p:grpSp>
      </p:grpSp>
      <p:sp>
        <p:nvSpPr>
          <p:cNvPr id="41993" name="Text Box 166"/>
          <p:cNvSpPr txBox="1">
            <a:spLocks noChangeArrowheads="1"/>
          </p:cNvSpPr>
          <p:nvPr/>
        </p:nvSpPr>
        <p:spPr bwMode="auto">
          <a:xfrm>
            <a:off x="228600" y="4692650"/>
            <a:ext cx="1590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3333CC"/>
                </a:solidFill>
              </a:rPr>
              <a:t>DEPARTMENT</a:t>
            </a:r>
          </a:p>
        </p:txBody>
      </p:sp>
      <p:sp>
        <p:nvSpPr>
          <p:cNvPr id="41994" name="TextBox 86"/>
          <p:cNvSpPr txBox="1">
            <a:spLocks noChangeArrowheads="1"/>
          </p:cNvSpPr>
          <p:nvPr/>
        </p:nvSpPr>
        <p:spPr bwMode="auto">
          <a:xfrm>
            <a:off x="685800" y="1143000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0">
                <a:solidFill>
                  <a:srgbClr val="3333CC"/>
                </a:solidFill>
              </a:rPr>
              <a:t>Solution 3:</a:t>
            </a:r>
          </a:p>
        </p:txBody>
      </p:sp>
    </p:spTree>
    <p:extLst>
      <p:ext uri="{BB962C8B-B14F-4D97-AF65-F5344CB8AC3E}">
        <p14:creationId xmlns:p14="http://schemas.microsoft.com/office/powerpoint/2010/main" val="2925498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489075"/>
            <a:ext cx="81534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800" b="1" smtClean="0"/>
              <a:t>A functional dependency, X </a:t>
            </a:r>
            <a:r>
              <a:rPr lang="en-US" altLang="en-US" sz="1800" b="1" smtClean="0">
                <a:sym typeface="Wingdings" panose="05000000000000000000" pitchFamily="2" charset="2"/>
              </a:rPr>
              <a:t> Y is a </a:t>
            </a:r>
            <a:r>
              <a:rPr lang="en-US" altLang="en-US" sz="1800" b="1" smtClean="0">
                <a:solidFill>
                  <a:srgbClr val="FF33CC"/>
                </a:solidFill>
                <a:sym typeface="Wingdings" panose="05000000000000000000" pitchFamily="2" charset="2"/>
              </a:rPr>
              <a:t>full functional dependency</a:t>
            </a:r>
            <a:r>
              <a:rPr lang="en-US" altLang="en-US" sz="1800" b="1" smtClean="0">
                <a:sym typeface="Wingdings" panose="05000000000000000000" pitchFamily="2" charset="2"/>
              </a:rPr>
              <a:t> if removal of any attribute A from X means that the dependency does not hold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b="1" smtClean="0">
                <a:sym typeface="Wingdings" panose="05000000000000000000" pitchFamily="2" charset="2"/>
              </a:rPr>
              <a:t>		(i.e. (X –{A})  Y does not hold )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b="1" smtClean="0"/>
          </a:p>
          <a:p>
            <a:pPr eaLnBrk="1" hangingPunct="1">
              <a:lnSpc>
                <a:spcPct val="90000"/>
              </a:lnSpc>
            </a:pPr>
            <a:endParaRPr lang="en-US" altLang="en-US" sz="2400" smtClean="0"/>
          </a:p>
        </p:txBody>
      </p:sp>
      <p:sp>
        <p:nvSpPr>
          <p:cNvPr id="43012" name="Text Box 89"/>
          <p:cNvSpPr txBox="1">
            <a:spLocks noChangeArrowheads="1"/>
          </p:cNvSpPr>
          <p:nvPr/>
        </p:nvSpPr>
        <p:spPr bwMode="auto">
          <a:xfrm>
            <a:off x="762000" y="2743200"/>
            <a:ext cx="1047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0">
                <a:solidFill>
                  <a:srgbClr val="3333CC"/>
                </a:solidFill>
              </a:rPr>
              <a:t>TEACH</a:t>
            </a:r>
          </a:p>
        </p:txBody>
      </p:sp>
      <p:graphicFrame>
        <p:nvGraphicFramePr>
          <p:cNvPr id="537605" name="Group 5"/>
          <p:cNvGraphicFramePr>
            <a:graphicFrameLocks noGrp="1"/>
          </p:cNvGraphicFramePr>
          <p:nvPr/>
        </p:nvGraphicFramePr>
        <p:xfrm>
          <a:off x="762000" y="3243263"/>
          <a:ext cx="7315200" cy="3154680"/>
        </p:xfrm>
        <a:graphic>
          <a:graphicData uri="http://schemas.openxmlformats.org/drawingml/2006/table">
            <a:tbl>
              <a:tblPr/>
              <a:tblGrid>
                <a:gridCol w="157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4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STUDENT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COURSE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TEACHER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CAMPUS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4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Narayan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Database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ABC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Metro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4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Smith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Database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XYZ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4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Nalin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Operating Systems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Samantha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Metro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4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Kamal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F81BD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Operating Systems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F81BD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ABC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F81BD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4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Janith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Database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ABC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Metro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4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Ranil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Operating Systems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Samantha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Metro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4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Saman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F81BD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Operating Systems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F81BD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ABC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F81BD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4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Ruwan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Database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XYZ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3065" name="TextBox 91"/>
          <p:cNvSpPr txBox="1">
            <a:spLocks noChangeArrowheads="1"/>
          </p:cNvSpPr>
          <p:nvPr/>
        </p:nvSpPr>
        <p:spPr bwMode="auto">
          <a:xfrm>
            <a:off x="1981200" y="6400800"/>
            <a:ext cx="472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3333CC"/>
                </a:solidFill>
              </a:rPr>
              <a:t>{Teacher, Campus} </a:t>
            </a:r>
            <a:r>
              <a:rPr lang="en-US" altLang="en-US" sz="2400">
                <a:solidFill>
                  <a:srgbClr val="3333CC"/>
                </a:solidFill>
                <a:sym typeface="Wingdings" panose="05000000000000000000" pitchFamily="2" charset="2"/>
              </a:rPr>
              <a:t> Course</a:t>
            </a:r>
            <a:endParaRPr lang="en-US" altLang="en-US" sz="1800">
              <a:solidFill>
                <a:srgbClr val="33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657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 smtClean="0">
                <a:solidFill>
                  <a:srgbClr val="FF6600"/>
                </a:solidFill>
              </a:rPr>
              <a:t>2</a:t>
            </a:r>
            <a:r>
              <a:rPr lang="en-US" altLang="en-US" sz="2400" b="1" baseline="30000" smtClean="0">
                <a:solidFill>
                  <a:srgbClr val="FF6600"/>
                </a:solidFill>
              </a:rPr>
              <a:t>nd</a:t>
            </a:r>
            <a:r>
              <a:rPr lang="en-US" altLang="en-US" sz="2400" b="1" smtClean="0">
                <a:solidFill>
                  <a:srgbClr val="FF6600"/>
                </a:solidFill>
              </a:rPr>
              <a:t> Normal Form: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A relation R is in second normal form (2NF) if every nonprime attribute A in R is not </a:t>
            </a:r>
            <a:r>
              <a:rPr lang="en-US" altLang="en-US" sz="2400" b="1" smtClean="0">
                <a:solidFill>
                  <a:srgbClr val="009900"/>
                </a:solidFill>
              </a:rPr>
              <a:t>partially dependent</a:t>
            </a:r>
            <a:r>
              <a:rPr lang="en-US" altLang="en-US" sz="2400" smtClean="0"/>
              <a:t> on any key of R.</a:t>
            </a:r>
          </a:p>
          <a:p>
            <a:pPr eaLnBrk="1" hangingPunct="1">
              <a:buFontTx/>
              <a:buNone/>
            </a:pPr>
            <a:endParaRPr lang="en-US" altLang="en-US" smtClean="0"/>
          </a:p>
        </p:txBody>
      </p:sp>
      <p:graphicFrame>
        <p:nvGraphicFramePr>
          <p:cNvPr id="538673" name="Group 49"/>
          <p:cNvGraphicFramePr>
            <a:graphicFrameLocks noGrp="1"/>
          </p:cNvGraphicFramePr>
          <p:nvPr/>
        </p:nvGraphicFramePr>
        <p:xfrm>
          <a:off x="1066800" y="3810000"/>
          <a:ext cx="7620000" cy="1676401"/>
        </p:xfrm>
        <a:graphic>
          <a:graphicData uri="http://schemas.openxmlformats.org/drawingml/2006/table">
            <a:tbl>
              <a:tblPr/>
              <a:tblGrid>
                <a:gridCol w="133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43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sng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TEACHER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sng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CAMPUS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COURSE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ADDRESS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5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ABC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Metro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Database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BoC Merchant Tower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5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XYZ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Database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 Campus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5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Samantha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Metro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Operating Systems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BoC Merchant Tower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5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ABC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Operating Systems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 Campus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06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AU" altLang="en-US" sz="1800" b="0"/>
          </a:p>
        </p:txBody>
      </p:sp>
      <p:grpSp>
        <p:nvGrpSpPr>
          <p:cNvPr id="44070" name="Group 1"/>
          <p:cNvGrpSpPr>
            <a:grpSpLocks/>
          </p:cNvGrpSpPr>
          <p:nvPr/>
        </p:nvGrpSpPr>
        <p:grpSpPr bwMode="auto">
          <a:xfrm>
            <a:off x="3276600" y="5562600"/>
            <a:ext cx="2971800" cy="371475"/>
            <a:chOff x="2986" y="12220"/>
            <a:chExt cx="3487" cy="225"/>
          </a:xfrm>
        </p:grpSpPr>
        <p:cxnSp>
          <p:nvCxnSpPr>
            <p:cNvPr id="44078" name="AutoShape 4"/>
            <p:cNvCxnSpPr>
              <a:cxnSpLocks noChangeShapeType="1"/>
            </p:cNvCxnSpPr>
            <p:nvPr/>
          </p:nvCxnSpPr>
          <p:spPr bwMode="auto">
            <a:xfrm>
              <a:off x="2986" y="12445"/>
              <a:ext cx="348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79" name="AutoShape 3"/>
            <p:cNvCxnSpPr>
              <a:cxnSpLocks noChangeShapeType="1"/>
            </p:cNvCxnSpPr>
            <p:nvPr/>
          </p:nvCxnSpPr>
          <p:spPr bwMode="auto">
            <a:xfrm flipV="1">
              <a:off x="2986" y="12220"/>
              <a:ext cx="0" cy="22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80" name="AutoShape 2"/>
            <p:cNvCxnSpPr>
              <a:cxnSpLocks noChangeShapeType="1"/>
            </p:cNvCxnSpPr>
            <p:nvPr/>
          </p:nvCxnSpPr>
          <p:spPr bwMode="auto">
            <a:xfrm flipV="1">
              <a:off x="6473" y="12220"/>
              <a:ext cx="0" cy="22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4071" name="Group 21"/>
          <p:cNvGrpSpPr>
            <a:grpSpLocks/>
          </p:cNvGrpSpPr>
          <p:nvPr/>
        </p:nvGrpSpPr>
        <p:grpSpPr bwMode="auto">
          <a:xfrm>
            <a:off x="1676400" y="3579813"/>
            <a:ext cx="5183188" cy="230187"/>
            <a:chOff x="1676400" y="3429000"/>
            <a:chExt cx="5182394" cy="229394"/>
          </a:xfrm>
        </p:grpSpPr>
        <p:cxnSp>
          <p:nvCxnSpPr>
            <p:cNvPr id="44073" name="AutoShape 7"/>
            <p:cNvCxnSpPr>
              <a:cxnSpLocks noChangeShapeType="1"/>
            </p:cNvCxnSpPr>
            <p:nvPr/>
          </p:nvCxnSpPr>
          <p:spPr bwMode="auto">
            <a:xfrm>
              <a:off x="1720850" y="3429000"/>
              <a:ext cx="513715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74" name="AutoShape 8"/>
            <p:cNvCxnSpPr>
              <a:cxnSpLocks noChangeShapeType="1"/>
            </p:cNvCxnSpPr>
            <p:nvPr/>
          </p:nvCxnSpPr>
          <p:spPr bwMode="auto">
            <a:xfrm rot="5400000">
              <a:off x="1584325" y="3521075"/>
              <a:ext cx="228600" cy="444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75" name="AutoShape 9"/>
            <p:cNvCxnSpPr>
              <a:cxnSpLocks noChangeShapeType="1"/>
            </p:cNvCxnSpPr>
            <p:nvPr/>
          </p:nvCxnSpPr>
          <p:spPr bwMode="auto">
            <a:xfrm rot="5400000">
              <a:off x="3166567" y="3539034"/>
              <a:ext cx="228600" cy="853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76" name="AutoShape 10"/>
            <p:cNvCxnSpPr>
              <a:cxnSpLocks noChangeShapeType="1"/>
            </p:cNvCxnSpPr>
            <p:nvPr/>
          </p:nvCxnSpPr>
          <p:spPr bwMode="auto">
            <a:xfrm rot="16200000" flipH="1">
              <a:off x="4836878" y="3541478"/>
              <a:ext cx="228600" cy="364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77" name="AutoShape 11"/>
            <p:cNvCxnSpPr>
              <a:cxnSpLocks noChangeShapeType="1"/>
            </p:cNvCxnSpPr>
            <p:nvPr/>
          </p:nvCxnSpPr>
          <p:spPr bwMode="auto">
            <a:xfrm rot="5400000">
              <a:off x="6743700" y="3543300"/>
              <a:ext cx="228600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4072" name="TextBox 16"/>
          <p:cNvSpPr txBox="1">
            <a:spLocks noChangeArrowheads="1"/>
          </p:cNvSpPr>
          <p:nvPr/>
        </p:nvSpPr>
        <p:spPr bwMode="auto">
          <a:xfrm>
            <a:off x="990600" y="3124200"/>
            <a:ext cx="464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3333CC"/>
                </a:solidFill>
              </a:rPr>
              <a:t>Example: Not in 2NF</a:t>
            </a:r>
          </a:p>
        </p:txBody>
      </p:sp>
    </p:spTree>
    <p:extLst>
      <p:ext uri="{BB962C8B-B14F-4D97-AF65-F5344CB8AC3E}">
        <p14:creationId xmlns:p14="http://schemas.microsoft.com/office/powerpoint/2010/main" val="2972318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  <a:endParaRPr lang="en-GB" altLang="en-US" smtClean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solidFill>
                  <a:srgbClr val="FF6600"/>
                </a:solidFill>
              </a:rPr>
              <a:t>Lossless join decomposition</a:t>
            </a:r>
            <a:r>
              <a:rPr lang="en-US" altLang="en-US" smtClean="0"/>
              <a:t>:</a:t>
            </a:r>
          </a:p>
          <a:p>
            <a:pPr lvl="1" eaLnBrk="1" hangingPunct="1"/>
            <a:r>
              <a:rPr lang="en-US" altLang="en-US" sz="2400" smtClean="0"/>
              <a:t>Decomposition of R into X and Y is </a:t>
            </a:r>
            <a:r>
              <a:rPr lang="en-US" altLang="en-US" sz="2400" i="1" u="sng" smtClean="0">
                <a:solidFill>
                  <a:srgbClr val="FF0000"/>
                </a:solidFill>
              </a:rPr>
              <a:t>lossless-join</a:t>
            </a:r>
            <a:r>
              <a:rPr lang="en-US" altLang="en-US" sz="2400" smtClean="0">
                <a:solidFill>
                  <a:srgbClr val="FF0000"/>
                </a:solidFill>
              </a:rPr>
              <a:t> </a:t>
            </a:r>
            <a:r>
              <a:rPr lang="en-US" altLang="en-US" sz="2400" smtClean="0"/>
              <a:t>w.r.t. a set of FDs F if, for every instance </a:t>
            </a:r>
            <a:r>
              <a:rPr lang="en-US" altLang="en-US" sz="2400" i="1" smtClean="0"/>
              <a:t>r</a:t>
            </a:r>
            <a:r>
              <a:rPr lang="en-US" altLang="en-US" sz="2400" smtClean="0"/>
              <a:t> that satisfies F:</a:t>
            </a:r>
          </a:p>
          <a:p>
            <a:pPr lvl="2" eaLnBrk="1" hangingPunct="1">
              <a:buSzPct val="75000"/>
            </a:pPr>
            <a:r>
              <a:rPr lang="en-US" altLang="en-US" sz="2100" smtClean="0">
                <a:sym typeface="Symbol" panose="05050102010706020507" pitchFamily="18" charset="2"/>
              </a:rPr>
              <a:t></a:t>
            </a:r>
            <a:r>
              <a:rPr lang="en-US" altLang="en-US" sz="2100" baseline="-25000" smtClean="0"/>
              <a:t>X</a:t>
            </a:r>
            <a:r>
              <a:rPr lang="en-US" altLang="en-US" sz="2100" smtClean="0"/>
              <a:t>(</a:t>
            </a:r>
            <a:r>
              <a:rPr lang="en-US" altLang="en-US" sz="2100" i="1" smtClean="0"/>
              <a:t>r</a:t>
            </a:r>
            <a:r>
              <a:rPr lang="en-US" altLang="en-US" sz="2100" smtClean="0"/>
              <a:t>) </a:t>
            </a:r>
            <a:r>
              <a:rPr lang="en-US" altLang="en-US" sz="2800" smtClean="0">
                <a:sym typeface="Symbol" panose="05050102010706020507" pitchFamily="18" charset="2"/>
              </a:rPr>
              <a:t></a:t>
            </a:r>
            <a:r>
              <a:rPr lang="en-US" altLang="en-US" sz="2100" smtClean="0"/>
              <a:t> </a:t>
            </a:r>
            <a:r>
              <a:rPr lang="en-US" altLang="en-US" sz="2100" smtClean="0">
                <a:sym typeface="Symbol" panose="05050102010706020507" pitchFamily="18" charset="2"/>
              </a:rPr>
              <a:t></a:t>
            </a:r>
            <a:r>
              <a:rPr lang="en-US" altLang="en-US" sz="2100" baseline="-25000" smtClean="0"/>
              <a:t>Y</a:t>
            </a:r>
            <a:r>
              <a:rPr lang="en-US" altLang="en-US" sz="2100" smtClean="0"/>
              <a:t> (</a:t>
            </a:r>
            <a:r>
              <a:rPr lang="en-US" altLang="en-US" sz="2100" i="1" smtClean="0"/>
              <a:t>r</a:t>
            </a:r>
            <a:r>
              <a:rPr lang="en-US" altLang="en-US" sz="2100" smtClean="0"/>
              <a:t>)   =  </a:t>
            </a:r>
            <a:r>
              <a:rPr lang="en-US" altLang="en-US" sz="2100" i="1" smtClean="0"/>
              <a:t>r</a:t>
            </a:r>
          </a:p>
          <a:p>
            <a:pPr eaLnBrk="1" hangingPunct="1"/>
            <a:endParaRPr lang="en-US" altLang="en-US" smtClean="0"/>
          </a:p>
          <a:p>
            <a:pPr eaLnBrk="1" hangingPunct="1">
              <a:buFontTx/>
              <a:buNone/>
            </a:pPr>
            <a:r>
              <a:rPr lang="en-US" altLang="en-US" b="1" smtClean="0"/>
              <a:t>		</a:t>
            </a:r>
            <a:r>
              <a:rPr lang="en-US" altLang="en-US" sz="2400" b="1" smtClean="0"/>
              <a:t>Theorem:</a:t>
            </a:r>
          </a:p>
          <a:p>
            <a:pPr eaLnBrk="1" hangingPunct="1">
              <a:buFontTx/>
              <a:buNone/>
            </a:pPr>
            <a:endParaRPr lang="en-GB" altLang="en-US" smtClean="0"/>
          </a:p>
        </p:txBody>
      </p:sp>
      <p:sp>
        <p:nvSpPr>
          <p:cNvPr id="45060" name="Rectangle 4"/>
          <p:cNvSpPr>
            <a:spLocks noChangeArrowheads="1"/>
          </p:cNvSpPr>
          <p:nvPr/>
        </p:nvSpPr>
        <p:spPr bwMode="auto">
          <a:xfrm>
            <a:off x="990600" y="4648200"/>
            <a:ext cx="6934200" cy="11430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0"/>
              <a:t>This condition holds if attributes common to </a:t>
            </a:r>
          </a:p>
          <a:p>
            <a:pPr algn="ctr" eaLnBrk="1" hangingPunct="1"/>
            <a:r>
              <a:rPr lang="en-US" altLang="en-US" b="0"/>
              <a:t>X and Y contains a key for either X or Y</a:t>
            </a:r>
          </a:p>
        </p:txBody>
      </p:sp>
    </p:spTree>
    <p:extLst>
      <p:ext uri="{BB962C8B-B14F-4D97-AF65-F5344CB8AC3E}">
        <p14:creationId xmlns:p14="http://schemas.microsoft.com/office/powerpoint/2010/main" val="2595951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smtClean="0">
                <a:solidFill>
                  <a:srgbClr val="00CC00"/>
                </a:solidFill>
              </a:rPr>
              <a:t>Removing partial dependency</a:t>
            </a:r>
            <a:endParaRPr lang="en-AU" altLang="en-US" sz="3600" smtClean="0">
              <a:solidFill>
                <a:srgbClr val="00CC00"/>
              </a:solidFill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>
              <a:solidFill>
                <a:srgbClr val="009900"/>
              </a:solidFill>
            </a:endParaRPr>
          </a:p>
          <a:p>
            <a:pPr eaLnBrk="1" hangingPunct="1"/>
            <a:r>
              <a:rPr lang="en-US" altLang="en-US" smtClean="0"/>
              <a:t>Place the attributes that create the partial dependency in a separate table.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Make sure that the new table's primary key is left in the original table.</a:t>
            </a:r>
          </a:p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50669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</a:p>
        </p:txBody>
      </p:sp>
      <p:graphicFrame>
        <p:nvGraphicFramePr>
          <p:cNvPr id="617590" name="Group 118"/>
          <p:cNvGraphicFramePr>
            <a:graphicFrameLocks noGrp="1"/>
          </p:cNvGraphicFramePr>
          <p:nvPr/>
        </p:nvGraphicFramePr>
        <p:xfrm>
          <a:off x="1066800" y="1752600"/>
          <a:ext cx="7620000" cy="1614487"/>
        </p:xfrm>
        <a:graphic>
          <a:graphicData uri="http://schemas.openxmlformats.org/drawingml/2006/table">
            <a:tbl>
              <a:tblPr/>
              <a:tblGrid>
                <a:gridCol w="133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4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sng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TEACHER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sng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CAMPUS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COURSE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ADDRESS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5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ABC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Metro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Database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BoC Merchant Tower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5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XYZ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Database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 Campus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5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Samantha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Metro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Operating Systems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BoC Merchant Tower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5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ABC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Operating Systems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 Campus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140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AU" altLang="en-US" sz="1800" b="0"/>
          </a:p>
        </p:txBody>
      </p:sp>
      <p:grpSp>
        <p:nvGrpSpPr>
          <p:cNvPr id="47141" name="Group 1"/>
          <p:cNvGrpSpPr>
            <a:grpSpLocks/>
          </p:cNvGrpSpPr>
          <p:nvPr/>
        </p:nvGrpSpPr>
        <p:grpSpPr bwMode="auto">
          <a:xfrm>
            <a:off x="3276600" y="3352800"/>
            <a:ext cx="2971800" cy="371475"/>
            <a:chOff x="2986" y="12220"/>
            <a:chExt cx="3487" cy="225"/>
          </a:xfrm>
        </p:grpSpPr>
        <p:cxnSp>
          <p:nvCxnSpPr>
            <p:cNvPr id="47148" name="AutoShape 4"/>
            <p:cNvCxnSpPr>
              <a:cxnSpLocks noChangeShapeType="1"/>
            </p:cNvCxnSpPr>
            <p:nvPr/>
          </p:nvCxnSpPr>
          <p:spPr bwMode="auto">
            <a:xfrm>
              <a:off x="2986" y="12445"/>
              <a:ext cx="348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49" name="AutoShape 3"/>
            <p:cNvCxnSpPr>
              <a:cxnSpLocks noChangeShapeType="1"/>
            </p:cNvCxnSpPr>
            <p:nvPr/>
          </p:nvCxnSpPr>
          <p:spPr bwMode="auto">
            <a:xfrm flipV="1">
              <a:off x="2986" y="12220"/>
              <a:ext cx="0" cy="22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50" name="AutoShape 2"/>
            <p:cNvCxnSpPr>
              <a:cxnSpLocks noChangeShapeType="1"/>
            </p:cNvCxnSpPr>
            <p:nvPr/>
          </p:nvCxnSpPr>
          <p:spPr bwMode="auto">
            <a:xfrm flipV="1">
              <a:off x="6473" y="12220"/>
              <a:ext cx="0" cy="22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7142" name="Group 21"/>
          <p:cNvGrpSpPr>
            <a:grpSpLocks/>
          </p:cNvGrpSpPr>
          <p:nvPr/>
        </p:nvGrpSpPr>
        <p:grpSpPr bwMode="auto">
          <a:xfrm>
            <a:off x="1676400" y="1371600"/>
            <a:ext cx="5183188" cy="230188"/>
            <a:chOff x="1676400" y="3429000"/>
            <a:chExt cx="5182394" cy="229394"/>
          </a:xfrm>
        </p:grpSpPr>
        <p:cxnSp>
          <p:nvCxnSpPr>
            <p:cNvPr id="47143" name="AutoShape 7"/>
            <p:cNvCxnSpPr>
              <a:cxnSpLocks noChangeShapeType="1"/>
            </p:cNvCxnSpPr>
            <p:nvPr/>
          </p:nvCxnSpPr>
          <p:spPr bwMode="auto">
            <a:xfrm>
              <a:off x="1720850" y="3429000"/>
              <a:ext cx="513715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44" name="AutoShape 8"/>
            <p:cNvCxnSpPr>
              <a:cxnSpLocks noChangeShapeType="1"/>
            </p:cNvCxnSpPr>
            <p:nvPr/>
          </p:nvCxnSpPr>
          <p:spPr bwMode="auto">
            <a:xfrm rot="5400000">
              <a:off x="1584325" y="3521075"/>
              <a:ext cx="228600" cy="444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45" name="AutoShape 9"/>
            <p:cNvCxnSpPr>
              <a:cxnSpLocks noChangeShapeType="1"/>
            </p:cNvCxnSpPr>
            <p:nvPr/>
          </p:nvCxnSpPr>
          <p:spPr bwMode="auto">
            <a:xfrm rot="5400000">
              <a:off x="3166567" y="3539034"/>
              <a:ext cx="228600" cy="853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46" name="AutoShape 10"/>
            <p:cNvCxnSpPr>
              <a:cxnSpLocks noChangeShapeType="1"/>
            </p:cNvCxnSpPr>
            <p:nvPr/>
          </p:nvCxnSpPr>
          <p:spPr bwMode="auto">
            <a:xfrm rot="16200000" flipH="1">
              <a:off x="4836878" y="3541478"/>
              <a:ext cx="228600" cy="364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47" name="AutoShape 11"/>
            <p:cNvCxnSpPr>
              <a:cxnSpLocks noChangeShapeType="1"/>
            </p:cNvCxnSpPr>
            <p:nvPr/>
          </p:nvCxnSpPr>
          <p:spPr bwMode="auto">
            <a:xfrm rot="5400000">
              <a:off x="6743700" y="3543300"/>
              <a:ext cx="228600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731799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</a:p>
        </p:txBody>
      </p:sp>
      <p:graphicFrame>
        <p:nvGraphicFramePr>
          <p:cNvPr id="36913" name="Group 49"/>
          <p:cNvGraphicFramePr>
            <a:graphicFrameLocks noGrp="1"/>
          </p:cNvGraphicFramePr>
          <p:nvPr>
            <p:ph idx="4294967295"/>
          </p:nvPr>
        </p:nvGraphicFramePr>
        <p:xfrm>
          <a:off x="5029200" y="4759325"/>
          <a:ext cx="3810000" cy="1066800"/>
        </p:xfrm>
        <a:graphic>
          <a:graphicData uri="http://schemas.openxmlformats.org/drawingml/2006/table">
            <a:tbl>
              <a:tblPr/>
              <a:tblGrid>
                <a:gridCol w="1439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0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sng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CAMPUS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ADDRESS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Metro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BoC Merchant Tower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 Campus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40689" name="Group 17"/>
          <p:cNvGraphicFramePr>
            <a:graphicFrameLocks noGrp="1"/>
          </p:cNvGraphicFramePr>
          <p:nvPr/>
        </p:nvGraphicFramePr>
        <p:xfrm>
          <a:off x="762000" y="2514600"/>
          <a:ext cx="5562600" cy="1962377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TEACHER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CAMPUS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COURSE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ABC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Metro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Database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XYZ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Database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Samantha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Metro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Operating Systems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ABC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Malabe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Operating Systems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172" name="TextBox 8"/>
          <p:cNvSpPr txBox="1">
            <a:spLocks noChangeArrowheads="1"/>
          </p:cNvSpPr>
          <p:nvPr/>
        </p:nvSpPr>
        <p:spPr bwMode="auto">
          <a:xfrm>
            <a:off x="685800" y="1839913"/>
            <a:ext cx="594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0">
                <a:solidFill>
                  <a:srgbClr val="3333CC"/>
                </a:solidFill>
              </a:rPr>
              <a:t>Example: After normalized into 2NF</a:t>
            </a:r>
          </a:p>
        </p:txBody>
      </p:sp>
    </p:spTree>
    <p:extLst>
      <p:ext uri="{BB962C8B-B14F-4D97-AF65-F5344CB8AC3E}">
        <p14:creationId xmlns:p14="http://schemas.microsoft.com/office/powerpoint/2010/main" val="1329333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Another Example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altLang="en-US" smtClean="0"/>
          </a:p>
          <a:p>
            <a:pPr eaLnBrk="1" hangingPunct="1">
              <a:buFontTx/>
              <a:buNone/>
            </a:pPr>
            <a:r>
              <a:rPr lang="en-US" altLang="en-US" smtClean="0"/>
              <a:t>EMP_PROJ</a:t>
            </a:r>
          </a:p>
          <a:p>
            <a:pPr eaLnBrk="1" hangingPunct="1">
              <a:buFontTx/>
              <a:buNone/>
            </a:pPr>
            <a:endParaRPr lang="en-US" altLang="en-US" smtClean="0"/>
          </a:p>
        </p:txBody>
      </p:sp>
      <p:graphicFrame>
        <p:nvGraphicFramePr>
          <p:cNvPr id="541700" name="Group 4"/>
          <p:cNvGraphicFramePr>
            <a:graphicFrameLocks noGrp="1"/>
          </p:cNvGraphicFramePr>
          <p:nvPr/>
        </p:nvGraphicFramePr>
        <p:xfrm>
          <a:off x="685800" y="3733800"/>
          <a:ext cx="8153400" cy="7366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SSN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PNUM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HOURS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LOC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9172" name="Group 20"/>
          <p:cNvGrpSpPr>
            <a:grpSpLocks/>
          </p:cNvGrpSpPr>
          <p:nvPr/>
        </p:nvGrpSpPr>
        <p:grpSpPr bwMode="auto">
          <a:xfrm>
            <a:off x="533400" y="4537075"/>
            <a:ext cx="3581400" cy="457200"/>
            <a:chOff x="0" y="2090"/>
            <a:chExt cx="2256" cy="288"/>
          </a:xfrm>
        </p:grpSpPr>
        <p:sp>
          <p:nvSpPr>
            <p:cNvPr id="49184" name="Line 21"/>
            <p:cNvSpPr>
              <a:spLocks noChangeShapeType="1"/>
            </p:cNvSpPr>
            <p:nvPr/>
          </p:nvSpPr>
          <p:spPr bwMode="auto">
            <a:xfrm>
              <a:off x="432" y="211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5" name="Line 22"/>
            <p:cNvSpPr>
              <a:spLocks noChangeShapeType="1"/>
            </p:cNvSpPr>
            <p:nvPr/>
          </p:nvSpPr>
          <p:spPr bwMode="auto">
            <a:xfrm>
              <a:off x="1104" y="211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6" name="Line 23"/>
            <p:cNvSpPr>
              <a:spLocks noChangeShapeType="1"/>
            </p:cNvSpPr>
            <p:nvPr/>
          </p:nvSpPr>
          <p:spPr bwMode="auto">
            <a:xfrm>
              <a:off x="432" y="2352"/>
              <a:ext cx="18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7" name="Line 24"/>
            <p:cNvSpPr>
              <a:spLocks noChangeShapeType="1"/>
            </p:cNvSpPr>
            <p:nvPr/>
          </p:nvSpPr>
          <p:spPr bwMode="auto">
            <a:xfrm flipV="1">
              <a:off x="2256" y="211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8" name="Text Box 25"/>
            <p:cNvSpPr txBox="1">
              <a:spLocks noChangeArrowheads="1"/>
            </p:cNvSpPr>
            <p:nvPr/>
          </p:nvSpPr>
          <p:spPr bwMode="auto">
            <a:xfrm>
              <a:off x="0" y="2090"/>
              <a:ext cx="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0">
                  <a:latin typeface="Times New Roman" panose="02020603050405020304" pitchFamily="18" charset="0"/>
                </a:rPr>
                <a:t>FD1</a:t>
              </a:r>
            </a:p>
          </p:txBody>
        </p:sp>
      </p:grpSp>
      <p:grpSp>
        <p:nvGrpSpPr>
          <p:cNvPr id="49173" name="Group 26"/>
          <p:cNvGrpSpPr>
            <a:grpSpLocks/>
          </p:cNvGrpSpPr>
          <p:nvPr/>
        </p:nvGrpSpPr>
        <p:grpSpPr bwMode="auto">
          <a:xfrm>
            <a:off x="533400" y="5029200"/>
            <a:ext cx="5029200" cy="457200"/>
            <a:chOff x="0" y="2400"/>
            <a:chExt cx="3168" cy="288"/>
          </a:xfrm>
        </p:grpSpPr>
        <p:sp>
          <p:nvSpPr>
            <p:cNvPr id="49180" name="Line 27"/>
            <p:cNvSpPr>
              <a:spLocks noChangeShapeType="1"/>
            </p:cNvSpPr>
            <p:nvPr/>
          </p:nvSpPr>
          <p:spPr bwMode="auto">
            <a:xfrm>
              <a:off x="432" y="24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1" name="Line 28"/>
            <p:cNvSpPr>
              <a:spLocks noChangeShapeType="1"/>
            </p:cNvSpPr>
            <p:nvPr/>
          </p:nvSpPr>
          <p:spPr bwMode="auto">
            <a:xfrm>
              <a:off x="432" y="2640"/>
              <a:ext cx="27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2" name="Line 29"/>
            <p:cNvSpPr>
              <a:spLocks noChangeShapeType="1"/>
            </p:cNvSpPr>
            <p:nvPr/>
          </p:nvSpPr>
          <p:spPr bwMode="auto">
            <a:xfrm flipV="1">
              <a:off x="3168" y="24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3" name="Text Box 30"/>
            <p:cNvSpPr txBox="1">
              <a:spLocks noChangeArrowheads="1"/>
            </p:cNvSpPr>
            <p:nvPr/>
          </p:nvSpPr>
          <p:spPr bwMode="auto">
            <a:xfrm>
              <a:off x="0" y="2400"/>
              <a:ext cx="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0">
                  <a:latin typeface="Times New Roman" panose="02020603050405020304" pitchFamily="18" charset="0"/>
                </a:rPr>
                <a:t>FD2</a:t>
              </a:r>
            </a:p>
          </p:txBody>
        </p:sp>
      </p:grpSp>
      <p:grpSp>
        <p:nvGrpSpPr>
          <p:cNvPr id="49174" name="Group 31"/>
          <p:cNvGrpSpPr>
            <a:grpSpLocks/>
          </p:cNvGrpSpPr>
          <p:nvPr/>
        </p:nvGrpSpPr>
        <p:grpSpPr bwMode="auto">
          <a:xfrm>
            <a:off x="533400" y="5486400"/>
            <a:ext cx="8001000" cy="533400"/>
            <a:chOff x="0" y="2688"/>
            <a:chExt cx="5040" cy="336"/>
          </a:xfrm>
        </p:grpSpPr>
        <p:sp>
          <p:nvSpPr>
            <p:cNvPr id="49175" name="Line 32"/>
            <p:cNvSpPr>
              <a:spLocks noChangeShapeType="1"/>
            </p:cNvSpPr>
            <p:nvPr/>
          </p:nvSpPr>
          <p:spPr bwMode="auto">
            <a:xfrm>
              <a:off x="1104" y="268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76" name="Line 33"/>
            <p:cNvSpPr>
              <a:spLocks noChangeShapeType="1"/>
            </p:cNvSpPr>
            <p:nvPr/>
          </p:nvSpPr>
          <p:spPr bwMode="auto">
            <a:xfrm>
              <a:off x="1104" y="2928"/>
              <a:ext cx="39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77" name="Line 34"/>
            <p:cNvSpPr>
              <a:spLocks noChangeShapeType="1"/>
            </p:cNvSpPr>
            <p:nvPr/>
          </p:nvSpPr>
          <p:spPr bwMode="auto">
            <a:xfrm flipV="1">
              <a:off x="4176" y="268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78" name="Line 35"/>
            <p:cNvSpPr>
              <a:spLocks noChangeShapeType="1"/>
            </p:cNvSpPr>
            <p:nvPr/>
          </p:nvSpPr>
          <p:spPr bwMode="auto">
            <a:xfrm flipV="1">
              <a:off x="5040" y="268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79" name="Text Box 36"/>
            <p:cNvSpPr txBox="1">
              <a:spLocks noChangeArrowheads="1"/>
            </p:cNvSpPr>
            <p:nvPr/>
          </p:nvSpPr>
          <p:spPr bwMode="auto">
            <a:xfrm>
              <a:off x="0" y="2736"/>
              <a:ext cx="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0">
                  <a:latin typeface="Times New Roman" panose="02020603050405020304" pitchFamily="18" charset="0"/>
                </a:rPr>
                <a:t>FD3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591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</a:p>
        </p:txBody>
      </p:sp>
      <p:graphicFrame>
        <p:nvGraphicFramePr>
          <p:cNvPr id="542723" name="Group 3"/>
          <p:cNvGraphicFramePr>
            <a:graphicFrameLocks noGrp="1"/>
          </p:cNvGraphicFramePr>
          <p:nvPr/>
        </p:nvGraphicFramePr>
        <p:xfrm>
          <a:off x="1143000" y="2362200"/>
          <a:ext cx="4267200" cy="533400"/>
        </p:xfrm>
        <a:graphic>
          <a:graphicData uri="http://schemas.openxmlformats.org/drawingml/2006/table">
            <a:tbl>
              <a:tblPr/>
              <a:tblGrid>
                <a:gridCol w="1131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6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SSN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PNUM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HOURS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2733" name="Group 13"/>
          <p:cNvGraphicFramePr>
            <a:graphicFrameLocks noGrp="1"/>
          </p:cNvGraphicFramePr>
          <p:nvPr>
            <p:ph type="body" idx="4294967295"/>
          </p:nvPr>
        </p:nvGraphicFramePr>
        <p:xfrm>
          <a:off x="1039813" y="3516313"/>
          <a:ext cx="2895600" cy="533400"/>
        </p:xfrm>
        <a:graphic>
          <a:graphicData uri="http://schemas.openxmlformats.org/drawingml/2006/table">
            <a:tbl>
              <a:tblPr/>
              <a:tblGrid>
                <a:gridCol w="119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SSN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2741" name="Group 21"/>
          <p:cNvGraphicFramePr>
            <a:graphicFrameLocks noGrp="1"/>
          </p:cNvGraphicFramePr>
          <p:nvPr/>
        </p:nvGraphicFramePr>
        <p:xfrm>
          <a:off x="1143000" y="4648200"/>
          <a:ext cx="4267200" cy="533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PNUM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PLOC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207" name="Text Box 31"/>
          <p:cNvSpPr txBox="1">
            <a:spLocks noChangeArrowheads="1"/>
          </p:cNvSpPr>
          <p:nvPr/>
        </p:nvSpPr>
        <p:spPr bwMode="auto">
          <a:xfrm>
            <a:off x="441325" y="2327275"/>
            <a:ext cx="692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0">
                <a:latin typeface="Times New Roman" panose="02020603050405020304" pitchFamily="18" charset="0"/>
              </a:rPr>
              <a:t>EP1</a:t>
            </a:r>
          </a:p>
        </p:txBody>
      </p:sp>
      <p:sp>
        <p:nvSpPr>
          <p:cNvPr id="50208" name="Text Box 32"/>
          <p:cNvSpPr txBox="1">
            <a:spLocks noChangeArrowheads="1"/>
          </p:cNvSpPr>
          <p:nvPr/>
        </p:nvSpPr>
        <p:spPr bwMode="auto">
          <a:xfrm>
            <a:off x="381000" y="3505200"/>
            <a:ext cx="692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0">
                <a:latin typeface="Times New Roman" panose="02020603050405020304" pitchFamily="18" charset="0"/>
              </a:rPr>
              <a:t>EP2</a:t>
            </a:r>
          </a:p>
        </p:txBody>
      </p:sp>
      <p:sp>
        <p:nvSpPr>
          <p:cNvPr id="50209" name="Text Box 33"/>
          <p:cNvSpPr txBox="1">
            <a:spLocks noChangeArrowheads="1"/>
          </p:cNvSpPr>
          <p:nvPr/>
        </p:nvSpPr>
        <p:spPr bwMode="auto">
          <a:xfrm>
            <a:off x="441325" y="4689475"/>
            <a:ext cx="692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0">
                <a:latin typeface="Times New Roman" panose="02020603050405020304" pitchFamily="18" charset="0"/>
              </a:rPr>
              <a:t>EP3</a:t>
            </a:r>
          </a:p>
        </p:txBody>
      </p:sp>
      <p:sp>
        <p:nvSpPr>
          <p:cNvPr id="50210" name="Line 34"/>
          <p:cNvSpPr>
            <a:spLocks noChangeShapeType="1"/>
          </p:cNvSpPr>
          <p:nvPr/>
        </p:nvSpPr>
        <p:spPr bwMode="auto">
          <a:xfrm>
            <a:off x="1447800" y="2895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11" name="Line 35"/>
          <p:cNvSpPr>
            <a:spLocks noChangeShapeType="1"/>
          </p:cNvSpPr>
          <p:nvPr/>
        </p:nvSpPr>
        <p:spPr bwMode="auto">
          <a:xfrm>
            <a:off x="2895600" y="2895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12" name="Line 36"/>
          <p:cNvSpPr>
            <a:spLocks noChangeShapeType="1"/>
          </p:cNvSpPr>
          <p:nvPr/>
        </p:nvSpPr>
        <p:spPr bwMode="auto">
          <a:xfrm>
            <a:off x="1447800" y="320040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13" name="Line 37"/>
          <p:cNvSpPr>
            <a:spLocks noChangeShapeType="1"/>
          </p:cNvSpPr>
          <p:nvPr/>
        </p:nvSpPr>
        <p:spPr bwMode="auto">
          <a:xfrm flipV="1">
            <a:off x="4419600" y="2895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14" name="Line 38"/>
          <p:cNvSpPr>
            <a:spLocks noChangeShapeType="1"/>
          </p:cNvSpPr>
          <p:nvPr/>
        </p:nvSpPr>
        <p:spPr bwMode="auto">
          <a:xfrm>
            <a:off x="2057400" y="40386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15" name="Line 39"/>
          <p:cNvSpPr>
            <a:spLocks noChangeShapeType="1"/>
          </p:cNvSpPr>
          <p:nvPr/>
        </p:nvSpPr>
        <p:spPr bwMode="auto">
          <a:xfrm>
            <a:off x="2057400" y="4267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16" name="Line 40"/>
          <p:cNvSpPr>
            <a:spLocks noChangeShapeType="1"/>
          </p:cNvSpPr>
          <p:nvPr/>
        </p:nvSpPr>
        <p:spPr bwMode="auto">
          <a:xfrm flipV="1">
            <a:off x="3657600" y="40386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17" name="Line 41"/>
          <p:cNvSpPr>
            <a:spLocks noChangeShapeType="1"/>
          </p:cNvSpPr>
          <p:nvPr/>
        </p:nvSpPr>
        <p:spPr bwMode="auto">
          <a:xfrm>
            <a:off x="1600200" y="5181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18" name="Line 42"/>
          <p:cNvSpPr>
            <a:spLocks noChangeShapeType="1"/>
          </p:cNvSpPr>
          <p:nvPr/>
        </p:nvSpPr>
        <p:spPr bwMode="auto">
          <a:xfrm>
            <a:off x="1600200" y="5486400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19" name="Line 43"/>
          <p:cNvSpPr>
            <a:spLocks noChangeShapeType="1"/>
          </p:cNvSpPr>
          <p:nvPr/>
        </p:nvSpPr>
        <p:spPr bwMode="auto">
          <a:xfrm flipV="1">
            <a:off x="3200400" y="5181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20" name="Line 44"/>
          <p:cNvSpPr>
            <a:spLocks noChangeShapeType="1"/>
          </p:cNvSpPr>
          <p:nvPr/>
        </p:nvSpPr>
        <p:spPr bwMode="auto">
          <a:xfrm flipV="1">
            <a:off x="4800600" y="5181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111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295400"/>
            <a:ext cx="5181600" cy="51816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altLang="en-US" sz="2400" b="1" smtClean="0">
              <a:solidFill>
                <a:srgbClr val="FF6600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2400" b="1" smtClean="0">
                <a:solidFill>
                  <a:srgbClr val="FF6600"/>
                </a:solidFill>
              </a:rPr>
              <a:t>3</a:t>
            </a:r>
            <a:r>
              <a:rPr lang="en-US" altLang="en-US" sz="2400" b="1" baseline="30000" smtClean="0">
                <a:solidFill>
                  <a:srgbClr val="FF6600"/>
                </a:solidFill>
              </a:rPr>
              <a:t>rd</a:t>
            </a:r>
            <a:r>
              <a:rPr lang="en-US" altLang="en-US" sz="2400" b="1" smtClean="0">
                <a:solidFill>
                  <a:srgbClr val="FF6600"/>
                </a:solidFill>
              </a:rPr>
              <a:t> Normal Form:</a:t>
            </a:r>
          </a:p>
          <a:p>
            <a:pPr eaLnBrk="1" hangingPunct="1"/>
            <a:r>
              <a:rPr lang="en-US" altLang="en-US" smtClean="0"/>
              <a:t>A relation R is in 3</a:t>
            </a:r>
            <a:r>
              <a:rPr lang="en-US" altLang="en-US" baseline="30000" smtClean="0"/>
              <a:t>rd</a:t>
            </a:r>
            <a:r>
              <a:rPr lang="en-US" altLang="en-US" smtClean="0"/>
              <a:t> normal form (3NF) if every </a:t>
            </a:r>
          </a:p>
          <a:p>
            <a:pPr eaLnBrk="1" hangingPunct="1"/>
            <a:endParaRPr lang="en-US" altLang="en-US" smtClean="0"/>
          </a:p>
          <a:p>
            <a:pPr lvl="1" eaLnBrk="1" hangingPunct="1"/>
            <a:r>
              <a:rPr lang="en-US" altLang="en-US" sz="2400" smtClean="0"/>
              <a:t>R is in 2NF, and</a:t>
            </a:r>
          </a:p>
          <a:p>
            <a:pPr lvl="1" eaLnBrk="1" hangingPunct="1"/>
            <a:r>
              <a:rPr lang="en-US" altLang="en-US" sz="2400" smtClean="0"/>
              <a:t>No nonprime attribute is </a:t>
            </a:r>
            <a:r>
              <a:rPr lang="en-US" altLang="en-US" sz="2400" b="1" smtClean="0">
                <a:solidFill>
                  <a:srgbClr val="009900"/>
                </a:solidFill>
              </a:rPr>
              <a:t>transitively dependent</a:t>
            </a:r>
            <a:r>
              <a:rPr lang="en-US" altLang="en-US" sz="2400" smtClean="0"/>
              <a:t> on any key.</a:t>
            </a:r>
          </a:p>
          <a:p>
            <a:pPr eaLnBrk="1" hangingPunct="1"/>
            <a:endParaRPr lang="en-US" altLang="en-US" smtClean="0"/>
          </a:p>
        </p:txBody>
      </p:sp>
      <p:pic>
        <p:nvPicPr>
          <p:cNvPr id="51204" name="Picture 4" descr="eleve_prof-12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133600"/>
            <a:ext cx="2143125" cy="235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6658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533400"/>
            <a:ext cx="8686800" cy="2895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b="1" smtClean="0"/>
              <a:t>                      </a:t>
            </a:r>
            <a:r>
              <a:rPr lang="en-US" altLang="en-US" b="1" smtClean="0">
                <a:solidFill>
                  <a:srgbClr val="009900"/>
                </a:solidFill>
              </a:rPr>
              <a:t>Transitive dependency</a:t>
            </a:r>
          </a:p>
          <a:p>
            <a:pPr eaLnBrk="1" hangingPunct="1">
              <a:buFontTx/>
              <a:buNone/>
            </a:pPr>
            <a:r>
              <a:rPr lang="en-US" altLang="en-US" smtClean="0"/>
              <a:t> Attribute is dependent on another attribute that is not part of the primary key. </a:t>
            </a:r>
          </a:p>
          <a:p>
            <a:pPr eaLnBrk="1" hangingPunct="1">
              <a:buFontTx/>
              <a:buNone/>
            </a:pPr>
            <a:r>
              <a:rPr lang="en-US" altLang="en-US" smtClean="0"/>
              <a:t> Requires the decomposition of the table containing the transitive dependency.</a:t>
            </a:r>
          </a:p>
          <a:p>
            <a:pPr eaLnBrk="1" hangingPunct="1">
              <a:buFontTx/>
              <a:buNone/>
            </a:pPr>
            <a:endParaRPr lang="en-US" altLang="en-US" smtClean="0"/>
          </a:p>
          <a:p>
            <a:pPr eaLnBrk="1" hangingPunct="1">
              <a:buFontTx/>
              <a:buNone/>
            </a:pPr>
            <a:endParaRPr lang="en-US" altLang="en-US" smtClean="0"/>
          </a:p>
        </p:txBody>
      </p:sp>
      <p:graphicFrame>
        <p:nvGraphicFramePr>
          <p:cNvPr id="544772" name="Group 4"/>
          <p:cNvGraphicFramePr>
            <a:graphicFrameLocks noGrp="1"/>
          </p:cNvGraphicFramePr>
          <p:nvPr/>
        </p:nvGraphicFramePr>
        <p:xfrm>
          <a:off x="152400" y="4038600"/>
          <a:ext cx="8991600" cy="518048"/>
        </p:xfrm>
        <a:graphic>
          <a:graphicData uri="http://schemas.openxmlformats.org/drawingml/2006/table">
            <a:tbl>
              <a:tblPr/>
              <a:tblGrid>
                <a:gridCol w="1563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6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75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87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3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ENAME</a:t>
                      </a:r>
                    </a:p>
                  </a:txBody>
                  <a:tcPr marT="45664" marB="4566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SSN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BDATE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ADD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DNUM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DNAME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DMGR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2245" name="Group 22"/>
          <p:cNvGrpSpPr>
            <a:grpSpLocks/>
          </p:cNvGrpSpPr>
          <p:nvPr/>
        </p:nvGrpSpPr>
        <p:grpSpPr bwMode="auto">
          <a:xfrm>
            <a:off x="533400" y="4572000"/>
            <a:ext cx="8077200" cy="762000"/>
            <a:chOff x="336" y="2208"/>
            <a:chExt cx="5088" cy="480"/>
          </a:xfrm>
        </p:grpSpPr>
        <p:sp>
          <p:nvSpPr>
            <p:cNvPr id="52247" name="Line 23"/>
            <p:cNvSpPr>
              <a:spLocks noChangeShapeType="1"/>
            </p:cNvSpPr>
            <p:nvPr/>
          </p:nvSpPr>
          <p:spPr bwMode="auto">
            <a:xfrm>
              <a:off x="1344" y="22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48" name="Line 24"/>
            <p:cNvSpPr>
              <a:spLocks noChangeShapeType="1"/>
            </p:cNvSpPr>
            <p:nvPr/>
          </p:nvSpPr>
          <p:spPr bwMode="auto">
            <a:xfrm>
              <a:off x="336" y="2448"/>
              <a:ext cx="3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49" name="Line 25"/>
            <p:cNvSpPr>
              <a:spLocks noChangeShapeType="1"/>
            </p:cNvSpPr>
            <p:nvPr/>
          </p:nvSpPr>
          <p:spPr bwMode="auto">
            <a:xfrm flipV="1">
              <a:off x="336" y="22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50" name="Line 26"/>
            <p:cNvSpPr>
              <a:spLocks noChangeShapeType="1"/>
            </p:cNvSpPr>
            <p:nvPr/>
          </p:nvSpPr>
          <p:spPr bwMode="auto">
            <a:xfrm flipV="1">
              <a:off x="2112" y="22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51" name="Line 27"/>
            <p:cNvSpPr>
              <a:spLocks noChangeShapeType="1"/>
            </p:cNvSpPr>
            <p:nvPr/>
          </p:nvSpPr>
          <p:spPr bwMode="auto">
            <a:xfrm flipV="1">
              <a:off x="2880" y="22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52" name="Line 28"/>
            <p:cNvSpPr>
              <a:spLocks noChangeShapeType="1"/>
            </p:cNvSpPr>
            <p:nvPr/>
          </p:nvSpPr>
          <p:spPr bwMode="auto">
            <a:xfrm flipV="1">
              <a:off x="3552" y="22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53" name="Line 29"/>
            <p:cNvSpPr>
              <a:spLocks noChangeShapeType="1"/>
            </p:cNvSpPr>
            <p:nvPr/>
          </p:nvSpPr>
          <p:spPr bwMode="auto">
            <a:xfrm>
              <a:off x="3552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54" name="Line 30"/>
            <p:cNvSpPr>
              <a:spLocks noChangeShapeType="1"/>
            </p:cNvSpPr>
            <p:nvPr/>
          </p:nvSpPr>
          <p:spPr bwMode="auto">
            <a:xfrm>
              <a:off x="3552" y="2688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55" name="Line 31"/>
            <p:cNvSpPr>
              <a:spLocks noChangeShapeType="1"/>
            </p:cNvSpPr>
            <p:nvPr/>
          </p:nvSpPr>
          <p:spPr bwMode="auto">
            <a:xfrm flipV="1">
              <a:off x="4464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56" name="Line 32"/>
            <p:cNvSpPr>
              <a:spLocks noChangeShapeType="1"/>
            </p:cNvSpPr>
            <p:nvPr/>
          </p:nvSpPr>
          <p:spPr bwMode="auto">
            <a:xfrm flipV="1">
              <a:off x="5424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2246" name="Text Box 33"/>
          <p:cNvSpPr txBox="1">
            <a:spLocks noChangeArrowheads="1"/>
          </p:cNvSpPr>
          <p:nvPr/>
        </p:nvSpPr>
        <p:spPr bwMode="auto">
          <a:xfrm>
            <a:off x="304800" y="3505200"/>
            <a:ext cx="155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0">
                <a:solidFill>
                  <a:srgbClr val="3333CC"/>
                </a:solidFill>
              </a:rPr>
              <a:t>EMP_DEPT</a:t>
            </a:r>
          </a:p>
        </p:txBody>
      </p:sp>
    </p:spTree>
    <p:extLst>
      <p:ext uri="{BB962C8B-B14F-4D97-AF65-F5344CB8AC3E}">
        <p14:creationId xmlns:p14="http://schemas.microsoft.com/office/powerpoint/2010/main" val="793158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smtClean="0">
                <a:solidFill>
                  <a:srgbClr val="00CC00"/>
                </a:solidFill>
              </a:rPr>
              <a:t>Removing transitive dependency</a:t>
            </a:r>
            <a:endParaRPr lang="en-AU" altLang="en-US" sz="3600" smtClean="0">
              <a:solidFill>
                <a:srgbClr val="00CC00"/>
              </a:solidFill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>
              <a:solidFill>
                <a:srgbClr val="009900"/>
              </a:solidFill>
            </a:endParaRPr>
          </a:p>
          <a:p>
            <a:pPr eaLnBrk="1" hangingPunct="1"/>
            <a:r>
              <a:rPr lang="en-US" altLang="en-US" smtClean="0"/>
              <a:t>Place the attributes that create the transitive dependency in a separate table.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Make sure that the new table's primary key attribute is the foreign key in the original table.</a:t>
            </a:r>
          </a:p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88842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2438400"/>
            <a:ext cx="8686800" cy="4191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mtClean="0"/>
              <a:t>  </a:t>
            </a:r>
          </a:p>
          <a:p>
            <a:pPr eaLnBrk="1" hangingPunct="1">
              <a:buFontTx/>
              <a:buNone/>
            </a:pPr>
            <a:r>
              <a:rPr lang="en-US" altLang="en-US" smtClean="0"/>
              <a:t>	</a:t>
            </a:r>
          </a:p>
          <a:p>
            <a:pPr eaLnBrk="1" hangingPunct="1">
              <a:buFontTx/>
              <a:buNone/>
            </a:pPr>
            <a:endParaRPr lang="en-US" altLang="en-US" smtClean="0"/>
          </a:p>
          <a:p>
            <a:pPr eaLnBrk="1" hangingPunct="1">
              <a:buFontTx/>
              <a:buNone/>
            </a:pPr>
            <a:endParaRPr lang="en-US" altLang="en-US" smtClean="0"/>
          </a:p>
          <a:p>
            <a:pPr eaLnBrk="1" hangingPunct="1">
              <a:buFontTx/>
              <a:buNone/>
            </a:pPr>
            <a:r>
              <a:rPr lang="en-US" altLang="en-US" smtClean="0"/>
              <a:t>  </a:t>
            </a:r>
          </a:p>
          <a:p>
            <a:pPr eaLnBrk="1" hangingPunct="1">
              <a:buFontTx/>
              <a:buNone/>
            </a:pPr>
            <a:r>
              <a:rPr lang="en-US" altLang="en-US" smtClean="0"/>
              <a:t>	</a:t>
            </a:r>
          </a:p>
        </p:txBody>
      </p:sp>
      <p:graphicFrame>
        <p:nvGraphicFramePr>
          <p:cNvPr id="612423" name="Group 71"/>
          <p:cNvGraphicFramePr>
            <a:graphicFrameLocks noGrp="1"/>
          </p:cNvGraphicFramePr>
          <p:nvPr/>
        </p:nvGraphicFramePr>
        <p:xfrm>
          <a:off x="838200" y="4648200"/>
          <a:ext cx="6400800" cy="7620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SSN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BDATE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DNUM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2421" name="Group 69"/>
          <p:cNvGraphicFramePr>
            <a:graphicFrameLocks noGrp="1"/>
          </p:cNvGraphicFramePr>
          <p:nvPr/>
        </p:nvGraphicFramePr>
        <p:xfrm>
          <a:off x="1143000" y="2895600"/>
          <a:ext cx="6096000" cy="838200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DNUM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DMGR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12379" name="Line 28"/>
          <p:cNvSpPr>
            <a:spLocks noChangeShapeType="1"/>
          </p:cNvSpPr>
          <p:nvPr/>
        </p:nvSpPr>
        <p:spPr bwMode="auto">
          <a:xfrm>
            <a:off x="2743200" y="5486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80" name="Line 29"/>
          <p:cNvSpPr>
            <a:spLocks noChangeShapeType="1"/>
          </p:cNvSpPr>
          <p:nvPr/>
        </p:nvSpPr>
        <p:spPr bwMode="auto">
          <a:xfrm>
            <a:off x="1447800" y="5791200"/>
            <a:ext cx="533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81" name="Line 30"/>
          <p:cNvSpPr>
            <a:spLocks noChangeShapeType="1"/>
          </p:cNvSpPr>
          <p:nvPr/>
        </p:nvSpPr>
        <p:spPr bwMode="auto">
          <a:xfrm flipV="1">
            <a:off x="1447800" y="5410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82" name="Line 31"/>
          <p:cNvSpPr>
            <a:spLocks noChangeShapeType="1"/>
          </p:cNvSpPr>
          <p:nvPr/>
        </p:nvSpPr>
        <p:spPr bwMode="auto">
          <a:xfrm flipV="1">
            <a:off x="4114800" y="5410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83" name="Line 32"/>
          <p:cNvSpPr>
            <a:spLocks noChangeShapeType="1"/>
          </p:cNvSpPr>
          <p:nvPr/>
        </p:nvSpPr>
        <p:spPr bwMode="auto">
          <a:xfrm flipV="1">
            <a:off x="5562600" y="5410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84" name="Line 33"/>
          <p:cNvSpPr>
            <a:spLocks noChangeShapeType="1"/>
          </p:cNvSpPr>
          <p:nvPr/>
        </p:nvSpPr>
        <p:spPr bwMode="auto">
          <a:xfrm flipV="1">
            <a:off x="6705600" y="5486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1905000" y="3733800"/>
            <a:ext cx="4191000" cy="381000"/>
            <a:chOff x="1152" y="3504"/>
            <a:chExt cx="2640" cy="240"/>
          </a:xfrm>
        </p:grpSpPr>
        <p:sp>
          <p:nvSpPr>
            <p:cNvPr id="54336" name="Line 35"/>
            <p:cNvSpPr>
              <a:spLocks noChangeShapeType="1"/>
            </p:cNvSpPr>
            <p:nvPr/>
          </p:nvSpPr>
          <p:spPr bwMode="auto">
            <a:xfrm>
              <a:off x="1152" y="3744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7" name="Line 36"/>
            <p:cNvSpPr>
              <a:spLocks noChangeShapeType="1"/>
            </p:cNvSpPr>
            <p:nvPr/>
          </p:nvSpPr>
          <p:spPr bwMode="auto">
            <a:xfrm flipV="1">
              <a:off x="2496" y="350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8" name="Line 37"/>
            <p:cNvSpPr>
              <a:spLocks noChangeShapeType="1"/>
            </p:cNvSpPr>
            <p:nvPr/>
          </p:nvSpPr>
          <p:spPr bwMode="auto">
            <a:xfrm flipV="1">
              <a:off x="1152" y="350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9" name="Line 38"/>
            <p:cNvSpPr>
              <a:spLocks noChangeShapeType="1"/>
            </p:cNvSpPr>
            <p:nvPr/>
          </p:nvSpPr>
          <p:spPr bwMode="auto">
            <a:xfrm flipV="1">
              <a:off x="3792" y="350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612390" name="Group 38"/>
          <p:cNvGraphicFramePr>
            <a:graphicFrameLocks noGrp="1"/>
          </p:cNvGraphicFramePr>
          <p:nvPr/>
        </p:nvGraphicFramePr>
        <p:xfrm>
          <a:off x="152400" y="685800"/>
          <a:ext cx="8991600" cy="518048"/>
        </p:xfrm>
        <a:graphic>
          <a:graphicData uri="http://schemas.openxmlformats.org/drawingml/2006/table">
            <a:tbl>
              <a:tblPr/>
              <a:tblGrid>
                <a:gridCol w="1563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6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75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87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3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ENAME</a:t>
                      </a:r>
                    </a:p>
                  </a:txBody>
                  <a:tcPr marT="45664" marB="4566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SSN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BDATE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ADD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DNUM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DNAME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DMGR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4324" name="Group 22"/>
          <p:cNvGrpSpPr>
            <a:grpSpLocks/>
          </p:cNvGrpSpPr>
          <p:nvPr/>
        </p:nvGrpSpPr>
        <p:grpSpPr bwMode="auto">
          <a:xfrm>
            <a:off x="533400" y="1219200"/>
            <a:ext cx="8077200" cy="762000"/>
            <a:chOff x="336" y="2208"/>
            <a:chExt cx="5088" cy="480"/>
          </a:xfrm>
        </p:grpSpPr>
        <p:sp>
          <p:nvSpPr>
            <p:cNvPr id="54326" name="Line 23"/>
            <p:cNvSpPr>
              <a:spLocks noChangeShapeType="1"/>
            </p:cNvSpPr>
            <p:nvPr/>
          </p:nvSpPr>
          <p:spPr bwMode="auto">
            <a:xfrm>
              <a:off x="1344" y="22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27" name="Line 24"/>
            <p:cNvSpPr>
              <a:spLocks noChangeShapeType="1"/>
            </p:cNvSpPr>
            <p:nvPr/>
          </p:nvSpPr>
          <p:spPr bwMode="auto">
            <a:xfrm>
              <a:off x="336" y="2448"/>
              <a:ext cx="3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28" name="Line 25"/>
            <p:cNvSpPr>
              <a:spLocks noChangeShapeType="1"/>
            </p:cNvSpPr>
            <p:nvPr/>
          </p:nvSpPr>
          <p:spPr bwMode="auto">
            <a:xfrm flipV="1">
              <a:off x="336" y="22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29" name="Line 26"/>
            <p:cNvSpPr>
              <a:spLocks noChangeShapeType="1"/>
            </p:cNvSpPr>
            <p:nvPr/>
          </p:nvSpPr>
          <p:spPr bwMode="auto">
            <a:xfrm flipV="1">
              <a:off x="2112" y="22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0" name="Line 27"/>
            <p:cNvSpPr>
              <a:spLocks noChangeShapeType="1"/>
            </p:cNvSpPr>
            <p:nvPr/>
          </p:nvSpPr>
          <p:spPr bwMode="auto">
            <a:xfrm flipV="1">
              <a:off x="2880" y="22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1" name="Line 28"/>
            <p:cNvSpPr>
              <a:spLocks noChangeShapeType="1"/>
            </p:cNvSpPr>
            <p:nvPr/>
          </p:nvSpPr>
          <p:spPr bwMode="auto">
            <a:xfrm flipV="1">
              <a:off x="3552" y="22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2" name="Line 29"/>
            <p:cNvSpPr>
              <a:spLocks noChangeShapeType="1"/>
            </p:cNvSpPr>
            <p:nvPr/>
          </p:nvSpPr>
          <p:spPr bwMode="auto">
            <a:xfrm>
              <a:off x="3552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3" name="Line 30"/>
            <p:cNvSpPr>
              <a:spLocks noChangeShapeType="1"/>
            </p:cNvSpPr>
            <p:nvPr/>
          </p:nvSpPr>
          <p:spPr bwMode="auto">
            <a:xfrm>
              <a:off x="3552" y="2688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4" name="Line 31"/>
            <p:cNvSpPr>
              <a:spLocks noChangeShapeType="1"/>
            </p:cNvSpPr>
            <p:nvPr/>
          </p:nvSpPr>
          <p:spPr bwMode="auto">
            <a:xfrm flipV="1">
              <a:off x="4464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5" name="Line 32"/>
            <p:cNvSpPr>
              <a:spLocks noChangeShapeType="1"/>
            </p:cNvSpPr>
            <p:nvPr/>
          </p:nvSpPr>
          <p:spPr bwMode="auto">
            <a:xfrm flipV="1">
              <a:off x="5424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2422" name="Line 70"/>
          <p:cNvSpPr>
            <a:spLocks noChangeShapeType="1"/>
          </p:cNvSpPr>
          <p:nvPr/>
        </p:nvSpPr>
        <p:spPr bwMode="auto">
          <a:xfrm>
            <a:off x="2209800" y="3733800"/>
            <a:ext cx="4572000" cy="838200"/>
          </a:xfrm>
          <a:prstGeom prst="line">
            <a:avLst/>
          </a:prstGeom>
          <a:noFill/>
          <a:ln w="28575">
            <a:solidFill>
              <a:srgbClr val="FF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977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2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2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12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12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12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2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2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2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12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12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12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12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12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12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12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12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2379" grpId="0" animBg="1"/>
      <p:bldP spid="612380" grpId="0" animBg="1"/>
      <p:bldP spid="612381" grpId="0" animBg="1"/>
      <p:bldP spid="612382" grpId="0" animBg="1"/>
      <p:bldP spid="612383" grpId="0" animBg="1"/>
      <p:bldP spid="612384" grpId="0" animBg="1"/>
      <p:bldP spid="61242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219200" y="1143000"/>
          <a:ext cx="708660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Presentation" r:id="rId3" imgW="4571967" imgH="3429060" progId="PowerPoint.Show.8">
                  <p:embed/>
                </p:oleObj>
              </mc:Choice>
              <mc:Fallback>
                <p:oleObj name="Presentation" r:id="rId3" imgW="4571967" imgH="3429060" progId="PowerPoint.Show.8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012" t="13370" r="3799" b="11755"/>
                      <a:stretch>
                        <a:fillRect/>
                      </a:stretch>
                    </p:blipFill>
                    <p:spPr bwMode="auto">
                      <a:xfrm>
                        <a:off x="1219200" y="1143000"/>
                        <a:ext cx="7086600" cy="495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Text Box 7"/>
          <p:cNvSpPr txBox="1">
            <a:spLocks noChangeArrowheads="1"/>
          </p:cNvSpPr>
          <p:nvPr/>
        </p:nvSpPr>
        <p:spPr bwMode="auto">
          <a:xfrm>
            <a:off x="990600" y="3516313"/>
            <a:ext cx="6248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200"/>
              <a:t>Remove the Transitive dependency</a:t>
            </a:r>
            <a:r>
              <a:rPr lang="en-US" altLang="en-US"/>
              <a:t> </a:t>
            </a:r>
            <a:endParaRPr lang="en-AU" altLang="en-US"/>
          </a:p>
        </p:txBody>
      </p:sp>
      <p:sp>
        <p:nvSpPr>
          <p:cNvPr id="1028" name="Rectangle 8"/>
          <p:cNvSpPr>
            <a:spLocks noChangeArrowheads="1"/>
          </p:cNvSpPr>
          <p:nvPr/>
        </p:nvSpPr>
        <p:spPr bwMode="auto">
          <a:xfrm>
            <a:off x="838200" y="3352800"/>
            <a:ext cx="7467600" cy="297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/>
              <a:t>Is the table  in 3NF?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Why? </a:t>
            </a:r>
          </a:p>
          <a:p>
            <a:pPr eaLnBrk="1" hangingPunct="1"/>
            <a:r>
              <a:rPr lang="en-US" altLang="en-US" sz="2800"/>
              <a:t>      </a:t>
            </a:r>
          </a:p>
          <a:p>
            <a:pPr eaLnBrk="1" hangingPunct="1"/>
            <a:r>
              <a:rPr lang="en-US" altLang="en-US" sz="2800"/>
              <a:t>Remove Transitive Dependency</a:t>
            </a:r>
            <a:endParaRPr lang="en-AU" altLang="en-US" sz="2800"/>
          </a:p>
        </p:txBody>
      </p:sp>
    </p:spTree>
    <p:extLst>
      <p:ext uri="{BB962C8B-B14F-4D97-AF65-F5344CB8AC3E}">
        <p14:creationId xmlns:p14="http://schemas.microsoft.com/office/powerpoint/2010/main" val="3077617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1219200" y="1143000"/>
          <a:ext cx="708660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Presentation" r:id="rId3" imgW="4571967" imgH="3429060" progId="PowerPoint.Show.8">
                  <p:embed/>
                </p:oleObj>
              </mc:Choice>
              <mc:Fallback>
                <p:oleObj name="Presentation" r:id="rId3" imgW="4571967" imgH="3429060" progId="PowerPoint.Show.8">
                  <p:embed/>
                  <p:pic>
                    <p:nvPicPr>
                      <p:cNvPr id="20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012" t="13370" r="3799" b="11755"/>
                      <a:stretch>
                        <a:fillRect/>
                      </a:stretch>
                    </p:blipFill>
                    <p:spPr bwMode="auto">
                      <a:xfrm>
                        <a:off x="1219200" y="1143000"/>
                        <a:ext cx="7086600" cy="495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427" name="Line 3"/>
          <p:cNvSpPr>
            <a:spLocks noChangeShapeType="1"/>
          </p:cNvSpPr>
          <p:nvPr/>
        </p:nvSpPr>
        <p:spPr bwMode="auto">
          <a:xfrm flipH="1">
            <a:off x="1600200" y="4343400"/>
            <a:ext cx="3505200" cy="914400"/>
          </a:xfrm>
          <a:prstGeom prst="line">
            <a:avLst/>
          </a:prstGeom>
          <a:noFill/>
          <a:ln w="31750">
            <a:solidFill>
              <a:srgbClr val="FF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895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5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5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42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4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/>
              <a:t>Keys: PropertyID, (County_Name, Lot#)</a:t>
            </a:r>
          </a:p>
        </p:txBody>
      </p:sp>
      <p:graphicFrame>
        <p:nvGraphicFramePr>
          <p:cNvPr id="546820" name="Group 4"/>
          <p:cNvGraphicFramePr>
            <a:graphicFrameLocks noGrp="1"/>
          </p:cNvGraphicFramePr>
          <p:nvPr/>
        </p:nvGraphicFramePr>
        <p:xfrm>
          <a:off x="304800" y="1981200"/>
          <a:ext cx="8382000" cy="96520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65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PROPERTY_ID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COUNTY_NAME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LOT#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AREA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PRICE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TAX_RATE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5316" name="Group 20"/>
          <p:cNvGrpSpPr>
            <a:grpSpLocks/>
          </p:cNvGrpSpPr>
          <p:nvPr/>
        </p:nvGrpSpPr>
        <p:grpSpPr bwMode="auto">
          <a:xfrm>
            <a:off x="381000" y="3429000"/>
            <a:ext cx="7696200" cy="609600"/>
            <a:chOff x="240" y="2160"/>
            <a:chExt cx="4848" cy="384"/>
          </a:xfrm>
        </p:grpSpPr>
        <p:sp>
          <p:nvSpPr>
            <p:cNvPr id="55336" name="Line 21"/>
            <p:cNvSpPr>
              <a:spLocks noChangeShapeType="1"/>
            </p:cNvSpPr>
            <p:nvPr/>
          </p:nvSpPr>
          <p:spPr bwMode="auto">
            <a:xfrm>
              <a:off x="768" y="220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37" name="Line 22"/>
            <p:cNvSpPr>
              <a:spLocks noChangeShapeType="1"/>
            </p:cNvSpPr>
            <p:nvPr/>
          </p:nvSpPr>
          <p:spPr bwMode="auto">
            <a:xfrm>
              <a:off x="768" y="2544"/>
              <a:ext cx="43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38" name="Line 23"/>
            <p:cNvSpPr>
              <a:spLocks noChangeShapeType="1"/>
            </p:cNvSpPr>
            <p:nvPr/>
          </p:nvSpPr>
          <p:spPr bwMode="auto">
            <a:xfrm flipV="1">
              <a:off x="5088" y="21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39" name="Line 24"/>
            <p:cNvSpPr>
              <a:spLocks noChangeShapeType="1"/>
            </p:cNvSpPr>
            <p:nvPr/>
          </p:nvSpPr>
          <p:spPr bwMode="auto">
            <a:xfrm flipV="1">
              <a:off x="1968" y="220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40" name="Line 25"/>
            <p:cNvSpPr>
              <a:spLocks noChangeShapeType="1"/>
            </p:cNvSpPr>
            <p:nvPr/>
          </p:nvSpPr>
          <p:spPr bwMode="auto">
            <a:xfrm flipV="1">
              <a:off x="2928" y="220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41" name="Line 26"/>
            <p:cNvSpPr>
              <a:spLocks noChangeShapeType="1"/>
            </p:cNvSpPr>
            <p:nvPr/>
          </p:nvSpPr>
          <p:spPr bwMode="auto">
            <a:xfrm flipV="1">
              <a:off x="3792" y="220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42" name="Line 27"/>
            <p:cNvSpPr>
              <a:spLocks noChangeShapeType="1"/>
            </p:cNvSpPr>
            <p:nvPr/>
          </p:nvSpPr>
          <p:spPr bwMode="auto">
            <a:xfrm flipV="1">
              <a:off x="4512" y="21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43" name="Text Box 28"/>
            <p:cNvSpPr txBox="1">
              <a:spLocks noChangeArrowheads="1"/>
            </p:cNvSpPr>
            <p:nvPr/>
          </p:nvSpPr>
          <p:spPr bwMode="auto">
            <a:xfrm>
              <a:off x="240" y="2256"/>
              <a:ext cx="4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0">
                  <a:latin typeface="Times New Roman" panose="02020603050405020304" pitchFamily="18" charset="0"/>
                </a:rPr>
                <a:t>FD1</a:t>
              </a:r>
            </a:p>
          </p:txBody>
        </p:sp>
      </p:grpSp>
      <p:grpSp>
        <p:nvGrpSpPr>
          <p:cNvPr id="55317" name="Group 29"/>
          <p:cNvGrpSpPr>
            <a:grpSpLocks/>
          </p:cNvGrpSpPr>
          <p:nvPr/>
        </p:nvGrpSpPr>
        <p:grpSpPr bwMode="auto">
          <a:xfrm>
            <a:off x="381000" y="4191000"/>
            <a:ext cx="7696200" cy="533400"/>
            <a:chOff x="240" y="2640"/>
            <a:chExt cx="4848" cy="336"/>
          </a:xfrm>
        </p:grpSpPr>
        <p:sp>
          <p:nvSpPr>
            <p:cNvPr id="55328" name="Line 30"/>
            <p:cNvSpPr>
              <a:spLocks noChangeShapeType="1"/>
            </p:cNvSpPr>
            <p:nvPr/>
          </p:nvSpPr>
          <p:spPr bwMode="auto">
            <a:xfrm>
              <a:off x="1968" y="26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9" name="Line 31"/>
            <p:cNvSpPr>
              <a:spLocks noChangeShapeType="1"/>
            </p:cNvSpPr>
            <p:nvPr/>
          </p:nvSpPr>
          <p:spPr bwMode="auto">
            <a:xfrm>
              <a:off x="2928" y="26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30" name="Line 32"/>
            <p:cNvSpPr>
              <a:spLocks noChangeShapeType="1"/>
            </p:cNvSpPr>
            <p:nvPr/>
          </p:nvSpPr>
          <p:spPr bwMode="auto">
            <a:xfrm>
              <a:off x="768" y="2880"/>
              <a:ext cx="43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31" name="Line 33"/>
            <p:cNvSpPr>
              <a:spLocks noChangeShapeType="1"/>
            </p:cNvSpPr>
            <p:nvPr/>
          </p:nvSpPr>
          <p:spPr bwMode="auto">
            <a:xfrm flipV="1">
              <a:off x="768" y="26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32" name="Line 34"/>
            <p:cNvSpPr>
              <a:spLocks noChangeShapeType="1"/>
            </p:cNvSpPr>
            <p:nvPr/>
          </p:nvSpPr>
          <p:spPr bwMode="auto">
            <a:xfrm flipV="1">
              <a:off x="3792" y="26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33" name="Line 35"/>
            <p:cNvSpPr>
              <a:spLocks noChangeShapeType="1"/>
            </p:cNvSpPr>
            <p:nvPr/>
          </p:nvSpPr>
          <p:spPr bwMode="auto">
            <a:xfrm flipV="1">
              <a:off x="4512" y="26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34" name="Line 36"/>
            <p:cNvSpPr>
              <a:spLocks noChangeShapeType="1"/>
            </p:cNvSpPr>
            <p:nvPr/>
          </p:nvSpPr>
          <p:spPr bwMode="auto">
            <a:xfrm flipV="1">
              <a:off x="5088" y="26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35" name="Text Box 37"/>
            <p:cNvSpPr txBox="1">
              <a:spLocks noChangeArrowheads="1"/>
            </p:cNvSpPr>
            <p:nvPr/>
          </p:nvSpPr>
          <p:spPr bwMode="auto">
            <a:xfrm>
              <a:off x="240" y="2688"/>
              <a:ext cx="4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0">
                  <a:latin typeface="Times New Roman" panose="02020603050405020304" pitchFamily="18" charset="0"/>
                </a:rPr>
                <a:t>FD2</a:t>
              </a:r>
            </a:p>
          </p:txBody>
        </p:sp>
      </p:grpSp>
      <p:grpSp>
        <p:nvGrpSpPr>
          <p:cNvPr id="55318" name="Group 38"/>
          <p:cNvGrpSpPr>
            <a:grpSpLocks/>
          </p:cNvGrpSpPr>
          <p:nvPr/>
        </p:nvGrpSpPr>
        <p:grpSpPr bwMode="auto">
          <a:xfrm>
            <a:off x="2133600" y="4648200"/>
            <a:ext cx="5867400" cy="685800"/>
            <a:chOff x="1344" y="2928"/>
            <a:chExt cx="3696" cy="432"/>
          </a:xfrm>
        </p:grpSpPr>
        <p:sp>
          <p:nvSpPr>
            <p:cNvPr id="55324" name="Line 39"/>
            <p:cNvSpPr>
              <a:spLocks noChangeShapeType="1"/>
            </p:cNvSpPr>
            <p:nvPr/>
          </p:nvSpPr>
          <p:spPr bwMode="auto">
            <a:xfrm>
              <a:off x="1968" y="30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5" name="Line 40"/>
            <p:cNvSpPr>
              <a:spLocks noChangeShapeType="1"/>
            </p:cNvSpPr>
            <p:nvPr/>
          </p:nvSpPr>
          <p:spPr bwMode="auto">
            <a:xfrm>
              <a:off x="1968" y="3264"/>
              <a:ext cx="30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6" name="Line 41"/>
            <p:cNvSpPr>
              <a:spLocks noChangeShapeType="1"/>
            </p:cNvSpPr>
            <p:nvPr/>
          </p:nvSpPr>
          <p:spPr bwMode="auto">
            <a:xfrm flipV="1"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7" name="Text Box 42"/>
            <p:cNvSpPr txBox="1">
              <a:spLocks noChangeArrowheads="1"/>
            </p:cNvSpPr>
            <p:nvPr/>
          </p:nvSpPr>
          <p:spPr bwMode="auto">
            <a:xfrm>
              <a:off x="1344" y="3072"/>
              <a:ext cx="4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0">
                  <a:latin typeface="Times New Roman" panose="02020603050405020304" pitchFamily="18" charset="0"/>
                </a:rPr>
                <a:t>FD3</a:t>
              </a:r>
            </a:p>
          </p:txBody>
        </p:sp>
      </p:grpSp>
      <p:grpSp>
        <p:nvGrpSpPr>
          <p:cNvPr id="55319" name="Group 43"/>
          <p:cNvGrpSpPr>
            <a:grpSpLocks/>
          </p:cNvGrpSpPr>
          <p:nvPr/>
        </p:nvGrpSpPr>
        <p:grpSpPr bwMode="auto">
          <a:xfrm>
            <a:off x="5029200" y="5257800"/>
            <a:ext cx="2133600" cy="457200"/>
            <a:chOff x="3168" y="3312"/>
            <a:chExt cx="1344" cy="288"/>
          </a:xfrm>
        </p:grpSpPr>
        <p:sp>
          <p:nvSpPr>
            <p:cNvPr id="55320" name="Line 44"/>
            <p:cNvSpPr>
              <a:spLocks noChangeShapeType="1"/>
            </p:cNvSpPr>
            <p:nvPr/>
          </p:nvSpPr>
          <p:spPr bwMode="auto">
            <a:xfrm>
              <a:off x="3792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1" name="Line 45"/>
            <p:cNvSpPr>
              <a:spLocks noChangeShapeType="1"/>
            </p:cNvSpPr>
            <p:nvPr/>
          </p:nvSpPr>
          <p:spPr bwMode="auto">
            <a:xfrm>
              <a:off x="3792" y="350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2" name="Line 46"/>
            <p:cNvSpPr>
              <a:spLocks noChangeShapeType="1"/>
            </p:cNvSpPr>
            <p:nvPr/>
          </p:nvSpPr>
          <p:spPr bwMode="auto">
            <a:xfrm flipV="1">
              <a:off x="4512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3" name="Text Box 47"/>
            <p:cNvSpPr txBox="1">
              <a:spLocks noChangeArrowheads="1"/>
            </p:cNvSpPr>
            <p:nvPr/>
          </p:nvSpPr>
          <p:spPr bwMode="auto">
            <a:xfrm>
              <a:off x="3168" y="3312"/>
              <a:ext cx="4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0">
                  <a:latin typeface="Times New Roman" panose="02020603050405020304" pitchFamily="18" charset="0"/>
                </a:rPr>
                <a:t>FD4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7458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1NF, 2NF &amp; 3NF guarantee to preserve </a:t>
            </a:r>
            <a:r>
              <a:rPr lang="en-US" altLang="en-US" b="1" smtClean="0">
                <a:solidFill>
                  <a:srgbClr val="FF6600"/>
                </a:solidFill>
              </a:rPr>
              <a:t>lossless join property.</a:t>
            </a:r>
          </a:p>
          <a:p>
            <a:pPr eaLnBrk="1" hangingPunct="1"/>
            <a:endParaRPr lang="en-US" altLang="en-US" smtClean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227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build="p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solidFill>
                  <a:srgbClr val="FF6600"/>
                </a:solidFill>
              </a:rPr>
              <a:t>Your Turn !!</a:t>
            </a:r>
            <a:endParaRPr lang="en-AU" altLang="en-US" smtClean="0">
              <a:solidFill>
                <a:srgbClr val="FF6600"/>
              </a:solidFill>
            </a:endParaRPr>
          </a:p>
        </p:txBody>
      </p:sp>
      <p:graphicFrame>
        <p:nvGraphicFramePr>
          <p:cNvPr id="3074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066800" y="1219200"/>
          <a:ext cx="6400800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Presentation" r:id="rId4" imgW="4571967" imgH="3429060" progId="PowerPoint.Show.8">
                  <p:embed/>
                </p:oleObj>
              </mc:Choice>
              <mc:Fallback>
                <p:oleObj name="Presentation" r:id="rId4" imgW="4571967" imgH="3429060" progId="PowerPoint.Show.8">
                  <p:embed/>
                  <p:pic>
                    <p:nvPicPr>
                      <p:cNvPr id="307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0041" t="37883" r="19833" b="35376"/>
                      <a:stretch>
                        <a:fillRect/>
                      </a:stretch>
                    </p:blipFill>
                    <p:spPr bwMode="auto">
                      <a:xfrm>
                        <a:off x="1066800" y="1219200"/>
                        <a:ext cx="6400800" cy="342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6" name="Text Box 6"/>
          <p:cNvSpPr txBox="1">
            <a:spLocks noChangeArrowheads="1"/>
          </p:cNvSpPr>
          <p:nvPr/>
        </p:nvSpPr>
        <p:spPr bwMode="auto">
          <a:xfrm>
            <a:off x="914400" y="1066800"/>
            <a:ext cx="2754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Dependency diagram</a:t>
            </a:r>
            <a:endParaRPr lang="en-AU" altLang="en-US"/>
          </a:p>
        </p:txBody>
      </p:sp>
      <p:sp>
        <p:nvSpPr>
          <p:cNvPr id="3077" name="Text Box 7"/>
          <p:cNvSpPr txBox="1">
            <a:spLocks noChangeArrowheads="1"/>
          </p:cNvSpPr>
          <p:nvPr/>
        </p:nvSpPr>
        <p:spPr bwMode="auto">
          <a:xfrm>
            <a:off x="1143000" y="4572000"/>
            <a:ext cx="6784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33CC"/>
                </a:solidFill>
              </a:rPr>
              <a:t>Identify the dependencies shown in the above diagram</a:t>
            </a:r>
            <a:endParaRPr lang="en-AU" altLang="en-US">
              <a:solidFill>
                <a:srgbClr val="FF33CC"/>
              </a:solidFill>
            </a:endParaRPr>
          </a:p>
        </p:txBody>
      </p:sp>
      <p:sp>
        <p:nvSpPr>
          <p:cNvPr id="604168" name="Text Box 8"/>
          <p:cNvSpPr txBox="1">
            <a:spLocks noChangeArrowheads="1"/>
          </p:cNvSpPr>
          <p:nvPr/>
        </p:nvSpPr>
        <p:spPr bwMode="auto">
          <a:xfrm>
            <a:off x="1295400" y="5133975"/>
            <a:ext cx="7078663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/>
              <a:t>C1-&gt;C2                              partial dependency</a:t>
            </a:r>
          </a:p>
          <a:p>
            <a:pPr eaLnBrk="1" hangingPunct="1"/>
            <a:r>
              <a:rPr lang="en-US" altLang="en-US" sz="2400"/>
              <a:t>C4 -&gt;C5                             transitive dependency</a:t>
            </a:r>
          </a:p>
          <a:p>
            <a:pPr eaLnBrk="1" hangingPunct="1"/>
            <a:r>
              <a:rPr lang="en-US" altLang="en-US" sz="2400"/>
              <a:t>C1,C3 -&gt; C2,C4,C5           functional dependency</a:t>
            </a:r>
            <a:endParaRPr lang="en-AU" altLang="en-US" sz="2400"/>
          </a:p>
        </p:txBody>
      </p:sp>
    </p:spTree>
    <p:extLst>
      <p:ext uri="{BB962C8B-B14F-4D97-AF65-F5344CB8AC3E}">
        <p14:creationId xmlns:p14="http://schemas.microsoft.com/office/powerpoint/2010/main" val="2750836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4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04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04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04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52600" y="152400"/>
            <a:ext cx="6248400" cy="1219200"/>
          </a:xfrm>
        </p:spPr>
        <p:txBody>
          <a:bodyPr/>
          <a:lstStyle/>
          <a:p>
            <a:pPr eaLnBrk="1" hangingPunct="1"/>
            <a:r>
              <a:rPr lang="en-US" altLang="en-US" sz="2400" b="1" smtClean="0"/>
              <a:t>Create a database whose tables are at least in 2NF, showing the dependency diagrams for each table.</a:t>
            </a:r>
            <a:endParaRPr lang="en-AU" altLang="en-US" sz="2400" b="1" smtClean="0"/>
          </a:p>
        </p:txBody>
      </p:sp>
      <p:graphicFrame>
        <p:nvGraphicFramePr>
          <p:cNvPr id="607236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990600" y="1676400"/>
          <a:ext cx="7467600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Presentation" r:id="rId3" imgW="4571967" imgH="3429060" progId="PowerPoint.Show.8">
                  <p:embed/>
                </p:oleObj>
              </mc:Choice>
              <mc:Fallback>
                <p:oleObj name="Presentation" r:id="rId3" imgW="4571967" imgH="3429060" progId="PowerPoint.Show.8">
                  <p:embed/>
                  <p:pic>
                    <p:nvPicPr>
                      <p:cNvPr id="6072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4029" t="23529" r="17828" b="28337"/>
                      <a:stretch>
                        <a:fillRect/>
                      </a:stretch>
                    </p:blipFill>
                    <p:spPr bwMode="auto">
                      <a:xfrm>
                        <a:off x="990600" y="1676400"/>
                        <a:ext cx="7467600" cy="502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9540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7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7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Create a database whose tables are at least in 3NF</a:t>
            </a:r>
            <a:endParaRPr lang="en-AU" altLang="en-US" sz="3200" smtClean="0"/>
          </a:p>
        </p:txBody>
      </p:sp>
      <p:graphicFrame>
        <p:nvGraphicFramePr>
          <p:cNvPr id="609284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838200" y="1485900"/>
          <a:ext cx="7848600" cy="483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Presentation" r:id="rId3" imgW="4571967" imgH="3429060" progId="PowerPoint.Show.8">
                  <p:embed/>
                </p:oleObj>
              </mc:Choice>
              <mc:Fallback>
                <p:oleObj name="Presentation" r:id="rId3" imgW="4571967" imgH="3429060" progId="PowerPoint.Show.8">
                  <p:embed/>
                  <p:pic>
                    <p:nvPicPr>
                      <p:cNvPr id="6092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2046" t="21393" r="15825" b="19777"/>
                      <a:stretch>
                        <a:fillRect/>
                      </a:stretch>
                    </p:blipFill>
                    <p:spPr bwMode="auto">
                      <a:xfrm>
                        <a:off x="838200" y="1485900"/>
                        <a:ext cx="7848600" cy="483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93187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9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9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Normalization (contd.)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295400"/>
            <a:ext cx="4724400" cy="5181600"/>
          </a:xfrm>
        </p:spPr>
        <p:txBody>
          <a:bodyPr/>
          <a:lstStyle/>
          <a:p>
            <a:pPr eaLnBrk="1" hangingPunct="1"/>
            <a:r>
              <a:rPr lang="en-US" altLang="en-US" smtClean="0"/>
              <a:t>Denormalization…</a:t>
            </a:r>
          </a:p>
          <a:p>
            <a:pPr eaLnBrk="1" hangingPunct="1"/>
            <a:endParaRPr lang="en-US" altLang="en-US" smtClean="0"/>
          </a:p>
          <a:p>
            <a:pPr eaLnBrk="1" hangingPunct="1">
              <a:buFontTx/>
              <a:buNone/>
            </a:pPr>
            <a:r>
              <a:rPr lang="en-US" altLang="en-US" smtClean="0"/>
              <a:t>	</a:t>
            </a:r>
            <a:r>
              <a:rPr lang="en-US" altLang="en-US" sz="2400" smtClean="0"/>
              <a:t>Sometime for performance reasons, database designer may leave the relation in a lower normal form. This process is known as </a:t>
            </a:r>
            <a:r>
              <a:rPr lang="en-US" altLang="en-US" sz="2400" b="1" smtClean="0">
                <a:solidFill>
                  <a:srgbClr val="FF6600"/>
                </a:solidFill>
              </a:rPr>
              <a:t>denormalization</a:t>
            </a:r>
            <a:r>
              <a:rPr lang="en-US" altLang="en-US" sz="2400" smtClean="0"/>
              <a:t>.</a:t>
            </a:r>
          </a:p>
        </p:txBody>
      </p:sp>
      <p:pic>
        <p:nvPicPr>
          <p:cNvPr id="57348" name="Picture 4" descr="men43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133600"/>
            <a:ext cx="1830388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519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Normalization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Normalization complete </a:t>
            </a:r>
            <a:r>
              <a:rPr lang="en-US" altLang="en-US" smtClean="0">
                <a:sym typeface="Wingdings" panose="05000000000000000000" pitchFamily="2" charset="2"/>
              </a:rPr>
              <a:t></a:t>
            </a:r>
          </a:p>
          <a:p>
            <a:pPr eaLnBrk="1" hangingPunct="1"/>
            <a:endParaRPr lang="en-US" altLang="en-US" smtClean="0">
              <a:sym typeface="Wingdings" panose="05000000000000000000" pitchFamily="2" charset="2"/>
            </a:endParaRPr>
          </a:p>
          <a:p>
            <a:pPr eaLnBrk="1" hangingPunct="1"/>
            <a:r>
              <a:rPr lang="en-US" altLang="en-US" smtClean="0">
                <a:sym typeface="Wingdings" panose="05000000000000000000" pitchFamily="2" charset="2"/>
              </a:rPr>
              <a:t>Any questions ???</a:t>
            </a:r>
          </a:p>
          <a:p>
            <a:pPr eaLnBrk="1" hangingPunct="1">
              <a:buFontTx/>
              <a:buNone/>
            </a:pPr>
            <a:endParaRPr lang="en-US" altLang="en-US" smtClean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66361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build="p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Normalization Flow</a:t>
            </a:r>
          </a:p>
        </p:txBody>
      </p:sp>
      <p:sp>
        <p:nvSpPr>
          <p:cNvPr id="59395" name="Rectangle 3"/>
          <p:cNvSpPr>
            <a:spLocks noChangeArrowheads="1"/>
          </p:cNvSpPr>
          <p:nvPr/>
        </p:nvSpPr>
        <p:spPr bwMode="auto">
          <a:xfrm>
            <a:off x="2627313" y="1760538"/>
            <a:ext cx="3241675" cy="431800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GB" altLang="en-US" sz="1800" b="0">
                <a:latin typeface="Comic Sans MS" panose="030F0702030302020204" pitchFamily="66" charset="0"/>
              </a:rPr>
              <a:t>UNF</a:t>
            </a: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2627313" y="2736850"/>
            <a:ext cx="3241675" cy="431800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GB" altLang="en-US" sz="1800" b="0">
                <a:latin typeface="Comic Sans MS" panose="030F0702030302020204" pitchFamily="66" charset="0"/>
              </a:rPr>
              <a:t>1NF</a:t>
            </a:r>
          </a:p>
        </p:txBody>
      </p:sp>
      <p:sp>
        <p:nvSpPr>
          <p:cNvPr id="59397" name="Rectangle 5"/>
          <p:cNvSpPr>
            <a:spLocks noChangeArrowheads="1"/>
          </p:cNvSpPr>
          <p:nvPr/>
        </p:nvSpPr>
        <p:spPr bwMode="auto">
          <a:xfrm>
            <a:off x="2627313" y="3678238"/>
            <a:ext cx="3241675" cy="431800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GB" altLang="en-US" sz="1800" b="0">
                <a:latin typeface="Comic Sans MS" panose="030F0702030302020204" pitchFamily="66" charset="0"/>
              </a:rPr>
              <a:t>2NF</a:t>
            </a:r>
          </a:p>
        </p:txBody>
      </p:sp>
      <p:sp>
        <p:nvSpPr>
          <p:cNvPr id="59398" name="Rectangle 6"/>
          <p:cNvSpPr>
            <a:spLocks noChangeArrowheads="1"/>
          </p:cNvSpPr>
          <p:nvPr/>
        </p:nvSpPr>
        <p:spPr bwMode="auto">
          <a:xfrm>
            <a:off x="2627313" y="4675188"/>
            <a:ext cx="3241675" cy="431800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GB" altLang="en-US" b="0"/>
              <a:t>3NF</a:t>
            </a:r>
          </a:p>
        </p:txBody>
      </p:sp>
      <p:cxnSp>
        <p:nvCxnSpPr>
          <p:cNvPr id="59399" name="AutoShape 7"/>
          <p:cNvCxnSpPr>
            <a:cxnSpLocks noChangeShapeType="1"/>
            <a:stCxn id="59395" idx="2"/>
            <a:endCxn id="59396" idx="0"/>
          </p:cNvCxnSpPr>
          <p:nvPr/>
        </p:nvCxnSpPr>
        <p:spPr bwMode="auto">
          <a:xfrm>
            <a:off x="4248150" y="2192338"/>
            <a:ext cx="0" cy="5445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400" name="AutoShape 8"/>
          <p:cNvCxnSpPr>
            <a:cxnSpLocks noChangeShapeType="1"/>
            <a:stCxn id="59396" idx="2"/>
            <a:endCxn id="59397" idx="0"/>
          </p:cNvCxnSpPr>
          <p:nvPr/>
        </p:nvCxnSpPr>
        <p:spPr bwMode="auto">
          <a:xfrm>
            <a:off x="4248150" y="3168650"/>
            <a:ext cx="0" cy="509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401" name="AutoShape 9"/>
          <p:cNvCxnSpPr>
            <a:cxnSpLocks noChangeShapeType="1"/>
            <a:stCxn id="59397" idx="2"/>
            <a:endCxn id="59398" idx="0"/>
          </p:cNvCxnSpPr>
          <p:nvPr/>
        </p:nvCxnSpPr>
        <p:spPr bwMode="auto">
          <a:xfrm>
            <a:off x="4248150" y="4110038"/>
            <a:ext cx="0" cy="565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402" name="Text Box 10"/>
          <p:cNvSpPr txBox="1">
            <a:spLocks noChangeArrowheads="1"/>
          </p:cNvSpPr>
          <p:nvPr/>
        </p:nvSpPr>
        <p:spPr bwMode="auto">
          <a:xfrm>
            <a:off x="4551363" y="2198688"/>
            <a:ext cx="3105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 b="0">
                <a:solidFill>
                  <a:srgbClr val="3333CC"/>
                </a:solidFill>
              </a:rPr>
              <a:t>Remove repeating groups</a:t>
            </a:r>
          </a:p>
        </p:txBody>
      </p:sp>
      <p:sp>
        <p:nvSpPr>
          <p:cNvPr id="59403" name="Text Box 11"/>
          <p:cNvSpPr txBox="1">
            <a:spLocks noChangeArrowheads="1"/>
          </p:cNvSpPr>
          <p:nvPr/>
        </p:nvSpPr>
        <p:spPr bwMode="auto">
          <a:xfrm>
            <a:off x="4551363" y="3135313"/>
            <a:ext cx="35448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 b="0">
                <a:solidFill>
                  <a:srgbClr val="3333CC"/>
                </a:solidFill>
              </a:rPr>
              <a:t>Remove partial dependencies</a:t>
            </a:r>
          </a:p>
        </p:txBody>
      </p:sp>
      <p:sp>
        <p:nvSpPr>
          <p:cNvPr id="59404" name="Text Box 12"/>
          <p:cNvSpPr txBox="1">
            <a:spLocks noChangeArrowheads="1"/>
          </p:cNvSpPr>
          <p:nvPr/>
        </p:nvSpPr>
        <p:spPr bwMode="auto">
          <a:xfrm>
            <a:off x="4591050" y="4143375"/>
            <a:ext cx="3868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 b="0">
                <a:solidFill>
                  <a:srgbClr val="3333CC"/>
                </a:solidFill>
              </a:rPr>
              <a:t>Remove transitive dependencies</a:t>
            </a:r>
          </a:p>
        </p:txBody>
      </p:sp>
      <p:sp>
        <p:nvSpPr>
          <p:cNvPr id="59405" name="Line 13"/>
          <p:cNvSpPr>
            <a:spLocks noChangeShapeType="1"/>
          </p:cNvSpPr>
          <p:nvPr/>
        </p:nvSpPr>
        <p:spPr bwMode="auto">
          <a:xfrm>
            <a:off x="4211638" y="5106988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6" name="Text Box 14"/>
          <p:cNvSpPr txBox="1">
            <a:spLocks noChangeArrowheads="1"/>
          </p:cNvSpPr>
          <p:nvPr/>
        </p:nvSpPr>
        <p:spPr bwMode="auto">
          <a:xfrm>
            <a:off x="3255963" y="5583238"/>
            <a:ext cx="2778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 b="0">
                <a:solidFill>
                  <a:srgbClr val="3333CC"/>
                </a:solidFill>
              </a:rPr>
              <a:t>More normalized forms</a:t>
            </a:r>
          </a:p>
        </p:txBody>
      </p:sp>
    </p:spTree>
    <p:extLst>
      <p:ext uri="{BB962C8B-B14F-4D97-AF65-F5344CB8AC3E}">
        <p14:creationId xmlns:p14="http://schemas.microsoft.com/office/powerpoint/2010/main" val="2823161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1619250" y="404813"/>
            <a:ext cx="61214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 smtClean="0"/>
              <a:t>Your Turn!</a:t>
            </a:r>
            <a:r>
              <a:rPr lang="en-US" altLang="en-US" sz="3200" smtClean="0"/>
              <a:t> </a:t>
            </a:r>
            <a:br>
              <a:rPr lang="en-US" altLang="en-US" sz="3200" smtClean="0"/>
            </a:br>
            <a:r>
              <a:rPr lang="en-US" altLang="en-US" sz="3200" smtClean="0">
                <a:solidFill>
                  <a:srgbClr val="008000"/>
                </a:solidFill>
              </a:rPr>
              <a:t>Student Results Table</a:t>
            </a:r>
          </a:p>
        </p:txBody>
      </p:sp>
      <p:graphicFrame>
        <p:nvGraphicFramePr>
          <p:cNvPr id="6146" name="Object 3"/>
          <p:cNvGraphicFramePr>
            <a:graphicFrameLocks noGrp="1" noChangeAspect="1"/>
          </p:cNvGraphicFramePr>
          <p:nvPr>
            <p:ph type="tbl" idx="1"/>
          </p:nvPr>
        </p:nvGraphicFramePr>
        <p:xfrm>
          <a:off x="835025" y="1604963"/>
          <a:ext cx="7932738" cy="485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Document" r:id="rId4" imgW="7729200" imgH="4727160" progId="Word.Document.8">
                  <p:embed/>
                </p:oleObj>
              </mc:Choice>
              <mc:Fallback>
                <p:oleObj name="Document" r:id="rId4" imgW="7729200" imgH="4727160" progId="Word.Document.8">
                  <p:embed/>
                  <p:pic>
                    <p:nvPicPr>
                      <p:cNvPr id="614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025" y="1604963"/>
                        <a:ext cx="7932738" cy="4851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54007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Learning Outcomes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dirty="0" smtClean="0"/>
              <a:t>At </a:t>
            </a:r>
            <a:r>
              <a:rPr lang="en-US" dirty="0"/>
              <a:t>the end of the module the student will be able to: </a:t>
            </a:r>
          </a:p>
          <a:p>
            <a:r>
              <a:rPr lang="en-US" dirty="0"/>
              <a:t>Describe the fundamental concepts in databases and data processing</a:t>
            </a:r>
          </a:p>
          <a:p>
            <a:r>
              <a:rPr lang="en-US" dirty="0"/>
              <a:t>Analyze and </a:t>
            </a:r>
            <a:r>
              <a:rPr lang="en-US" dirty="0" smtClean="0"/>
              <a:t>systematically </a:t>
            </a:r>
            <a:r>
              <a:rPr lang="en-US" dirty="0"/>
              <a:t>represent relationships in data records and perform data modeling</a:t>
            </a:r>
          </a:p>
          <a:p>
            <a:r>
              <a:rPr lang="en-US" dirty="0"/>
              <a:t>Create, populate and manage relational databases in </a:t>
            </a:r>
            <a:r>
              <a:rPr lang="en-US" dirty="0" smtClean="0"/>
              <a:t>system</a:t>
            </a:r>
            <a:endParaRPr lang="en-US" dirty="0"/>
          </a:p>
          <a:p>
            <a:r>
              <a:rPr lang="en-US" dirty="0"/>
              <a:t>Use query languages to populate, update and retrieve data from databases</a:t>
            </a:r>
          </a:p>
          <a:p>
            <a:r>
              <a:rPr lang="en-US" dirty="0"/>
              <a:t>Implement basic security in database systems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DF29F-8EBD-4955-8135-77E3F3B8D1FA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903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Outline Syllabus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An </a:t>
            </a:r>
            <a:r>
              <a:rPr lang="en-US" dirty="0"/>
              <a:t>introduction to data processing and databases </a:t>
            </a:r>
          </a:p>
          <a:p>
            <a:r>
              <a:rPr lang="en-US" dirty="0"/>
              <a:t>Database management systems</a:t>
            </a:r>
          </a:p>
          <a:p>
            <a:r>
              <a:rPr lang="en-US" dirty="0"/>
              <a:t>Data analysis and Data modeling (ER diagrams and conceptual modeling)</a:t>
            </a:r>
          </a:p>
          <a:p>
            <a:r>
              <a:rPr lang="en-US" dirty="0"/>
              <a:t>Relational models and normalizations</a:t>
            </a:r>
          </a:p>
          <a:p>
            <a:r>
              <a:rPr lang="en-US" dirty="0"/>
              <a:t>Creating databases using GUI tools</a:t>
            </a:r>
          </a:p>
          <a:p>
            <a:r>
              <a:rPr lang="en-US" dirty="0"/>
              <a:t>Query Languages (Standard Query language)</a:t>
            </a:r>
          </a:p>
          <a:p>
            <a:r>
              <a:rPr lang="en-US" dirty="0"/>
              <a:t>Introduction to database </a:t>
            </a:r>
            <a:r>
              <a:rPr lang="en-US" dirty="0" smtClean="0"/>
              <a:t>security simple report creations. </a:t>
            </a:r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DF29F-8EBD-4955-8135-77E3F3B8D1FA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741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>Assessment &amp; Weighting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dirty="0"/>
              <a:t>class assignments and tutorials </a:t>
            </a:r>
            <a:r>
              <a:rPr lang="en-US" dirty="0" smtClean="0"/>
              <a:t>25</a:t>
            </a:r>
            <a:r>
              <a:rPr lang="en-US" dirty="0"/>
              <a:t>% </a:t>
            </a:r>
          </a:p>
          <a:p>
            <a:r>
              <a:rPr lang="en-US" dirty="0"/>
              <a:t>Simple database design </a:t>
            </a:r>
            <a:r>
              <a:rPr lang="en-US" dirty="0" smtClean="0"/>
              <a:t> 25</a:t>
            </a:r>
            <a:r>
              <a:rPr lang="en-US" dirty="0"/>
              <a:t>% </a:t>
            </a:r>
            <a:endParaRPr lang="en-US" dirty="0" smtClean="0"/>
          </a:p>
          <a:p>
            <a:r>
              <a:rPr lang="en-US" dirty="0" smtClean="0"/>
              <a:t>End </a:t>
            </a:r>
            <a:r>
              <a:rPr lang="en-US" dirty="0"/>
              <a:t>of semester </a:t>
            </a:r>
            <a:r>
              <a:rPr lang="en-US" dirty="0" smtClean="0"/>
              <a:t>examination Structured </a:t>
            </a:r>
            <a:r>
              <a:rPr lang="en-US" dirty="0"/>
              <a:t>examination paper </a:t>
            </a:r>
            <a:r>
              <a:rPr lang="en-US" dirty="0" smtClean="0"/>
              <a:t>50</a:t>
            </a:r>
            <a:r>
              <a:rPr lang="en-US" dirty="0"/>
              <a:t>%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DF29F-8EBD-4955-8135-77E3F3B8D1FA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00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DF29F-8EBD-4955-8135-77E3F3B8D1FA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02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843</TotalTime>
  <Words>2085</Words>
  <Application>Microsoft Office PowerPoint</Application>
  <PresentationFormat>On-screen Show (4:3)</PresentationFormat>
  <Paragraphs>668</Paragraphs>
  <Slides>55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55</vt:i4>
      </vt:variant>
    </vt:vector>
  </HeadingPairs>
  <TitlesOfParts>
    <vt:vector size="68" baseType="lpstr">
      <vt:lpstr>Arial</vt:lpstr>
      <vt:lpstr>Calibri</vt:lpstr>
      <vt:lpstr>CG Times</vt:lpstr>
      <vt:lpstr>Comic Sans MS</vt:lpstr>
      <vt:lpstr>Latha</vt:lpstr>
      <vt:lpstr>Symbol</vt:lpstr>
      <vt:lpstr>Tahoma</vt:lpstr>
      <vt:lpstr>Times New Roman</vt:lpstr>
      <vt:lpstr>Wingdings</vt:lpstr>
      <vt:lpstr>HNDIT</vt:lpstr>
      <vt:lpstr>1_HNDIT</vt:lpstr>
      <vt:lpstr>Presentation</vt:lpstr>
      <vt:lpstr>Document</vt:lpstr>
      <vt:lpstr>HNDIT 1105  DBMS </vt:lpstr>
      <vt:lpstr>Database Design</vt:lpstr>
      <vt:lpstr>Introduction</vt:lpstr>
      <vt:lpstr>Data Redundancy</vt:lpstr>
      <vt:lpstr>Anomalies</vt:lpstr>
      <vt:lpstr>Anomalies (contd.)</vt:lpstr>
      <vt:lpstr>Anomalies (contd.)</vt:lpstr>
      <vt:lpstr>Anomalies (contd.)</vt:lpstr>
      <vt:lpstr>Anomalies (contd.)</vt:lpstr>
      <vt:lpstr>Decomposition of Relations</vt:lpstr>
      <vt:lpstr>Loss-less join property</vt:lpstr>
      <vt:lpstr>Loss-less join property (contd.)</vt:lpstr>
      <vt:lpstr>Loss-less join property (contd.)</vt:lpstr>
      <vt:lpstr>The Process of Normalization</vt:lpstr>
      <vt:lpstr>Functional dependency</vt:lpstr>
      <vt:lpstr>Functional dependency (contd.)</vt:lpstr>
      <vt:lpstr>Functional Dependency</vt:lpstr>
      <vt:lpstr>Key Terms</vt:lpstr>
      <vt:lpstr>Key Terms</vt:lpstr>
      <vt:lpstr>Unnormalized Form (UNF)</vt:lpstr>
      <vt:lpstr>Another example of UNF</vt:lpstr>
      <vt:lpstr>UNF to 1NF</vt:lpstr>
      <vt:lpstr>Normalization (contd.)</vt:lpstr>
      <vt:lpstr>Normalization (contd.)</vt:lpstr>
      <vt:lpstr>Normalization (contd.)</vt:lpstr>
      <vt:lpstr>Normalization (contd.)</vt:lpstr>
      <vt:lpstr>Normalization (contd.)</vt:lpstr>
      <vt:lpstr>Normalization (contd.)</vt:lpstr>
      <vt:lpstr>Normalization (contd.)</vt:lpstr>
      <vt:lpstr>Normalization (contd.)</vt:lpstr>
      <vt:lpstr>Normalization (contd.)</vt:lpstr>
      <vt:lpstr>Removing partial dependency</vt:lpstr>
      <vt:lpstr>Normalization (contd.)</vt:lpstr>
      <vt:lpstr>Normalization (contd.)</vt:lpstr>
      <vt:lpstr>Another Example</vt:lpstr>
      <vt:lpstr>Normalization (contd.)</vt:lpstr>
      <vt:lpstr>Normalization (contd.)</vt:lpstr>
      <vt:lpstr>PowerPoint Presentation</vt:lpstr>
      <vt:lpstr>Removing transitive dependency</vt:lpstr>
      <vt:lpstr>PowerPoint Presentation</vt:lpstr>
      <vt:lpstr>PowerPoint Presentation</vt:lpstr>
      <vt:lpstr>PowerPoint Presentation</vt:lpstr>
      <vt:lpstr>Normalization (contd.)</vt:lpstr>
      <vt:lpstr>Normalization (contd.)</vt:lpstr>
      <vt:lpstr>Your Turn !!</vt:lpstr>
      <vt:lpstr>PowerPoint Presentation</vt:lpstr>
      <vt:lpstr>Create a database whose tables are at least in 3NF</vt:lpstr>
      <vt:lpstr>Normalization (contd.)</vt:lpstr>
      <vt:lpstr>Normalization</vt:lpstr>
      <vt:lpstr>Normalization Flow</vt:lpstr>
      <vt:lpstr>Your Turn!  Student Results Table</vt:lpstr>
      <vt:lpstr>Learning Outcomes </vt:lpstr>
      <vt:lpstr>Outline Syllabus </vt:lpstr>
      <vt:lpstr>  Assessment &amp; Weighting   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Asus X55</dc:creator>
  <cp:lastModifiedBy>Ewis</cp:lastModifiedBy>
  <cp:revision>134</cp:revision>
  <dcterms:created xsi:type="dcterms:W3CDTF">2014-03-07T13:02:25Z</dcterms:created>
  <dcterms:modified xsi:type="dcterms:W3CDTF">2018-06-20T04:51:30Z</dcterms:modified>
</cp:coreProperties>
</file>