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1577" autoAdjust="0"/>
  </p:normalViewPr>
  <p:slideViewPr>
    <p:cSldViewPr>
      <p:cViewPr varScale="1">
        <p:scale>
          <a:sx n="45" d="100"/>
          <a:sy n="45" d="100"/>
        </p:scale>
        <p:origin x="-67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78ED4-C883-4623-9BAF-54C3A8C49825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0E9B7-1E52-4CC5-BF37-E4ACEE5572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08850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1AA0F5F-A1BF-428B-B8D8-22C6C6B1C590}" type="slidenum">
              <a:rPr lang="ar-SA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71DD-D0EC-4926-8ED6-19B5D40D3F29}" type="datetimeFigureOut">
              <a:rPr lang="en-US" smtClean="0"/>
              <a:pPr/>
              <a:t>5/23/2014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omain.com/dir/file.ext%20or%20/dir/file.tx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kMF" TargetMode="External"/><Relationship Id="rId2" Type="http://schemas.openxmlformats.org/officeDocument/2006/relationships/hyperlink" Target="mailto:kmf@yahoo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8: HTML Basics 2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4267200" cy="1981199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HNDIT11062 –  Web Development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26963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CBECD-7A26-4093-8B96-067CF01F4C9D}" type="slidenum">
              <a:rPr lang="ar-SA"/>
              <a:pPr/>
              <a:t>2</a:t>
            </a:fld>
            <a:endParaRPr lang="en-US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274638"/>
            <a:ext cx="7931150" cy="1143000"/>
          </a:xfrm>
          <a:noFill/>
        </p:spPr>
        <p:txBody>
          <a:bodyPr>
            <a:normAutofit/>
            <a:flatTx/>
          </a:bodyPr>
          <a:lstStyle/>
          <a:p>
            <a:r>
              <a:rPr lang="en-US" sz="6000" dirty="0">
                <a:solidFill>
                  <a:srgbClr val="C00000"/>
                </a:solidFill>
              </a:rPr>
              <a:t>L</a:t>
            </a:r>
            <a:r>
              <a:rPr lang="en-US" sz="6000" b="1" dirty="0">
                <a:solidFill>
                  <a:srgbClr val="C00000"/>
                </a:solidFill>
              </a:rPr>
              <a:t>ists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763000" cy="4525963"/>
          </a:xfrm>
          <a:noFill/>
        </p:spPr>
        <p:txBody>
          <a:bodyPr>
            <a:noAutofit/>
          </a:bodyPr>
          <a:lstStyle/>
          <a:p>
            <a:pPr marL="609600" indent="-609600">
              <a:buClr>
                <a:srgbClr val="C00000"/>
              </a:buClr>
              <a:buFontTx/>
              <a:buNone/>
            </a:pPr>
            <a:r>
              <a:rPr lang="en-US" dirty="0"/>
              <a:t>In this chapter you will learn how to create a </a:t>
            </a:r>
            <a:r>
              <a:rPr lang="en-US" dirty="0" smtClean="0"/>
              <a:t>variety of </a:t>
            </a:r>
            <a:r>
              <a:rPr lang="en-US" dirty="0"/>
              <a:t>lists.</a:t>
            </a:r>
          </a:p>
          <a:p>
            <a:pPr marL="609600" indent="-609600">
              <a:buClr>
                <a:srgbClr val="C00000"/>
              </a:buClr>
              <a:buFont typeface="Wingdings" pitchFamily="2" charset="2"/>
              <a:buNone/>
            </a:pPr>
            <a:r>
              <a:rPr lang="en-US" b="1" dirty="0"/>
              <a:t>Objectives</a:t>
            </a:r>
          </a:p>
          <a:p>
            <a:pPr marL="609600" indent="-609600">
              <a:buClr>
                <a:srgbClr val="C00000"/>
              </a:buClr>
              <a:buFont typeface="Wingdings" pitchFamily="2" charset="2"/>
              <a:buNone/>
            </a:pPr>
            <a:r>
              <a:rPr lang="en-US" dirty="0"/>
              <a:t>Upon completing this section, you should be able to</a:t>
            </a:r>
          </a:p>
          <a:p>
            <a:pPr marL="609600" indent="-609600">
              <a:buClr>
                <a:srgbClr val="C00000"/>
              </a:buClr>
              <a:buFont typeface="Wingdings" pitchFamily="2" charset="2"/>
              <a:buAutoNum type="arabicPeriod"/>
            </a:pPr>
            <a:r>
              <a:rPr lang="en-US" dirty="0" smtClean="0"/>
              <a:t>Create an unordered list.</a:t>
            </a:r>
          </a:p>
          <a:p>
            <a:pPr marL="609600" indent="-609600">
              <a:buClr>
                <a:srgbClr val="C00000"/>
              </a:buClr>
              <a:buFont typeface="Wingdings" pitchFamily="2" charset="2"/>
              <a:buAutoNum type="arabicPeriod"/>
            </a:pPr>
            <a:r>
              <a:rPr lang="en-US" dirty="0" smtClean="0"/>
              <a:t>Create </a:t>
            </a:r>
            <a:r>
              <a:rPr lang="en-US" dirty="0"/>
              <a:t>an ordered list.</a:t>
            </a:r>
          </a:p>
          <a:p>
            <a:pPr marL="609600" indent="-609600">
              <a:buClr>
                <a:srgbClr val="C00000"/>
              </a:buClr>
              <a:buFont typeface="Wingdings" pitchFamily="2" charset="2"/>
              <a:buAutoNum type="arabicPeriod"/>
            </a:pPr>
            <a:r>
              <a:rPr lang="en-US" dirty="0"/>
              <a:t>Create a defined list.</a:t>
            </a:r>
          </a:p>
          <a:p>
            <a:pPr marL="609600" indent="-609600">
              <a:buClr>
                <a:srgbClr val="C00000"/>
              </a:buClr>
              <a:buFont typeface="Wingdings" pitchFamily="2" charset="2"/>
              <a:buAutoNum type="arabicPeriod"/>
            </a:pPr>
            <a:r>
              <a:rPr lang="en-US" dirty="0"/>
              <a:t>Nest Lists.</a:t>
            </a:r>
          </a:p>
          <a:p>
            <a:pPr marL="609600" indent="-609600">
              <a:buClr>
                <a:srgbClr val="C00000"/>
              </a:buClr>
              <a:buFontTx/>
              <a:buNone/>
            </a:pP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965B4-C611-4B30-9E0A-028D4CFFFE0E}" type="slidenum">
              <a:rPr lang="ar-SA"/>
              <a:pPr/>
              <a:t>3</a:t>
            </a:fld>
            <a:endParaRPr 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274638"/>
            <a:ext cx="7931150" cy="1143000"/>
          </a:xfrm>
          <a:noFill/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List Elements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noFill/>
        </p:spPr>
        <p:txBody>
          <a:bodyPr/>
          <a:lstStyle/>
          <a:p>
            <a:pPr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2400" dirty="0"/>
              <a:t>HTML supplies several list elements. Most list elements are composed of one or more &lt;LI&gt; (List Item) elements.</a:t>
            </a:r>
          </a:p>
          <a:p>
            <a:pPr>
              <a:buClr>
                <a:schemeClr val="bg1"/>
              </a:buClr>
              <a:buFont typeface="Wingdings" pitchFamily="2" charset="2"/>
              <a:buChar char="§"/>
            </a:pPr>
            <a:r>
              <a:rPr lang="en-US" b="1" dirty="0"/>
              <a:t>UL : Unordered </a:t>
            </a:r>
            <a:r>
              <a:rPr lang="en-US" b="1" dirty="0" smtClean="0"/>
              <a:t>List</a:t>
            </a:r>
            <a:r>
              <a:rPr lang="en-US" sz="2400" dirty="0" smtClean="0"/>
              <a:t>:  Items </a:t>
            </a:r>
            <a:r>
              <a:rPr lang="en-US" sz="2400" dirty="0"/>
              <a:t>in this list start with a list mark such as a bullet. Browsers will usually change the list mark in nested lists.</a:t>
            </a:r>
          </a:p>
          <a:p>
            <a:pPr>
              <a:buClr>
                <a:schemeClr val="bg1"/>
              </a:buClr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</a:rPr>
              <a:t>&lt;UL&gt;</a:t>
            </a:r>
          </a:p>
          <a:p>
            <a:pPr>
              <a:buClr>
                <a:schemeClr val="bg1"/>
              </a:buClr>
              <a:buFont typeface="Wingdings" pitchFamily="2" charset="2"/>
              <a:buNone/>
            </a:pPr>
            <a:r>
              <a:rPr lang="en-US" sz="2400" b="1" dirty="0">
                <a:solidFill>
                  <a:srgbClr val="0000CC"/>
                </a:solidFill>
              </a:rPr>
              <a:t>&lt;LI&gt;</a:t>
            </a:r>
            <a:r>
              <a:rPr lang="en-US" sz="2400" dirty="0"/>
              <a:t> List item </a:t>
            </a:r>
            <a:r>
              <a:rPr lang="en-US" sz="2400" b="1" dirty="0">
                <a:solidFill>
                  <a:srgbClr val="0000CC"/>
                </a:solidFill>
              </a:rPr>
              <a:t>…&lt;/LI&gt;</a:t>
            </a:r>
            <a:r>
              <a:rPr lang="en-US" sz="2400" dirty="0"/>
              <a:t>			</a:t>
            </a:r>
          </a:p>
          <a:p>
            <a:pPr>
              <a:buClr>
                <a:schemeClr val="bg1"/>
              </a:buClr>
              <a:buFont typeface="Wingdings" pitchFamily="2" charset="2"/>
              <a:buNone/>
            </a:pPr>
            <a:r>
              <a:rPr lang="en-US" sz="2400" b="1" dirty="0">
                <a:solidFill>
                  <a:srgbClr val="0000CC"/>
                </a:solidFill>
              </a:rPr>
              <a:t>&lt;LI&gt;</a:t>
            </a:r>
            <a:r>
              <a:rPr lang="en-US" sz="2400" dirty="0"/>
              <a:t> List item </a:t>
            </a:r>
            <a:r>
              <a:rPr lang="en-US" sz="2400" b="1" dirty="0">
                <a:solidFill>
                  <a:srgbClr val="0000CC"/>
                </a:solidFill>
              </a:rPr>
              <a:t>…&lt;/LI&gt;</a:t>
            </a:r>
          </a:p>
          <a:p>
            <a:pPr>
              <a:buClr>
                <a:schemeClr val="bg1"/>
              </a:buClr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</a:rPr>
              <a:t>&lt;/UL&gt;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 smtClean="0"/>
              <a:t>List item …</a:t>
            </a:r>
            <a:endParaRPr lang="en-US" sz="2400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dirty="0"/>
              <a:t>List item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9EA0D-ECC2-4EB3-B2C4-51BFBAB4A52F}" type="slidenum">
              <a:rPr lang="ar-SA"/>
              <a:pPr/>
              <a:t>4</a:t>
            </a:fld>
            <a:endParaRPr lang="en-US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274638"/>
            <a:ext cx="7931150" cy="1143000"/>
          </a:xfrm>
          <a:noFill/>
          <a:ln>
            <a:noFill/>
          </a:ln>
        </p:spPr>
        <p:txBody>
          <a:bodyPr>
            <a:flatTx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List Elements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876800"/>
          </a:xfrm>
          <a:noFill/>
          <a:ln>
            <a:noFill/>
          </a:ln>
        </p:spPr>
        <p:txBody>
          <a:bodyPr/>
          <a:lstStyle/>
          <a:p>
            <a:pPr>
              <a:lnSpc>
                <a:spcPct val="9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§"/>
            </a:pPr>
            <a:r>
              <a:rPr lang="en-US" sz="2400" dirty="0"/>
              <a:t>You have the choice of three bullet types: </a:t>
            </a:r>
            <a:r>
              <a:rPr lang="en-US" sz="2400" b="1" dirty="0">
                <a:solidFill>
                  <a:srgbClr val="FF0000"/>
                </a:solidFill>
              </a:rPr>
              <a:t>disc(default), circle, square.</a:t>
            </a:r>
          </a:p>
          <a:p>
            <a:pPr>
              <a:lnSpc>
                <a:spcPct val="9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§"/>
            </a:pPr>
            <a:r>
              <a:rPr lang="en-US" sz="2400" dirty="0"/>
              <a:t>These are controlled in Netscape Navigator by the “TYPE” attribute for the &lt;UL&gt; element.</a:t>
            </a:r>
          </a:p>
          <a:p>
            <a:pPr>
              <a:lnSpc>
                <a:spcPct val="9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0070C0"/>
                </a:solidFill>
              </a:rPr>
              <a:t>&lt;UL TYPE=“square”&gt;</a:t>
            </a:r>
          </a:p>
          <a:p>
            <a:pPr>
              <a:lnSpc>
                <a:spcPct val="9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0070C0"/>
                </a:solidFill>
              </a:rPr>
              <a:t>&lt;LI&gt; List item …&lt;/LI&gt;			</a:t>
            </a:r>
          </a:p>
          <a:p>
            <a:pPr>
              <a:lnSpc>
                <a:spcPct val="9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0070C0"/>
                </a:solidFill>
              </a:rPr>
              <a:t>&lt;LI&gt; List item …&lt;/LI&gt;</a:t>
            </a:r>
          </a:p>
          <a:p>
            <a:pPr>
              <a:lnSpc>
                <a:spcPct val="9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0070C0"/>
                </a:solidFill>
              </a:rPr>
              <a:t>&lt;LI&gt; List item …&lt;/LI&gt;</a:t>
            </a:r>
          </a:p>
          <a:p>
            <a:pPr>
              <a:lnSpc>
                <a:spcPct val="9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0070C0"/>
                </a:solidFill>
              </a:rPr>
              <a:t>&lt;/UL&gt;</a:t>
            </a:r>
          </a:p>
          <a:p>
            <a:pPr>
              <a:lnSpc>
                <a:spcPct val="9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§"/>
            </a:pPr>
            <a:r>
              <a:rPr lang="en-US" sz="2400" dirty="0"/>
              <a:t>List item …</a:t>
            </a:r>
          </a:p>
          <a:p>
            <a:pPr>
              <a:lnSpc>
                <a:spcPct val="9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§"/>
            </a:pPr>
            <a:r>
              <a:rPr lang="en-US" sz="2400" dirty="0"/>
              <a:t>List item …</a:t>
            </a:r>
          </a:p>
          <a:p>
            <a:pPr>
              <a:lnSpc>
                <a:spcPct val="9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§"/>
            </a:pPr>
            <a:r>
              <a:rPr lang="en-US" sz="2400" dirty="0"/>
              <a:t>List item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82888-52FB-4E5A-94E4-4EC43993BE4E}" type="slidenum">
              <a:rPr lang="ar-SA"/>
              <a:pPr/>
              <a:t>5</a:t>
            </a:fld>
            <a:endParaRPr lang="en-US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427038"/>
            <a:ext cx="7929562" cy="914400"/>
          </a:xfrm>
          <a:noFill/>
        </p:spPr>
        <p:txBody>
          <a:bodyPr>
            <a:flatTx/>
          </a:bodyPr>
          <a:lstStyle/>
          <a:p>
            <a:r>
              <a:rPr lang="en-US">
                <a:solidFill>
                  <a:srgbClr val="C00000"/>
                </a:solidFill>
              </a:rPr>
              <a:t>List Elements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noFill/>
        </p:spPr>
        <p:txBody>
          <a:bodyPr/>
          <a:lstStyle/>
          <a:p>
            <a:pPr marL="609600" indent="-609600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2800" b="1" dirty="0"/>
              <a:t>OL: Ordered </a:t>
            </a:r>
            <a:r>
              <a:rPr lang="en-US" sz="2800" b="1" dirty="0" smtClean="0"/>
              <a:t>List</a:t>
            </a:r>
            <a:r>
              <a:rPr lang="en-US" sz="2400" dirty="0" smtClean="0"/>
              <a:t>:  Items </a:t>
            </a:r>
            <a:r>
              <a:rPr lang="en-US" sz="2400" dirty="0"/>
              <a:t>in this list are numbered automatically by the browser.</a:t>
            </a:r>
          </a:p>
          <a:p>
            <a:pPr marL="609600" indent="-609600">
              <a:lnSpc>
                <a:spcPct val="9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990000"/>
                </a:solidFill>
              </a:rPr>
              <a:t>&lt;OL&gt;</a:t>
            </a:r>
          </a:p>
          <a:p>
            <a:pPr marL="609600" indent="-609600">
              <a:lnSpc>
                <a:spcPct val="9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990000"/>
                </a:solidFill>
              </a:rPr>
              <a:t>&lt;LI&gt; List item …&lt;/LI&gt;			</a:t>
            </a:r>
          </a:p>
          <a:p>
            <a:pPr marL="609600" indent="-609600">
              <a:lnSpc>
                <a:spcPct val="9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990000"/>
                </a:solidFill>
              </a:rPr>
              <a:t>&lt;LI&gt; List item …&lt;/LI&gt;</a:t>
            </a:r>
          </a:p>
          <a:p>
            <a:pPr marL="609600" indent="-609600">
              <a:lnSpc>
                <a:spcPct val="9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990000"/>
                </a:solidFill>
              </a:rPr>
              <a:t>&lt;LI&gt; List item …&lt;/LI&gt;</a:t>
            </a:r>
          </a:p>
          <a:p>
            <a:pPr marL="609600" indent="-609600">
              <a:lnSpc>
                <a:spcPct val="9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990000"/>
                </a:solidFill>
              </a:rPr>
              <a:t>&lt;/OL&gt;</a:t>
            </a:r>
          </a:p>
          <a:p>
            <a:pPr marL="609600" indent="-609600">
              <a:lnSpc>
                <a:spcPct val="90000"/>
              </a:lnSpc>
              <a:buClr>
                <a:schemeClr val="bg1"/>
              </a:buClr>
              <a:buFont typeface="Wingdings" pitchFamily="2" charset="2"/>
              <a:buAutoNum type="arabicPeriod"/>
            </a:pPr>
            <a:r>
              <a:rPr lang="en-US" sz="2400" b="1" dirty="0" smtClean="0">
                <a:solidFill>
                  <a:srgbClr val="FF0000"/>
                </a:solidFill>
              </a:rPr>
              <a:t>1. List </a:t>
            </a:r>
            <a:r>
              <a:rPr lang="en-US" sz="2400" b="1" dirty="0">
                <a:solidFill>
                  <a:srgbClr val="FF0000"/>
                </a:solidFill>
              </a:rPr>
              <a:t>item …</a:t>
            </a:r>
          </a:p>
          <a:p>
            <a:pPr marL="609600" indent="-609600">
              <a:lnSpc>
                <a:spcPct val="90000"/>
              </a:lnSpc>
              <a:buClr>
                <a:schemeClr val="bg1"/>
              </a:buClr>
              <a:buFont typeface="Wingdings" pitchFamily="2" charset="2"/>
              <a:buAutoNum type="arabicPeriod"/>
            </a:pPr>
            <a:r>
              <a:rPr lang="en-US" sz="2400" b="1" dirty="0" smtClean="0">
                <a:solidFill>
                  <a:srgbClr val="FF0000"/>
                </a:solidFill>
              </a:rPr>
              <a:t>2. List </a:t>
            </a:r>
            <a:r>
              <a:rPr lang="en-US" sz="2400" b="1" dirty="0">
                <a:solidFill>
                  <a:srgbClr val="FF0000"/>
                </a:solidFill>
              </a:rPr>
              <a:t>item …</a:t>
            </a:r>
          </a:p>
          <a:p>
            <a:pPr marL="609600" indent="-609600">
              <a:lnSpc>
                <a:spcPct val="90000"/>
              </a:lnSpc>
              <a:buClr>
                <a:schemeClr val="bg1"/>
              </a:buClr>
              <a:buFont typeface="Wingdings" pitchFamily="2" charset="2"/>
              <a:buAutoNum type="arabicPeriod"/>
            </a:pPr>
            <a:r>
              <a:rPr lang="en-US" sz="2400" b="1" dirty="0" smtClean="0">
                <a:solidFill>
                  <a:srgbClr val="FF0000"/>
                </a:solidFill>
              </a:rPr>
              <a:t>3. List item …</a:t>
            </a:r>
            <a:endParaRPr lang="en-US" sz="2400" b="1" dirty="0">
              <a:solidFill>
                <a:srgbClr val="FF0000"/>
              </a:solidFill>
            </a:endParaRPr>
          </a:p>
          <a:p>
            <a:pPr marL="609600" indent="-609600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2400" dirty="0"/>
              <a:t>You have the choice of setting the TYPE Attribute to one of five numbering styles.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8E05-2765-460D-B42E-F902E1EE99F6}" type="slidenum">
              <a:rPr lang="ar-SA"/>
              <a:pPr/>
              <a:t>6</a:t>
            </a:fld>
            <a:endParaRPr 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274638"/>
            <a:ext cx="7929562" cy="914400"/>
          </a:xfrm>
          <a:noFill/>
        </p:spPr>
        <p:txBody>
          <a:bodyPr>
            <a:flatTx/>
          </a:bodyPr>
          <a:lstStyle/>
          <a:p>
            <a:r>
              <a:rPr lang="en-US" dirty="0">
                <a:solidFill>
                  <a:srgbClr val="C00000"/>
                </a:solidFill>
              </a:rPr>
              <a:t>List Elements</a:t>
            </a:r>
          </a:p>
        </p:txBody>
      </p:sp>
      <p:graphicFrame>
        <p:nvGraphicFramePr>
          <p:cNvPr id="53283" name="Group 35"/>
          <p:cNvGraphicFramePr>
            <a:graphicFrameLocks noGrp="1"/>
          </p:cNvGraphicFramePr>
          <p:nvPr>
            <p:ph type="tbl" idx="1"/>
          </p:nvPr>
        </p:nvGraphicFramePr>
        <p:xfrm>
          <a:off x="457200" y="1600200"/>
          <a:ext cx="8229600" cy="4114800"/>
        </p:xfrm>
        <a:graphic>
          <a:graphicData uri="http://schemas.openxmlformats.org/drawingml/2006/table">
            <a:tbl>
              <a:tblPr/>
              <a:tblGrid>
                <a:gridCol w="1855788"/>
                <a:gridCol w="3146425"/>
                <a:gridCol w="3227387"/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Styles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Arabic numbers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1,2,3, 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Lower alpha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a, b, c, 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Upper alpha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A, B, C, 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Lower roman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i, ii, iii, 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Upper roman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I, II, III, 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4A5E-C4D7-486E-9665-2EDF8F466C11}" type="slidenum">
              <a:rPr lang="ar-SA"/>
              <a:pPr/>
              <a:t>7</a:t>
            </a:fld>
            <a:endParaRPr lang="en-US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noFill/>
        </p:spPr>
        <p:txBody>
          <a:bodyPr>
            <a:flatTx/>
          </a:bodyPr>
          <a:lstStyle/>
          <a:p>
            <a:r>
              <a:rPr lang="en-US" dirty="0">
                <a:solidFill>
                  <a:srgbClr val="C00000"/>
                </a:solidFill>
              </a:rPr>
              <a:t>List Elements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525963"/>
          </a:xfrm>
          <a:noFill/>
        </p:spPr>
        <p:txBody>
          <a:bodyPr/>
          <a:lstStyle/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2800" dirty="0"/>
              <a:t>You can specify a starting number for an ordered list</a:t>
            </a:r>
            <a:r>
              <a:rPr lang="en-US" sz="2800" dirty="0" smtClean="0"/>
              <a:t>.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Char char="§"/>
            </a:pPr>
            <a:endParaRPr lang="en-US" sz="2800" dirty="0"/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800" b="1" dirty="0">
                <a:solidFill>
                  <a:srgbClr val="FF0000"/>
                </a:solidFill>
              </a:rPr>
              <a:t>&lt;OL TYPE =“</a:t>
            </a:r>
            <a:r>
              <a:rPr lang="en-US" sz="2800" b="1" dirty="0" err="1">
                <a:solidFill>
                  <a:srgbClr val="FF0000"/>
                </a:solidFill>
              </a:rPr>
              <a:t>i</a:t>
            </a:r>
            <a:r>
              <a:rPr lang="en-US" sz="2800" b="1" dirty="0">
                <a:solidFill>
                  <a:srgbClr val="FF0000"/>
                </a:solidFill>
              </a:rPr>
              <a:t>”&gt;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800" dirty="0"/>
              <a:t>&lt;LI&gt; List item …&lt;/LI&gt;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800" dirty="0"/>
              <a:t>&lt;LI&gt; List item …&lt;/LI&gt;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800" b="1" dirty="0">
                <a:solidFill>
                  <a:srgbClr val="FF0000"/>
                </a:solidFill>
              </a:rPr>
              <a:t>&lt;/OL&gt;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800" dirty="0"/>
              <a:t>&lt;P&gt; text ….&lt;/P&gt;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800" b="1" dirty="0">
                <a:solidFill>
                  <a:srgbClr val="FF0000"/>
                </a:solidFill>
              </a:rPr>
              <a:t>&lt;OL TYPE=“</a:t>
            </a:r>
            <a:r>
              <a:rPr lang="en-US" sz="2800" b="1" dirty="0" err="1">
                <a:solidFill>
                  <a:srgbClr val="FF0000"/>
                </a:solidFill>
              </a:rPr>
              <a:t>i</a:t>
            </a:r>
            <a:r>
              <a:rPr lang="en-US" sz="2800" b="1" dirty="0">
                <a:solidFill>
                  <a:srgbClr val="FF0000"/>
                </a:solidFill>
              </a:rPr>
              <a:t>” START=“3”&gt;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800" b="1" dirty="0">
                <a:solidFill>
                  <a:srgbClr val="FF0000"/>
                </a:solidFill>
              </a:rPr>
              <a:t>&lt;LI&gt; List item …&lt;/LI&gt;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800" b="1" dirty="0">
                <a:solidFill>
                  <a:srgbClr val="FF0000"/>
                </a:solidFill>
              </a:rPr>
              <a:t>&lt;/OL&gt;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F881-1B85-41F8-A27C-75B37FF2819D}" type="slidenum">
              <a:rPr lang="ar-SA"/>
              <a:pPr/>
              <a:t>8</a:t>
            </a:fld>
            <a:endParaRPr lang="en-US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  <a:noFill/>
        </p:spPr>
        <p:txBody>
          <a:bodyPr>
            <a:flatTx/>
          </a:bodyPr>
          <a:lstStyle/>
          <a:p>
            <a:r>
              <a:rPr lang="en-US" dirty="0">
                <a:solidFill>
                  <a:srgbClr val="C00000"/>
                </a:solidFill>
              </a:rPr>
              <a:t>List Elements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812800" indent="-812800">
              <a:buClr>
                <a:schemeClr val="tx1"/>
              </a:buClr>
              <a:buFont typeface="Monotype Sorts" pitchFamily="2" charset="2"/>
              <a:buAutoNum type="romanLcPeriod"/>
            </a:pPr>
            <a:r>
              <a:rPr lang="en-US" dirty="0"/>
              <a:t>List item …</a:t>
            </a:r>
          </a:p>
          <a:p>
            <a:pPr marL="812800" indent="-812800">
              <a:buClr>
                <a:schemeClr val="tx1"/>
              </a:buClr>
              <a:buFont typeface="Monotype Sorts" pitchFamily="2" charset="2"/>
              <a:buAutoNum type="romanLcPeriod"/>
            </a:pPr>
            <a:r>
              <a:rPr lang="en-US" dirty="0"/>
              <a:t>List item …</a:t>
            </a:r>
          </a:p>
          <a:p>
            <a:pPr marL="812800" indent="-812800">
              <a:buClr>
                <a:schemeClr val="tx1"/>
              </a:buClr>
              <a:buFont typeface="Monotype Sorts" pitchFamily="2" charset="2"/>
              <a:buNone/>
            </a:pPr>
            <a:endParaRPr lang="en-US" dirty="0"/>
          </a:p>
          <a:p>
            <a:pPr marL="812800" indent="-812800">
              <a:buClr>
                <a:schemeClr val="tx1"/>
              </a:buClr>
              <a:buFont typeface="Monotype Sorts" pitchFamily="2" charset="2"/>
              <a:buNone/>
            </a:pPr>
            <a:r>
              <a:rPr lang="en-US" dirty="0"/>
              <a:t>   Text ….</a:t>
            </a:r>
          </a:p>
          <a:p>
            <a:pPr marL="812800" indent="-812800">
              <a:buClr>
                <a:schemeClr val="tx1"/>
              </a:buClr>
              <a:buFont typeface="Monotype Sorts" pitchFamily="2" charset="2"/>
              <a:buNone/>
            </a:pPr>
            <a:endParaRPr lang="en-US" dirty="0"/>
          </a:p>
          <a:p>
            <a:pPr marL="812800" indent="-812800">
              <a:buClr>
                <a:schemeClr val="tx1"/>
              </a:buClr>
              <a:buFont typeface="Monotype Sorts" pitchFamily="2" charset="2"/>
              <a:buAutoNum type="romanLcPeriod" startAt="3"/>
            </a:pPr>
            <a:r>
              <a:rPr lang="en-US" dirty="0"/>
              <a:t>List item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5679C-DF6A-499C-B1FD-3E44682EACF1}" type="slidenum">
              <a:rPr lang="ar-SA"/>
              <a:pPr/>
              <a:t>9</a:t>
            </a:fld>
            <a:endParaRPr lang="en-US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20762"/>
          </a:xfrm>
          <a:noFill/>
        </p:spPr>
        <p:txBody>
          <a:bodyPr>
            <a:flatTx/>
          </a:bodyPr>
          <a:lstStyle/>
          <a:p>
            <a:r>
              <a:rPr lang="en-US">
                <a:solidFill>
                  <a:srgbClr val="C00000"/>
                </a:solidFill>
              </a:rPr>
              <a:t>List Elements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2800" b="1" dirty="0"/>
              <a:t>DL: Definition </a:t>
            </a:r>
            <a:r>
              <a:rPr lang="en-US" sz="2800" b="1" dirty="0" smtClean="0"/>
              <a:t>List</a:t>
            </a:r>
            <a:r>
              <a:rPr lang="en-US" sz="2400" b="1" dirty="0" smtClean="0"/>
              <a:t>:   </a:t>
            </a:r>
            <a:r>
              <a:rPr lang="en-US" sz="2400" dirty="0" smtClean="0"/>
              <a:t>This </a:t>
            </a:r>
            <a:r>
              <a:rPr lang="en-US" sz="2400" dirty="0"/>
              <a:t>kind of list is different from the others. Each item in a DL consists of one or more </a:t>
            </a:r>
            <a:r>
              <a:rPr lang="en-US" sz="2400" b="1" dirty="0">
                <a:solidFill>
                  <a:srgbClr val="FF0000"/>
                </a:solidFill>
              </a:rPr>
              <a:t>Definition Terms (DT elements),</a:t>
            </a:r>
            <a:r>
              <a:rPr lang="en-US" sz="2400" dirty="0"/>
              <a:t> followed by one or more </a:t>
            </a:r>
            <a:r>
              <a:rPr lang="en-US" sz="2400" b="1" dirty="0">
                <a:solidFill>
                  <a:srgbClr val="FF0000"/>
                </a:solidFill>
              </a:rPr>
              <a:t>Definition Description (DD elements).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000" dirty="0"/>
              <a:t>&lt;DL&gt;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000" dirty="0"/>
              <a:t>&lt;DT&gt; HTML &lt;/DT&gt;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000" dirty="0"/>
              <a:t>&lt;DD&gt; Hyper Text Markup Language &lt;/DD&gt;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000" dirty="0"/>
              <a:t>&lt;DT&gt; DOG &lt;/DT&gt;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000" dirty="0"/>
              <a:t>&lt;DD&gt; A human’s best friend!&lt;/DD&gt;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000" dirty="0"/>
              <a:t>&lt;/DL&gt;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endParaRPr lang="en-US" sz="2000" dirty="0"/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000" b="1" dirty="0">
                <a:solidFill>
                  <a:schemeClr val="tx2"/>
                </a:solidFill>
              </a:rPr>
              <a:t>HTML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000" b="1" dirty="0">
                <a:solidFill>
                  <a:schemeClr val="tx2"/>
                </a:solidFill>
              </a:rPr>
              <a:t>		 Hyper Text Markup Language 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000" b="1" dirty="0">
                <a:solidFill>
                  <a:schemeClr val="tx2"/>
                </a:solidFill>
              </a:rPr>
              <a:t>DOG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000" b="1" dirty="0">
                <a:solidFill>
                  <a:schemeClr val="tx2"/>
                </a:solidFill>
              </a:rPr>
              <a:t>		A human’s best friend!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D144-E40D-4286-846A-C4C64BEDCB45}" type="slidenum">
              <a:rPr lang="ar-SA"/>
              <a:pPr/>
              <a:t>10</a:t>
            </a:fld>
            <a:endParaRPr lang="en-US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762000"/>
          </a:xfrm>
          <a:noFill/>
        </p:spPr>
        <p:txBody>
          <a:bodyPr>
            <a:flatTx/>
          </a:bodyPr>
          <a:lstStyle/>
          <a:p>
            <a:r>
              <a:rPr lang="en-US" dirty="0">
                <a:solidFill>
                  <a:srgbClr val="C00000"/>
                </a:solidFill>
              </a:rPr>
              <a:t>Nesting Lists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534400" cy="5715000"/>
          </a:xfrm>
          <a:noFill/>
        </p:spPr>
        <p:txBody>
          <a:bodyPr/>
          <a:lstStyle/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2400" dirty="0"/>
              <a:t>You can nest lists by inserting a UL, OL, etc., inside a list item (LI).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Example</a:t>
            </a:r>
            <a:endParaRPr lang="en-US" sz="2400" b="1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dirty="0"/>
              <a:t>&lt;UL TYPE = “square”&gt;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dirty="0"/>
              <a:t>&lt;LI&gt; List item …&lt;/LI&gt;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dirty="0"/>
              <a:t>&lt;LI&gt; List item …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</a:rPr>
              <a:t>&lt;OL TYPE=“</a:t>
            </a:r>
            <a:r>
              <a:rPr lang="en-US" sz="2400" b="1" dirty="0" err="1">
                <a:solidFill>
                  <a:srgbClr val="FF0000"/>
                </a:solidFill>
              </a:rPr>
              <a:t>i</a:t>
            </a:r>
            <a:r>
              <a:rPr lang="en-US" sz="2400" b="1" dirty="0">
                <a:solidFill>
                  <a:srgbClr val="FF0000"/>
                </a:solidFill>
              </a:rPr>
              <a:t>” START=“3”&gt;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</a:rPr>
              <a:t>&lt;LI&gt; List item …&lt;/LI&gt;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</a:rPr>
              <a:t>&lt;LI&gt; List item …&lt;/LI&gt;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</a:rPr>
              <a:t>&lt;LI&gt; List item …&lt;/LI&gt;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</a:rPr>
              <a:t>&lt;LI&gt; List item …&lt;/LI&gt;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</a:rPr>
              <a:t>&lt;LI&gt; List item …&lt;/LI&gt;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</a:rPr>
              <a:t>&lt;/OL&gt;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dirty="0"/>
              <a:t>&lt;/LI&gt;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dirty="0"/>
              <a:t>&lt;LI&gt; List item …&lt;/LI&gt;</a:t>
            </a:r>
          </a:p>
          <a:p>
            <a:pPr>
              <a:lnSpc>
                <a:spcPct val="80000"/>
              </a:lnSpc>
              <a:buClr>
                <a:schemeClr val="bg1"/>
              </a:buClr>
              <a:buFont typeface="Wingdings" pitchFamily="2" charset="2"/>
              <a:buNone/>
            </a:pPr>
            <a:r>
              <a:rPr lang="en-US" sz="2400" dirty="0"/>
              <a:t>&lt;/UL&gt;</a:t>
            </a:r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22888" y="1828800"/>
            <a:ext cx="2916237" cy="4267200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outerShdw blurRad="107950" dist="12700" dir="5400000" algn="ctr">
              <a:srgbClr val="000000"/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4A3F2-B798-43A5-BB68-8293888ACCCA}" type="slidenum">
              <a:rPr lang="ar-SA"/>
              <a:pPr/>
              <a:t>11</a:t>
            </a:fld>
            <a:endParaRPr lang="en-US"/>
          </a:p>
        </p:txBody>
      </p:sp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381000" y="1089025"/>
            <a:ext cx="8763000" cy="556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/>
            <a:endParaRPr lang="en-US" sz="2400"/>
          </a:p>
          <a:p>
            <a:pPr eaLnBrk="1" hangingPunct="1"/>
            <a:r>
              <a:rPr lang="en-US" sz="2400">
                <a:latin typeface="Times New Roman" charset="0"/>
                <a:cs typeface="Times New Roman" charset="0"/>
              </a:rPr>
              <a:t>&lt;H1 ALIGN="CENTER"&gt;SAFETY TIPS FOR CANOEISTS&lt;/H1&gt;</a:t>
            </a:r>
            <a:br>
              <a:rPr lang="en-US" sz="2400">
                <a:latin typeface="Times New Roman" charset="0"/>
                <a:cs typeface="Times New Roman" charset="0"/>
              </a:rPr>
            </a:br>
            <a:r>
              <a:rPr lang="en-US" sz="2400">
                <a:latin typeface="Times New Roman" charset="0"/>
                <a:cs typeface="Times New Roman" charset="0"/>
              </a:rPr>
              <a:t>&lt;OL </a:t>
            </a:r>
            <a:r>
              <a:rPr lang="en-US" sz="2400" b="1">
                <a:solidFill>
                  <a:srgbClr val="FF0000"/>
                </a:solidFill>
                <a:latin typeface="Times New Roman" charset="0"/>
                <a:cs typeface="Times New Roman" charset="0"/>
              </a:rPr>
              <a:t>TYPE=“a” START=“2”&gt;</a:t>
            </a:r>
            <a:r>
              <a:rPr lang="en-US" sz="2400">
                <a:latin typeface="Times New Roman" charset="0"/>
                <a:cs typeface="Times New Roman" charset="0"/>
              </a:rPr>
              <a:t/>
            </a:r>
            <a:br>
              <a:rPr lang="en-US" sz="2400">
                <a:latin typeface="Times New Roman" charset="0"/>
                <a:cs typeface="Times New Roman" charset="0"/>
              </a:rPr>
            </a:br>
            <a:r>
              <a:rPr lang="en-US" sz="2400">
                <a:latin typeface="Times New Roman" charset="0"/>
                <a:cs typeface="Times New Roman" charset="0"/>
              </a:rPr>
              <a:t>&lt;LI&gt;Be able to swim &lt;/LI&gt; </a:t>
            </a:r>
            <a:br>
              <a:rPr lang="en-US" sz="2400">
                <a:latin typeface="Times New Roman" charset="0"/>
                <a:cs typeface="Times New Roman" charset="0"/>
              </a:rPr>
            </a:br>
            <a:r>
              <a:rPr lang="en-US" sz="2400">
                <a:latin typeface="Times New Roman" charset="0"/>
                <a:cs typeface="Times New Roman" charset="0"/>
              </a:rPr>
              <a:t>&lt;LI&gt;Wear a life jacket at all times &lt;/LI&gt;</a:t>
            </a:r>
            <a:br>
              <a:rPr lang="en-US" sz="2400">
                <a:latin typeface="Times New Roman" charset="0"/>
                <a:cs typeface="Times New Roman" charset="0"/>
              </a:rPr>
            </a:br>
            <a:r>
              <a:rPr lang="en-US" sz="2400">
                <a:latin typeface="Times New Roman" charset="0"/>
                <a:cs typeface="Times New Roman" charset="0"/>
              </a:rPr>
              <a:t>&lt;LI&gt;Don't stand up or move around. If canoe tips, </a:t>
            </a:r>
          </a:p>
          <a:p>
            <a:pPr lvl="1" eaLnBrk="1" hangingPunct="1"/>
            <a:r>
              <a:rPr lang="en-US" sz="2400">
                <a:latin typeface="Times New Roman" charset="0"/>
                <a:cs typeface="Times New Roman" charset="0"/>
              </a:rPr>
              <a:t>&lt;UL&gt;</a:t>
            </a:r>
            <a:br>
              <a:rPr lang="en-US" sz="2400">
                <a:latin typeface="Times New Roman" charset="0"/>
                <a:cs typeface="Times New Roman" charset="0"/>
              </a:rPr>
            </a:br>
            <a:r>
              <a:rPr lang="en-US" sz="2400">
                <a:latin typeface="Times New Roman" charset="0"/>
                <a:cs typeface="Times New Roman" charset="0"/>
              </a:rPr>
              <a:t>&lt;LI&gt;Hang on to the canoe &lt;/LI&gt; </a:t>
            </a:r>
            <a:br>
              <a:rPr lang="en-US" sz="2400">
                <a:latin typeface="Times New Roman" charset="0"/>
                <a:cs typeface="Times New Roman" charset="0"/>
              </a:rPr>
            </a:br>
            <a:r>
              <a:rPr lang="en-US" sz="2400">
                <a:latin typeface="Times New Roman" charset="0"/>
                <a:cs typeface="Times New Roman" charset="0"/>
              </a:rPr>
              <a:t>&lt;LI&gt;Use the canoe for support and &lt;/LI&gt; </a:t>
            </a:r>
            <a:br>
              <a:rPr lang="en-US" sz="2400">
                <a:latin typeface="Times New Roman" charset="0"/>
                <a:cs typeface="Times New Roman" charset="0"/>
              </a:rPr>
            </a:br>
            <a:r>
              <a:rPr lang="en-US" sz="2400">
                <a:latin typeface="Times New Roman" charset="0"/>
                <a:cs typeface="Times New Roman" charset="0"/>
              </a:rPr>
              <a:t> &lt;LI&gt;Swim to shore</a:t>
            </a:r>
            <a:br>
              <a:rPr lang="en-US" sz="2400">
                <a:latin typeface="Times New Roman" charset="0"/>
                <a:cs typeface="Times New Roman" charset="0"/>
              </a:rPr>
            </a:br>
            <a:r>
              <a:rPr lang="en-US" sz="2400">
                <a:latin typeface="Times New Roman" charset="0"/>
                <a:cs typeface="Times New Roman" charset="0"/>
              </a:rPr>
              <a:t>&lt;/UL&gt; &lt;/LI&gt;</a:t>
            </a:r>
          </a:p>
          <a:p>
            <a:pPr eaLnBrk="1" hangingPunct="1"/>
            <a:r>
              <a:rPr lang="en-US" sz="2400">
                <a:latin typeface="Times New Roman" charset="0"/>
                <a:cs typeface="Times New Roman" charset="0"/>
              </a:rPr>
              <a:t>&lt;LI&gt;Don't overexert yourself &lt;/LI&gt; </a:t>
            </a:r>
            <a:br>
              <a:rPr lang="en-US" sz="2400">
                <a:latin typeface="Times New Roman" charset="0"/>
                <a:cs typeface="Times New Roman" charset="0"/>
              </a:rPr>
            </a:br>
            <a:r>
              <a:rPr lang="en-US" sz="2400">
                <a:latin typeface="Times New Roman" charset="0"/>
                <a:cs typeface="Times New Roman" charset="0"/>
              </a:rPr>
              <a:t>&lt;LI&gt;Use a bow light at night &lt;/LI&gt; </a:t>
            </a:r>
            <a:br>
              <a:rPr lang="en-US" sz="2400">
                <a:latin typeface="Times New Roman" charset="0"/>
                <a:cs typeface="Times New Roman" charset="0"/>
              </a:rPr>
            </a:br>
            <a:r>
              <a:rPr lang="en-US" sz="2400">
                <a:latin typeface="Times New Roman" charset="0"/>
                <a:cs typeface="Times New Roman" charset="0"/>
              </a:rPr>
              <a:t>&lt;/OL&gt;</a:t>
            </a:r>
            <a:br>
              <a:rPr lang="en-US" sz="2400">
                <a:latin typeface="Times New Roman" charset="0"/>
                <a:cs typeface="Times New Roman" charset="0"/>
              </a:rPr>
            </a:br>
            <a:endParaRPr lang="en-US" sz="2400">
              <a:latin typeface="Times New Roman" charset="0"/>
              <a:cs typeface="Times New Roman" charset="0"/>
            </a:endParaRPr>
          </a:p>
        </p:txBody>
      </p:sp>
      <p:sp>
        <p:nvSpPr>
          <p:cNvPr id="142341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  <a:noFill/>
          <a:ln/>
        </p:spPr>
        <p:txBody>
          <a:bodyPr>
            <a:flatTx/>
          </a:bodyPr>
          <a:lstStyle/>
          <a:p>
            <a:r>
              <a:rPr lang="en-US" dirty="0">
                <a:solidFill>
                  <a:srgbClr val="C00000"/>
                </a:solidFill>
              </a:rPr>
              <a:t>What will be the output?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8012E-451A-4219-BB72-B065270B48A0}" type="slidenum">
              <a:rPr lang="ar-SA"/>
              <a:pPr/>
              <a:t>12</a:t>
            </a:fld>
            <a:endParaRPr lang="en-US"/>
          </a:p>
        </p:txBody>
      </p:sp>
      <p:pic>
        <p:nvPicPr>
          <p:cNvPr id="20992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654175"/>
            <a:ext cx="8686800" cy="4060825"/>
          </a:xfrm>
          <a:prstGeom prst="rect">
            <a:avLst/>
          </a:prstGeom>
          <a:noFill/>
        </p:spPr>
      </p:pic>
      <p:sp>
        <p:nvSpPr>
          <p:cNvPr id="20992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noFill/>
          <a:ln/>
        </p:spPr>
        <p:txBody>
          <a:bodyPr>
            <a:flatTx/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>The output….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36E3F-6D9D-47B7-882F-E80C6630C89A}" type="slidenum">
              <a:rPr lang="ar-SA"/>
              <a:pPr/>
              <a:t>13</a:t>
            </a:fld>
            <a:endParaRPr lang="en-US"/>
          </a:p>
        </p:txBody>
      </p:sp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152400" y="0"/>
            <a:ext cx="7162800" cy="6664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sz="2400" dirty="0"/>
              <a:t>&lt;H1 ALIGN="CENTER"&gt;SAFETY TIPS FOR CANOEISTS&lt;/H1&gt;</a:t>
            </a:r>
          </a:p>
          <a:p>
            <a:pPr eaLnBrk="1" hangingPunct="1"/>
            <a:r>
              <a:rPr lang="en-US" sz="2400" dirty="0"/>
              <a:t>&lt;OL TYPE="a" START="2"&gt;</a:t>
            </a:r>
          </a:p>
          <a:p>
            <a:pPr eaLnBrk="1" hangingPunct="1"/>
            <a:r>
              <a:rPr lang="en-US" sz="2400" dirty="0"/>
              <a:t>&lt;LI&gt;Be able to swim &lt;/LI&gt; </a:t>
            </a:r>
          </a:p>
          <a:p>
            <a:pPr eaLnBrk="1" hangingPunct="1"/>
            <a:r>
              <a:rPr lang="en-US" sz="2400" dirty="0"/>
              <a:t>&lt;LI&gt;Wear a life jacket at all times &lt;/LI&gt;</a:t>
            </a:r>
          </a:p>
          <a:p>
            <a:pPr eaLnBrk="1" hangingPunct="1"/>
            <a:r>
              <a:rPr lang="en-US" sz="2400" dirty="0"/>
              <a:t>&lt;LI&gt;Don't stand up or move around. If canoe tips, </a:t>
            </a:r>
          </a:p>
          <a:p>
            <a:pPr eaLnBrk="1" hangingPunct="1"/>
            <a:r>
              <a:rPr lang="en-US" sz="2400" dirty="0"/>
              <a:t>&lt;UL&gt;</a:t>
            </a:r>
          </a:p>
          <a:p>
            <a:pPr eaLnBrk="1" hangingPunct="1"/>
            <a:r>
              <a:rPr lang="en-US" sz="2400" dirty="0"/>
              <a:t>&lt;LI&gt;Hang on to the canoe &lt;/LI&gt; </a:t>
            </a:r>
          </a:p>
          <a:p>
            <a:pPr eaLnBrk="1" hangingPunct="1"/>
            <a:r>
              <a:rPr lang="en-US" sz="2400" dirty="0"/>
              <a:t>&lt;LI&gt;Use the canoe for support</a:t>
            </a:r>
          </a:p>
          <a:p>
            <a:pPr eaLnBrk="1" hangingPunct="1"/>
            <a:r>
              <a:rPr lang="en-US" sz="2400" dirty="0"/>
              <a:t>&lt;OL type="I" start="4"&gt;</a:t>
            </a:r>
          </a:p>
          <a:p>
            <a:pPr eaLnBrk="1" hangingPunct="1"/>
            <a:r>
              <a:rPr lang="en-US" sz="2400" dirty="0"/>
              <a:t>&lt;LI&gt; Be careful &lt;/LI&gt;</a:t>
            </a:r>
          </a:p>
          <a:p>
            <a:pPr eaLnBrk="1" hangingPunct="1"/>
            <a:r>
              <a:rPr lang="en-US" sz="2400" dirty="0"/>
              <a:t>&lt;LI&gt; Do not look around&lt;/LI&gt;</a:t>
            </a:r>
          </a:p>
          <a:p>
            <a:pPr eaLnBrk="1" hangingPunct="1"/>
            <a:r>
              <a:rPr lang="en-US" sz="2400" dirty="0"/>
              <a:t>&lt;/LI&gt; &lt;/OL&gt;</a:t>
            </a:r>
          </a:p>
          <a:p>
            <a:pPr eaLnBrk="1" hangingPunct="1"/>
            <a:r>
              <a:rPr lang="en-US" sz="2400" dirty="0"/>
              <a:t> &lt;LI&gt;Swim to shore</a:t>
            </a:r>
          </a:p>
          <a:p>
            <a:pPr eaLnBrk="1" hangingPunct="1"/>
            <a:r>
              <a:rPr lang="en-US" sz="2400" dirty="0"/>
              <a:t>&lt;/UL&gt; &lt;/LI&gt;</a:t>
            </a:r>
          </a:p>
          <a:p>
            <a:pPr eaLnBrk="1" hangingPunct="1"/>
            <a:r>
              <a:rPr lang="en-US" sz="2400" dirty="0"/>
              <a:t>&lt;LI&gt;Don't overexert yourself &lt;/LI&gt; </a:t>
            </a:r>
          </a:p>
          <a:p>
            <a:pPr eaLnBrk="1" hangingPunct="1"/>
            <a:r>
              <a:rPr lang="en-US" sz="2400" dirty="0"/>
              <a:t>&lt;LI&gt;Use a bow light at night &lt;/LI&gt; </a:t>
            </a:r>
          </a:p>
          <a:p>
            <a:pPr eaLnBrk="1" hangingPunct="1"/>
            <a:r>
              <a:rPr lang="en-US" sz="2400" dirty="0"/>
              <a:t>&lt;/OL&gt;</a:t>
            </a:r>
          </a:p>
        </p:txBody>
      </p:sp>
      <p:sp>
        <p:nvSpPr>
          <p:cNvPr id="143365" name="Rectangle 5"/>
          <p:cNvSpPr>
            <a:spLocks noChangeArrowheads="1"/>
          </p:cNvSpPr>
          <p:nvPr/>
        </p:nvSpPr>
        <p:spPr bwMode="auto">
          <a:xfrm>
            <a:off x="4876800" y="2895600"/>
            <a:ext cx="1536700" cy="2041525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3200">
                <a:solidFill>
                  <a:srgbClr val="FFFF00"/>
                </a:solidFill>
              </a:rPr>
              <a:t>What </a:t>
            </a:r>
          </a:p>
          <a:p>
            <a:pPr eaLnBrk="1" hangingPunct="1"/>
            <a:r>
              <a:rPr lang="en-US" sz="3200">
                <a:solidFill>
                  <a:srgbClr val="FFFF00"/>
                </a:solidFill>
              </a:rPr>
              <a:t>will </a:t>
            </a:r>
          </a:p>
          <a:p>
            <a:pPr eaLnBrk="1" hangingPunct="1"/>
            <a:r>
              <a:rPr lang="en-US" sz="3200">
                <a:solidFill>
                  <a:srgbClr val="FFFF00"/>
                </a:solidFill>
              </a:rPr>
              <a:t>be the</a:t>
            </a:r>
          </a:p>
          <a:p>
            <a:pPr eaLnBrk="1" hangingPunct="1"/>
            <a:r>
              <a:rPr lang="en-US" sz="3200">
                <a:solidFill>
                  <a:srgbClr val="FFFF00"/>
                </a:solidFill>
              </a:rPr>
              <a:t>output?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4716-A7B2-424A-BCFF-A2E1C22FFCAF}" type="slidenum">
              <a:rPr lang="ar-SA"/>
              <a:pPr/>
              <a:t>14</a:t>
            </a:fld>
            <a:endParaRPr lang="en-US"/>
          </a:p>
        </p:txBody>
      </p:sp>
      <p:pic>
        <p:nvPicPr>
          <p:cNvPr id="2109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905000"/>
            <a:ext cx="8915400" cy="4535488"/>
          </a:xfrm>
          <a:prstGeom prst="rect">
            <a:avLst/>
          </a:prstGeom>
          <a:noFill/>
        </p:spPr>
      </p:pic>
      <p:sp>
        <p:nvSpPr>
          <p:cNvPr id="210949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274638"/>
            <a:ext cx="7929563" cy="1143000"/>
          </a:xfrm>
          <a:noFill/>
          <a:ln/>
        </p:spPr>
        <p:txBody>
          <a:bodyPr>
            <a:flatTx/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>The output….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14CC-8219-404D-AB80-4EBE18A8D13C}" type="slidenum">
              <a:rPr lang="ar-SA"/>
              <a:pPr/>
              <a:t>15</a:t>
            </a:fld>
            <a:endParaRPr lang="en-US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  <a:noFill/>
        </p:spPr>
        <p:txBody>
          <a:bodyPr>
            <a:flatTx/>
          </a:bodyPr>
          <a:lstStyle/>
          <a:p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b="1" dirty="0">
                <a:solidFill>
                  <a:srgbClr val="C00000"/>
                </a:solidFill>
              </a:rPr>
              <a:t>mages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905000"/>
            <a:ext cx="9067800" cy="4221163"/>
          </a:xfrm>
          <a:noFill/>
        </p:spPr>
        <p:txBody>
          <a:bodyPr/>
          <a:lstStyle/>
          <a:p>
            <a:pPr marL="609600" indent="-609600">
              <a:buFontTx/>
              <a:buNone/>
            </a:pPr>
            <a:r>
              <a:rPr lang="en-US" dirty="0"/>
              <a:t>In this chapter you will learn about images and how to place images in your pages.</a:t>
            </a:r>
          </a:p>
          <a:p>
            <a:pPr marL="609600" indent="-609600">
              <a:buClr>
                <a:schemeClr val="bg1"/>
              </a:buClr>
              <a:buFont typeface="Wingdings" pitchFamily="2" charset="2"/>
              <a:buNone/>
            </a:pPr>
            <a:r>
              <a:rPr lang="en-US" b="1" dirty="0"/>
              <a:t>Objectives</a:t>
            </a:r>
          </a:p>
          <a:p>
            <a:pPr marL="609600" indent="-609600">
              <a:buClr>
                <a:schemeClr val="bg1"/>
              </a:buClr>
              <a:buFont typeface="Wingdings" pitchFamily="2" charset="2"/>
              <a:buNone/>
            </a:pPr>
            <a:r>
              <a:rPr lang="en-US" dirty="0"/>
              <a:t>Upon completing this section, you should be </a:t>
            </a:r>
            <a:r>
              <a:rPr lang="en-US" dirty="0" smtClean="0"/>
              <a:t>able to</a:t>
            </a:r>
            <a:endParaRPr lang="en-US" dirty="0"/>
          </a:p>
          <a:p>
            <a:pPr marL="609600" indent="-609600">
              <a:buClr>
                <a:schemeClr val="bg1"/>
              </a:buClr>
              <a:buFont typeface="Wingdings" pitchFamily="2" charset="2"/>
              <a:buAutoNum type="arabicPeriod"/>
            </a:pPr>
            <a:r>
              <a:rPr lang="en-US" dirty="0"/>
              <a:t>Add images to your pages.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00C73-76F5-45A9-8E64-9972643052D8}" type="slidenum">
              <a:rPr lang="ar-SA"/>
              <a:pPr/>
              <a:t>16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  <a:noFill/>
        </p:spPr>
        <p:txBody>
          <a:bodyPr>
            <a:flatTx/>
          </a:bodyPr>
          <a:lstStyle/>
          <a:p>
            <a:pPr>
              <a:buClr>
                <a:schemeClr val="tx1"/>
              </a:buClr>
            </a:pPr>
            <a:r>
              <a:rPr lang="en-US">
                <a:solidFill>
                  <a:srgbClr val="C00000"/>
                </a:solidFill>
              </a:rPr>
              <a:t>I</a:t>
            </a:r>
            <a:r>
              <a:rPr lang="en-US" b="1">
                <a:solidFill>
                  <a:srgbClr val="C00000"/>
                </a:solidFill>
              </a:rPr>
              <a:t>mages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686800" cy="4953000"/>
          </a:xfrm>
          <a:noFill/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b="1" dirty="0">
                <a:solidFill>
                  <a:srgbClr val="FF0000"/>
                </a:solidFill>
              </a:rPr>
              <a:t>&lt;IMG&gt;</a:t>
            </a:r>
            <a:r>
              <a:rPr lang="en-US" sz="2800" dirty="0"/>
              <a:t>This element defines a graphic image on the page. </a:t>
            </a:r>
            <a:endParaRPr lang="en-US" sz="2800" dirty="0" smtClean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b="1" dirty="0">
                <a:solidFill>
                  <a:srgbClr val="FF0000"/>
                </a:solidFill>
              </a:rPr>
              <a:t>Image File</a:t>
            </a:r>
            <a:r>
              <a:rPr lang="en-US" sz="2800" b="1" dirty="0"/>
              <a:t> (</a:t>
            </a:r>
            <a:r>
              <a:rPr lang="en-US" sz="2800" b="1" dirty="0" err="1"/>
              <a:t>SRC:</a:t>
            </a:r>
            <a:r>
              <a:rPr lang="en-US" sz="2800" b="1" dirty="0" err="1">
                <a:solidFill>
                  <a:srgbClr val="FF0000"/>
                </a:solidFill>
              </a:rPr>
              <a:t>source</a:t>
            </a:r>
            <a:r>
              <a:rPr lang="en-US" sz="2800" b="1" dirty="0"/>
              <a:t>):</a:t>
            </a:r>
            <a:r>
              <a:rPr lang="en-US" sz="2800" dirty="0"/>
              <a:t> This value will be a URL </a:t>
            </a:r>
            <a:r>
              <a:rPr lang="en-US" sz="2800" dirty="0" smtClean="0"/>
              <a:t>     (</a:t>
            </a:r>
            <a:r>
              <a:rPr lang="en-US" sz="2800" dirty="0"/>
              <a:t>location of the image) </a:t>
            </a:r>
            <a:endParaRPr lang="en-US" sz="2800" dirty="0" smtClean="0"/>
          </a:p>
          <a:p>
            <a:pPr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800" dirty="0" smtClean="0"/>
              <a:t>   E.g</a:t>
            </a:r>
            <a:r>
              <a:rPr lang="en-US" sz="2800" dirty="0"/>
              <a:t>. </a:t>
            </a:r>
            <a:r>
              <a:rPr lang="en-US" sz="2800" dirty="0">
                <a:hlinkClick r:id="rId2"/>
              </a:rPr>
              <a:t>http://www.domain.com/dir/file.ext or /</a:t>
            </a:r>
            <a:r>
              <a:rPr lang="en-US" sz="2800" dirty="0" smtClean="0">
                <a:hlinkClick r:id="rId2"/>
              </a:rPr>
              <a:t>dir/file.txt</a:t>
            </a:r>
            <a:endParaRPr lang="en-US" sz="2800" dirty="0" smtClean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b="1" dirty="0">
                <a:solidFill>
                  <a:srgbClr val="FF0000"/>
                </a:solidFill>
              </a:rPr>
              <a:t>Alternate Text (ALT)</a:t>
            </a:r>
            <a:r>
              <a:rPr lang="en-US" sz="2800" b="1" dirty="0"/>
              <a:t>:</a:t>
            </a:r>
            <a:r>
              <a:rPr lang="en-US" sz="2800" dirty="0"/>
              <a:t> This is a text field that describes an image or acts as a label. It is displayed when they position the cursor over a graphic image</a:t>
            </a:r>
            <a:r>
              <a:rPr lang="en-US" sz="2800" dirty="0" smtClean="0"/>
              <a:t>.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800" dirty="0" smtClean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b="1" dirty="0" smtClean="0">
                <a:solidFill>
                  <a:srgbClr val="FF0000"/>
                </a:solidFill>
              </a:rPr>
              <a:t>Alignment </a:t>
            </a:r>
            <a:r>
              <a:rPr lang="en-US" sz="2800" b="1" dirty="0">
                <a:solidFill>
                  <a:srgbClr val="FF0000"/>
                </a:solidFill>
              </a:rPr>
              <a:t>(ALIGN):</a:t>
            </a:r>
            <a:r>
              <a:rPr lang="en-US" sz="2800" dirty="0"/>
              <a:t> This allows you to align the image on your page.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1BFE-3318-46DA-B2AB-C67E1606F1AC}" type="slidenum">
              <a:rPr lang="ar-SA"/>
              <a:pPr/>
              <a:t>17</a:t>
            </a:fld>
            <a:endParaRPr lang="en-U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20762"/>
          </a:xfrm>
          <a:noFill/>
        </p:spPr>
        <p:txBody>
          <a:bodyPr>
            <a:flatTx/>
          </a:bodyPr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b="1" dirty="0">
                <a:solidFill>
                  <a:srgbClr val="C00000"/>
                </a:solidFill>
              </a:rPr>
              <a:t>mages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229600" cy="4876800"/>
          </a:xfrm>
          <a:noFill/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600" b="1">
                <a:solidFill>
                  <a:srgbClr val="FF0000"/>
                </a:solidFill>
              </a:rPr>
              <a:t>Width (WIDTH):</a:t>
            </a:r>
            <a:r>
              <a:rPr lang="en-US" sz="2600"/>
              <a:t> is the width of the image in pixels.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600" b="1">
                <a:solidFill>
                  <a:srgbClr val="FF0000"/>
                </a:solidFill>
              </a:rPr>
              <a:t>Height (HEIGHT):</a:t>
            </a:r>
            <a:r>
              <a:rPr lang="en-US" sz="2600"/>
              <a:t> is the height of the image in pixels.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600" b="1">
                <a:solidFill>
                  <a:srgbClr val="FF0000"/>
                </a:solidFill>
              </a:rPr>
              <a:t>Border (BORDER</a:t>
            </a:r>
            <a:r>
              <a:rPr lang="en-US" sz="2600" b="1"/>
              <a:t>):</a:t>
            </a:r>
            <a:r>
              <a:rPr lang="en-US" sz="2600"/>
              <a:t> is for a border around the image, specified in pixels.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600" b="1">
                <a:solidFill>
                  <a:srgbClr val="FF0000"/>
                </a:solidFill>
              </a:rPr>
              <a:t>HSPACE</a:t>
            </a:r>
            <a:r>
              <a:rPr lang="en-US" sz="2600" b="1"/>
              <a:t>:</a:t>
            </a:r>
            <a:r>
              <a:rPr lang="en-US" sz="2600"/>
              <a:t> is for Horizontal Space on both sides of the image specified in pixels. A setting of 5 will put 5 pixels of invisible space on both sides of the image.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600" b="1">
                <a:solidFill>
                  <a:srgbClr val="FF0000"/>
                </a:solidFill>
              </a:rPr>
              <a:t>VSPACE</a:t>
            </a:r>
            <a:r>
              <a:rPr lang="en-US" sz="2600" b="1"/>
              <a:t>:</a:t>
            </a:r>
            <a:r>
              <a:rPr lang="en-US" sz="2600"/>
              <a:t> is for Vertical Space on top and bottom of the image specified in pixels. A setting of 5 will put 5 pixels of invisible space above and bellow the image.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D33DB-B6C3-4AEA-A270-76D8D21AB271}" type="slidenum">
              <a:rPr lang="ar-SA"/>
              <a:pPr/>
              <a:t>18</a:t>
            </a:fld>
            <a:endParaRPr lang="en-US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noFill/>
          <a:ln/>
        </p:spPr>
        <p:txBody>
          <a:bodyPr>
            <a:flatTx/>
          </a:bodyPr>
          <a:lstStyle/>
          <a:p>
            <a:r>
              <a:rPr lang="en-US" dirty="0">
                <a:solidFill>
                  <a:srgbClr val="C00000"/>
                </a:solidFill>
              </a:rPr>
              <a:t>Some Examples on images</a:t>
            </a:r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  <a:noFill/>
          <a:ln/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b="1" dirty="0"/>
              <a:t>1) &lt;IMG SRC=“jordan.gif“ border=4&gt;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b="1" dirty="0"/>
              <a:t>2) &lt;IMG SRC=" jordan.gif" width="60" height="60"&gt;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b="1" dirty="0"/>
              <a:t>3) &lt;IMG SRC=“jordan.gif" ALT="This is a text that goes with the image"&gt;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b="1" dirty="0"/>
              <a:t>4) &lt;IMG SRC=" jordan.gif</a:t>
            </a:r>
            <a:r>
              <a:rPr lang="ar-SA" b="1" dirty="0"/>
              <a:t> </a:t>
            </a:r>
            <a:r>
              <a:rPr lang="en-US" b="1" dirty="0"/>
              <a:t>“ </a:t>
            </a:r>
            <a:r>
              <a:rPr lang="en-US" b="1" dirty="0" err="1"/>
              <a:t>Hspace</a:t>
            </a:r>
            <a:r>
              <a:rPr lang="en-US" b="1" dirty="0"/>
              <a:t>="30" </a:t>
            </a:r>
            <a:r>
              <a:rPr lang="en-US" b="1" dirty="0" err="1"/>
              <a:t>Vspace</a:t>
            </a:r>
            <a:r>
              <a:rPr lang="en-US" b="1" dirty="0"/>
              <a:t>="10"</a:t>
            </a:r>
            <a:r>
              <a:rPr lang="en-US" dirty="0"/>
              <a:t> </a:t>
            </a:r>
            <a:r>
              <a:rPr lang="ar-SA" b="1" dirty="0"/>
              <a:t> </a:t>
            </a:r>
            <a:r>
              <a:rPr lang="en-US" b="1" dirty="0"/>
              <a:t>border=20&gt;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b="1" dirty="0"/>
              <a:t>5)</a:t>
            </a:r>
            <a:r>
              <a:rPr lang="it-IT" b="1" dirty="0"/>
              <a:t> &lt; </a:t>
            </a:r>
            <a:r>
              <a:rPr lang="en-US" b="1" dirty="0"/>
              <a:t>IMG SRC</a:t>
            </a:r>
            <a:r>
              <a:rPr lang="it-IT" b="1" dirty="0"/>
              <a:t> =" </a:t>
            </a:r>
            <a:r>
              <a:rPr lang="en-US" b="1" dirty="0" err="1"/>
              <a:t>jordan</a:t>
            </a:r>
            <a:r>
              <a:rPr lang="it-IT" b="1" dirty="0"/>
              <a:t>.gif“ align="left"&gt;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it-IT" b="1" dirty="0" smtClean="0"/>
              <a:t>       blast </a:t>
            </a:r>
            <a:r>
              <a:rPr lang="it-IT" b="1" dirty="0"/>
              <a:t>blast blast blast blast</a:t>
            </a:r>
            <a:endParaRPr lang="en-US" b="1" dirty="0"/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US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FA7E1-3E65-4604-A312-B7DEC3C15A41}" type="slidenum">
              <a:rPr lang="ar-SA"/>
              <a:pPr/>
              <a:t>19</a:t>
            </a:fld>
            <a:endParaRPr lang="en-US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20762"/>
          </a:xfrm>
          <a:solidFill>
            <a:schemeClr val="bg1"/>
          </a:solidFill>
        </p:spPr>
        <p:txBody>
          <a:bodyPr>
            <a:flatTx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4000" dirty="0">
                <a:solidFill>
                  <a:srgbClr val="C00000"/>
                </a:solidFill>
              </a:rPr>
              <a:t>A</a:t>
            </a:r>
            <a:r>
              <a:rPr lang="en-US" sz="4000" b="1" dirty="0">
                <a:solidFill>
                  <a:srgbClr val="C00000"/>
                </a:solidFill>
              </a:rPr>
              <a:t>nchors, </a:t>
            </a:r>
            <a:r>
              <a:rPr lang="en-US" sz="4000" dirty="0">
                <a:solidFill>
                  <a:srgbClr val="C00000"/>
                </a:solidFill>
              </a:rPr>
              <a:t>URL</a:t>
            </a:r>
            <a:r>
              <a:rPr lang="en-US" sz="4000" b="1" dirty="0">
                <a:solidFill>
                  <a:srgbClr val="C00000"/>
                </a:solidFill>
              </a:rPr>
              <a:t>s and </a:t>
            </a:r>
            <a:r>
              <a:rPr lang="en-US" sz="4000" dirty="0">
                <a:solidFill>
                  <a:srgbClr val="C00000"/>
                </a:solidFill>
              </a:rPr>
              <a:t>I</a:t>
            </a:r>
            <a:r>
              <a:rPr lang="en-US" sz="4000" b="1" dirty="0">
                <a:solidFill>
                  <a:srgbClr val="C00000"/>
                </a:solidFill>
              </a:rPr>
              <a:t>mage </a:t>
            </a:r>
            <a:r>
              <a:rPr lang="en-US" sz="4000" dirty="0">
                <a:solidFill>
                  <a:srgbClr val="C00000"/>
                </a:solidFill>
              </a:rPr>
              <a:t>M</a:t>
            </a:r>
            <a:r>
              <a:rPr lang="en-US" sz="4000" b="1" dirty="0">
                <a:solidFill>
                  <a:srgbClr val="C00000"/>
                </a:solidFill>
              </a:rPr>
              <a:t>aps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chemeClr val="bg1"/>
          </a:solidFill>
          <a:ln/>
        </p:spPr>
        <p:txBody>
          <a:bodyPr>
            <a:normAutofit lnSpcReduction="10000"/>
          </a:bodyPr>
          <a:lstStyle/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Tx/>
              <a:buNone/>
            </a:pPr>
            <a:r>
              <a:rPr lang="en-US" sz="2600"/>
              <a:t>In this chapter you will learn about Uniform Resource Locator, and how to add them as Anchor or Links inside your web pages.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None/>
            </a:pPr>
            <a:r>
              <a:rPr lang="en-US" sz="2600" b="1"/>
              <a:t>Objectives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None/>
            </a:pPr>
            <a:r>
              <a:rPr lang="en-US" sz="2600"/>
              <a:t>Upon completing this section, you should be able to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AutoNum type="arabicPeriod"/>
            </a:pPr>
            <a:r>
              <a:rPr lang="en-US" sz="2600"/>
              <a:t>Insert links into documents.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AutoNum type="arabicPeriod"/>
            </a:pPr>
            <a:r>
              <a:rPr lang="en-US" sz="2600"/>
              <a:t>Define Link Types.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AutoNum type="arabicPeriod"/>
            </a:pPr>
            <a:r>
              <a:rPr lang="en-US" sz="2600"/>
              <a:t>Define URL.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AutoNum type="arabicPeriod"/>
            </a:pPr>
            <a:r>
              <a:rPr lang="en-US" sz="2600"/>
              <a:t>List some commonly used URLs.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AutoNum type="arabicPeriod"/>
            </a:pPr>
            <a:r>
              <a:rPr lang="en-US" sz="2600"/>
              <a:t>Plan an Image Map.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AutoNum type="arabicPeriod"/>
            </a:pPr>
            <a:endParaRPr lang="en-US" sz="2600"/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Tx/>
              <a:buNone/>
            </a:pPr>
            <a:endParaRPr lang="en-US" sz="2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D73D4-CC77-42E0-A173-9A5887269B3D}" type="slidenum">
              <a:rPr lang="ar-SA"/>
              <a:pPr/>
              <a:t>20</a:t>
            </a:fld>
            <a:endParaRPr lang="en-US"/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noFill/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HOW TO MAKE A LINK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534400" cy="4953000"/>
          </a:xfrm>
          <a:noFill/>
        </p:spPr>
        <p:txBody>
          <a:bodyPr>
            <a:normAutofit/>
          </a:bodyPr>
          <a:lstStyle/>
          <a:p>
            <a:pPr marL="457200" indent="-457200">
              <a:lnSpc>
                <a:spcPct val="80000"/>
              </a:lnSpc>
              <a:buFontTx/>
              <a:buAutoNum type="arabicParenR"/>
            </a:pPr>
            <a:r>
              <a:rPr lang="en-US" sz="2400" b="1" dirty="0" smtClean="0">
                <a:latin typeface="Times New Roman" charset="0"/>
                <a:cs typeface="Times New Roman" charset="0"/>
              </a:rPr>
              <a:t>The </a:t>
            </a:r>
            <a:r>
              <a:rPr lang="en-US" sz="2400" b="1" dirty="0">
                <a:latin typeface="Times New Roman" charset="0"/>
                <a:cs typeface="Times New Roman" charset="0"/>
              </a:rPr>
              <a:t>tags used to produce links are the </a:t>
            </a:r>
            <a:r>
              <a:rPr lang="en-US" sz="2400" b="1" dirty="0">
                <a:solidFill>
                  <a:srgbClr val="990000"/>
                </a:solidFill>
                <a:latin typeface="Times New Roman" charset="0"/>
                <a:cs typeface="Times New Roman" charset="0"/>
              </a:rPr>
              <a:t>&lt;A</a:t>
            </a:r>
            <a:r>
              <a:rPr lang="en-US" sz="2400" b="1" dirty="0" smtClean="0">
                <a:solidFill>
                  <a:srgbClr val="990000"/>
                </a:solidFill>
                <a:latin typeface="Times New Roman" charset="0"/>
                <a:cs typeface="Times New Roman" charset="0"/>
              </a:rPr>
              <a:t>&gt; </a:t>
            </a:r>
            <a:r>
              <a:rPr lang="en-US" sz="2400" b="1" dirty="0" smtClean="0">
                <a:latin typeface="Times New Roman" charset="0"/>
                <a:cs typeface="Times New Roman" charset="0"/>
              </a:rPr>
              <a:t>and </a:t>
            </a:r>
            <a:r>
              <a:rPr lang="en-US" sz="2400" b="1" dirty="0">
                <a:solidFill>
                  <a:srgbClr val="990000"/>
                </a:solidFill>
                <a:latin typeface="Times New Roman" charset="0"/>
                <a:cs typeface="Times New Roman" charset="0"/>
              </a:rPr>
              <a:t>&lt;/A&gt;.</a:t>
            </a:r>
            <a:r>
              <a:rPr lang="en-US" sz="2400" b="1" dirty="0">
                <a:latin typeface="Times New Roman" charset="0"/>
                <a:cs typeface="Times New Roman" charset="0"/>
              </a:rPr>
              <a:t> </a:t>
            </a:r>
            <a:endParaRPr lang="en-US" sz="2400" b="1" dirty="0" smtClean="0">
              <a:latin typeface="Times New Roman" charset="0"/>
              <a:cs typeface="Times New Roman" charset="0"/>
            </a:endParaRPr>
          </a:p>
          <a:p>
            <a:pPr marL="457200" indent="-457200">
              <a:lnSpc>
                <a:spcPct val="80000"/>
              </a:lnSpc>
              <a:buNone/>
            </a:pPr>
            <a:r>
              <a:rPr lang="en-US" sz="2400" b="1" dirty="0" smtClean="0">
                <a:latin typeface="Times New Roman" charset="0"/>
                <a:cs typeface="Times New Roman" charset="0"/>
              </a:rPr>
              <a:t>       The </a:t>
            </a:r>
            <a:r>
              <a:rPr lang="en-US" sz="2400" b="1" dirty="0">
                <a:solidFill>
                  <a:srgbClr val="990000"/>
                </a:solidFill>
                <a:latin typeface="Times New Roman" charset="0"/>
                <a:cs typeface="Times New Roman" charset="0"/>
              </a:rPr>
              <a:t>&lt;A&gt;</a:t>
            </a:r>
            <a:r>
              <a:rPr lang="en-US" sz="2400" b="1" dirty="0">
                <a:latin typeface="Times New Roman" charset="0"/>
                <a:cs typeface="Times New Roman" charset="0"/>
              </a:rPr>
              <a:t> tells where the link should start and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 dirty="0" smtClean="0">
                <a:latin typeface="Times New Roman" charset="0"/>
                <a:cs typeface="Times New Roman" charset="0"/>
              </a:rPr>
              <a:t>       the </a:t>
            </a:r>
            <a:r>
              <a:rPr lang="en-US" sz="2400" b="1" dirty="0">
                <a:solidFill>
                  <a:srgbClr val="990000"/>
                </a:solidFill>
                <a:latin typeface="Times New Roman" charset="0"/>
                <a:cs typeface="Times New Roman" charset="0"/>
              </a:rPr>
              <a:t>&lt;/A&gt;</a:t>
            </a:r>
            <a:r>
              <a:rPr lang="en-US" sz="2400" b="1" dirty="0">
                <a:latin typeface="Times New Roman" charset="0"/>
                <a:cs typeface="Times New Roman" charset="0"/>
              </a:rPr>
              <a:t> indicates where the link ends</a:t>
            </a:r>
            <a:r>
              <a:rPr lang="en-US" sz="2400" b="1" dirty="0" smtClean="0">
                <a:latin typeface="Times New Roman" charset="0"/>
                <a:cs typeface="Times New Roman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 dirty="0" smtClean="0">
                <a:latin typeface="Times New Roman" charset="0"/>
                <a:cs typeface="Times New Roman" charset="0"/>
              </a:rPr>
              <a:t>       </a:t>
            </a:r>
            <a:r>
              <a:rPr lang="en-US" sz="2400" b="1" dirty="0">
                <a:latin typeface="Times New Roman" charset="0"/>
                <a:cs typeface="Times New Roman" charset="0"/>
              </a:rPr>
              <a:t>Everything between </a:t>
            </a:r>
            <a:r>
              <a:rPr lang="en-US" sz="2400" b="1" dirty="0" smtClean="0">
                <a:latin typeface="Times New Roman" charset="0"/>
                <a:cs typeface="Times New Roman" charset="0"/>
              </a:rPr>
              <a:t>these </a:t>
            </a:r>
            <a:r>
              <a:rPr lang="en-US" sz="2400" b="1" dirty="0">
                <a:latin typeface="Times New Roman" charset="0"/>
                <a:cs typeface="Times New Roman" charset="0"/>
              </a:rPr>
              <a:t>two will work as a link.</a:t>
            </a:r>
            <a:br>
              <a:rPr lang="en-US" sz="2400" b="1" dirty="0">
                <a:latin typeface="Times New Roman" charset="0"/>
                <a:cs typeface="Times New Roman" charset="0"/>
              </a:rPr>
            </a:br>
            <a:endParaRPr lang="en-US" sz="2400" b="1" dirty="0">
              <a:latin typeface="Times New Roman" charset="0"/>
              <a:cs typeface="Times New Roman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 dirty="0"/>
              <a:t>2) The example below shows how to make the </a:t>
            </a:r>
            <a:r>
              <a:rPr lang="en-US" sz="2400" b="1" dirty="0" smtClean="0"/>
              <a:t>word </a:t>
            </a:r>
            <a:r>
              <a:rPr lang="en-US" sz="2400" b="1" dirty="0" smtClean="0">
                <a:solidFill>
                  <a:srgbClr val="FF0000"/>
                </a:solidFill>
              </a:rPr>
              <a:t>Here </a:t>
            </a:r>
            <a:r>
              <a:rPr lang="en-US" sz="2400" b="1" dirty="0"/>
              <a:t>work as a link to yahoo.</a:t>
            </a:r>
            <a:br>
              <a:rPr lang="en-US" sz="2400" b="1" dirty="0"/>
            </a:br>
            <a:endParaRPr lang="en-US" sz="2400" b="1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b="1" dirty="0"/>
              <a:t>Click &lt;</a:t>
            </a:r>
            <a:r>
              <a:rPr lang="en-US" sz="2800" b="1" dirty="0">
                <a:solidFill>
                  <a:srgbClr val="990000"/>
                </a:solidFill>
              </a:rPr>
              <a:t>A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990000"/>
                </a:solidFill>
              </a:rPr>
              <a:t>HREF</a:t>
            </a:r>
            <a:r>
              <a:rPr lang="en-US" sz="2800" b="1" dirty="0"/>
              <a:t>="</a:t>
            </a:r>
            <a:r>
              <a:rPr lang="en-US" sz="2800" b="1" dirty="0">
                <a:solidFill>
                  <a:srgbClr val="0000CC"/>
                </a:solidFill>
              </a:rPr>
              <a:t>http://www.yahoo.com</a:t>
            </a:r>
            <a:r>
              <a:rPr lang="en-US" sz="2800" b="1" dirty="0"/>
              <a:t>"&gt;</a:t>
            </a:r>
            <a:r>
              <a:rPr lang="en-US" sz="2800" b="1" dirty="0">
                <a:solidFill>
                  <a:srgbClr val="FF0000"/>
                </a:solidFill>
              </a:rPr>
              <a:t>here</a:t>
            </a:r>
            <a:r>
              <a:rPr lang="en-US" sz="2800" b="1" dirty="0"/>
              <a:t>&lt;/A&gt; to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b="1" dirty="0"/>
              <a:t>go to yahoo.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sz="2400" b="1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/>
            </a:r>
            <a:br>
              <a:rPr lang="en-US" sz="2400" b="1" dirty="0"/>
            </a:b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19619-4268-406B-B8EB-36A5CB389451}" type="slidenum">
              <a:rPr lang="ar-SA"/>
              <a:pPr/>
              <a:t>21</a:t>
            </a:fld>
            <a:endParaRPr lang="en-US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229600" cy="551656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/>
            </a:r>
            <a:br>
              <a:rPr lang="en-US" sz="2800" dirty="0"/>
            </a:br>
            <a:r>
              <a:rPr lang="en-US" sz="2800" b="1" dirty="0"/>
              <a:t>&lt;body LINK="#C0C0C0" VLINK="#808080" ALINK="#FF0000"&gt;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CC"/>
                </a:solidFill>
              </a:rPr>
              <a:t>LINK - standard link - to a page the visitor hasn't been to yet. (standard color is blue - #0000FF</a:t>
            </a:r>
            <a:r>
              <a:rPr lang="en-US" sz="2800" b="1" dirty="0" smtClean="0">
                <a:solidFill>
                  <a:srgbClr val="0000CC"/>
                </a:solidFill>
              </a:rPr>
              <a:t>).</a:t>
            </a:r>
          </a:p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rgbClr val="FF33CC"/>
                </a:solidFill>
              </a:rPr>
              <a:t>VLINK </a:t>
            </a:r>
            <a:r>
              <a:rPr lang="en-US" sz="2800" b="1" dirty="0">
                <a:solidFill>
                  <a:srgbClr val="FF33CC"/>
                </a:solidFill>
              </a:rPr>
              <a:t>- visited link - to a page the visitor has been to before. (standard color is purple - #800080</a:t>
            </a:r>
            <a:r>
              <a:rPr lang="en-US" sz="2800" b="1" dirty="0" smtClean="0">
                <a:solidFill>
                  <a:srgbClr val="FF33CC"/>
                </a:solidFill>
              </a:rPr>
              <a:t>).</a:t>
            </a:r>
          </a:p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rgbClr val="FF0000"/>
                </a:solidFill>
              </a:rPr>
              <a:t>ALINK </a:t>
            </a:r>
            <a:r>
              <a:rPr lang="en-US" sz="2800" b="1" dirty="0">
                <a:solidFill>
                  <a:srgbClr val="FF0000"/>
                </a:solidFill>
              </a:rPr>
              <a:t>- active link - the color of the link when the mouse is on it. (standard color is red - #FF0000</a:t>
            </a:r>
            <a:r>
              <a:rPr lang="en-US" sz="2800" b="1" dirty="0" smtClean="0">
                <a:solidFill>
                  <a:srgbClr val="FF0000"/>
                </a:solidFill>
              </a:rPr>
              <a:t>).</a:t>
            </a:r>
          </a:p>
          <a:p>
            <a:pPr>
              <a:lnSpc>
                <a:spcPct val="90000"/>
              </a:lnSpc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dirty="0">
                <a:solidFill>
                  <a:schemeClr val="tx2"/>
                </a:solidFill>
              </a:rPr>
              <a:t>If the programmer what to change the color </a:t>
            </a:r>
          </a:p>
          <a:p>
            <a:pPr>
              <a:lnSpc>
                <a:spcPct val="90000"/>
              </a:lnSpc>
            </a:pPr>
            <a:r>
              <a:rPr lang="en-US" sz="2800" b="1" dirty="0"/>
              <a:t>Click &lt;a </a:t>
            </a:r>
            <a:r>
              <a:rPr lang="en-US" sz="2800" b="1" dirty="0" err="1"/>
              <a:t>href</a:t>
            </a:r>
            <a:r>
              <a:rPr lang="en-US" sz="2800" b="1" dirty="0"/>
              <a:t>="http://www.yahoo.com"&gt;&lt;font color="FF00CC"&gt;here&lt;/font&gt;&lt;/a&gt; to go to yahoo.</a:t>
            </a:r>
            <a:r>
              <a:rPr lang="en-US" sz="2800" dirty="0"/>
              <a:t> </a:t>
            </a:r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  <a:noFill/>
          <a:ln/>
        </p:spPr>
        <p:txBody>
          <a:bodyPr>
            <a:flatTx/>
          </a:bodyPr>
          <a:lstStyle/>
          <a:p>
            <a:r>
              <a:rPr lang="en-US" b="1">
                <a:solidFill>
                  <a:srgbClr val="C00000"/>
                </a:solidFill>
              </a:rPr>
              <a:t>More on LINKs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82D6-8286-40FF-B901-5C54E9B1EE69}" type="slidenum">
              <a:rPr lang="ar-SA"/>
              <a:pPr/>
              <a:t>22</a:t>
            </a:fld>
            <a:endParaRPr lang="en-US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noFill/>
        </p:spPr>
        <p:txBody>
          <a:bodyPr>
            <a:flatTx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b="1" dirty="0">
                <a:solidFill>
                  <a:srgbClr val="C00000"/>
                </a:solidFill>
              </a:rPr>
              <a:t>Internal Links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5181600"/>
          </a:xfrm>
          <a:noFill/>
        </p:spPr>
        <p:txBody>
          <a:bodyPr>
            <a:normAutofit/>
          </a:bodyPr>
          <a:lstStyle/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§"/>
            </a:pPr>
            <a:r>
              <a:rPr lang="en-US" sz="2200" b="1" dirty="0"/>
              <a:t>Internal Links </a:t>
            </a:r>
            <a:r>
              <a:rPr lang="en-US" sz="2200" dirty="0"/>
              <a:t>: Links can also be created inside large documents to simplify navigation. Today’s world wants to be able to get the information quickly. Internal links can help you meet these goals.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§"/>
            </a:pPr>
            <a:r>
              <a:rPr lang="en-US" sz="2200" dirty="0"/>
              <a:t>Select some text at a place in the document that you would like to create a link to, then add an anchor to link to like this: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sz="2200" dirty="0"/>
              <a:t>	</a:t>
            </a:r>
            <a:r>
              <a:rPr lang="en-US" sz="2200" dirty="0">
                <a:solidFill>
                  <a:srgbClr val="FF0000"/>
                </a:solidFill>
              </a:rPr>
              <a:t>&lt;A NAME=“</a:t>
            </a:r>
            <a:r>
              <a:rPr lang="en-US" sz="2200" dirty="0" err="1">
                <a:solidFill>
                  <a:srgbClr val="FF0000"/>
                </a:solidFill>
              </a:rPr>
              <a:t>bookmark_name</a:t>
            </a:r>
            <a:r>
              <a:rPr lang="en-US" sz="2200" dirty="0">
                <a:solidFill>
                  <a:srgbClr val="FF0000"/>
                </a:solidFill>
              </a:rPr>
              <a:t>”&gt;&lt;/A&gt;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§"/>
            </a:pPr>
            <a:r>
              <a:rPr lang="en-US" sz="2200" dirty="0" smtClean="0"/>
              <a:t>The </a:t>
            </a:r>
            <a:r>
              <a:rPr lang="en-US" sz="2200" dirty="0"/>
              <a:t>Name attribute of an anchor element specifies a location in the document that we link to shortly. All NAME attributes in a document must be unique.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§"/>
            </a:pPr>
            <a:r>
              <a:rPr lang="en-US" sz="2200" dirty="0"/>
              <a:t>Next select the text that you would like to create as a link to the location created above.</a:t>
            </a:r>
          </a:p>
          <a:p>
            <a:pPr marL="609600" indent="-60960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sz="2200" dirty="0">
                <a:solidFill>
                  <a:srgbClr val="FF0000"/>
                </a:solidFill>
              </a:rPr>
              <a:t>	</a:t>
            </a:r>
            <a:r>
              <a:rPr lang="en-US" sz="2200" dirty="0" smtClean="0">
                <a:solidFill>
                  <a:srgbClr val="FF0000"/>
                </a:solidFill>
              </a:rPr>
              <a:t>&lt;</a:t>
            </a:r>
            <a:r>
              <a:rPr lang="en-US" sz="2200" dirty="0">
                <a:solidFill>
                  <a:srgbClr val="FF0000"/>
                </a:solidFill>
              </a:rPr>
              <a:t>A HREF=“</a:t>
            </a:r>
            <a:r>
              <a:rPr lang="en-US" sz="2200" dirty="0"/>
              <a:t>#</a:t>
            </a:r>
            <a:r>
              <a:rPr lang="en-US" sz="2200" dirty="0" err="1">
                <a:solidFill>
                  <a:srgbClr val="FF0000"/>
                </a:solidFill>
              </a:rPr>
              <a:t>bookmark_name</a:t>
            </a:r>
            <a:r>
              <a:rPr lang="en-US" sz="2200" dirty="0">
                <a:solidFill>
                  <a:srgbClr val="FF0000"/>
                </a:solidFill>
              </a:rPr>
              <a:t>”&gt;Go To  Book Mark&lt;/A&gt;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C7A6F-AB35-44F5-A614-77C43E151AEA}" type="slidenum">
              <a:rPr lang="ar-SA"/>
              <a:pPr/>
              <a:t>23</a:t>
            </a:fld>
            <a:endParaRPr lang="en-US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noFill/>
        </p:spPr>
        <p:txBody>
          <a:bodyPr>
            <a:flatTx/>
          </a:bodyPr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rgbClr val="C00000"/>
                </a:solidFill>
              </a:rPr>
              <a:t>E-Mail (Electronic Mail)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229600" cy="4525963"/>
          </a:xfrm>
          <a:noFill/>
        </p:spPr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/>
              <a:t>E.g. </a:t>
            </a:r>
            <a:r>
              <a:rPr lang="en-US" sz="2800" dirty="0" smtClean="0">
                <a:hlinkClick r:id="rId2"/>
              </a:rPr>
              <a:t>mailto:kmf@yahoo.com</a:t>
            </a:r>
            <a:endParaRPr lang="en-US" sz="2800" dirty="0" smtClean="0"/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2800" dirty="0"/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/>
              <a:t>The type of service is identified as the mail client program. This type of link will launch the users mail client.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/>
              <a:t>The recipient of the message is </a:t>
            </a:r>
            <a:r>
              <a:rPr lang="en-US" sz="2800" dirty="0">
                <a:hlinkClick r:id="rId2"/>
              </a:rPr>
              <a:t>kmf@yahoo.com</a:t>
            </a:r>
            <a:endParaRPr lang="en-US" sz="2800" dirty="0"/>
          </a:p>
          <a:p>
            <a:pPr>
              <a:buClr>
                <a:schemeClr val="tx1"/>
              </a:buClr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	&lt;</a:t>
            </a:r>
            <a:r>
              <a:rPr lang="en-US" sz="2800" dirty="0">
                <a:solidFill>
                  <a:srgbClr val="FF0000"/>
                </a:solidFill>
              </a:rPr>
              <a:t>A</a:t>
            </a:r>
            <a:r>
              <a:rPr lang="en-US" sz="2800" dirty="0">
                <a:solidFill>
                  <a:schemeClr val="hlink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HREF=“mailto:</a:t>
            </a:r>
            <a:r>
              <a:rPr lang="en-US" sz="2800" dirty="0">
                <a:solidFill>
                  <a:srgbClr val="FF0000"/>
                </a:solidFill>
                <a:hlinkClick r:id="rId3"/>
              </a:rPr>
              <a:t>kmf</a:t>
            </a:r>
            <a:r>
              <a:rPr lang="en-US" sz="2800" dirty="0"/>
              <a:t>@yahoo.com”</a:t>
            </a:r>
            <a:r>
              <a:rPr lang="en-US" sz="2800" dirty="0">
                <a:solidFill>
                  <a:srgbClr val="FF0000"/>
                </a:solidFill>
              </a:rPr>
              <a:t>&gt;Send me</a:t>
            </a:r>
          </a:p>
          <a:p>
            <a:pPr>
              <a:buClr>
                <a:schemeClr val="tx1"/>
              </a:buClr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	More  </a:t>
            </a:r>
            <a:r>
              <a:rPr lang="en-US" sz="2800" dirty="0">
                <a:solidFill>
                  <a:srgbClr val="FF0000"/>
                </a:solidFill>
              </a:rPr>
              <a:t>Information &lt;/A&gt;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386</TotalTime>
  <Words>1263</Words>
  <Application>Microsoft Office PowerPoint</Application>
  <PresentationFormat>On-screen Show (4:3)</PresentationFormat>
  <Paragraphs>224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HNDIT</vt:lpstr>
      <vt:lpstr>HNDIT11062 –  Web Development</vt:lpstr>
      <vt:lpstr>Lists</vt:lpstr>
      <vt:lpstr>List Elements</vt:lpstr>
      <vt:lpstr>List Elements</vt:lpstr>
      <vt:lpstr>List Elements</vt:lpstr>
      <vt:lpstr>List Elements</vt:lpstr>
      <vt:lpstr>List Elements</vt:lpstr>
      <vt:lpstr>List Elements</vt:lpstr>
      <vt:lpstr>List Elements</vt:lpstr>
      <vt:lpstr>Nesting Lists</vt:lpstr>
      <vt:lpstr>What will be the output?</vt:lpstr>
      <vt:lpstr>The output….</vt:lpstr>
      <vt:lpstr>Slide 13</vt:lpstr>
      <vt:lpstr>The output….</vt:lpstr>
      <vt:lpstr>Images</vt:lpstr>
      <vt:lpstr>Images</vt:lpstr>
      <vt:lpstr>Images</vt:lpstr>
      <vt:lpstr>Some Examples on images</vt:lpstr>
      <vt:lpstr>Anchors, URLs and Image Maps</vt:lpstr>
      <vt:lpstr>HOW TO MAKE A LINK</vt:lpstr>
      <vt:lpstr>More on LINKs</vt:lpstr>
      <vt:lpstr>Internal Links</vt:lpstr>
      <vt:lpstr>E-Mail (Electronic Mail)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2002 – Graphics &amp; Multimedia</dc:title>
  <dc:creator>Dell PC</dc:creator>
  <cp:lastModifiedBy>LAB2Lecture</cp:lastModifiedBy>
  <cp:revision>28</cp:revision>
  <dcterms:created xsi:type="dcterms:W3CDTF">2013-10-16T01:16:09Z</dcterms:created>
  <dcterms:modified xsi:type="dcterms:W3CDTF">2014-05-23T04:29:45Z</dcterms:modified>
</cp:coreProperties>
</file>