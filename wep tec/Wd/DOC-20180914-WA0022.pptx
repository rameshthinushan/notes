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6" r:id="rId40"/>
    <p:sldId id="297" r:id="rId41"/>
    <p:sldId id="298" r:id="rId42"/>
    <p:sldId id="299" r:id="rId43"/>
    <p:sldId id="300" r:id="rId44"/>
    <p:sldId id="301" r:id="rId45"/>
    <p:sldId id="302" r:id="rId46"/>
    <p:sldId id="303" r:id="rId47"/>
    <p:sldId id="306"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577" autoAdjust="0"/>
  </p:normalViewPr>
  <p:slideViewPr>
    <p:cSldViewPr>
      <p:cViewPr varScale="1">
        <p:scale>
          <a:sx n="67" d="100"/>
          <a:sy n="67" d="100"/>
        </p:scale>
        <p:origin x="-606" y="-90"/>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678ED4-C883-4623-9BAF-54C3A8C49825}" type="datetimeFigureOut">
              <a:rPr lang="en-US" smtClean="0"/>
              <a:pPr/>
              <a:t>6/5/2014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F0E9B7-1E52-4CC5-BF37-E4ACEE5572D9}" type="slidenum">
              <a:rPr lang="en-US" smtClean="0"/>
              <a:pPr/>
              <a:t>‹#›</a:t>
            </a:fld>
            <a:endParaRPr lang="en-US"/>
          </a:p>
        </p:txBody>
      </p:sp>
    </p:spTree>
    <p:extLst>
      <p:ext uri="{BB962C8B-B14F-4D97-AF65-F5344CB8AC3E}">
        <p14:creationId xmlns="" xmlns:p14="http://schemas.microsoft.com/office/powerpoint/2010/main" val="1308850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AA71DD-D0EC-4926-8ED6-19B5D40D3F29}" type="datetimeFigureOut">
              <a:rPr lang="en-US" smtClean="0"/>
              <a:pPr/>
              <a:t>6/5/2014</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7" name="Picture 3" descr="C:\Users\Dell PC\Desktop\mainpage.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6/5/2014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6" name="Picture 2" descr="C:\Users\Dell PC\Desktop\template2.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AA71DD-D0EC-4926-8ED6-19B5D40D3F29}" type="datetimeFigureOut">
              <a:rPr lang="en-US" smtClean="0"/>
              <a:pPr/>
              <a:t>6/5/2014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AA71DD-D0EC-4926-8ED6-19B5D40D3F29}" type="datetimeFigureOut">
              <a:rPr lang="en-US" smtClean="0"/>
              <a:pPr/>
              <a:t>6/5/2014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AA71DD-D0EC-4926-8ED6-19B5D40D3F29}" type="datetimeFigureOut">
              <a:rPr lang="en-US" smtClean="0"/>
              <a:pPr/>
              <a:t>6/5/2014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AA71DD-D0EC-4926-8ED6-19B5D40D3F29}" type="datetimeFigureOut">
              <a:rPr lang="en-US" smtClean="0"/>
              <a:pPr/>
              <a:t>6/5/2014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AA71DD-D0EC-4926-8ED6-19B5D40D3F29}" type="datetimeFigureOut">
              <a:rPr lang="en-US" smtClean="0"/>
              <a:pPr/>
              <a:t>6/5/2014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6/5/2014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6/5/2014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6/5/2014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A71DD-D0EC-4926-8ED6-19B5D40D3F29}" type="datetimeFigureOut">
              <a:rPr lang="en-US" smtClean="0"/>
              <a:pPr/>
              <a:t>6/5/2014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endParaRPr lang="en-US"/>
          </a:p>
        </p:txBody>
      </p:sp>
      <p:sp>
        <p:nvSpPr>
          <p:cNvPr id="4" name="Date Placeholder 3"/>
          <p:cNvSpPr>
            <a:spLocks noGrp="1"/>
          </p:cNvSpPr>
          <p:nvPr>
            <p:ph type="dt" sz="half" idx="10"/>
          </p:nvPr>
        </p:nvSpPr>
        <p:spPr>
          <a:xfrm>
            <a:off x="457200" y="6245225"/>
            <a:ext cx="2133600" cy="476250"/>
          </a:xfrm>
        </p:spPr>
        <p:txBody>
          <a:bodyPr/>
          <a:lstStyle>
            <a:lvl1pPr>
              <a:defRPr/>
            </a:lvl1pPr>
          </a:lstStyle>
          <a:p>
            <a:endParaRPr lang="en-US"/>
          </a:p>
        </p:txBody>
      </p:sp>
      <p:sp>
        <p:nvSpPr>
          <p:cNvPr id="5" name="Footer Placeholder 4"/>
          <p:cNvSpPr>
            <a:spLocks noGrp="1"/>
          </p:cNvSpPr>
          <p:nvPr>
            <p:ph type="ftr" sz="quarter" idx="11"/>
          </p:nvPr>
        </p:nvSpPr>
        <p:spPr>
          <a:xfrm>
            <a:off x="3124200" y="6245225"/>
            <a:ext cx="28956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6553200" y="6245225"/>
            <a:ext cx="2133600" cy="476250"/>
          </a:xfrm>
        </p:spPr>
        <p:txBody>
          <a:bodyPr/>
          <a:lstStyle>
            <a:lvl1pPr>
              <a:defRPr/>
            </a:lvl1pPr>
          </a:lstStyle>
          <a:p>
            <a:fld id="{61AA0F5F-A1BF-428B-B8D8-22C6C6B1C590}" type="slidenum">
              <a:rPr lang="ar-SA"/>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AA71DD-D0EC-4926-8ED6-19B5D40D3F29}" type="datetimeFigureOut">
              <a:rPr lang="en-US" smtClean="0"/>
              <a:pPr/>
              <a:t>6/5/2014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D34B05-3558-49CA-9E94-A70F1820A0B2}" type="slidenum">
              <a:rPr lang="en-US" smtClean="0"/>
              <a:pPr/>
              <a:t>‹#›</a:t>
            </a:fld>
            <a:endParaRPr lang="en-US"/>
          </a:p>
        </p:txBody>
      </p:sp>
      <p:pic>
        <p:nvPicPr>
          <p:cNvPr id="8" name="Picture 2" descr="C:\Users\Dell PC\Desktop\template2.jpg"/>
          <p:cNvPicPr>
            <a:picLocks noChangeAspect="1" noChangeArrowheads="1"/>
          </p:cNvPicPr>
          <p:nvPr/>
        </p:nvPicPr>
        <p:blipFill>
          <a:blip r:embed="rId14" cstate="print">
            <a:extLst>
              <a:ext uri="{28A0092B-C50C-407E-A947-70E740481C1C}">
                <a14:useLocalDpi xmlns=""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xyz.com/formtest.asp"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Week 10: HTML Forms </a:t>
            </a:r>
            <a:endParaRPr lang="en-US" dirty="0"/>
          </a:p>
        </p:txBody>
      </p:sp>
      <p:sp>
        <p:nvSpPr>
          <p:cNvPr id="2" name="Title 1"/>
          <p:cNvSpPr>
            <a:spLocks noGrp="1"/>
          </p:cNvSpPr>
          <p:nvPr>
            <p:ph type="ctrTitle"/>
          </p:nvPr>
        </p:nvSpPr>
        <p:spPr>
          <a:xfrm>
            <a:off x="228600" y="2247901"/>
            <a:ext cx="4267200" cy="1981199"/>
          </a:xfrm>
        </p:spPr>
        <p:txBody>
          <a:bodyPr>
            <a:normAutofit fontScale="90000"/>
          </a:bodyPr>
          <a:lstStyle/>
          <a:p>
            <a:pPr algn="l"/>
            <a:r>
              <a:rPr lang="en-US" dirty="0" smtClean="0"/>
              <a:t>HNDIT11062 –  Web Development</a:t>
            </a:r>
            <a:endParaRPr lang="en-US" dirty="0"/>
          </a:p>
        </p:txBody>
      </p:sp>
    </p:spTree>
    <p:extLst>
      <p:ext uri="{BB962C8B-B14F-4D97-AF65-F5344CB8AC3E}">
        <p14:creationId xmlns="" xmlns:p14="http://schemas.microsoft.com/office/powerpoint/2010/main" val="1726963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3BA1BAE-890D-48D6-A31D-A3C1942DE435}" type="slidenum">
              <a:rPr lang="ar-SA"/>
              <a:pPr/>
              <a:t>2</a:t>
            </a:fld>
            <a:endParaRPr lang="en-US"/>
          </a:p>
        </p:txBody>
      </p:sp>
      <p:sp>
        <p:nvSpPr>
          <p:cNvPr id="102402" name="Rectangle 2"/>
          <p:cNvSpPr>
            <a:spLocks noGrp="1" noChangeArrowheads="1"/>
          </p:cNvSpPr>
          <p:nvPr>
            <p:ph type="title"/>
          </p:nvPr>
        </p:nvSpPr>
        <p:spPr>
          <a:xfrm>
            <a:off x="457200" y="381000"/>
            <a:ext cx="8229600" cy="838200"/>
          </a:xfrm>
          <a:noFill/>
        </p:spPr>
        <p:txBody>
          <a:bodyPr>
            <a:normAutofit fontScale="90000"/>
            <a:flatTx/>
          </a:bodyPr>
          <a:lstStyle/>
          <a:p>
            <a:r>
              <a:rPr lang="en-US" sz="6000" b="1" dirty="0">
                <a:solidFill>
                  <a:srgbClr val="C00000"/>
                </a:solidFill>
                <a:latin typeface="Perpetua Titling MT" pitchFamily="18" charset="0"/>
              </a:rPr>
              <a:t>Forms</a:t>
            </a:r>
          </a:p>
        </p:txBody>
      </p:sp>
      <p:sp>
        <p:nvSpPr>
          <p:cNvPr id="102403" name="Rectangle 3"/>
          <p:cNvSpPr>
            <a:spLocks noGrp="1" noChangeArrowheads="1"/>
          </p:cNvSpPr>
          <p:nvPr>
            <p:ph type="body" idx="1"/>
          </p:nvPr>
        </p:nvSpPr>
        <p:spPr>
          <a:xfrm>
            <a:off x="685800" y="1447800"/>
            <a:ext cx="7772400" cy="5638800"/>
          </a:xfrm>
          <a:noFill/>
        </p:spPr>
        <p:txBody>
          <a:bodyPr/>
          <a:lstStyle/>
          <a:p>
            <a:pPr marL="609600" indent="-609600">
              <a:buClr>
                <a:schemeClr val="accent2"/>
              </a:buClr>
              <a:buNone/>
            </a:pPr>
            <a:r>
              <a:rPr lang="en-US" sz="2000" dirty="0" smtClean="0"/>
              <a:t>	</a:t>
            </a:r>
            <a:r>
              <a:rPr lang="en-US" sz="2400" dirty="0" smtClean="0"/>
              <a:t>Forms </a:t>
            </a:r>
            <a:r>
              <a:rPr lang="en-US" sz="2400" dirty="0"/>
              <a:t>add the ability to web pages to not only provide the person viewing the document with dynamic information but also to obtain information from the person viewing it, and process the information</a:t>
            </a:r>
            <a:r>
              <a:rPr lang="en-US" sz="2400" dirty="0" smtClean="0"/>
              <a:t>.</a:t>
            </a:r>
          </a:p>
          <a:p>
            <a:pPr marL="609600" indent="-609600">
              <a:buClr>
                <a:schemeClr val="accent2"/>
              </a:buClr>
              <a:buNone/>
            </a:pPr>
            <a:endParaRPr lang="en-US" sz="2400" dirty="0" smtClean="0"/>
          </a:p>
          <a:p>
            <a:pPr marL="609600" indent="-609600">
              <a:buClr>
                <a:schemeClr val="accent2"/>
              </a:buClr>
              <a:buFont typeface="Wingdings" pitchFamily="2" charset="2"/>
              <a:buChar char="§"/>
            </a:pPr>
            <a:r>
              <a:rPr lang="en-US" sz="2000" dirty="0" smtClean="0"/>
              <a:t>Forms work in all browsers.</a:t>
            </a:r>
          </a:p>
          <a:p>
            <a:pPr marL="609600" indent="-609600">
              <a:buClr>
                <a:schemeClr val="accent2"/>
              </a:buClr>
              <a:buFont typeface="Wingdings" pitchFamily="2" charset="2"/>
              <a:buChar char="§"/>
            </a:pPr>
            <a:r>
              <a:rPr lang="en-US" sz="2000" dirty="0" smtClean="0"/>
              <a:t>Forms are Platform Independent.</a:t>
            </a:r>
          </a:p>
          <a:p>
            <a:pPr marL="609600" indent="-609600">
              <a:buClr>
                <a:schemeClr val="accent2"/>
              </a:buClr>
              <a:buNone/>
            </a:pPr>
            <a:endParaRPr lang="en-US" sz="2000" dirty="0"/>
          </a:p>
          <a:p>
            <a:pPr marL="609600" indent="-609600">
              <a:buClr>
                <a:schemeClr val="accent2"/>
              </a:buClr>
              <a:buFont typeface="Wingdings" pitchFamily="2" charset="2"/>
              <a:buNone/>
            </a:pPr>
            <a:r>
              <a:rPr lang="en-US" sz="2000" b="1" i="1" dirty="0"/>
              <a:t>Objectives:</a:t>
            </a:r>
          </a:p>
          <a:p>
            <a:pPr marL="609600" indent="-609600">
              <a:buClr>
                <a:schemeClr val="accent2"/>
              </a:buClr>
              <a:buFont typeface="Wingdings" pitchFamily="2" charset="2"/>
              <a:buNone/>
            </a:pPr>
            <a:r>
              <a:rPr lang="en-US" sz="2000" dirty="0"/>
              <a:t>Upon completing this section, you should be able to</a:t>
            </a:r>
          </a:p>
          <a:p>
            <a:pPr marL="609600" indent="-609600">
              <a:buClr>
                <a:schemeClr val="accent2"/>
              </a:buClr>
              <a:buFont typeface="Wingdings" pitchFamily="2" charset="2"/>
              <a:buAutoNum type="arabicPeriod"/>
            </a:pPr>
            <a:r>
              <a:rPr lang="en-US" sz="2000" dirty="0"/>
              <a:t>Create a FORM.</a:t>
            </a:r>
          </a:p>
          <a:p>
            <a:pPr marL="609600" indent="-609600">
              <a:buClr>
                <a:schemeClr val="accent2"/>
              </a:buClr>
              <a:buFont typeface="Wingdings" pitchFamily="2" charset="2"/>
              <a:buAutoNum type="arabicPeriod"/>
            </a:pPr>
            <a:r>
              <a:rPr lang="en-US" sz="2000" dirty="0"/>
              <a:t>Add elements to a FORM.</a:t>
            </a:r>
          </a:p>
          <a:p>
            <a:pPr marL="609600" indent="-609600">
              <a:buClr>
                <a:schemeClr val="accent2"/>
              </a:buClr>
              <a:buFont typeface="Wingdings" pitchFamily="2" charset="2"/>
              <a:buAutoNum type="arabicPeriod"/>
            </a:pPr>
            <a:r>
              <a:rPr lang="en-US" sz="2000" dirty="0" smtClean="0"/>
              <a:t>Specify </a:t>
            </a:r>
            <a:r>
              <a:rPr lang="en-US" sz="2000" dirty="0"/>
              <a:t>an action for the FORM</a:t>
            </a:r>
            <a:r>
              <a:rPr lang="en-US" sz="2000" dirty="0" smtClean="0"/>
              <a:t>.</a:t>
            </a:r>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1AE99C5-FB68-4A8F-B130-7A5EE48D2E69}" type="slidenum">
              <a:rPr lang="ar-SA"/>
              <a:pPr/>
              <a:t>3</a:t>
            </a:fld>
            <a:endParaRPr lang="en-US"/>
          </a:p>
        </p:txBody>
      </p:sp>
      <p:sp>
        <p:nvSpPr>
          <p:cNvPr id="103426" name="Rectangle 2"/>
          <p:cNvSpPr>
            <a:spLocks noGrp="1" noChangeArrowheads="1"/>
          </p:cNvSpPr>
          <p:nvPr>
            <p:ph type="title"/>
          </p:nvPr>
        </p:nvSpPr>
        <p:spPr>
          <a:xfrm>
            <a:off x="609600" y="457200"/>
            <a:ext cx="7931150" cy="685800"/>
          </a:xfrm>
          <a:noFill/>
        </p:spPr>
        <p:txBody>
          <a:bodyPr>
            <a:noAutofit/>
            <a:flatTx/>
          </a:bodyPr>
          <a:lstStyle/>
          <a:p>
            <a:r>
              <a:rPr lang="en-US" sz="4000" dirty="0">
                <a:solidFill>
                  <a:srgbClr val="FF0000"/>
                </a:solidFill>
                <a:latin typeface="Perpetua Titling MT" pitchFamily="18" charset="0"/>
              </a:rPr>
              <a:t>Forms</a:t>
            </a:r>
          </a:p>
        </p:txBody>
      </p:sp>
      <p:sp>
        <p:nvSpPr>
          <p:cNvPr id="103427" name="Rectangle 3"/>
          <p:cNvSpPr>
            <a:spLocks noGrp="1" noChangeArrowheads="1"/>
          </p:cNvSpPr>
          <p:nvPr>
            <p:ph type="body" idx="1"/>
          </p:nvPr>
        </p:nvSpPr>
        <p:spPr>
          <a:xfrm>
            <a:off x="228600" y="1447800"/>
            <a:ext cx="8915400" cy="5410200"/>
          </a:xfrm>
          <a:noFill/>
        </p:spPr>
        <p:txBody>
          <a:bodyPr>
            <a:normAutofit/>
          </a:bodyPr>
          <a:lstStyle/>
          <a:p>
            <a:pPr>
              <a:buClr>
                <a:schemeClr val="accent2"/>
              </a:buClr>
              <a:buFont typeface="Wingdings" pitchFamily="2" charset="2"/>
              <a:buChar char="§"/>
            </a:pPr>
            <a:r>
              <a:rPr lang="en-US" sz="2400" dirty="0"/>
              <a:t>To insert a form we use the &lt;FORM&gt;&lt;/FORM&gt; tags. The rest of the form elements must be inserted in between the form tags</a:t>
            </a:r>
            <a:r>
              <a:rPr lang="en-US" sz="2400" dirty="0" smtClean="0"/>
              <a:t>.</a:t>
            </a:r>
          </a:p>
          <a:p>
            <a:pPr>
              <a:buClr>
                <a:schemeClr val="accent2"/>
              </a:buClr>
              <a:buFont typeface="Wingdings" pitchFamily="2" charset="2"/>
              <a:buChar char="§"/>
            </a:pPr>
            <a:endParaRPr lang="en-US" sz="2000" dirty="0"/>
          </a:p>
          <a:p>
            <a:pPr>
              <a:buClr>
                <a:schemeClr val="accent2"/>
              </a:buClr>
              <a:buFont typeface="Wingdings" pitchFamily="2" charset="2"/>
              <a:buNone/>
            </a:pPr>
            <a:r>
              <a:rPr lang="en-US" sz="2000" dirty="0"/>
              <a:t>&lt;HTML&gt; </a:t>
            </a:r>
            <a:endParaRPr lang="en-US" sz="2000" dirty="0" smtClean="0"/>
          </a:p>
          <a:p>
            <a:pPr>
              <a:buClr>
                <a:schemeClr val="accent2"/>
              </a:buClr>
              <a:buFont typeface="Wingdings" pitchFamily="2" charset="2"/>
              <a:buNone/>
            </a:pPr>
            <a:r>
              <a:rPr lang="en-US" sz="2000" dirty="0" smtClean="0"/>
              <a:t>	&lt;</a:t>
            </a:r>
            <a:r>
              <a:rPr lang="en-US" sz="2000" dirty="0"/>
              <a:t>HEAD&gt;</a:t>
            </a:r>
          </a:p>
          <a:p>
            <a:pPr>
              <a:buClr>
                <a:schemeClr val="accent2"/>
              </a:buClr>
              <a:buFont typeface="Wingdings" pitchFamily="2" charset="2"/>
              <a:buNone/>
            </a:pPr>
            <a:r>
              <a:rPr lang="en-US" sz="2000" dirty="0" smtClean="0"/>
              <a:t>	&lt;</a:t>
            </a:r>
            <a:r>
              <a:rPr lang="en-US" sz="2000" dirty="0"/>
              <a:t>TITLE&gt; Sample Form&lt;/TITLE&gt;</a:t>
            </a:r>
          </a:p>
          <a:p>
            <a:pPr>
              <a:buClr>
                <a:schemeClr val="accent2"/>
              </a:buClr>
              <a:buFont typeface="Wingdings" pitchFamily="2" charset="2"/>
              <a:buNone/>
            </a:pPr>
            <a:r>
              <a:rPr lang="en-US" sz="2000" dirty="0" smtClean="0"/>
              <a:t>	&lt;/</a:t>
            </a:r>
            <a:r>
              <a:rPr lang="en-US" sz="2000" dirty="0"/>
              <a:t>HEAD&gt;</a:t>
            </a:r>
          </a:p>
          <a:p>
            <a:pPr>
              <a:buClr>
                <a:schemeClr val="accent2"/>
              </a:buClr>
              <a:buFont typeface="Wingdings" pitchFamily="2" charset="2"/>
              <a:buNone/>
            </a:pPr>
            <a:r>
              <a:rPr lang="en-US" sz="2000" dirty="0" smtClean="0"/>
              <a:t>	&lt;</a:t>
            </a:r>
            <a:r>
              <a:rPr lang="en-US" sz="2000" dirty="0"/>
              <a:t>BODY BGCOLOR=“FFFFFF”&gt;</a:t>
            </a:r>
          </a:p>
          <a:p>
            <a:pPr>
              <a:buClr>
                <a:schemeClr val="accent2"/>
              </a:buClr>
              <a:buFont typeface="Wingdings" pitchFamily="2" charset="2"/>
              <a:buNone/>
            </a:pPr>
            <a:r>
              <a:rPr lang="en-US" sz="2000" dirty="0" smtClean="0"/>
              <a:t>	&lt;</a:t>
            </a:r>
            <a:r>
              <a:rPr lang="en-US" sz="2000" dirty="0" smtClean="0">
                <a:solidFill>
                  <a:srgbClr val="FF0000"/>
                </a:solidFill>
              </a:rPr>
              <a:t>FORM    </a:t>
            </a:r>
            <a:r>
              <a:rPr lang="en-US" sz="2000" dirty="0" smtClean="0"/>
              <a:t> </a:t>
            </a:r>
            <a:r>
              <a:rPr lang="en-US" sz="2000" dirty="0"/>
              <a:t>ACTION = </a:t>
            </a:r>
            <a:r>
              <a:rPr lang="en-US" sz="2000" dirty="0">
                <a:hlinkClick r:id="rId2"/>
              </a:rPr>
              <a:t>http://</a:t>
            </a:r>
            <a:r>
              <a:rPr lang="en-US" sz="2000" dirty="0" smtClean="0">
                <a:hlinkClick r:id="rId2"/>
              </a:rPr>
              <a:t>www.xyz.com/formtest</a:t>
            </a:r>
            <a:r>
              <a:rPr lang="en-US" sz="2000" u="sng" dirty="0" smtClean="0">
                <a:solidFill>
                  <a:srgbClr val="002060"/>
                </a:solidFill>
                <a:hlinkClick r:id="rId2"/>
              </a:rPr>
              <a:t>.</a:t>
            </a:r>
            <a:r>
              <a:rPr lang="en-US" sz="2000" u="sng" dirty="0" smtClean="0">
                <a:solidFill>
                  <a:srgbClr val="002060"/>
                </a:solidFill>
              </a:rPr>
              <a:t>php</a:t>
            </a:r>
            <a:r>
              <a:rPr lang="en-US" sz="2000" dirty="0" smtClean="0"/>
              <a:t>&gt;</a:t>
            </a:r>
            <a:endParaRPr lang="en-US" sz="2000" dirty="0"/>
          </a:p>
          <a:p>
            <a:pPr>
              <a:buClr>
                <a:schemeClr val="accent2"/>
              </a:buClr>
              <a:buFont typeface="Wingdings" pitchFamily="2" charset="2"/>
              <a:buNone/>
            </a:pPr>
            <a:r>
              <a:rPr lang="en-US" sz="2000" dirty="0" smtClean="0"/>
              <a:t>	&lt;</a:t>
            </a:r>
            <a:r>
              <a:rPr lang="en-US" sz="2000" dirty="0"/>
              <a:t>P&gt; First Name: </a:t>
            </a:r>
            <a:r>
              <a:rPr lang="en-US" sz="2000" dirty="0">
                <a:solidFill>
                  <a:srgbClr val="FF0000"/>
                </a:solidFill>
              </a:rPr>
              <a:t>&lt;INPUT TYPE=“TEXT” NAME=“</a:t>
            </a:r>
            <a:r>
              <a:rPr lang="en-US" sz="2000" dirty="0" err="1">
                <a:solidFill>
                  <a:srgbClr val="FF0000"/>
                </a:solidFill>
              </a:rPr>
              <a:t>fname</a:t>
            </a:r>
            <a:r>
              <a:rPr lang="en-US" sz="2000" dirty="0">
                <a:solidFill>
                  <a:srgbClr val="FF0000"/>
                </a:solidFill>
              </a:rPr>
              <a:t>” MAXLENGTH=“50”&gt;</a:t>
            </a:r>
            <a:r>
              <a:rPr lang="en-US" sz="2000" dirty="0"/>
              <a:t> &lt;/P&gt;</a:t>
            </a:r>
          </a:p>
          <a:p>
            <a:pPr>
              <a:buClr>
                <a:schemeClr val="accent2"/>
              </a:buClr>
              <a:buFont typeface="Wingdings" pitchFamily="2" charset="2"/>
              <a:buNone/>
            </a:pPr>
            <a:r>
              <a:rPr lang="en-US" sz="2000" dirty="0" smtClean="0"/>
              <a:t>	&lt;</a:t>
            </a:r>
            <a:r>
              <a:rPr lang="en-US" sz="2000" dirty="0"/>
              <a:t>P&gt; </a:t>
            </a:r>
            <a:r>
              <a:rPr lang="en-US" sz="2000" dirty="0">
                <a:solidFill>
                  <a:srgbClr val="FF0000"/>
                </a:solidFill>
              </a:rPr>
              <a:t>&lt;INPUT TYPE=“SUBMIT” NAME=“</a:t>
            </a:r>
            <a:r>
              <a:rPr lang="en-US" sz="2000" dirty="0" err="1" smtClean="0">
                <a:solidFill>
                  <a:srgbClr val="FF0000"/>
                </a:solidFill>
              </a:rPr>
              <a:t>fsubmit</a:t>
            </a:r>
            <a:r>
              <a:rPr lang="en-US" sz="2000" dirty="0" smtClean="0">
                <a:solidFill>
                  <a:srgbClr val="FF0000"/>
                </a:solidFill>
              </a:rPr>
              <a:t>” </a:t>
            </a:r>
            <a:r>
              <a:rPr lang="en-US" sz="2000" dirty="0">
                <a:solidFill>
                  <a:srgbClr val="FF0000"/>
                </a:solidFill>
              </a:rPr>
              <a:t>VALUE=“Send Info”&gt;</a:t>
            </a:r>
            <a:r>
              <a:rPr lang="en-US" sz="2000" dirty="0"/>
              <a:t> &lt;/P&gt;</a:t>
            </a:r>
          </a:p>
          <a:p>
            <a:pPr>
              <a:buClr>
                <a:schemeClr val="accent2"/>
              </a:buClr>
              <a:buFont typeface="Wingdings" pitchFamily="2" charset="2"/>
              <a:buNone/>
            </a:pPr>
            <a:r>
              <a:rPr lang="en-US" sz="2000" dirty="0" smtClean="0"/>
              <a:t>	&lt;/</a:t>
            </a:r>
            <a:r>
              <a:rPr lang="en-US" sz="2000" dirty="0">
                <a:solidFill>
                  <a:srgbClr val="FF0000"/>
                </a:solidFill>
              </a:rPr>
              <a:t>FORM</a:t>
            </a:r>
            <a:r>
              <a:rPr lang="en-US" sz="2000" dirty="0"/>
              <a:t>&gt;</a:t>
            </a:r>
          </a:p>
          <a:p>
            <a:pPr>
              <a:buClr>
                <a:schemeClr val="accent2"/>
              </a:buClr>
              <a:buFont typeface="Wingdings" pitchFamily="2" charset="2"/>
              <a:buNone/>
            </a:pPr>
            <a:r>
              <a:rPr lang="en-US" sz="2000" dirty="0" smtClean="0"/>
              <a:t>	&lt;/</a:t>
            </a:r>
            <a:r>
              <a:rPr lang="en-US" sz="2000" dirty="0"/>
              <a:t>BODY&gt; </a:t>
            </a:r>
            <a:endParaRPr lang="en-US" sz="2000" dirty="0" smtClean="0"/>
          </a:p>
          <a:p>
            <a:pPr>
              <a:buClr>
                <a:schemeClr val="accent2"/>
              </a:buClr>
              <a:buFont typeface="Wingdings" pitchFamily="2" charset="2"/>
              <a:buNone/>
            </a:pPr>
            <a:r>
              <a:rPr lang="en-US" sz="2000" dirty="0" smtClean="0"/>
              <a:t>&lt;/</a:t>
            </a:r>
            <a:r>
              <a:rPr lang="en-US" sz="2000" dirty="0"/>
              <a:t>HTML&gt;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E81A198-C553-4400-B72D-F9F4C0F46376}" type="slidenum">
              <a:rPr lang="ar-SA"/>
              <a:pPr/>
              <a:t>4</a:t>
            </a:fld>
            <a:endParaRPr lang="en-US"/>
          </a:p>
        </p:txBody>
      </p:sp>
      <p:sp>
        <p:nvSpPr>
          <p:cNvPr id="104450" name="Rectangle 2"/>
          <p:cNvSpPr>
            <a:spLocks noGrp="1" noChangeArrowheads="1"/>
          </p:cNvSpPr>
          <p:nvPr>
            <p:ph type="title"/>
          </p:nvPr>
        </p:nvSpPr>
        <p:spPr>
          <a:xfrm>
            <a:off x="457200" y="274638"/>
            <a:ext cx="8229600" cy="762000"/>
          </a:xfrm>
          <a:noFill/>
          <a:ln/>
        </p:spPr>
        <p:txBody>
          <a:bodyPr>
            <a:flatTx/>
          </a:bodyPr>
          <a:lstStyle/>
          <a:p>
            <a:r>
              <a:rPr lang="en-US" dirty="0">
                <a:solidFill>
                  <a:srgbClr val="C00000"/>
                </a:solidFill>
              </a:rPr>
              <a:t>&lt;FORM&gt; element attributes</a:t>
            </a:r>
          </a:p>
        </p:txBody>
      </p:sp>
      <p:sp>
        <p:nvSpPr>
          <p:cNvPr id="104451" name="Rectangle 3"/>
          <p:cNvSpPr>
            <a:spLocks noGrp="1" noChangeArrowheads="1"/>
          </p:cNvSpPr>
          <p:nvPr>
            <p:ph type="body" idx="1"/>
          </p:nvPr>
        </p:nvSpPr>
        <p:spPr>
          <a:xfrm>
            <a:off x="838200" y="1371600"/>
            <a:ext cx="7848600" cy="5029200"/>
          </a:xfrm>
          <a:noFill/>
        </p:spPr>
        <p:txBody>
          <a:bodyPr/>
          <a:lstStyle/>
          <a:p>
            <a:pPr>
              <a:lnSpc>
                <a:spcPct val="80000"/>
              </a:lnSpc>
              <a:buClr>
                <a:schemeClr val="accent2"/>
              </a:buClr>
              <a:buFont typeface="Wingdings" pitchFamily="2" charset="2"/>
              <a:buChar char="§"/>
            </a:pPr>
            <a:r>
              <a:rPr lang="en-US" sz="2800" b="1" dirty="0">
                <a:solidFill>
                  <a:srgbClr val="FF0000"/>
                </a:solidFill>
              </a:rPr>
              <a:t>ACTION</a:t>
            </a:r>
            <a:r>
              <a:rPr lang="en-US" sz="2800" b="1" dirty="0"/>
              <a:t>:</a:t>
            </a:r>
            <a:r>
              <a:rPr lang="en-US" sz="2800" dirty="0"/>
              <a:t> is the</a:t>
            </a:r>
            <a:r>
              <a:rPr lang="en-US" sz="2800" b="1" dirty="0">
                <a:solidFill>
                  <a:srgbClr val="0000FF"/>
                </a:solidFill>
              </a:rPr>
              <a:t> URL</a:t>
            </a:r>
            <a:r>
              <a:rPr lang="en-US" sz="2800" dirty="0"/>
              <a:t> of the </a:t>
            </a:r>
            <a:r>
              <a:rPr lang="en-US" sz="2800" b="1" dirty="0">
                <a:solidFill>
                  <a:srgbClr val="0000FF"/>
                </a:solidFill>
              </a:rPr>
              <a:t>CGI</a:t>
            </a:r>
            <a:r>
              <a:rPr lang="en-US" sz="2800" dirty="0"/>
              <a:t> (Common Gateway Interface) program that is going to accept the data from the form, process it, and send a response back to the browser.</a:t>
            </a:r>
          </a:p>
          <a:p>
            <a:pPr>
              <a:lnSpc>
                <a:spcPct val="80000"/>
              </a:lnSpc>
              <a:buClr>
                <a:schemeClr val="accent2"/>
              </a:buClr>
              <a:buFont typeface="Wingdings" pitchFamily="2" charset="2"/>
              <a:buChar char="§"/>
            </a:pPr>
            <a:r>
              <a:rPr lang="en-US" sz="2800" b="1" dirty="0">
                <a:solidFill>
                  <a:srgbClr val="FF0000"/>
                </a:solidFill>
              </a:rPr>
              <a:t>METHOD</a:t>
            </a:r>
            <a:r>
              <a:rPr lang="en-US" sz="2800" b="1" dirty="0"/>
              <a:t>:</a:t>
            </a:r>
            <a:r>
              <a:rPr lang="en-US" sz="2800" dirty="0"/>
              <a:t> </a:t>
            </a:r>
            <a:r>
              <a:rPr lang="en-US" sz="2800" b="1" dirty="0">
                <a:solidFill>
                  <a:srgbClr val="0000FF"/>
                </a:solidFill>
              </a:rPr>
              <a:t>GET</a:t>
            </a:r>
            <a:r>
              <a:rPr lang="en-US" sz="2800" dirty="0"/>
              <a:t> (default) or </a:t>
            </a:r>
            <a:r>
              <a:rPr lang="en-US" sz="2800" b="1" dirty="0">
                <a:solidFill>
                  <a:srgbClr val="0000FF"/>
                </a:solidFill>
              </a:rPr>
              <a:t>POST</a:t>
            </a:r>
            <a:r>
              <a:rPr lang="en-US" sz="2800" dirty="0"/>
              <a:t> specifies which </a:t>
            </a:r>
            <a:r>
              <a:rPr lang="en-US" sz="2800" b="1" dirty="0">
                <a:solidFill>
                  <a:srgbClr val="0000FF"/>
                </a:solidFill>
              </a:rPr>
              <a:t>HTTP</a:t>
            </a:r>
            <a:r>
              <a:rPr lang="en-US" sz="2800" dirty="0"/>
              <a:t> method will be used to send the form’s contents to the web server. The CGI application should be written to accept the data from either method.</a:t>
            </a:r>
          </a:p>
          <a:p>
            <a:pPr>
              <a:lnSpc>
                <a:spcPct val="80000"/>
              </a:lnSpc>
              <a:buClr>
                <a:schemeClr val="accent2"/>
              </a:buClr>
              <a:buFont typeface="Wingdings" pitchFamily="2" charset="2"/>
              <a:buChar char="§"/>
            </a:pPr>
            <a:r>
              <a:rPr lang="en-US" sz="2800" b="1" dirty="0">
                <a:solidFill>
                  <a:srgbClr val="FF0000"/>
                </a:solidFill>
              </a:rPr>
              <a:t>NAME</a:t>
            </a:r>
            <a:r>
              <a:rPr lang="en-US" sz="2800" b="1" dirty="0"/>
              <a:t>:</a:t>
            </a:r>
            <a:r>
              <a:rPr lang="en-US" sz="2800" dirty="0"/>
              <a:t> is a form name used by</a:t>
            </a:r>
            <a:r>
              <a:rPr lang="en-US" sz="2800" dirty="0">
                <a:solidFill>
                  <a:srgbClr val="0000FF"/>
                </a:solidFill>
              </a:rPr>
              <a:t> VBScript</a:t>
            </a:r>
            <a:r>
              <a:rPr lang="en-US" sz="2800" dirty="0"/>
              <a:t>  or </a:t>
            </a:r>
          </a:p>
          <a:p>
            <a:pPr>
              <a:lnSpc>
                <a:spcPct val="80000"/>
              </a:lnSpc>
              <a:buClr>
                <a:schemeClr val="accent2"/>
              </a:buClr>
              <a:buFont typeface="Wingdings" pitchFamily="2" charset="2"/>
              <a:buNone/>
            </a:pPr>
            <a:r>
              <a:rPr lang="en-US" sz="2800" dirty="0">
                <a:solidFill>
                  <a:srgbClr val="0000FF"/>
                </a:solidFill>
              </a:rPr>
              <a:t>    </a:t>
            </a:r>
            <a:r>
              <a:rPr lang="en-US" sz="2800" dirty="0" err="1">
                <a:solidFill>
                  <a:srgbClr val="0000FF"/>
                </a:solidFill>
              </a:rPr>
              <a:t>JavaScripts</a:t>
            </a:r>
            <a:r>
              <a:rPr lang="en-US" sz="2800" dirty="0">
                <a:solidFill>
                  <a:srgbClr val="0000FF"/>
                </a:solidFill>
              </a:rPr>
              <a:t>.</a:t>
            </a:r>
          </a:p>
          <a:p>
            <a:pPr>
              <a:lnSpc>
                <a:spcPct val="80000"/>
              </a:lnSpc>
              <a:buClr>
                <a:schemeClr val="accent2"/>
              </a:buClr>
              <a:buFont typeface="Wingdings" pitchFamily="2" charset="2"/>
              <a:buChar char="§"/>
            </a:pPr>
            <a:r>
              <a:rPr lang="en-US" sz="2800" b="1" dirty="0">
                <a:solidFill>
                  <a:srgbClr val="FF0000"/>
                </a:solidFill>
              </a:rPr>
              <a:t>TARGET</a:t>
            </a:r>
            <a:r>
              <a:rPr lang="en-US" sz="2800" b="1" dirty="0"/>
              <a:t>:</a:t>
            </a:r>
            <a:r>
              <a:rPr lang="en-US" sz="2800" dirty="0"/>
              <a:t> is the target frame where the response page will show up.</a:t>
            </a:r>
          </a:p>
          <a:p>
            <a:pPr>
              <a:lnSpc>
                <a:spcPct val="80000"/>
              </a:lnSpc>
              <a:buClr>
                <a:schemeClr val="accent2"/>
              </a:buClr>
              <a:buFont typeface="Wingdings" pitchFamily="2" charset="2"/>
              <a:buChar char="§"/>
            </a:pPr>
            <a:endParaRPr 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D620586-5424-4BA4-B1B7-95E3E45EE75F}" type="slidenum">
              <a:rPr lang="ar-SA"/>
              <a:pPr/>
              <a:t>5</a:t>
            </a:fld>
            <a:endParaRPr lang="en-US"/>
          </a:p>
        </p:txBody>
      </p:sp>
      <p:sp>
        <p:nvSpPr>
          <p:cNvPr id="105474" name="Rectangle 2"/>
          <p:cNvSpPr>
            <a:spLocks noGrp="1" noChangeArrowheads="1"/>
          </p:cNvSpPr>
          <p:nvPr>
            <p:ph type="title"/>
          </p:nvPr>
        </p:nvSpPr>
        <p:spPr>
          <a:xfrm>
            <a:off x="457200" y="381000"/>
            <a:ext cx="8229600" cy="914400"/>
          </a:xfrm>
          <a:noFill/>
        </p:spPr>
        <p:txBody>
          <a:bodyPr>
            <a:flatTx/>
          </a:bodyPr>
          <a:lstStyle/>
          <a:p>
            <a:r>
              <a:rPr lang="en-US" dirty="0">
                <a:solidFill>
                  <a:srgbClr val="C00000"/>
                </a:solidFill>
              </a:rPr>
              <a:t>Form Elements</a:t>
            </a:r>
          </a:p>
        </p:txBody>
      </p:sp>
      <p:sp>
        <p:nvSpPr>
          <p:cNvPr id="105475" name="Rectangle 3"/>
          <p:cNvSpPr>
            <a:spLocks noGrp="1" noChangeArrowheads="1"/>
          </p:cNvSpPr>
          <p:nvPr>
            <p:ph type="body" idx="1"/>
          </p:nvPr>
        </p:nvSpPr>
        <p:spPr>
          <a:xfrm>
            <a:off x="533400" y="1981200"/>
            <a:ext cx="8229600" cy="4594225"/>
          </a:xfrm>
          <a:noFill/>
        </p:spPr>
        <p:txBody>
          <a:bodyPr/>
          <a:lstStyle/>
          <a:p>
            <a:pPr>
              <a:buClr>
                <a:schemeClr val="accent2"/>
              </a:buClr>
              <a:buFont typeface="Wingdings" pitchFamily="2" charset="2"/>
              <a:buChar char="§"/>
            </a:pPr>
            <a:r>
              <a:rPr lang="en-US" b="1" dirty="0"/>
              <a:t>Form elements have properties: </a:t>
            </a:r>
            <a:r>
              <a:rPr lang="en-US" b="1" dirty="0">
                <a:solidFill>
                  <a:srgbClr val="FF0000"/>
                </a:solidFill>
              </a:rPr>
              <a:t>Text</a:t>
            </a:r>
            <a:r>
              <a:rPr lang="en-US" b="1" dirty="0"/>
              <a:t> boxes, </a:t>
            </a:r>
            <a:r>
              <a:rPr lang="en-US" b="1" dirty="0">
                <a:solidFill>
                  <a:srgbClr val="FF0000"/>
                </a:solidFill>
              </a:rPr>
              <a:t>Password</a:t>
            </a:r>
            <a:r>
              <a:rPr lang="en-US" b="1" dirty="0"/>
              <a:t> boxes, </a:t>
            </a:r>
            <a:r>
              <a:rPr lang="en-US" b="1" dirty="0">
                <a:solidFill>
                  <a:srgbClr val="FF0000"/>
                </a:solidFill>
              </a:rPr>
              <a:t>Checkboxes</a:t>
            </a:r>
            <a:r>
              <a:rPr lang="en-US" b="1" dirty="0"/>
              <a:t>, Option(</a:t>
            </a:r>
            <a:r>
              <a:rPr lang="en-US" b="1" dirty="0">
                <a:solidFill>
                  <a:srgbClr val="FF0000"/>
                </a:solidFill>
              </a:rPr>
              <a:t>Radio</a:t>
            </a:r>
            <a:r>
              <a:rPr lang="en-US" b="1" dirty="0"/>
              <a:t>) buttons, </a:t>
            </a:r>
            <a:r>
              <a:rPr lang="en-US" b="1" dirty="0">
                <a:solidFill>
                  <a:srgbClr val="FF0000"/>
                </a:solidFill>
              </a:rPr>
              <a:t>Submit</a:t>
            </a:r>
            <a:r>
              <a:rPr lang="en-US" b="1" dirty="0"/>
              <a:t>, </a:t>
            </a:r>
            <a:r>
              <a:rPr lang="en-US" b="1" dirty="0">
                <a:solidFill>
                  <a:srgbClr val="FF0000"/>
                </a:solidFill>
              </a:rPr>
              <a:t>Reset</a:t>
            </a:r>
            <a:r>
              <a:rPr lang="en-US" b="1" dirty="0"/>
              <a:t>, </a:t>
            </a:r>
            <a:r>
              <a:rPr lang="en-US" b="1" dirty="0">
                <a:solidFill>
                  <a:srgbClr val="FF0000"/>
                </a:solidFill>
              </a:rPr>
              <a:t>File</a:t>
            </a:r>
            <a:r>
              <a:rPr lang="en-US" b="1" dirty="0"/>
              <a:t>, </a:t>
            </a:r>
            <a:r>
              <a:rPr lang="en-US" b="1" dirty="0">
                <a:solidFill>
                  <a:srgbClr val="FF0000"/>
                </a:solidFill>
              </a:rPr>
              <a:t>Hidden</a:t>
            </a:r>
            <a:r>
              <a:rPr lang="en-US" b="1" dirty="0"/>
              <a:t> and </a:t>
            </a:r>
            <a:r>
              <a:rPr lang="en-US" b="1" dirty="0">
                <a:solidFill>
                  <a:srgbClr val="FF0000"/>
                </a:solidFill>
              </a:rPr>
              <a:t>Image</a:t>
            </a:r>
            <a:r>
              <a:rPr lang="en-US" b="1" dirty="0"/>
              <a:t>.</a:t>
            </a:r>
          </a:p>
          <a:p>
            <a:pPr>
              <a:buClr>
                <a:schemeClr val="accent2"/>
              </a:buClr>
              <a:buFont typeface="Wingdings" pitchFamily="2" charset="2"/>
              <a:buChar char="§"/>
            </a:pPr>
            <a:r>
              <a:rPr lang="en-US" b="1" dirty="0"/>
              <a:t>The properties are specified in the TYPE Attribute of the HTML element </a:t>
            </a:r>
            <a:r>
              <a:rPr lang="en-US" b="1" dirty="0">
                <a:solidFill>
                  <a:srgbClr val="FF0000"/>
                </a:solidFill>
              </a:rPr>
              <a:t>&lt;INPUT&gt;&lt;/INPUT</a:t>
            </a:r>
            <a:r>
              <a:rPr lang="en-US" b="1" dirty="0" smtClean="0">
                <a:solidFill>
                  <a:srgbClr val="FF0000"/>
                </a:solidFill>
              </a:rPr>
              <a:t>&gt;</a:t>
            </a:r>
            <a:endParaRPr lang="en-US" b="1" dirty="0">
              <a:solidFill>
                <a:srgbClr val="FF000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2"/>
          </p:nvPr>
        </p:nvSpPr>
        <p:spPr/>
        <p:txBody>
          <a:bodyPr/>
          <a:lstStyle/>
          <a:p>
            <a:fld id="{51827462-6B9E-4B82-B362-700329FC6461}" type="slidenum">
              <a:rPr lang="ar-SA"/>
              <a:pPr/>
              <a:t>6</a:t>
            </a:fld>
            <a:endParaRPr lang="en-US"/>
          </a:p>
        </p:txBody>
      </p:sp>
      <p:pic>
        <p:nvPicPr>
          <p:cNvPr id="29697" name="Picture 1" descr="C:\Users\Full Time\Desktop\Untitled.png"/>
          <p:cNvPicPr>
            <a:picLocks noChangeAspect="1" noChangeArrowheads="1"/>
          </p:cNvPicPr>
          <p:nvPr/>
        </p:nvPicPr>
        <p:blipFill>
          <a:blip r:embed="rId2" cstate="print"/>
          <a:srcRect b="8515"/>
          <a:stretch>
            <a:fillRect/>
          </a:stretch>
        </p:blipFill>
        <p:spPr bwMode="auto">
          <a:xfrm>
            <a:off x="457200" y="381000"/>
            <a:ext cx="5719948" cy="64770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5"/>
          <p:cNvSpPr>
            <a:spLocks noGrp="1"/>
          </p:cNvSpPr>
          <p:nvPr>
            <p:ph type="sldNum" sz="quarter" idx="12"/>
          </p:nvPr>
        </p:nvSpPr>
        <p:spPr/>
        <p:txBody>
          <a:bodyPr/>
          <a:lstStyle/>
          <a:p>
            <a:fld id="{DF8EC1C9-EC62-4B5A-A3B8-44D8EA4F4517}" type="slidenum">
              <a:rPr lang="ar-SA"/>
              <a:pPr/>
              <a:t>7</a:t>
            </a:fld>
            <a:endParaRPr lang="en-US"/>
          </a:p>
        </p:txBody>
      </p:sp>
      <p:sp>
        <p:nvSpPr>
          <p:cNvPr id="106498" name="Rectangle 2"/>
          <p:cNvSpPr>
            <a:spLocks noGrp="1" noChangeArrowheads="1"/>
          </p:cNvSpPr>
          <p:nvPr>
            <p:ph type="title"/>
          </p:nvPr>
        </p:nvSpPr>
        <p:spPr>
          <a:xfrm>
            <a:off x="606425" y="274638"/>
            <a:ext cx="7931150" cy="914400"/>
          </a:xfrm>
          <a:noFill/>
        </p:spPr>
        <p:txBody>
          <a:bodyPr>
            <a:flatTx/>
          </a:bodyPr>
          <a:lstStyle/>
          <a:p>
            <a:r>
              <a:rPr lang="en-US" dirty="0">
                <a:solidFill>
                  <a:srgbClr val="C00000"/>
                </a:solidFill>
              </a:rPr>
              <a:t>Form Elements</a:t>
            </a:r>
          </a:p>
        </p:txBody>
      </p:sp>
      <p:graphicFrame>
        <p:nvGraphicFramePr>
          <p:cNvPr id="106499" name="Group 3"/>
          <p:cNvGraphicFramePr>
            <a:graphicFrameLocks noGrp="1"/>
          </p:cNvGraphicFramePr>
          <p:nvPr>
            <p:ph type="tbl" idx="1"/>
          </p:nvPr>
        </p:nvGraphicFramePr>
        <p:xfrm>
          <a:off x="381000" y="1447800"/>
          <a:ext cx="8458200" cy="4673600"/>
        </p:xfrm>
        <a:graphic>
          <a:graphicData uri="http://schemas.openxmlformats.org/drawingml/2006/table">
            <a:tbl>
              <a:tblPr>
                <a:tableStyleId>{69CF1AB2-1976-4502-BF36-3FF5EA218861}</a:tableStyleId>
              </a:tblPr>
              <a:tblGrid>
                <a:gridCol w="8458200"/>
              </a:tblGrid>
              <a:tr h="5445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dirty="0" smtClean="0">
                          <a:ln>
                            <a:noFill/>
                          </a:ln>
                          <a:effectLst/>
                        </a:rPr>
                        <a:t>&lt;INPUT&gt; Element’s Properties</a:t>
                      </a:r>
                      <a:endParaRPr kumimoji="0" lang="en-US" sz="2800" b="1" i="0" u="none" strike="noStrike" cap="none" normalizeH="0" baseline="0" dirty="0" smtClean="0">
                        <a:ln>
                          <a:noFill/>
                        </a:ln>
                        <a:solidFill>
                          <a:srgbClr val="0000FF"/>
                        </a:solidFill>
                        <a:effectLst/>
                        <a:latin typeface="Arial" charset="0"/>
                        <a:cs typeface="Arial" charset="0"/>
                      </a:endParaRPr>
                    </a:p>
                  </a:txBody>
                  <a:tcPr horzOverflow="overflow"/>
                </a:tc>
              </a:tr>
              <a:tr h="5175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smtClean="0">
                          <a:ln>
                            <a:noFill/>
                          </a:ln>
                          <a:effectLst/>
                        </a:rPr>
                        <a:t>TYPE        = Type of INPUT entry field.</a:t>
                      </a:r>
                      <a:endParaRPr kumimoji="0" lang="en-US" sz="2400" b="0" i="0" u="none" strike="noStrike" cap="none" normalizeH="0" baseline="0" dirty="0" smtClean="0">
                        <a:ln>
                          <a:noFill/>
                        </a:ln>
                        <a:solidFill>
                          <a:schemeClr val="tx1"/>
                        </a:solidFill>
                        <a:effectLst/>
                        <a:latin typeface="Arial" charset="0"/>
                        <a:cs typeface="Arial" charset="0"/>
                      </a:endParaRPr>
                    </a:p>
                  </a:txBody>
                  <a:tcPr horzOverflow="overflow"/>
                </a:tc>
              </a:tr>
              <a:tr h="5175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smtClean="0">
                          <a:ln>
                            <a:noFill/>
                          </a:ln>
                          <a:effectLst/>
                        </a:rPr>
                        <a:t>NAME      = Variable name passed to CGI application</a:t>
                      </a:r>
                      <a:endParaRPr kumimoji="0" lang="en-US" sz="2400" b="0" i="0" u="none" strike="noStrike" cap="none" normalizeH="0" baseline="0" dirty="0" smtClean="0">
                        <a:ln>
                          <a:noFill/>
                        </a:ln>
                        <a:solidFill>
                          <a:schemeClr val="tx1"/>
                        </a:solidFill>
                        <a:effectLst/>
                        <a:latin typeface="Arial" charset="0"/>
                        <a:cs typeface="Arial" charset="0"/>
                      </a:endParaRPr>
                    </a:p>
                  </a:txBody>
                  <a:tcPr horzOverflow="overflow"/>
                </a:tc>
              </a:tr>
              <a:tr h="939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smtClean="0">
                          <a:ln>
                            <a:noFill/>
                          </a:ln>
                          <a:effectLst/>
                        </a:rPr>
                        <a:t>VALUE      = The data associated with the variable name to be              passed to the CGI application</a:t>
                      </a:r>
                      <a:endParaRPr kumimoji="0" lang="en-US" sz="2400" b="0" i="0" u="none" strike="noStrike" cap="none" normalizeH="0" baseline="0" dirty="0" smtClean="0">
                        <a:ln>
                          <a:noFill/>
                        </a:ln>
                        <a:solidFill>
                          <a:schemeClr val="tx1"/>
                        </a:solidFill>
                        <a:effectLst/>
                        <a:latin typeface="Arial" charset="0"/>
                        <a:cs typeface="Arial" charset="0"/>
                      </a:endParaRPr>
                    </a:p>
                  </a:txBody>
                  <a:tcPr horzOverflow="overflow"/>
                </a:tc>
              </a:tr>
              <a:tr h="5191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smtClean="0">
                          <a:ln>
                            <a:noFill/>
                          </a:ln>
                          <a:effectLst/>
                        </a:rPr>
                        <a:t>CHECKED  = Button/box checked </a:t>
                      </a:r>
                      <a:endParaRPr kumimoji="0" lang="en-US" sz="2400" b="0" i="0" u="none" strike="noStrike" cap="none" normalizeH="0" baseline="0" dirty="0" smtClean="0">
                        <a:ln>
                          <a:noFill/>
                        </a:ln>
                        <a:solidFill>
                          <a:schemeClr val="tx1"/>
                        </a:solidFill>
                        <a:effectLst/>
                        <a:latin typeface="Arial" charset="0"/>
                        <a:cs typeface="Arial" charset="0"/>
                      </a:endParaRPr>
                    </a:p>
                  </a:txBody>
                  <a:tcPr horzOverflow="overflow"/>
                </a:tc>
              </a:tr>
              <a:tr h="69532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smtClean="0">
                          <a:ln>
                            <a:noFill/>
                          </a:ln>
                          <a:effectLst/>
                        </a:rPr>
                        <a:t>SIZE           = Number of visible characters in text field</a:t>
                      </a:r>
                      <a:endParaRPr kumimoji="0" lang="en-US" sz="2400" b="0" i="0" u="none" strike="noStrike" cap="none" normalizeH="0" baseline="0" dirty="0" smtClean="0">
                        <a:ln>
                          <a:noFill/>
                        </a:ln>
                        <a:solidFill>
                          <a:schemeClr val="tx1"/>
                        </a:solidFill>
                        <a:effectLst/>
                        <a:latin typeface="Arial" charset="0"/>
                        <a:cs typeface="Arial" charset="0"/>
                      </a:endParaRPr>
                    </a:p>
                  </a:txBody>
                  <a:tcPr horzOverflow="overflow"/>
                </a:tc>
              </a:tr>
              <a:tr h="939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u="none" strike="noStrike" cap="none" normalizeH="0" baseline="0" dirty="0" smtClean="0">
                          <a:ln>
                            <a:noFill/>
                          </a:ln>
                          <a:effectLst/>
                        </a:rPr>
                        <a:t>MAXLENGHT  = Maximum number of characters  accepted               </a:t>
                      </a:r>
                      <a:endParaRPr kumimoji="0" lang="en-US" sz="2400" b="0" i="0" u="none" strike="noStrike" cap="none" normalizeH="0" baseline="0" dirty="0" smtClean="0">
                        <a:ln>
                          <a:noFill/>
                        </a:ln>
                        <a:solidFill>
                          <a:schemeClr val="tx1"/>
                        </a:solidFill>
                        <a:effectLst/>
                        <a:latin typeface="Arial" charset="0"/>
                        <a:cs typeface="Arial" charset="0"/>
                      </a:endParaRPr>
                    </a:p>
                  </a:txBody>
                  <a:tcPr horzOverflow="overflow"/>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DAFDDC5B-8D08-4BC8-A749-F75FE114D292}" type="slidenum">
              <a:rPr lang="ar-SA"/>
              <a:pPr/>
              <a:t>8</a:t>
            </a:fld>
            <a:endParaRPr lang="en-US"/>
          </a:p>
        </p:txBody>
      </p:sp>
      <p:sp>
        <p:nvSpPr>
          <p:cNvPr id="107522" name="Rectangle 2"/>
          <p:cNvSpPr>
            <a:spLocks noGrp="1" noChangeArrowheads="1"/>
          </p:cNvSpPr>
          <p:nvPr>
            <p:ph type="title"/>
          </p:nvPr>
        </p:nvSpPr>
        <p:spPr>
          <a:xfrm>
            <a:off x="606425" y="274638"/>
            <a:ext cx="7931150" cy="762000"/>
          </a:xfrm>
          <a:noFill/>
        </p:spPr>
        <p:txBody>
          <a:bodyPr>
            <a:normAutofit fontScale="90000"/>
            <a:flatTx/>
          </a:bodyPr>
          <a:lstStyle/>
          <a:p>
            <a:r>
              <a:rPr lang="en-US" sz="4800" b="1" dirty="0" smtClean="0">
                <a:solidFill>
                  <a:srgbClr val="C00000"/>
                </a:solidFill>
              </a:rPr>
              <a:t>Text Box</a:t>
            </a:r>
            <a:endParaRPr lang="en-US" sz="4800" b="1" dirty="0">
              <a:solidFill>
                <a:srgbClr val="C00000"/>
              </a:solidFill>
            </a:endParaRPr>
          </a:p>
        </p:txBody>
      </p:sp>
      <p:sp>
        <p:nvSpPr>
          <p:cNvPr id="107523" name="Rectangle 3"/>
          <p:cNvSpPr>
            <a:spLocks noGrp="1" noChangeArrowheads="1"/>
          </p:cNvSpPr>
          <p:nvPr>
            <p:ph type="body" idx="1"/>
          </p:nvPr>
        </p:nvSpPr>
        <p:spPr>
          <a:xfrm>
            <a:off x="685800" y="1143000"/>
            <a:ext cx="7848600" cy="5486400"/>
          </a:xfrm>
          <a:noFill/>
          <a:ln>
            <a:solidFill>
              <a:srgbClr val="333300"/>
            </a:solidFill>
          </a:ln>
        </p:spPr>
        <p:txBody>
          <a:bodyPr/>
          <a:lstStyle/>
          <a:p>
            <a:pPr>
              <a:lnSpc>
                <a:spcPct val="90000"/>
              </a:lnSpc>
              <a:buClr>
                <a:schemeClr val="accent2"/>
              </a:buClr>
              <a:buNone/>
            </a:pPr>
            <a:r>
              <a:rPr lang="en-US" sz="2800" b="1" dirty="0">
                <a:solidFill>
                  <a:srgbClr val="0000FF"/>
                </a:solidFill>
              </a:rPr>
              <a:t>Text boxes</a:t>
            </a:r>
            <a:r>
              <a:rPr lang="en-US" sz="2400" b="1" i="1" dirty="0"/>
              <a:t>:</a:t>
            </a:r>
            <a:r>
              <a:rPr lang="en-US" sz="2400" dirty="0"/>
              <a:t> Used to provide input fields for text, phone numbers, dates, etc.</a:t>
            </a:r>
          </a:p>
          <a:p>
            <a:pPr>
              <a:lnSpc>
                <a:spcPct val="90000"/>
              </a:lnSpc>
              <a:buClr>
                <a:schemeClr val="accent2"/>
              </a:buClr>
              <a:buFont typeface="Wingdings" pitchFamily="2" charset="2"/>
              <a:buNone/>
            </a:pPr>
            <a:r>
              <a:rPr lang="en-US" sz="2400" b="1" dirty="0">
                <a:solidFill>
                  <a:srgbClr val="FF0000"/>
                </a:solidFill>
              </a:rPr>
              <a:t>&lt;INPUT TYPE= </a:t>
            </a:r>
            <a:r>
              <a:rPr lang="en-US" sz="2800" b="1" dirty="0">
                <a:solidFill>
                  <a:srgbClr val="FF0000"/>
                </a:solidFill>
              </a:rPr>
              <a:t>"</a:t>
            </a:r>
            <a:r>
              <a:rPr lang="en-US" sz="2400" b="1" dirty="0">
                <a:solidFill>
                  <a:srgbClr val="FF0000"/>
                </a:solidFill>
              </a:rPr>
              <a:t> TEXT </a:t>
            </a:r>
            <a:r>
              <a:rPr lang="en-US" sz="2800" b="1" dirty="0">
                <a:solidFill>
                  <a:srgbClr val="FF0000"/>
                </a:solidFill>
              </a:rPr>
              <a:t>"</a:t>
            </a:r>
            <a:r>
              <a:rPr lang="en-US" sz="2400" b="1" dirty="0">
                <a:solidFill>
                  <a:srgbClr val="FF0000"/>
                </a:solidFill>
              </a:rPr>
              <a:t> &gt;</a:t>
            </a:r>
          </a:p>
          <a:p>
            <a:pPr>
              <a:lnSpc>
                <a:spcPct val="90000"/>
              </a:lnSpc>
              <a:buClr>
                <a:schemeClr val="accent2"/>
              </a:buClr>
              <a:buFont typeface="Wingdings" pitchFamily="2" charset="2"/>
              <a:buNone/>
            </a:pPr>
            <a:r>
              <a:rPr lang="en-US" sz="2400" dirty="0"/>
              <a:t>Browser will display </a:t>
            </a:r>
          </a:p>
          <a:p>
            <a:pPr>
              <a:lnSpc>
                <a:spcPct val="90000"/>
              </a:lnSpc>
              <a:buClr>
                <a:schemeClr val="accent2"/>
              </a:buClr>
              <a:buFont typeface="Wingdings" pitchFamily="2" charset="2"/>
              <a:buNone/>
            </a:pPr>
            <a:r>
              <a:rPr lang="en-US" sz="2400" dirty="0"/>
              <a:t>Textboxes use the following attributes:</a:t>
            </a:r>
          </a:p>
          <a:p>
            <a:pPr>
              <a:lnSpc>
                <a:spcPct val="90000"/>
              </a:lnSpc>
              <a:buClr>
                <a:schemeClr val="accent2"/>
              </a:buClr>
              <a:buFont typeface="Wingdings" pitchFamily="2" charset="2"/>
              <a:buChar char="§"/>
            </a:pPr>
            <a:r>
              <a:rPr lang="en-US" sz="2400" b="1" dirty="0">
                <a:solidFill>
                  <a:srgbClr val="FF0000"/>
                </a:solidFill>
              </a:rPr>
              <a:t>TYPE:</a:t>
            </a:r>
            <a:r>
              <a:rPr lang="en-US" sz="2400" dirty="0"/>
              <a:t> text.</a:t>
            </a:r>
          </a:p>
          <a:p>
            <a:pPr>
              <a:lnSpc>
                <a:spcPct val="90000"/>
              </a:lnSpc>
              <a:buClr>
                <a:schemeClr val="accent2"/>
              </a:buClr>
              <a:buFont typeface="Wingdings" pitchFamily="2" charset="2"/>
              <a:buChar char="§"/>
            </a:pPr>
            <a:r>
              <a:rPr lang="en-US" sz="2400" b="1" dirty="0">
                <a:solidFill>
                  <a:srgbClr val="FF0000"/>
                </a:solidFill>
              </a:rPr>
              <a:t>SIZE:</a:t>
            </a:r>
            <a:r>
              <a:rPr lang="en-US" sz="2400" dirty="0"/>
              <a:t> determines the size of the textbox in characters. </a:t>
            </a:r>
            <a:r>
              <a:rPr lang="en-US" sz="2400" b="1" dirty="0">
                <a:solidFill>
                  <a:srgbClr val="0000FF"/>
                </a:solidFill>
              </a:rPr>
              <a:t>Default=20</a:t>
            </a:r>
            <a:r>
              <a:rPr lang="en-US" sz="2400" dirty="0"/>
              <a:t> characters.</a:t>
            </a:r>
          </a:p>
          <a:p>
            <a:pPr>
              <a:lnSpc>
                <a:spcPct val="90000"/>
              </a:lnSpc>
              <a:buClr>
                <a:schemeClr val="accent2"/>
              </a:buClr>
              <a:buFont typeface="Wingdings" pitchFamily="2" charset="2"/>
              <a:buChar char="§"/>
            </a:pPr>
            <a:r>
              <a:rPr lang="en-US" sz="2800" b="1" dirty="0">
                <a:solidFill>
                  <a:srgbClr val="FF0000"/>
                </a:solidFill>
              </a:rPr>
              <a:t>MAXLENGHT</a:t>
            </a:r>
            <a:r>
              <a:rPr lang="en-US" sz="2400" b="1" dirty="0">
                <a:solidFill>
                  <a:srgbClr val="FF0000"/>
                </a:solidFill>
              </a:rPr>
              <a:t> </a:t>
            </a:r>
            <a:r>
              <a:rPr lang="en-US" sz="2400" b="1" i="1" dirty="0"/>
              <a:t>:</a:t>
            </a:r>
            <a:r>
              <a:rPr lang="en-US" sz="2400" dirty="0"/>
              <a:t> determines the maximum number of characters that the field will accept.</a:t>
            </a:r>
          </a:p>
          <a:p>
            <a:pPr>
              <a:lnSpc>
                <a:spcPct val="90000"/>
              </a:lnSpc>
              <a:buClr>
                <a:schemeClr val="accent2"/>
              </a:buClr>
              <a:buFont typeface="Wingdings" pitchFamily="2" charset="2"/>
              <a:buChar char="§"/>
            </a:pPr>
            <a:r>
              <a:rPr lang="en-US" sz="2400" b="1" dirty="0">
                <a:solidFill>
                  <a:srgbClr val="FF0000"/>
                </a:solidFill>
              </a:rPr>
              <a:t>NAME:</a:t>
            </a:r>
            <a:r>
              <a:rPr lang="en-US" sz="2400" dirty="0"/>
              <a:t> is the name of the variable to be sent to the CGI application.</a:t>
            </a:r>
          </a:p>
          <a:p>
            <a:pPr>
              <a:lnSpc>
                <a:spcPct val="90000"/>
              </a:lnSpc>
              <a:buClr>
                <a:schemeClr val="accent2"/>
              </a:buClr>
              <a:buFont typeface="Wingdings" pitchFamily="2" charset="2"/>
              <a:buChar char="§"/>
            </a:pPr>
            <a:r>
              <a:rPr lang="en-US" sz="2400" b="1" dirty="0">
                <a:solidFill>
                  <a:srgbClr val="FF0000"/>
                </a:solidFill>
              </a:rPr>
              <a:t>VALUE:</a:t>
            </a:r>
            <a:r>
              <a:rPr lang="en-US" sz="2400" dirty="0"/>
              <a:t> will display its contents as the default value.</a:t>
            </a:r>
          </a:p>
        </p:txBody>
      </p:sp>
      <p:graphicFrame>
        <p:nvGraphicFramePr>
          <p:cNvPr id="107524" name="Object 4"/>
          <p:cNvGraphicFramePr>
            <a:graphicFrameLocks noChangeAspect="1"/>
          </p:cNvGraphicFramePr>
          <p:nvPr/>
        </p:nvGraphicFramePr>
        <p:xfrm>
          <a:off x="4724400" y="2133600"/>
          <a:ext cx="2590800" cy="612775"/>
        </p:xfrm>
        <a:graphic>
          <a:graphicData uri="http://schemas.openxmlformats.org/presentationml/2006/ole">
            <p:oleObj spid="_x0000_s1026" name="Bitmap Image" r:id="rId3" imgW="1609524" imgH="380852" progId="PBrush">
              <p:embed/>
            </p:oleObj>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0BC1A1F-E680-42F2-9411-7F0DEA228F46}" type="slidenum">
              <a:rPr lang="ar-SA"/>
              <a:pPr/>
              <a:t>9</a:t>
            </a:fld>
            <a:endParaRPr lang="en-US"/>
          </a:p>
        </p:txBody>
      </p:sp>
      <p:sp>
        <p:nvSpPr>
          <p:cNvPr id="167939" name="Rectangle 3"/>
          <p:cNvSpPr>
            <a:spLocks noGrp="1" noChangeArrowheads="1"/>
          </p:cNvSpPr>
          <p:nvPr>
            <p:ph type="body" idx="1"/>
          </p:nvPr>
        </p:nvSpPr>
        <p:spPr>
          <a:xfrm>
            <a:off x="304800" y="1295400"/>
            <a:ext cx="9220200" cy="5410200"/>
          </a:xfrm>
          <a:noFill/>
        </p:spPr>
        <p:txBody>
          <a:bodyPr/>
          <a:lstStyle/>
          <a:p>
            <a:pPr>
              <a:lnSpc>
                <a:spcPct val="80000"/>
              </a:lnSpc>
              <a:buFontTx/>
              <a:buNone/>
            </a:pPr>
            <a:r>
              <a:rPr lang="en-US" sz="2400" b="1" dirty="0"/>
              <a:t>&lt;TITLE&gt;</a:t>
            </a:r>
            <a:r>
              <a:rPr lang="en-US" sz="2400" b="1" dirty="0" err="1"/>
              <a:t>Form_Text_Type</a:t>
            </a:r>
            <a:r>
              <a:rPr lang="en-US" sz="2400" b="1" dirty="0"/>
              <a:t>&lt;/TITLE&gt;</a:t>
            </a:r>
          </a:p>
          <a:p>
            <a:pPr>
              <a:lnSpc>
                <a:spcPct val="80000"/>
              </a:lnSpc>
              <a:buFontTx/>
              <a:buNone/>
            </a:pPr>
            <a:r>
              <a:rPr lang="en-US" sz="2400" b="1" dirty="0"/>
              <a:t>&lt;/HEAD&gt; &lt;BODY&gt;</a:t>
            </a:r>
          </a:p>
          <a:p>
            <a:pPr>
              <a:lnSpc>
                <a:spcPct val="80000"/>
              </a:lnSpc>
              <a:buFontTx/>
              <a:buNone/>
            </a:pPr>
            <a:r>
              <a:rPr lang="en-US" sz="2400" b="1" dirty="0"/>
              <a:t>&lt;h1&gt; &lt;font color=blue</a:t>
            </a:r>
            <a:r>
              <a:rPr lang="en-US" sz="2400" b="1" dirty="0" smtClean="0"/>
              <a:t>&gt; Please </a:t>
            </a:r>
            <a:r>
              <a:rPr lang="en-US" sz="2400" b="1" dirty="0"/>
              <a:t>enter the following </a:t>
            </a:r>
            <a:r>
              <a:rPr lang="en-US" sz="2400" b="1" dirty="0" err="1" smtClean="0"/>
              <a:t>B</a:t>
            </a:r>
            <a:r>
              <a:rPr lang="en-US" sz="2400" b="1" dirty="0" err="1" smtClean="0"/>
              <a:t>ioData</a:t>
            </a:r>
            <a:r>
              <a:rPr lang="en-US" sz="2400" b="1" dirty="0"/>
              <a:t>&lt;/font&gt;&lt;/h1&gt;</a:t>
            </a:r>
          </a:p>
          <a:p>
            <a:pPr>
              <a:lnSpc>
                <a:spcPct val="80000"/>
              </a:lnSpc>
              <a:buFontTx/>
              <a:buNone/>
            </a:pPr>
            <a:r>
              <a:rPr lang="en-US" sz="2400" b="1" dirty="0">
                <a:solidFill>
                  <a:srgbClr val="FF0000"/>
                </a:solidFill>
              </a:rPr>
              <a:t>&lt;FORM name="</a:t>
            </a:r>
            <a:r>
              <a:rPr lang="en-US" sz="2400" b="1" dirty="0" smtClean="0">
                <a:solidFill>
                  <a:srgbClr val="FF0000"/>
                </a:solidFill>
              </a:rPr>
              <a:t>form1</a:t>
            </a:r>
            <a:r>
              <a:rPr lang="en-US" sz="2400" b="1" dirty="0">
                <a:solidFill>
                  <a:srgbClr val="FF0000"/>
                </a:solidFill>
              </a:rPr>
              <a:t>"  Method= " get " Action= " URL " &gt;</a:t>
            </a:r>
          </a:p>
          <a:p>
            <a:pPr>
              <a:lnSpc>
                <a:spcPct val="80000"/>
              </a:lnSpc>
              <a:buFontTx/>
              <a:buNone/>
            </a:pPr>
            <a:r>
              <a:rPr lang="en-US" sz="2400" b="1" dirty="0">
                <a:solidFill>
                  <a:srgbClr val="0000FF"/>
                </a:solidFill>
              </a:rPr>
              <a:t>First Name: &lt;INPUT TYPE="TEXT" NAME="</a:t>
            </a:r>
            <a:r>
              <a:rPr lang="en-US" sz="2400" b="1" dirty="0" err="1">
                <a:solidFill>
                  <a:srgbClr val="0000FF"/>
                </a:solidFill>
              </a:rPr>
              <a:t>FName</a:t>
            </a:r>
            <a:r>
              <a:rPr lang="en-US" sz="2400" b="1" dirty="0">
                <a:solidFill>
                  <a:srgbClr val="0000FF"/>
                </a:solidFill>
              </a:rPr>
              <a:t>"</a:t>
            </a:r>
          </a:p>
          <a:p>
            <a:pPr>
              <a:lnSpc>
                <a:spcPct val="80000"/>
              </a:lnSpc>
              <a:buFontTx/>
              <a:buNone/>
            </a:pPr>
            <a:r>
              <a:rPr lang="en-US" sz="2400" b="1" dirty="0">
                <a:solidFill>
                  <a:srgbClr val="0000FF"/>
                </a:solidFill>
              </a:rPr>
              <a:t>SIZE="15" MAXLENGTH="25"&gt;&lt;BR&gt;</a:t>
            </a:r>
          </a:p>
          <a:p>
            <a:pPr>
              <a:lnSpc>
                <a:spcPct val="80000"/>
              </a:lnSpc>
              <a:buFontTx/>
              <a:buNone/>
            </a:pPr>
            <a:r>
              <a:rPr lang="en-US" sz="2400" b="1" dirty="0">
                <a:solidFill>
                  <a:srgbClr val="333300"/>
                </a:solidFill>
              </a:rPr>
              <a:t>Last Name: &lt;INPUT TYPE="TEXT" NAME="</a:t>
            </a:r>
            <a:r>
              <a:rPr lang="en-US" sz="2400" b="1" dirty="0" err="1">
                <a:solidFill>
                  <a:srgbClr val="333300"/>
                </a:solidFill>
              </a:rPr>
              <a:t>LName</a:t>
            </a:r>
            <a:r>
              <a:rPr lang="en-US" sz="2400" b="1" dirty="0">
                <a:solidFill>
                  <a:srgbClr val="333300"/>
                </a:solidFill>
              </a:rPr>
              <a:t>"</a:t>
            </a:r>
          </a:p>
          <a:p>
            <a:pPr>
              <a:lnSpc>
                <a:spcPct val="80000"/>
              </a:lnSpc>
              <a:buFontTx/>
              <a:buNone/>
            </a:pPr>
            <a:r>
              <a:rPr lang="en-US" sz="2400" b="1" dirty="0">
                <a:solidFill>
                  <a:srgbClr val="333300"/>
                </a:solidFill>
              </a:rPr>
              <a:t>SIZE="15" MAXLENGTH="25"&gt;&lt;BR&gt;</a:t>
            </a:r>
          </a:p>
          <a:p>
            <a:pPr>
              <a:lnSpc>
                <a:spcPct val="80000"/>
              </a:lnSpc>
              <a:buFontTx/>
              <a:buNone/>
            </a:pPr>
            <a:r>
              <a:rPr lang="en-US" sz="2400" b="1" dirty="0">
                <a:solidFill>
                  <a:srgbClr val="FF0000"/>
                </a:solidFill>
              </a:rPr>
              <a:t>Nationality: &lt;INPUT TYPE="TEXT" NAME="Country"</a:t>
            </a:r>
          </a:p>
          <a:p>
            <a:pPr>
              <a:lnSpc>
                <a:spcPct val="80000"/>
              </a:lnSpc>
              <a:buFontTx/>
              <a:buNone/>
            </a:pPr>
            <a:r>
              <a:rPr lang="en-US" sz="2400" b="1" dirty="0">
                <a:solidFill>
                  <a:srgbClr val="FF0000"/>
                </a:solidFill>
              </a:rPr>
              <a:t>SIZE="25" MAXLENGTH="25"&gt;&lt;BR&gt;</a:t>
            </a:r>
          </a:p>
          <a:p>
            <a:pPr>
              <a:lnSpc>
                <a:spcPct val="80000"/>
              </a:lnSpc>
              <a:buFontTx/>
              <a:buNone/>
            </a:pPr>
            <a:r>
              <a:rPr lang="en-US" sz="2400" b="1" dirty="0">
                <a:solidFill>
                  <a:srgbClr val="009900"/>
                </a:solidFill>
              </a:rPr>
              <a:t>The Phone Number: &lt;INPUT TYPE="TEXT" NAME="Phone"</a:t>
            </a:r>
          </a:p>
          <a:p>
            <a:pPr>
              <a:lnSpc>
                <a:spcPct val="80000"/>
              </a:lnSpc>
              <a:buFontTx/>
              <a:buNone/>
            </a:pPr>
            <a:r>
              <a:rPr lang="en-US" sz="2400" b="1" dirty="0">
                <a:solidFill>
                  <a:srgbClr val="009900"/>
                </a:solidFill>
              </a:rPr>
              <a:t>SIZE="15" MAXLENGTH="12"&gt;&lt;BR&gt;</a:t>
            </a:r>
          </a:p>
          <a:p>
            <a:pPr>
              <a:lnSpc>
                <a:spcPct val="80000"/>
              </a:lnSpc>
              <a:buFontTx/>
              <a:buNone/>
            </a:pPr>
            <a:r>
              <a:rPr lang="en-US" sz="2400" b="1" dirty="0">
                <a:solidFill>
                  <a:srgbClr val="FF0000"/>
                </a:solidFill>
              </a:rPr>
              <a:t>&lt;/FORM&gt;</a:t>
            </a:r>
            <a:r>
              <a:rPr lang="en-US" sz="2400" b="1" dirty="0"/>
              <a:t> &lt;/BODY&gt; &lt;/HTML&gt;</a:t>
            </a:r>
          </a:p>
          <a:p>
            <a:pPr>
              <a:lnSpc>
                <a:spcPct val="80000"/>
              </a:lnSpc>
            </a:pPr>
            <a:endParaRPr lang="en-US" sz="2400" b="1" dirty="0"/>
          </a:p>
          <a:p>
            <a:pPr>
              <a:lnSpc>
                <a:spcPct val="80000"/>
              </a:lnSpc>
              <a:buFontTx/>
              <a:buNone/>
            </a:pPr>
            <a:endParaRPr lang="en-US" sz="2400" b="1" dirty="0"/>
          </a:p>
        </p:txBody>
      </p:sp>
      <p:sp>
        <p:nvSpPr>
          <p:cNvPr id="167940" name="Rectangle 4"/>
          <p:cNvSpPr>
            <a:spLocks noGrp="1" noChangeArrowheads="1"/>
          </p:cNvSpPr>
          <p:nvPr>
            <p:ph type="title"/>
          </p:nvPr>
        </p:nvSpPr>
        <p:spPr>
          <a:xfrm>
            <a:off x="457200" y="304800"/>
            <a:ext cx="8229600" cy="762000"/>
          </a:xfrm>
          <a:noFill/>
          <a:ln/>
        </p:spPr>
        <p:txBody>
          <a:bodyPr>
            <a:flatTx/>
          </a:bodyPr>
          <a:lstStyle/>
          <a:p>
            <a:r>
              <a:rPr lang="en-US" dirty="0">
                <a:solidFill>
                  <a:srgbClr val="C00000"/>
                </a:solidFill>
              </a:rPr>
              <a:t>Example on Text Box</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0E13F81-9299-44F5-964E-DDD79B8BBB7D}" type="slidenum">
              <a:rPr lang="ar-SA"/>
              <a:pPr/>
              <a:t>10</a:t>
            </a:fld>
            <a:endParaRPr lang="en-US"/>
          </a:p>
        </p:txBody>
      </p:sp>
      <p:sp>
        <p:nvSpPr>
          <p:cNvPr id="168966" name="Rectangle 6"/>
          <p:cNvSpPr>
            <a:spLocks noGrp="1" noChangeArrowheads="1"/>
          </p:cNvSpPr>
          <p:nvPr>
            <p:ph type="title"/>
          </p:nvPr>
        </p:nvSpPr>
        <p:spPr>
          <a:xfrm>
            <a:off x="609600" y="228600"/>
            <a:ext cx="8229600" cy="762000"/>
          </a:xfrm>
          <a:noFill/>
          <a:ln/>
        </p:spPr>
        <p:txBody>
          <a:bodyPr>
            <a:flatTx/>
          </a:bodyPr>
          <a:lstStyle/>
          <a:p>
            <a:r>
              <a:rPr lang="en-US" dirty="0">
                <a:solidFill>
                  <a:srgbClr val="C00000"/>
                </a:solidFill>
              </a:rPr>
              <a:t>Output</a:t>
            </a:r>
          </a:p>
        </p:txBody>
      </p:sp>
      <p:pic>
        <p:nvPicPr>
          <p:cNvPr id="23553" name="Picture 1" descr="C:\Users\Full Time\Desktop\Untitled1.png"/>
          <p:cNvPicPr>
            <a:picLocks noChangeAspect="1" noChangeArrowheads="1"/>
          </p:cNvPicPr>
          <p:nvPr/>
        </p:nvPicPr>
        <p:blipFill>
          <a:blip r:embed="rId2" cstate="print"/>
          <a:srcRect/>
          <a:stretch>
            <a:fillRect/>
          </a:stretch>
        </p:blipFill>
        <p:spPr bwMode="auto">
          <a:xfrm>
            <a:off x="838200" y="1219200"/>
            <a:ext cx="7086600" cy="524681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87945AAA-0577-4BF7-9D64-2FAACF90B543}" type="slidenum">
              <a:rPr lang="ar-SA"/>
              <a:pPr/>
              <a:t>11</a:t>
            </a:fld>
            <a:endParaRPr lang="en-US"/>
          </a:p>
        </p:txBody>
      </p:sp>
      <p:sp>
        <p:nvSpPr>
          <p:cNvPr id="108547" name="Rectangle 3"/>
          <p:cNvSpPr>
            <a:spLocks noGrp="1" noChangeArrowheads="1"/>
          </p:cNvSpPr>
          <p:nvPr>
            <p:ph type="body" idx="1"/>
          </p:nvPr>
        </p:nvSpPr>
        <p:spPr>
          <a:xfrm>
            <a:off x="228600" y="990600"/>
            <a:ext cx="8610600" cy="5867400"/>
          </a:xfrm>
          <a:noFill/>
          <a:ln>
            <a:solidFill>
              <a:srgbClr val="333300"/>
            </a:solidFill>
          </a:ln>
        </p:spPr>
        <p:txBody>
          <a:bodyPr/>
          <a:lstStyle/>
          <a:p>
            <a:pPr>
              <a:buClr>
                <a:schemeClr val="accent2"/>
              </a:buClr>
              <a:buNone/>
            </a:pPr>
            <a:r>
              <a:rPr lang="en-US" sz="2800" b="1" dirty="0">
                <a:solidFill>
                  <a:srgbClr val="0000FF"/>
                </a:solidFill>
              </a:rPr>
              <a:t>Password</a:t>
            </a:r>
            <a:r>
              <a:rPr lang="en-US" sz="2800" b="1" dirty="0"/>
              <a:t>:</a:t>
            </a:r>
            <a:r>
              <a:rPr lang="en-US" sz="2400" dirty="0"/>
              <a:t> Used to allow entry of passwords.</a:t>
            </a:r>
          </a:p>
          <a:p>
            <a:pPr>
              <a:buClr>
                <a:schemeClr val="accent2"/>
              </a:buClr>
              <a:buFont typeface="Wingdings" pitchFamily="2" charset="2"/>
              <a:buNone/>
            </a:pPr>
            <a:r>
              <a:rPr lang="en-US" sz="2400" b="1" dirty="0">
                <a:solidFill>
                  <a:srgbClr val="FF0000"/>
                </a:solidFill>
              </a:rPr>
              <a:t>&lt;INPUT TYPE= </a:t>
            </a:r>
            <a:r>
              <a:rPr lang="en-US" sz="2800" b="1" dirty="0">
                <a:solidFill>
                  <a:srgbClr val="FF0000"/>
                </a:solidFill>
              </a:rPr>
              <a:t>"</a:t>
            </a:r>
            <a:r>
              <a:rPr lang="en-US" sz="2400" b="1" dirty="0">
                <a:solidFill>
                  <a:srgbClr val="FF0000"/>
                </a:solidFill>
              </a:rPr>
              <a:t> PASSWORD </a:t>
            </a:r>
            <a:r>
              <a:rPr lang="en-US" sz="2800" b="1" dirty="0">
                <a:solidFill>
                  <a:srgbClr val="FF0000"/>
                </a:solidFill>
              </a:rPr>
              <a:t>"</a:t>
            </a:r>
            <a:r>
              <a:rPr lang="en-US" sz="2400" b="1" dirty="0">
                <a:solidFill>
                  <a:srgbClr val="FF0000"/>
                </a:solidFill>
              </a:rPr>
              <a:t> &gt;</a:t>
            </a:r>
          </a:p>
          <a:p>
            <a:pPr>
              <a:buClr>
                <a:schemeClr val="accent2"/>
              </a:buClr>
              <a:buFont typeface="Wingdings" pitchFamily="2" charset="2"/>
              <a:buNone/>
            </a:pPr>
            <a:r>
              <a:rPr lang="en-US" sz="2400" dirty="0"/>
              <a:t>Browser will display </a:t>
            </a:r>
          </a:p>
          <a:p>
            <a:pPr>
              <a:buClr>
                <a:schemeClr val="accent2"/>
              </a:buClr>
              <a:buFont typeface="Wingdings" pitchFamily="2" charset="2"/>
              <a:buNone/>
            </a:pPr>
            <a:r>
              <a:rPr lang="en-US" sz="2400" dirty="0"/>
              <a:t>Text typed in a password box is starred out in the browser </a:t>
            </a:r>
          </a:p>
          <a:p>
            <a:pPr>
              <a:buClr>
                <a:schemeClr val="accent2"/>
              </a:buClr>
              <a:buFont typeface="Wingdings" pitchFamily="2" charset="2"/>
              <a:buNone/>
            </a:pPr>
            <a:r>
              <a:rPr lang="en-US" sz="2400" dirty="0"/>
              <a:t>display.</a:t>
            </a:r>
          </a:p>
          <a:p>
            <a:pPr>
              <a:buClr>
                <a:schemeClr val="accent2"/>
              </a:buClr>
              <a:buFont typeface="Wingdings" pitchFamily="2" charset="2"/>
              <a:buNone/>
            </a:pPr>
            <a:r>
              <a:rPr lang="en-US" sz="2400" dirty="0"/>
              <a:t>Password boxes use the following attributes:</a:t>
            </a:r>
          </a:p>
          <a:p>
            <a:pPr>
              <a:buClr>
                <a:schemeClr val="accent2"/>
              </a:buClr>
              <a:buFont typeface="Wingdings" pitchFamily="2" charset="2"/>
              <a:buChar char="§"/>
            </a:pPr>
            <a:r>
              <a:rPr lang="en-US" sz="2400" b="1" dirty="0">
                <a:solidFill>
                  <a:srgbClr val="FF0000"/>
                </a:solidFill>
              </a:rPr>
              <a:t>TYPE:</a:t>
            </a:r>
            <a:r>
              <a:rPr lang="en-US" sz="2400" dirty="0"/>
              <a:t> password.</a:t>
            </a:r>
          </a:p>
          <a:p>
            <a:pPr>
              <a:buClr>
                <a:schemeClr val="accent2"/>
              </a:buClr>
              <a:buFont typeface="Wingdings" pitchFamily="2" charset="2"/>
              <a:buChar char="§"/>
            </a:pPr>
            <a:r>
              <a:rPr lang="en-US" sz="2400" b="1" dirty="0">
                <a:solidFill>
                  <a:srgbClr val="FF0000"/>
                </a:solidFill>
              </a:rPr>
              <a:t>SIZE:</a:t>
            </a:r>
            <a:r>
              <a:rPr lang="en-US" sz="2400" dirty="0"/>
              <a:t> determines the size of the textbox in characters. </a:t>
            </a:r>
          </a:p>
          <a:p>
            <a:pPr>
              <a:buClr>
                <a:schemeClr val="accent2"/>
              </a:buClr>
              <a:buFont typeface="Wingdings" pitchFamily="2" charset="2"/>
              <a:buChar char="§"/>
            </a:pPr>
            <a:r>
              <a:rPr lang="en-US" sz="2400" b="1" dirty="0">
                <a:solidFill>
                  <a:srgbClr val="FF0000"/>
                </a:solidFill>
              </a:rPr>
              <a:t>MAXLENGHT:</a:t>
            </a:r>
            <a:r>
              <a:rPr lang="en-US" sz="2400" dirty="0"/>
              <a:t> determines the maximum size of the password in characters.</a:t>
            </a:r>
          </a:p>
          <a:p>
            <a:pPr>
              <a:buClr>
                <a:schemeClr val="accent2"/>
              </a:buClr>
              <a:buFont typeface="Wingdings" pitchFamily="2" charset="2"/>
              <a:buChar char="§"/>
            </a:pPr>
            <a:r>
              <a:rPr lang="en-US" sz="2400" b="1" dirty="0">
                <a:solidFill>
                  <a:srgbClr val="FF0000"/>
                </a:solidFill>
              </a:rPr>
              <a:t>NAME:</a:t>
            </a:r>
            <a:r>
              <a:rPr lang="en-US" sz="2400" dirty="0"/>
              <a:t> is the name of the variable to be sent to the CGI application.</a:t>
            </a:r>
          </a:p>
          <a:p>
            <a:pPr>
              <a:buClr>
                <a:schemeClr val="accent2"/>
              </a:buClr>
              <a:buFont typeface="Wingdings" pitchFamily="2" charset="2"/>
              <a:buChar char="§"/>
            </a:pPr>
            <a:r>
              <a:rPr lang="en-US" sz="2400" b="1" dirty="0">
                <a:solidFill>
                  <a:srgbClr val="FF0000"/>
                </a:solidFill>
              </a:rPr>
              <a:t>VALUE:</a:t>
            </a:r>
            <a:r>
              <a:rPr lang="en-US" sz="2400" dirty="0"/>
              <a:t> is usually blank.</a:t>
            </a:r>
          </a:p>
        </p:txBody>
      </p:sp>
      <p:sp>
        <p:nvSpPr>
          <p:cNvPr id="108550" name="Rectangle 6"/>
          <p:cNvSpPr>
            <a:spLocks noGrp="1" noChangeArrowheads="1"/>
          </p:cNvSpPr>
          <p:nvPr>
            <p:ph type="title"/>
          </p:nvPr>
        </p:nvSpPr>
        <p:spPr>
          <a:xfrm>
            <a:off x="457200" y="228600"/>
            <a:ext cx="8229600" cy="609600"/>
          </a:xfrm>
          <a:noFill/>
          <a:ln/>
        </p:spPr>
        <p:txBody>
          <a:bodyPr>
            <a:normAutofit fontScale="90000"/>
            <a:flatTx/>
          </a:bodyPr>
          <a:lstStyle/>
          <a:p>
            <a:r>
              <a:rPr lang="en-US" sz="4800" dirty="0">
                <a:solidFill>
                  <a:srgbClr val="C00000"/>
                </a:solidFill>
              </a:rPr>
              <a:t>Password</a:t>
            </a:r>
          </a:p>
        </p:txBody>
      </p:sp>
      <p:pic>
        <p:nvPicPr>
          <p:cNvPr id="2051" name="Picture 3" descr="C:\Users\Full Time\Desktop\Untitled5.png"/>
          <p:cNvPicPr>
            <a:picLocks noChangeAspect="1" noChangeArrowheads="1"/>
          </p:cNvPicPr>
          <p:nvPr/>
        </p:nvPicPr>
        <p:blipFill>
          <a:blip r:embed="rId2" cstate="print"/>
          <a:srcRect/>
          <a:stretch>
            <a:fillRect/>
          </a:stretch>
        </p:blipFill>
        <p:spPr bwMode="auto">
          <a:xfrm>
            <a:off x="3505200" y="2057400"/>
            <a:ext cx="1752600" cy="474064"/>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0627D4A-2CF3-4B81-84B5-150221193929}" type="slidenum">
              <a:rPr lang="ar-SA"/>
              <a:pPr/>
              <a:t>12</a:t>
            </a:fld>
            <a:endParaRPr lang="en-US"/>
          </a:p>
        </p:txBody>
      </p:sp>
      <p:sp>
        <p:nvSpPr>
          <p:cNvPr id="169987" name="Rectangle 3"/>
          <p:cNvSpPr>
            <a:spLocks noGrp="1" noChangeArrowheads="1"/>
          </p:cNvSpPr>
          <p:nvPr>
            <p:ph type="body" idx="1"/>
          </p:nvPr>
        </p:nvSpPr>
        <p:spPr>
          <a:xfrm>
            <a:off x="228600" y="1295400"/>
            <a:ext cx="9144000" cy="5562600"/>
          </a:xfrm>
          <a:noFill/>
        </p:spPr>
        <p:txBody>
          <a:bodyPr>
            <a:normAutofit lnSpcReduction="10000"/>
          </a:bodyPr>
          <a:lstStyle/>
          <a:p>
            <a:pPr>
              <a:lnSpc>
                <a:spcPct val="90000"/>
              </a:lnSpc>
              <a:buFontTx/>
              <a:buNone/>
            </a:pPr>
            <a:r>
              <a:rPr lang="en-US" sz="2800" b="1" dirty="0">
                <a:solidFill>
                  <a:srgbClr val="FF0000"/>
                </a:solidFill>
              </a:rPr>
              <a:t>&lt;HTML&gt;&lt;HEAD&gt;</a:t>
            </a:r>
          </a:p>
          <a:p>
            <a:pPr>
              <a:lnSpc>
                <a:spcPct val="90000"/>
              </a:lnSpc>
              <a:buFontTx/>
              <a:buNone/>
            </a:pPr>
            <a:r>
              <a:rPr lang="en-US" sz="2800" b="1" dirty="0">
                <a:solidFill>
                  <a:srgbClr val="0000CC"/>
                </a:solidFill>
              </a:rPr>
              <a:t>&lt;TITLE&gt;</a:t>
            </a:r>
            <a:r>
              <a:rPr lang="en-US" sz="2800" b="1" dirty="0" err="1">
                <a:solidFill>
                  <a:srgbClr val="0000CC"/>
                </a:solidFill>
              </a:rPr>
              <a:t>Form_Password_Type</a:t>
            </a:r>
            <a:r>
              <a:rPr lang="en-US" sz="2800" b="1" dirty="0">
                <a:solidFill>
                  <a:srgbClr val="0000CC"/>
                </a:solidFill>
              </a:rPr>
              <a:t>&lt;/TITLE&gt;&lt;/HEAD&gt;</a:t>
            </a:r>
          </a:p>
          <a:p>
            <a:pPr>
              <a:lnSpc>
                <a:spcPct val="90000"/>
              </a:lnSpc>
              <a:buFontTx/>
              <a:buNone/>
            </a:pPr>
            <a:r>
              <a:rPr lang="en-US" sz="2800" b="1" dirty="0">
                <a:solidFill>
                  <a:srgbClr val="FF0000"/>
                </a:solidFill>
              </a:rPr>
              <a:t>&lt;BODY&gt;</a:t>
            </a:r>
          </a:p>
          <a:p>
            <a:pPr>
              <a:lnSpc>
                <a:spcPct val="90000"/>
              </a:lnSpc>
              <a:buFontTx/>
              <a:buNone/>
            </a:pPr>
            <a:r>
              <a:rPr lang="en-US" sz="2800" b="1" dirty="0"/>
              <a:t>&lt;h1&gt; &lt;font color=red&gt;To Access, Please </a:t>
            </a:r>
          </a:p>
          <a:p>
            <a:pPr>
              <a:lnSpc>
                <a:spcPct val="90000"/>
              </a:lnSpc>
              <a:buFontTx/>
              <a:buNone/>
            </a:pPr>
            <a:r>
              <a:rPr lang="en-US" sz="2800" b="1" dirty="0"/>
              <a:t>enter:&lt;/font&gt;&lt;/h1&gt;</a:t>
            </a:r>
          </a:p>
          <a:p>
            <a:pPr>
              <a:lnSpc>
                <a:spcPct val="90000"/>
              </a:lnSpc>
              <a:buFontTx/>
              <a:buNone/>
            </a:pPr>
            <a:r>
              <a:rPr lang="en-US" sz="2800" b="1" dirty="0">
                <a:solidFill>
                  <a:srgbClr val="0000CC"/>
                </a:solidFill>
              </a:rPr>
              <a:t>&lt;FORM name="</a:t>
            </a:r>
            <a:r>
              <a:rPr lang="en-US" sz="2800" b="1" dirty="0" smtClean="0">
                <a:solidFill>
                  <a:srgbClr val="0000CC"/>
                </a:solidFill>
              </a:rPr>
              <a:t>form2</a:t>
            </a:r>
            <a:r>
              <a:rPr lang="en-US" sz="2800" b="1" dirty="0">
                <a:solidFill>
                  <a:srgbClr val="0000CC"/>
                </a:solidFill>
              </a:rPr>
              <a:t>"  Action="</a:t>
            </a:r>
            <a:r>
              <a:rPr lang="en-US" sz="2800" b="1" dirty="0" err="1">
                <a:solidFill>
                  <a:srgbClr val="0000CC"/>
                </a:solidFill>
              </a:rPr>
              <a:t>url</a:t>
            </a:r>
            <a:r>
              <a:rPr lang="en-US" sz="2800" b="1" dirty="0">
                <a:solidFill>
                  <a:srgbClr val="0000CC"/>
                </a:solidFill>
              </a:rPr>
              <a:t>"  method="get"&gt;</a:t>
            </a:r>
          </a:p>
          <a:p>
            <a:pPr>
              <a:lnSpc>
                <a:spcPct val="90000"/>
              </a:lnSpc>
              <a:buFontTx/>
              <a:buNone/>
            </a:pPr>
            <a:r>
              <a:rPr lang="en-US" sz="2800" b="1" dirty="0">
                <a:solidFill>
                  <a:srgbClr val="FF0000"/>
                </a:solidFill>
              </a:rPr>
              <a:t>User Name: &lt;INPUT TYPE="TEXT" Name="</a:t>
            </a:r>
            <a:r>
              <a:rPr lang="en-US" sz="2800" b="1" dirty="0" err="1">
                <a:solidFill>
                  <a:srgbClr val="FF0000"/>
                </a:solidFill>
              </a:rPr>
              <a:t>FName</a:t>
            </a:r>
            <a:r>
              <a:rPr lang="en-US" sz="2800" b="1" dirty="0">
                <a:solidFill>
                  <a:srgbClr val="FF0000"/>
                </a:solidFill>
              </a:rPr>
              <a:t>"</a:t>
            </a:r>
          </a:p>
          <a:p>
            <a:pPr>
              <a:lnSpc>
                <a:spcPct val="90000"/>
              </a:lnSpc>
              <a:buFontTx/>
              <a:buNone/>
            </a:pPr>
            <a:r>
              <a:rPr lang="en-US" sz="2800" b="1" dirty="0">
                <a:solidFill>
                  <a:srgbClr val="FF0000"/>
                </a:solidFill>
              </a:rPr>
              <a:t>SIZE="15" MAXLENGTH="25"&gt;&lt;BR&gt;</a:t>
            </a:r>
          </a:p>
          <a:p>
            <a:pPr>
              <a:lnSpc>
                <a:spcPct val="90000"/>
              </a:lnSpc>
              <a:buFontTx/>
              <a:buNone/>
            </a:pPr>
            <a:r>
              <a:rPr lang="en-US" sz="2800" b="1" dirty="0">
                <a:solidFill>
                  <a:srgbClr val="3333FF"/>
                </a:solidFill>
              </a:rPr>
              <a:t>Password: &lt;INPUT TYPE="PASSWORD" </a:t>
            </a:r>
          </a:p>
          <a:p>
            <a:pPr>
              <a:lnSpc>
                <a:spcPct val="90000"/>
              </a:lnSpc>
              <a:buFontTx/>
              <a:buNone/>
            </a:pPr>
            <a:r>
              <a:rPr lang="en-US" sz="2800" b="1" dirty="0">
                <a:solidFill>
                  <a:srgbClr val="3333FF"/>
                </a:solidFill>
              </a:rPr>
              <a:t>NAME="</a:t>
            </a:r>
            <a:r>
              <a:rPr lang="en-US" sz="2800" b="1" dirty="0" err="1">
                <a:solidFill>
                  <a:srgbClr val="3333FF"/>
                </a:solidFill>
              </a:rPr>
              <a:t>PWord</a:t>
            </a:r>
            <a:r>
              <a:rPr lang="en-US" sz="2800" b="1" dirty="0">
                <a:solidFill>
                  <a:srgbClr val="3333FF"/>
                </a:solidFill>
              </a:rPr>
              <a:t>"</a:t>
            </a:r>
            <a:r>
              <a:rPr lang="ar-SA" sz="2800" b="1" dirty="0">
                <a:solidFill>
                  <a:srgbClr val="3333FF"/>
                </a:solidFill>
              </a:rPr>
              <a:t> </a:t>
            </a:r>
            <a:r>
              <a:rPr lang="en-US" sz="2800" b="1" dirty="0">
                <a:solidFill>
                  <a:srgbClr val="3333FF"/>
                </a:solidFill>
              </a:rPr>
              <a:t>  value="" SIZE="15”</a:t>
            </a:r>
            <a:endParaRPr lang="ar-SA" sz="2800" b="1" dirty="0">
              <a:solidFill>
                <a:srgbClr val="3333FF"/>
              </a:solidFill>
            </a:endParaRPr>
          </a:p>
          <a:p>
            <a:pPr>
              <a:lnSpc>
                <a:spcPct val="90000"/>
              </a:lnSpc>
              <a:buFontTx/>
              <a:buNone/>
            </a:pPr>
            <a:r>
              <a:rPr lang="en-US" sz="2800" b="1" dirty="0">
                <a:solidFill>
                  <a:srgbClr val="3333FF"/>
                </a:solidFill>
              </a:rPr>
              <a:t>MAXLENGTH="25"&gt;&lt;BR&gt;</a:t>
            </a:r>
          </a:p>
          <a:p>
            <a:pPr>
              <a:lnSpc>
                <a:spcPct val="90000"/>
              </a:lnSpc>
              <a:buFontTx/>
              <a:buNone/>
            </a:pPr>
            <a:r>
              <a:rPr lang="en-US" sz="2800" b="1" dirty="0">
                <a:solidFill>
                  <a:srgbClr val="FF0000"/>
                </a:solidFill>
              </a:rPr>
              <a:t>&lt;/FORM&gt;&lt;/BODY&gt; &lt;/HTML&gt;</a:t>
            </a:r>
          </a:p>
          <a:p>
            <a:pPr>
              <a:lnSpc>
                <a:spcPct val="90000"/>
              </a:lnSpc>
              <a:buFontTx/>
              <a:buNone/>
            </a:pPr>
            <a:endParaRPr lang="en-US" sz="2800" b="1" dirty="0">
              <a:solidFill>
                <a:srgbClr val="FF0000"/>
              </a:solidFill>
            </a:endParaRPr>
          </a:p>
        </p:txBody>
      </p:sp>
      <p:sp>
        <p:nvSpPr>
          <p:cNvPr id="169988" name="Rectangle 4"/>
          <p:cNvSpPr>
            <a:spLocks noGrp="1" noChangeArrowheads="1"/>
          </p:cNvSpPr>
          <p:nvPr>
            <p:ph type="title"/>
          </p:nvPr>
        </p:nvSpPr>
        <p:spPr>
          <a:xfrm>
            <a:off x="381000" y="228600"/>
            <a:ext cx="8229600" cy="762000"/>
          </a:xfrm>
          <a:noFill/>
          <a:ln/>
        </p:spPr>
        <p:txBody>
          <a:bodyPr>
            <a:flatTx/>
          </a:bodyPr>
          <a:lstStyle/>
          <a:p>
            <a:r>
              <a:rPr lang="en-US" dirty="0">
                <a:solidFill>
                  <a:srgbClr val="C00000"/>
                </a:solidFill>
              </a:rPr>
              <a:t>Example on Password Box</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DB98509-8153-4234-81EC-4681BEE0AD1C}" type="slidenum">
              <a:rPr lang="ar-SA"/>
              <a:pPr/>
              <a:t>13</a:t>
            </a:fld>
            <a:endParaRPr lang="en-US"/>
          </a:p>
        </p:txBody>
      </p:sp>
      <p:sp>
        <p:nvSpPr>
          <p:cNvPr id="171013" name="Rectangle 5"/>
          <p:cNvSpPr>
            <a:spLocks noGrp="1" noChangeArrowheads="1"/>
          </p:cNvSpPr>
          <p:nvPr>
            <p:ph type="title"/>
          </p:nvPr>
        </p:nvSpPr>
        <p:spPr>
          <a:xfrm>
            <a:off x="754063" y="350838"/>
            <a:ext cx="7929562" cy="762000"/>
          </a:xfrm>
          <a:noFill/>
          <a:ln/>
        </p:spPr>
        <p:txBody>
          <a:bodyPr>
            <a:flatTx/>
          </a:bodyPr>
          <a:lstStyle/>
          <a:p>
            <a:r>
              <a:rPr lang="en-US">
                <a:solidFill>
                  <a:srgbClr val="C00000"/>
                </a:solidFill>
              </a:rPr>
              <a:t>Output</a:t>
            </a:r>
          </a:p>
        </p:txBody>
      </p:sp>
      <p:pic>
        <p:nvPicPr>
          <p:cNvPr id="27649" name="Picture 1" descr="C:\Users\Full Time\Desktop\Untitled2.png"/>
          <p:cNvPicPr>
            <a:picLocks noChangeAspect="1" noChangeArrowheads="1"/>
          </p:cNvPicPr>
          <p:nvPr/>
        </p:nvPicPr>
        <p:blipFill>
          <a:blip r:embed="rId2" cstate="print"/>
          <a:srcRect/>
          <a:stretch>
            <a:fillRect/>
          </a:stretch>
        </p:blipFill>
        <p:spPr bwMode="auto">
          <a:xfrm>
            <a:off x="1524000" y="1447799"/>
            <a:ext cx="5943600" cy="4887829"/>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A61127E-856B-4B12-9C91-CFC0C299645C}" type="slidenum">
              <a:rPr lang="ar-SA"/>
              <a:pPr/>
              <a:t>14</a:t>
            </a:fld>
            <a:endParaRPr lang="en-US"/>
          </a:p>
        </p:txBody>
      </p:sp>
      <p:sp>
        <p:nvSpPr>
          <p:cNvPr id="109571" name="Rectangle 3"/>
          <p:cNvSpPr>
            <a:spLocks noGrp="1" noChangeArrowheads="1"/>
          </p:cNvSpPr>
          <p:nvPr>
            <p:ph type="body" idx="1"/>
          </p:nvPr>
        </p:nvSpPr>
        <p:spPr>
          <a:xfrm>
            <a:off x="609600" y="1447800"/>
            <a:ext cx="7848600" cy="4953000"/>
          </a:xfrm>
          <a:noFill/>
          <a:ln>
            <a:solidFill>
              <a:srgbClr val="333300"/>
            </a:solidFill>
          </a:ln>
        </p:spPr>
        <p:txBody>
          <a:bodyPr/>
          <a:lstStyle/>
          <a:p>
            <a:pPr>
              <a:lnSpc>
                <a:spcPct val="90000"/>
              </a:lnSpc>
              <a:buClr>
                <a:schemeClr val="accent2"/>
              </a:buClr>
              <a:buNone/>
            </a:pPr>
            <a:r>
              <a:rPr lang="en-US" sz="2800" b="1" dirty="0">
                <a:solidFill>
                  <a:srgbClr val="0000FF"/>
                </a:solidFill>
              </a:rPr>
              <a:t>Hidden</a:t>
            </a:r>
            <a:r>
              <a:rPr lang="en-US" sz="2800" b="1" dirty="0"/>
              <a:t>:</a:t>
            </a:r>
            <a:r>
              <a:rPr lang="en-US" sz="2600" dirty="0"/>
              <a:t> Used to send data to the CGI application that you don’t want the web surfer to see, change or have to enter but is necessary for the application to process the form correctly.</a:t>
            </a:r>
          </a:p>
          <a:p>
            <a:pPr>
              <a:lnSpc>
                <a:spcPct val="90000"/>
              </a:lnSpc>
              <a:buClr>
                <a:schemeClr val="accent2"/>
              </a:buClr>
              <a:buFont typeface="Wingdings" pitchFamily="2" charset="2"/>
              <a:buNone/>
            </a:pPr>
            <a:r>
              <a:rPr lang="en-US" sz="2600" b="1" dirty="0">
                <a:solidFill>
                  <a:srgbClr val="FF0000"/>
                </a:solidFill>
              </a:rPr>
              <a:t>&lt;INPUT TYPE=“HIDDEN”&gt;</a:t>
            </a:r>
          </a:p>
          <a:p>
            <a:pPr>
              <a:lnSpc>
                <a:spcPct val="90000"/>
              </a:lnSpc>
              <a:buClr>
                <a:schemeClr val="accent2"/>
              </a:buClr>
              <a:buFont typeface="Wingdings" pitchFamily="2" charset="2"/>
              <a:buNone/>
            </a:pPr>
            <a:r>
              <a:rPr lang="en-US" sz="2600" b="1" dirty="0">
                <a:solidFill>
                  <a:srgbClr val="0000FF"/>
                </a:solidFill>
              </a:rPr>
              <a:t>Nothing is displayed in the browser.</a:t>
            </a:r>
          </a:p>
          <a:p>
            <a:pPr>
              <a:lnSpc>
                <a:spcPct val="90000"/>
              </a:lnSpc>
              <a:buClr>
                <a:schemeClr val="accent2"/>
              </a:buClr>
              <a:buFont typeface="Wingdings" pitchFamily="2" charset="2"/>
              <a:buNone/>
            </a:pPr>
            <a:r>
              <a:rPr lang="en-US" sz="2600" dirty="0"/>
              <a:t>Hidden inputs have the following attributes:</a:t>
            </a:r>
          </a:p>
          <a:p>
            <a:pPr>
              <a:lnSpc>
                <a:spcPct val="90000"/>
              </a:lnSpc>
              <a:buClr>
                <a:schemeClr val="accent2"/>
              </a:buClr>
              <a:buFont typeface="Wingdings" pitchFamily="2" charset="2"/>
              <a:buChar char="§"/>
            </a:pPr>
            <a:r>
              <a:rPr lang="en-US" sz="2600" b="1" dirty="0">
                <a:solidFill>
                  <a:srgbClr val="FF0000"/>
                </a:solidFill>
              </a:rPr>
              <a:t>TYPE:</a:t>
            </a:r>
            <a:r>
              <a:rPr lang="en-US" sz="2600" dirty="0"/>
              <a:t> hidden.</a:t>
            </a:r>
          </a:p>
          <a:p>
            <a:pPr>
              <a:lnSpc>
                <a:spcPct val="90000"/>
              </a:lnSpc>
              <a:buClr>
                <a:schemeClr val="accent2"/>
              </a:buClr>
              <a:buFont typeface="Wingdings" pitchFamily="2" charset="2"/>
              <a:buChar char="§"/>
            </a:pPr>
            <a:r>
              <a:rPr lang="en-US" sz="2600" b="1" dirty="0">
                <a:solidFill>
                  <a:srgbClr val="FF0000"/>
                </a:solidFill>
              </a:rPr>
              <a:t>NAME:</a:t>
            </a:r>
            <a:r>
              <a:rPr lang="en-US" sz="2600" dirty="0"/>
              <a:t> is the name of the variable to be sent to the CGI application.</a:t>
            </a:r>
          </a:p>
          <a:p>
            <a:pPr>
              <a:lnSpc>
                <a:spcPct val="90000"/>
              </a:lnSpc>
              <a:buClr>
                <a:schemeClr val="accent2"/>
              </a:buClr>
              <a:buFont typeface="Wingdings" pitchFamily="2" charset="2"/>
              <a:buChar char="§"/>
            </a:pPr>
            <a:r>
              <a:rPr lang="en-US" sz="2600" b="1" dirty="0">
                <a:solidFill>
                  <a:srgbClr val="FF0000"/>
                </a:solidFill>
              </a:rPr>
              <a:t>VALUE:</a:t>
            </a:r>
            <a:r>
              <a:rPr lang="en-US" sz="2600" dirty="0"/>
              <a:t> is usually set a value expected by the CGI application.</a:t>
            </a:r>
          </a:p>
        </p:txBody>
      </p:sp>
      <p:sp>
        <p:nvSpPr>
          <p:cNvPr id="109573" name="Rectangle 5"/>
          <p:cNvSpPr>
            <a:spLocks noGrp="1" noChangeArrowheads="1"/>
          </p:cNvSpPr>
          <p:nvPr>
            <p:ph type="title"/>
          </p:nvPr>
        </p:nvSpPr>
        <p:spPr>
          <a:xfrm>
            <a:off x="606425" y="274638"/>
            <a:ext cx="7931150" cy="762000"/>
          </a:xfrm>
          <a:noFill/>
          <a:ln/>
        </p:spPr>
        <p:txBody>
          <a:bodyPr>
            <a:flatTx/>
          </a:bodyPr>
          <a:lstStyle/>
          <a:p>
            <a:r>
              <a:rPr lang="en-US">
                <a:solidFill>
                  <a:srgbClr val="C00000"/>
                </a:solidFill>
              </a:rPr>
              <a:t>Hidden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CBD4AE8E-DC59-4281-9C34-E72B4ADEB46F}" type="slidenum">
              <a:rPr lang="ar-SA"/>
              <a:pPr/>
              <a:t>15</a:t>
            </a:fld>
            <a:endParaRPr lang="en-US"/>
          </a:p>
        </p:txBody>
      </p:sp>
      <p:sp>
        <p:nvSpPr>
          <p:cNvPr id="110594" name="Rectangle 2"/>
          <p:cNvSpPr>
            <a:spLocks noGrp="1" noChangeArrowheads="1"/>
          </p:cNvSpPr>
          <p:nvPr>
            <p:ph type="title"/>
          </p:nvPr>
        </p:nvSpPr>
        <p:spPr>
          <a:xfrm>
            <a:off x="457200" y="274638"/>
            <a:ext cx="8229600" cy="762000"/>
          </a:xfrm>
          <a:noFill/>
        </p:spPr>
        <p:txBody>
          <a:bodyPr>
            <a:flatTx/>
          </a:bodyPr>
          <a:lstStyle/>
          <a:p>
            <a:r>
              <a:rPr lang="en-US" dirty="0">
                <a:solidFill>
                  <a:srgbClr val="C00000"/>
                </a:solidFill>
              </a:rPr>
              <a:t>Check Box</a:t>
            </a:r>
          </a:p>
        </p:txBody>
      </p:sp>
      <p:sp>
        <p:nvSpPr>
          <p:cNvPr id="110595" name="Rectangle 3"/>
          <p:cNvSpPr>
            <a:spLocks noGrp="1" noChangeArrowheads="1"/>
          </p:cNvSpPr>
          <p:nvPr>
            <p:ph type="body" idx="1"/>
          </p:nvPr>
        </p:nvSpPr>
        <p:spPr>
          <a:xfrm>
            <a:off x="381000" y="1371600"/>
            <a:ext cx="8153400" cy="5181600"/>
          </a:xfrm>
          <a:noFill/>
          <a:ln>
            <a:solidFill>
              <a:srgbClr val="333300"/>
            </a:solidFill>
          </a:ln>
        </p:spPr>
        <p:txBody>
          <a:bodyPr>
            <a:normAutofit lnSpcReduction="10000"/>
          </a:bodyPr>
          <a:lstStyle/>
          <a:p>
            <a:pPr>
              <a:lnSpc>
                <a:spcPct val="90000"/>
              </a:lnSpc>
              <a:buClr>
                <a:schemeClr val="accent2"/>
              </a:buClr>
              <a:buNone/>
            </a:pPr>
            <a:r>
              <a:rPr lang="en-US" sz="2800" b="1" dirty="0">
                <a:solidFill>
                  <a:srgbClr val="0000FF"/>
                </a:solidFill>
              </a:rPr>
              <a:t>Check Box</a:t>
            </a:r>
            <a:r>
              <a:rPr lang="en-US" sz="2400" b="1" dirty="0"/>
              <a:t>:</a:t>
            </a:r>
            <a:r>
              <a:rPr lang="en-US" sz="2400" dirty="0"/>
              <a:t> Check boxes allow the users to select more than one option</a:t>
            </a:r>
            <a:r>
              <a:rPr lang="en-US" sz="2400" dirty="0" smtClean="0"/>
              <a:t>.</a:t>
            </a:r>
          </a:p>
          <a:p>
            <a:pPr>
              <a:lnSpc>
                <a:spcPct val="90000"/>
              </a:lnSpc>
              <a:buClr>
                <a:schemeClr val="accent2"/>
              </a:buClr>
              <a:buNone/>
            </a:pPr>
            <a:endParaRPr lang="en-US" sz="2400" dirty="0"/>
          </a:p>
          <a:p>
            <a:pPr>
              <a:lnSpc>
                <a:spcPct val="90000"/>
              </a:lnSpc>
              <a:buClr>
                <a:schemeClr val="accent2"/>
              </a:buClr>
              <a:buFont typeface="Wingdings" pitchFamily="2" charset="2"/>
              <a:buNone/>
            </a:pPr>
            <a:r>
              <a:rPr lang="en-US" sz="2400" b="1" dirty="0">
                <a:solidFill>
                  <a:srgbClr val="FF0000"/>
                </a:solidFill>
              </a:rPr>
              <a:t>&lt;INPUT TYPE=“CHECKBOX”&gt;</a:t>
            </a:r>
          </a:p>
          <a:p>
            <a:pPr>
              <a:lnSpc>
                <a:spcPct val="90000"/>
              </a:lnSpc>
              <a:buClr>
                <a:schemeClr val="accent2"/>
              </a:buClr>
              <a:buFont typeface="Wingdings" pitchFamily="2" charset="2"/>
              <a:buNone/>
            </a:pPr>
            <a:r>
              <a:rPr lang="en-US" sz="2400" dirty="0"/>
              <a:t>Browser will display </a:t>
            </a:r>
          </a:p>
          <a:p>
            <a:pPr>
              <a:lnSpc>
                <a:spcPct val="90000"/>
              </a:lnSpc>
              <a:buClr>
                <a:schemeClr val="accent2"/>
              </a:buClr>
              <a:buFont typeface="Wingdings" pitchFamily="2" charset="2"/>
              <a:buNone/>
            </a:pPr>
            <a:endParaRPr lang="en-US" sz="2400" dirty="0"/>
          </a:p>
          <a:p>
            <a:pPr>
              <a:lnSpc>
                <a:spcPct val="90000"/>
              </a:lnSpc>
              <a:buClr>
                <a:schemeClr val="accent2"/>
              </a:buClr>
              <a:buFont typeface="Wingdings" pitchFamily="2" charset="2"/>
              <a:buNone/>
            </a:pPr>
            <a:r>
              <a:rPr lang="en-US" sz="2400" dirty="0"/>
              <a:t>Checkboxes have the following attributes:</a:t>
            </a:r>
          </a:p>
          <a:p>
            <a:pPr>
              <a:lnSpc>
                <a:spcPct val="90000"/>
              </a:lnSpc>
              <a:buClr>
                <a:schemeClr val="accent2"/>
              </a:buClr>
              <a:buFont typeface="Wingdings" pitchFamily="2" charset="2"/>
              <a:buChar char="§"/>
            </a:pPr>
            <a:r>
              <a:rPr lang="en-US" sz="2400" b="1" dirty="0">
                <a:solidFill>
                  <a:srgbClr val="FF0000"/>
                </a:solidFill>
              </a:rPr>
              <a:t>TYPE:</a:t>
            </a:r>
            <a:r>
              <a:rPr lang="en-US" sz="2400" dirty="0"/>
              <a:t> checkbox.</a:t>
            </a:r>
          </a:p>
          <a:p>
            <a:pPr>
              <a:lnSpc>
                <a:spcPct val="90000"/>
              </a:lnSpc>
              <a:buClr>
                <a:schemeClr val="accent2"/>
              </a:buClr>
              <a:buFont typeface="Wingdings" pitchFamily="2" charset="2"/>
              <a:buChar char="§"/>
            </a:pPr>
            <a:r>
              <a:rPr lang="en-US" sz="2400" b="1" dirty="0">
                <a:solidFill>
                  <a:srgbClr val="FF0000"/>
                </a:solidFill>
              </a:rPr>
              <a:t>CHECKED:</a:t>
            </a:r>
            <a:r>
              <a:rPr lang="en-US" sz="2400" dirty="0"/>
              <a:t> is blank or CHECKED as the initial  </a:t>
            </a:r>
          </a:p>
          <a:p>
            <a:pPr>
              <a:lnSpc>
                <a:spcPct val="90000"/>
              </a:lnSpc>
              <a:buClr>
                <a:schemeClr val="accent2"/>
              </a:buClr>
              <a:buFont typeface="Wingdings" pitchFamily="2" charset="2"/>
              <a:buNone/>
            </a:pPr>
            <a:r>
              <a:rPr lang="en-US" sz="2400" dirty="0"/>
              <a:t>status.</a:t>
            </a:r>
          </a:p>
          <a:p>
            <a:pPr>
              <a:lnSpc>
                <a:spcPct val="90000"/>
              </a:lnSpc>
              <a:buClr>
                <a:schemeClr val="accent2"/>
              </a:buClr>
              <a:buFont typeface="Wingdings" pitchFamily="2" charset="2"/>
              <a:buChar char="§"/>
            </a:pPr>
            <a:r>
              <a:rPr lang="en-US" sz="2400" b="1" dirty="0">
                <a:solidFill>
                  <a:srgbClr val="FF0000"/>
                </a:solidFill>
              </a:rPr>
              <a:t>NAME</a:t>
            </a:r>
            <a:r>
              <a:rPr lang="en-US" sz="2400" b="1" i="1" dirty="0"/>
              <a:t>:</a:t>
            </a:r>
            <a:r>
              <a:rPr lang="en-US" sz="2400" dirty="0"/>
              <a:t> is the name of the variable to be sent to the</a:t>
            </a:r>
          </a:p>
          <a:p>
            <a:pPr>
              <a:lnSpc>
                <a:spcPct val="90000"/>
              </a:lnSpc>
              <a:buClr>
                <a:schemeClr val="accent2"/>
              </a:buClr>
              <a:buFont typeface="Wingdings" pitchFamily="2" charset="2"/>
              <a:buNone/>
            </a:pPr>
            <a:r>
              <a:rPr lang="en-US" sz="2400" dirty="0"/>
              <a:t>CGI application.</a:t>
            </a:r>
          </a:p>
          <a:p>
            <a:pPr>
              <a:lnSpc>
                <a:spcPct val="90000"/>
              </a:lnSpc>
              <a:buClr>
                <a:schemeClr val="accent2"/>
              </a:buClr>
              <a:buFont typeface="Wingdings" pitchFamily="2" charset="2"/>
              <a:buChar char="§"/>
            </a:pPr>
            <a:r>
              <a:rPr lang="en-US" sz="2400" b="1" dirty="0">
                <a:solidFill>
                  <a:srgbClr val="FF0000"/>
                </a:solidFill>
              </a:rPr>
              <a:t>VALUE:</a:t>
            </a:r>
            <a:r>
              <a:rPr lang="en-US" sz="2400" dirty="0"/>
              <a:t> is usually set to a value.</a:t>
            </a:r>
          </a:p>
        </p:txBody>
      </p:sp>
      <p:graphicFrame>
        <p:nvGraphicFramePr>
          <p:cNvPr id="110596" name="Object 4"/>
          <p:cNvGraphicFramePr>
            <a:graphicFrameLocks noChangeAspect="1"/>
          </p:cNvGraphicFramePr>
          <p:nvPr/>
        </p:nvGraphicFramePr>
        <p:xfrm>
          <a:off x="3276600" y="2895600"/>
          <a:ext cx="533400" cy="533400"/>
        </p:xfrm>
        <a:graphic>
          <a:graphicData uri="http://schemas.openxmlformats.org/presentationml/2006/ole">
            <p:oleObj spid="_x0000_s3074" name="Bitmap Image" r:id="rId3" imgW="257007" imgH="257007" progId="PBrush">
              <p:embed/>
            </p:oleObj>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3783923-D3C8-4C75-8CEC-C1991950E671}" type="slidenum">
              <a:rPr lang="ar-SA"/>
              <a:pPr/>
              <a:t>16</a:t>
            </a:fld>
            <a:endParaRPr lang="en-US"/>
          </a:p>
        </p:txBody>
      </p:sp>
      <p:sp>
        <p:nvSpPr>
          <p:cNvPr id="172036" name="Rectangle 4"/>
          <p:cNvSpPr>
            <a:spLocks noChangeArrowheads="1"/>
          </p:cNvSpPr>
          <p:nvPr/>
        </p:nvSpPr>
        <p:spPr bwMode="auto">
          <a:xfrm>
            <a:off x="152400" y="1219200"/>
            <a:ext cx="9144000" cy="5262979"/>
          </a:xfrm>
          <a:prstGeom prst="rect">
            <a:avLst/>
          </a:prstGeom>
          <a:noFill/>
          <a:ln w="9525">
            <a:noFill/>
            <a:miter lim="800000"/>
            <a:headEnd/>
            <a:tailEnd/>
          </a:ln>
          <a:effectLst/>
        </p:spPr>
        <p:txBody>
          <a:bodyPr>
            <a:spAutoFit/>
          </a:bodyPr>
          <a:lstStyle/>
          <a:p>
            <a:pPr eaLnBrk="1" hangingPunct="1"/>
            <a:r>
              <a:rPr lang="en-US" sz="2400" b="1" dirty="0">
                <a:solidFill>
                  <a:srgbClr val="FF0000"/>
                </a:solidFill>
              </a:rPr>
              <a:t>&lt;HTML&gt; &lt;HEAD&gt;&lt;TITLE&gt;</a:t>
            </a:r>
            <a:r>
              <a:rPr lang="en-US" sz="2400" b="1" dirty="0" err="1">
                <a:solidFill>
                  <a:srgbClr val="FF0000"/>
                </a:solidFill>
              </a:rPr>
              <a:t>CheckBoxType</a:t>
            </a:r>
            <a:r>
              <a:rPr lang="en-US" sz="2400" b="1" dirty="0">
                <a:solidFill>
                  <a:srgbClr val="FF0000"/>
                </a:solidFill>
              </a:rPr>
              <a:t>&lt;/TITLE&gt; &lt;/HEAD&gt;</a:t>
            </a:r>
          </a:p>
          <a:p>
            <a:pPr eaLnBrk="1" hangingPunct="1"/>
            <a:r>
              <a:rPr lang="en-US" sz="2400" b="1" dirty="0">
                <a:solidFill>
                  <a:srgbClr val="FF0000"/>
                </a:solidFill>
              </a:rPr>
              <a:t>&lt;BODY&gt;</a:t>
            </a:r>
          </a:p>
          <a:p>
            <a:pPr eaLnBrk="1" hangingPunct="1"/>
            <a:r>
              <a:rPr lang="en-US" sz="2400" b="1" dirty="0"/>
              <a:t>&lt;h1&gt; &lt;font color=green&gt;Please check one of the following&lt;/font&gt;&lt;/h1&gt;</a:t>
            </a:r>
          </a:p>
          <a:p>
            <a:pPr eaLnBrk="1" hangingPunct="1"/>
            <a:r>
              <a:rPr lang="en-US" sz="2400" b="1" dirty="0">
                <a:solidFill>
                  <a:srgbClr val="0000CC"/>
                </a:solidFill>
              </a:rPr>
              <a:t>&lt;FORM name="</a:t>
            </a:r>
            <a:r>
              <a:rPr lang="en-US" sz="2400" b="1" dirty="0" smtClean="0">
                <a:solidFill>
                  <a:srgbClr val="0000CC"/>
                </a:solidFill>
              </a:rPr>
              <a:t>form3</a:t>
            </a:r>
            <a:r>
              <a:rPr lang="en-US" sz="2400" b="1" dirty="0">
                <a:solidFill>
                  <a:srgbClr val="0000CC"/>
                </a:solidFill>
              </a:rPr>
              <a:t>"  Action="</a:t>
            </a:r>
            <a:r>
              <a:rPr lang="en-US" sz="2400" b="1" dirty="0" err="1">
                <a:solidFill>
                  <a:srgbClr val="0000CC"/>
                </a:solidFill>
              </a:rPr>
              <a:t>url</a:t>
            </a:r>
            <a:r>
              <a:rPr lang="en-US" sz="2400" b="1" dirty="0">
                <a:solidFill>
                  <a:srgbClr val="0000CC"/>
                </a:solidFill>
              </a:rPr>
              <a:t>"  method="get"&gt;</a:t>
            </a:r>
          </a:p>
          <a:p>
            <a:pPr eaLnBrk="1" hangingPunct="1"/>
            <a:r>
              <a:rPr lang="en-US" sz="2400" b="1" dirty="0"/>
              <a:t>&lt;font color=red&gt; Select Country: &lt;/font&gt;&lt;BR&gt;</a:t>
            </a:r>
          </a:p>
          <a:p>
            <a:pPr eaLnBrk="1" hangingPunct="1"/>
            <a:r>
              <a:rPr lang="en-US" sz="2400" b="1" dirty="0" smtClean="0">
                <a:solidFill>
                  <a:srgbClr val="FF0000"/>
                </a:solidFill>
              </a:rPr>
              <a:t>Sri Lanka:&lt;</a:t>
            </a:r>
            <a:r>
              <a:rPr lang="en-US" sz="2400" b="1" dirty="0">
                <a:solidFill>
                  <a:srgbClr val="FF0000"/>
                </a:solidFill>
              </a:rPr>
              <a:t>INPUT TYPE="</a:t>
            </a:r>
            <a:r>
              <a:rPr lang="en-US" sz="2400" b="1" dirty="0" err="1">
                <a:solidFill>
                  <a:srgbClr val="FF0000"/>
                </a:solidFill>
              </a:rPr>
              <a:t>CheckBox</a:t>
            </a:r>
            <a:r>
              <a:rPr lang="en-US" sz="2400" b="1" dirty="0">
                <a:solidFill>
                  <a:srgbClr val="FF0000"/>
                </a:solidFill>
              </a:rPr>
              <a:t>" Name="country"  CHECKED&gt;&lt;BR&gt;</a:t>
            </a:r>
          </a:p>
          <a:p>
            <a:pPr eaLnBrk="1" hangingPunct="1"/>
            <a:r>
              <a:rPr lang="en-US" sz="2400" b="1" dirty="0" smtClean="0">
                <a:solidFill>
                  <a:srgbClr val="0000CC"/>
                </a:solidFill>
              </a:rPr>
              <a:t>England&lt;INPUT </a:t>
            </a:r>
            <a:r>
              <a:rPr lang="en-US" sz="2400" b="1" dirty="0">
                <a:solidFill>
                  <a:srgbClr val="0000CC"/>
                </a:solidFill>
              </a:rPr>
              <a:t>TYPE="</a:t>
            </a:r>
            <a:r>
              <a:rPr lang="en-US" sz="2400" b="1" dirty="0" err="1">
                <a:solidFill>
                  <a:srgbClr val="0000CC"/>
                </a:solidFill>
              </a:rPr>
              <a:t>CheckBox</a:t>
            </a:r>
            <a:r>
              <a:rPr lang="en-US" sz="2400" b="1" dirty="0">
                <a:solidFill>
                  <a:srgbClr val="0000CC"/>
                </a:solidFill>
              </a:rPr>
              <a:t>"  Name="country"&gt;&lt;BR&gt;</a:t>
            </a:r>
          </a:p>
          <a:p>
            <a:pPr eaLnBrk="1" hangingPunct="1"/>
            <a:r>
              <a:rPr lang="en-US" sz="2400" b="1" dirty="0" smtClean="0">
                <a:solidFill>
                  <a:srgbClr val="0000CC"/>
                </a:solidFill>
              </a:rPr>
              <a:t>France&lt;INPUT </a:t>
            </a:r>
            <a:r>
              <a:rPr lang="en-US" sz="2400" b="1" dirty="0">
                <a:solidFill>
                  <a:srgbClr val="0000CC"/>
                </a:solidFill>
              </a:rPr>
              <a:t>TYPE="</a:t>
            </a:r>
            <a:r>
              <a:rPr lang="en-US" sz="2400" b="1" dirty="0" err="1">
                <a:solidFill>
                  <a:srgbClr val="0000CC"/>
                </a:solidFill>
              </a:rPr>
              <a:t>CheckBox</a:t>
            </a:r>
            <a:r>
              <a:rPr lang="en-US" sz="2400" b="1" dirty="0">
                <a:solidFill>
                  <a:srgbClr val="0000CC"/>
                </a:solidFill>
              </a:rPr>
              <a:t>" Name="country"&gt;&lt;BR&gt; &lt;BR&gt;</a:t>
            </a:r>
          </a:p>
          <a:p>
            <a:pPr eaLnBrk="1" hangingPunct="1"/>
            <a:r>
              <a:rPr lang="en-US" sz="2400" b="1" dirty="0"/>
              <a:t>&lt;font color=blue&gt;Select Language:&lt;/font&gt;&lt;BR&gt;</a:t>
            </a:r>
          </a:p>
          <a:p>
            <a:pPr eaLnBrk="1" hangingPunct="1"/>
            <a:r>
              <a:rPr lang="en-US" sz="2400" b="1" dirty="0" smtClean="0">
                <a:solidFill>
                  <a:srgbClr val="009900"/>
                </a:solidFill>
              </a:rPr>
              <a:t>Sinhala&lt;INPUT </a:t>
            </a:r>
            <a:r>
              <a:rPr lang="en-US" sz="2400" b="1" dirty="0">
                <a:solidFill>
                  <a:srgbClr val="009900"/>
                </a:solidFill>
              </a:rPr>
              <a:t>TYPE="</a:t>
            </a:r>
            <a:r>
              <a:rPr lang="en-US" sz="2400" b="1" dirty="0" err="1">
                <a:solidFill>
                  <a:srgbClr val="009900"/>
                </a:solidFill>
              </a:rPr>
              <a:t>CheckBox</a:t>
            </a:r>
            <a:r>
              <a:rPr lang="en-US" sz="2400" b="1" dirty="0">
                <a:solidFill>
                  <a:srgbClr val="009900"/>
                </a:solidFill>
              </a:rPr>
              <a:t>" Name="language"  CHECKED&gt;&lt;BR&gt; </a:t>
            </a:r>
            <a:r>
              <a:rPr lang="en-US" sz="2400" b="1" dirty="0" smtClean="0">
                <a:solidFill>
                  <a:srgbClr val="009900"/>
                </a:solidFill>
              </a:rPr>
              <a:t>English&lt;INPUT </a:t>
            </a:r>
            <a:r>
              <a:rPr lang="en-US" sz="2400" b="1" dirty="0">
                <a:solidFill>
                  <a:srgbClr val="009900"/>
                </a:solidFill>
              </a:rPr>
              <a:t>TYPE="</a:t>
            </a:r>
            <a:r>
              <a:rPr lang="en-US" sz="2400" b="1" dirty="0" err="1">
                <a:solidFill>
                  <a:srgbClr val="009900"/>
                </a:solidFill>
              </a:rPr>
              <a:t>CheckBox</a:t>
            </a:r>
            <a:r>
              <a:rPr lang="en-US" sz="2400" b="1" dirty="0">
                <a:solidFill>
                  <a:srgbClr val="009900"/>
                </a:solidFill>
              </a:rPr>
              <a:t>" Name="language"&gt;&lt;BR&gt;</a:t>
            </a:r>
          </a:p>
          <a:p>
            <a:pPr eaLnBrk="1" hangingPunct="1"/>
            <a:r>
              <a:rPr lang="en-US" sz="2400" b="1" dirty="0" smtClean="0">
                <a:solidFill>
                  <a:srgbClr val="009900"/>
                </a:solidFill>
              </a:rPr>
              <a:t>French&lt;INPUT </a:t>
            </a:r>
            <a:r>
              <a:rPr lang="en-US" sz="2400" b="1" dirty="0">
                <a:solidFill>
                  <a:srgbClr val="009900"/>
                </a:solidFill>
              </a:rPr>
              <a:t>TYPE="</a:t>
            </a:r>
            <a:r>
              <a:rPr lang="en-US" sz="2400" b="1" dirty="0" err="1">
                <a:solidFill>
                  <a:srgbClr val="009900"/>
                </a:solidFill>
              </a:rPr>
              <a:t>CheckBox</a:t>
            </a:r>
            <a:r>
              <a:rPr lang="en-US" sz="2400" b="1" dirty="0">
                <a:solidFill>
                  <a:srgbClr val="009900"/>
                </a:solidFill>
              </a:rPr>
              <a:t>" Name="language"&gt;</a:t>
            </a:r>
            <a:r>
              <a:rPr lang="en-US" sz="2400" b="1" dirty="0"/>
              <a:t> </a:t>
            </a:r>
            <a:r>
              <a:rPr lang="en-US" sz="2400" b="1" dirty="0">
                <a:solidFill>
                  <a:srgbClr val="FF0000"/>
                </a:solidFill>
              </a:rPr>
              <a:t>&lt;BR&gt;&lt;/FORM&gt; &lt;/BODY&gt;&lt;/HTML&gt;</a:t>
            </a:r>
          </a:p>
        </p:txBody>
      </p:sp>
      <p:sp>
        <p:nvSpPr>
          <p:cNvPr id="4" name="Rectangle 4"/>
          <p:cNvSpPr>
            <a:spLocks noGrp="1" noChangeArrowheads="1"/>
          </p:cNvSpPr>
          <p:nvPr>
            <p:ph type="title"/>
          </p:nvPr>
        </p:nvSpPr>
        <p:spPr>
          <a:xfrm>
            <a:off x="381000" y="228600"/>
            <a:ext cx="8229600" cy="762000"/>
          </a:xfrm>
          <a:noFill/>
          <a:ln/>
        </p:spPr>
        <p:txBody>
          <a:bodyPr>
            <a:normAutofit/>
            <a:flatTx/>
          </a:bodyPr>
          <a:lstStyle/>
          <a:p>
            <a:r>
              <a:rPr lang="en-US" sz="4000" dirty="0">
                <a:solidFill>
                  <a:srgbClr val="C00000"/>
                </a:solidFill>
              </a:rPr>
              <a:t>Example on </a:t>
            </a:r>
            <a:r>
              <a:rPr lang="en-US" sz="4000" dirty="0" smtClean="0">
                <a:solidFill>
                  <a:srgbClr val="C00000"/>
                </a:solidFill>
              </a:rPr>
              <a:t>Check Box</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A292AEC-21DB-459E-960E-701092752364}" type="slidenum">
              <a:rPr lang="ar-SA"/>
              <a:pPr/>
              <a:t>17</a:t>
            </a:fld>
            <a:endParaRPr lang="en-US"/>
          </a:p>
        </p:txBody>
      </p:sp>
      <p:sp>
        <p:nvSpPr>
          <p:cNvPr id="173060" name="Rectangle 4"/>
          <p:cNvSpPr>
            <a:spLocks noGrp="1" noChangeArrowheads="1"/>
          </p:cNvSpPr>
          <p:nvPr>
            <p:ph type="title"/>
          </p:nvPr>
        </p:nvSpPr>
        <p:spPr>
          <a:xfrm>
            <a:off x="609600" y="228600"/>
            <a:ext cx="8229600" cy="762000"/>
          </a:xfrm>
          <a:noFill/>
          <a:ln/>
        </p:spPr>
        <p:txBody>
          <a:bodyPr>
            <a:flatTx/>
          </a:bodyPr>
          <a:lstStyle/>
          <a:p>
            <a:r>
              <a:rPr lang="en-US">
                <a:solidFill>
                  <a:srgbClr val="C00000"/>
                </a:solidFill>
              </a:rPr>
              <a:t>Output</a:t>
            </a:r>
          </a:p>
        </p:txBody>
      </p:sp>
      <p:pic>
        <p:nvPicPr>
          <p:cNvPr id="30721" name="Picture 1" descr="C:\Users\Full Time\Desktop\Untitled3.png"/>
          <p:cNvPicPr>
            <a:picLocks noChangeAspect="1" noChangeArrowheads="1"/>
          </p:cNvPicPr>
          <p:nvPr/>
        </p:nvPicPr>
        <p:blipFill>
          <a:blip r:embed="rId2" cstate="print"/>
          <a:srcRect b="19094"/>
          <a:stretch>
            <a:fillRect/>
          </a:stretch>
        </p:blipFill>
        <p:spPr bwMode="auto">
          <a:xfrm>
            <a:off x="1447800" y="1219200"/>
            <a:ext cx="7162800" cy="5326184"/>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303FBECC-765C-4683-BC7E-DBEA5BF4238D}" type="slidenum">
              <a:rPr lang="ar-SA"/>
              <a:pPr/>
              <a:t>18</a:t>
            </a:fld>
            <a:endParaRPr lang="en-US"/>
          </a:p>
        </p:txBody>
      </p:sp>
      <p:sp>
        <p:nvSpPr>
          <p:cNvPr id="111619" name="Rectangle 3"/>
          <p:cNvSpPr>
            <a:spLocks noGrp="1" noChangeArrowheads="1"/>
          </p:cNvSpPr>
          <p:nvPr>
            <p:ph type="body" idx="1"/>
          </p:nvPr>
        </p:nvSpPr>
        <p:spPr>
          <a:xfrm>
            <a:off x="685800" y="1524000"/>
            <a:ext cx="7772400" cy="5105400"/>
          </a:xfrm>
          <a:noFill/>
          <a:ln>
            <a:solidFill>
              <a:srgbClr val="333300"/>
            </a:solidFill>
          </a:ln>
        </p:spPr>
        <p:txBody>
          <a:bodyPr/>
          <a:lstStyle/>
          <a:p>
            <a:pPr>
              <a:lnSpc>
                <a:spcPct val="80000"/>
              </a:lnSpc>
              <a:buClr>
                <a:schemeClr val="accent2"/>
              </a:buClr>
              <a:buNone/>
            </a:pPr>
            <a:r>
              <a:rPr lang="en-US" sz="2800" b="1" dirty="0">
                <a:solidFill>
                  <a:srgbClr val="0000FF"/>
                </a:solidFill>
              </a:rPr>
              <a:t>Radio Button</a:t>
            </a:r>
            <a:r>
              <a:rPr lang="en-US" sz="2800" b="1" dirty="0"/>
              <a:t>:</a:t>
            </a:r>
            <a:r>
              <a:rPr lang="en-US" sz="1600" dirty="0"/>
              <a:t> </a:t>
            </a:r>
            <a:r>
              <a:rPr lang="en-US" sz="2200" dirty="0"/>
              <a:t>Radio buttons allow the users to select</a:t>
            </a:r>
          </a:p>
          <a:p>
            <a:pPr>
              <a:lnSpc>
                <a:spcPct val="80000"/>
              </a:lnSpc>
              <a:buClr>
                <a:schemeClr val="accent2"/>
              </a:buClr>
              <a:buFont typeface="Wingdings" pitchFamily="2" charset="2"/>
              <a:buNone/>
            </a:pPr>
            <a:r>
              <a:rPr lang="en-US" sz="2200" dirty="0"/>
              <a:t>only one option</a:t>
            </a:r>
            <a:r>
              <a:rPr lang="en-US" sz="2200" dirty="0" smtClean="0"/>
              <a:t>.</a:t>
            </a:r>
          </a:p>
          <a:p>
            <a:pPr>
              <a:lnSpc>
                <a:spcPct val="80000"/>
              </a:lnSpc>
              <a:buClr>
                <a:schemeClr val="accent2"/>
              </a:buClr>
              <a:buFont typeface="Wingdings" pitchFamily="2" charset="2"/>
              <a:buNone/>
            </a:pPr>
            <a:endParaRPr lang="en-US" sz="2200" dirty="0"/>
          </a:p>
          <a:p>
            <a:pPr>
              <a:lnSpc>
                <a:spcPct val="80000"/>
              </a:lnSpc>
              <a:buClr>
                <a:schemeClr val="accent2"/>
              </a:buClr>
              <a:buFont typeface="Wingdings" pitchFamily="2" charset="2"/>
              <a:buNone/>
            </a:pPr>
            <a:r>
              <a:rPr lang="en-US" sz="2200" b="1" dirty="0">
                <a:solidFill>
                  <a:srgbClr val="FF0000"/>
                </a:solidFill>
              </a:rPr>
              <a:t>&lt;INPUT TYPE=“RADIO”&gt;</a:t>
            </a:r>
          </a:p>
          <a:p>
            <a:pPr>
              <a:lnSpc>
                <a:spcPct val="80000"/>
              </a:lnSpc>
              <a:buClr>
                <a:schemeClr val="accent2"/>
              </a:buClr>
              <a:buFont typeface="Wingdings" pitchFamily="2" charset="2"/>
              <a:buNone/>
            </a:pPr>
            <a:r>
              <a:rPr lang="en-US" sz="2200" dirty="0"/>
              <a:t>Browser will display </a:t>
            </a:r>
          </a:p>
          <a:p>
            <a:pPr>
              <a:lnSpc>
                <a:spcPct val="80000"/>
              </a:lnSpc>
              <a:buClr>
                <a:schemeClr val="accent2"/>
              </a:buClr>
              <a:buFont typeface="Wingdings" pitchFamily="2" charset="2"/>
              <a:buNone/>
            </a:pPr>
            <a:endParaRPr lang="en-US" sz="2200" dirty="0"/>
          </a:p>
          <a:p>
            <a:pPr>
              <a:lnSpc>
                <a:spcPct val="80000"/>
              </a:lnSpc>
              <a:buClr>
                <a:schemeClr val="accent2"/>
              </a:buClr>
              <a:buFont typeface="Wingdings" pitchFamily="2" charset="2"/>
              <a:buNone/>
            </a:pPr>
            <a:r>
              <a:rPr lang="en-US" sz="2200" dirty="0"/>
              <a:t>Radio buttons have the following attributes:</a:t>
            </a:r>
          </a:p>
          <a:p>
            <a:pPr>
              <a:lnSpc>
                <a:spcPct val="80000"/>
              </a:lnSpc>
              <a:buClr>
                <a:schemeClr val="accent2"/>
              </a:buClr>
              <a:buFont typeface="Wingdings" pitchFamily="2" charset="2"/>
              <a:buChar char="§"/>
            </a:pPr>
            <a:r>
              <a:rPr lang="en-US" sz="2200" b="1" dirty="0">
                <a:solidFill>
                  <a:srgbClr val="FF0000"/>
                </a:solidFill>
              </a:rPr>
              <a:t>TYPE:</a:t>
            </a:r>
            <a:r>
              <a:rPr lang="en-US" sz="2200" dirty="0"/>
              <a:t> radio.</a:t>
            </a:r>
          </a:p>
          <a:p>
            <a:pPr>
              <a:lnSpc>
                <a:spcPct val="80000"/>
              </a:lnSpc>
              <a:buClr>
                <a:schemeClr val="accent2"/>
              </a:buClr>
              <a:buFont typeface="Wingdings" pitchFamily="2" charset="2"/>
              <a:buChar char="§"/>
            </a:pPr>
            <a:r>
              <a:rPr lang="en-US" sz="2200" b="1" dirty="0">
                <a:solidFill>
                  <a:srgbClr val="FF0000"/>
                </a:solidFill>
              </a:rPr>
              <a:t>CHECKED:</a:t>
            </a:r>
            <a:r>
              <a:rPr lang="en-US" sz="2200" dirty="0"/>
              <a:t> is blank or CHECKED as the initial </a:t>
            </a:r>
          </a:p>
          <a:p>
            <a:pPr>
              <a:lnSpc>
                <a:spcPct val="80000"/>
              </a:lnSpc>
              <a:buClr>
                <a:schemeClr val="accent2"/>
              </a:buClr>
              <a:buFont typeface="Wingdings" pitchFamily="2" charset="2"/>
              <a:buNone/>
            </a:pPr>
            <a:r>
              <a:rPr lang="en-US" sz="2200" dirty="0"/>
              <a:t>                        status. Only one radio button can be </a:t>
            </a:r>
          </a:p>
          <a:p>
            <a:pPr>
              <a:lnSpc>
                <a:spcPct val="80000"/>
              </a:lnSpc>
              <a:buClr>
                <a:schemeClr val="accent2"/>
              </a:buClr>
              <a:buFont typeface="Wingdings" pitchFamily="2" charset="2"/>
              <a:buNone/>
            </a:pPr>
            <a:r>
              <a:rPr lang="en-US" sz="2200" dirty="0"/>
              <a:t>                         checked</a:t>
            </a:r>
          </a:p>
          <a:p>
            <a:pPr>
              <a:lnSpc>
                <a:spcPct val="80000"/>
              </a:lnSpc>
              <a:buClr>
                <a:schemeClr val="accent2"/>
              </a:buClr>
              <a:buFont typeface="Wingdings" pitchFamily="2" charset="2"/>
              <a:buChar char="§"/>
            </a:pPr>
            <a:r>
              <a:rPr lang="en-US" sz="2400" b="1" dirty="0">
                <a:solidFill>
                  <a:srgbClr val="FF0000"/>
                </a:solidFill>
              </a:rPr>
              <a:t>NAME:</a:t>
            </a:r>
            <a:r>
              <a:rPr lang="en-US" sz="2200" dirty="0"/>
              <a:t> is the name of the variable to be sent to the </a:t>
            </a:r>
          </a:p>
          <a:p>
            <a:pPr>
              <a:lnSpc>
                <a:spcPct val="80000"/>
              </a:lnSpc>
              <a:buClr>
                <a:schemeClr val="accent2"/>
              </a:buClr>
              <a:buFont typeface="Wingdings" pitchFamily="2" charset="2"/>
              <a:buNone/>
            </a:pPr>
            <a:r>
              <a:rPr lang="en-US" sz="2200" dirty="0"/>
              <a:t>                 CGI application.</a:t>
            </a:r>
          </a:p>
          <a:p>
            <a:pPr>
              <a:lnSpc>
                <a:spcPct val="80000"/>
              </a:lnSpc>
              <a:buClr>
                <a:schemeClr val="accent2"/>
              </a:buClr>
              <a:buFont typeface="Wingdings" pitchFamily="2" charset="2"/>
              <a:buChar char="§"/>
            </a:pPr>
            <a:r>
              <a:rPr lang="en-US" sz="2200" b="1" dirty="0">
                <a:solidFill>
                  <a:srgbClr val="FF0000"/>
                </a:solidFill>
              </a:rPr>
              <a:t>VALUE:</a:t>
            </a:r>
            <a:r>
              <a:rPr lang="en-US" sz="2200" dirty="0"/>
              <a:t> usually has a set value.</a:t>
            </a:r>
          </a:p>
          <a:p>
            <a:pPr>
              <a:lnSpc>
                <a:spcPct val="80000"/>
              </a:lnSpc>
              <a:buClr>
                <a:schemeClr val="accent2"/>
              </a:buClr>
              <a:buFont typeface="Wingdings" pitchFamily="2" charset="2"/>
              <a:buNone/>
            </a:pPr>
            <a:endParaRPr lang="en-US" sz="2200" dirty="0"/>
          </a:p>
        </p:txBody>
      </p:sp>
      <p:graphicFrame>
        <p:nvGraphicFramePr>
          <p:cNvPr id="111620" name="Object 4"/>
          <p:cNvGraphicFramePr>
            <a:graphicFrameLocks noChangeAspect="1"/>
          </p:cNvGraphicFramePr>
          <p:nvPr/>
        </p:nvGraphicFramePr>
        <p:xfrm>
          <a:off x="3429000" y="2971800"/>
          <a:ext cx="609600" cy="576263"/>
        </p:xfrm>
        <a:graphic>
          <a:graphicData uri="http://schemas.openxmlformats.org/presentationml/2006/ole">
            <p:oleObj spid="_x0000_s4098" name="Bitmap Image" r:id="rId3" imgW="181096" imgH="171338" progId="PBrush">
              <p:embed/>
            </p:oleObj>
          </a:graphicData>
        </a:graphic>
      </p:graphicFrame>
      <p:sp>
        <p:nvSpPr>
          <p:cNvPr id="111622" name="Rectangle 6"/>
          <p:cNvSpPr>
            <a:spLocks noGrp="1" noChangeArrowheads="1"/>
          </p:cNvSpPr>
          <p:nvPr>
            <p:ph type="title"/>
          </p:nvPr>
        </p:nvSpPr>
        <p:spPr>
          <a:xfrm>
            <a:off x="533400" y="381000"/>
            <a:ext cx="8229600" cy="762000"/>
          </a:xfrm>
          <a:noFill/>
          <a:ln/>
        </p:spPr>
        <p:txBody>
          <a:bodyPr>
            <a:normAutofit fontScale="90000"/>
            <a:flatTx/>
          </a:bodyPr>
          <a:lstStyle/>
          <a:p>
            <a:r>
              <a:rPr lang="en-US" sz="5400" dirty="0">
                <a:solidFill>
                  <a:srgbClr val="C00000"/>
                </a:solidFill>
              </a:rPr>
              <a:t>Radio Button</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4C2C5B8F-BCA8-4175-B341-07F4C0C2A428}" type="slidenum">
              <a:rPr lang="ar-SA"/>
              <a:pPr/>
              <a:t>19</a:t>
            </a:fld>
            <a:endParaRPr lang="en-US"/>
          </a:p>
        </p:txBody>
      </p:sp>
      <p:sp>
        <p:nvSpPr>
          <p:cNvPr id="112650" name="Rectangle 10"/>
          <p:cNvSpPr>
            <a:spLocks noChangeArrowheads="1"/>
          </p:cNvSpPr>
          <p:nvPr/>
        </p:nvSpPr>
        <p:spPr bwMode="auto">
          <a:xfrm>
            <a:off x="304800" y="1371600"/>
            <a:ext cx="8839200" cy="5334000"/>
          </a:xfrm>
          <a:prstGeom prst="rect">
            <a:avLst/>
          </a:prstGeom>
          <a:noFill/>
          <a:ln w="9525">
            <a:noFill/>
            <a:miter lim="800000"/>
            <a:headEnd/>
            <a:tailEnd/>
          </a:ln>
          <a:effectLst/>
        </p:spPr>
        <p:txBody>
          <a:bodyPr wrap="square">
            <a:spAutoFit/>
          </a:bodyPr>
          <a:lstStyle/>
          <a:p>
            <a:pPr eaLnBrk="1" hangingPunct="1"/>
            <a:r>
              <a:rPr lang="en-US" sz="2400" b="1" dirty="0">
                <a:solidFill>
                  <a:srgbClr val="FF0000"/>
                </a:solidFill>
              </a:rPr>
              <a:t>&lt;HTML&gt; &lt;HEAD&gt;&lt;TITLE&gt;</a:t>
            </a:r>
            <a:r>
              <a:rPr lang="en-US" sz="2400" b="1" dirty="0" err="1">
                <a:solidFill>
                  <a:srgbClr val="FF0000"/>
                </a:solidFill>
              </a:rPr>
              <a:t>CheckBoxType</a:t>
            </a:r>
            <a:r>
              <a:rPr lang="en-US" sz="2400" b="1" dirty="0">
                <a:solidFill>
                  <a:srgbClr val="FF0000"/>
                </a:solidFill>
              </a:rPr>
              <a:t>&lt;/TITLE&gt; &lt;/HEAD&gt;</a:t>
            </a:r>
          </a:p>
          <a:p>
            <a:pPr eaLnBrk="1" hangingPunct="1"/>
            <a:r>
              <a:rPr lang="en-US" sz="2400" b="1" dirty="0">
                <a:solidFill>
                  <a:srgbClr val="FF0000"/>
                </a:solidFill>
              </a:rPr>
              <a:t>&lt;BODY&gt;</a:t>
            </a:r>
          </a:p>
          <a:p>
            <a:pPr eaLnBrk="1" hangingPunct="1"/>
            <a:r>
              <a:rPr lang="en-US" sz="2400" b="1" dirty="0"/>
              <a:t>&lt;h1&gt; &lt;font color=green&gt;Please check one of the following&lt;/font&gt;&lt;/h1&gt;</a:t>
            </a:r>
          </a:p>
          <a:p>
            <a:pPr eaLnBrk="1" hangingPunct="1"/>
            <a:r>
              <a:rPr lang="en-US" sz="2400" b="1" dirty="0">
                <a:solidFill>
                  <a:srgbClr val="0000CC"/>
                </a:solidFill>
              </a:rPr>
              <a:t>&lt;FORM name="</a:t>
            </a:r>
            <a:r>
              <a:rPr lang="en-US" sz="2400" b="1" dirty="0" smtClean="0">
                <a:solidFill>
                  <a:srgbClr val="0000CC"/>
                </a:solidFill>
              </a:rPr>
              <a:t>form3</a:t>
            </a:r>
            <a:r>
              <a:rPr lang="en-US" sz="2400" b="1" dirty="0">
                <a:solidFill>
                  <a:srgbClr val="0000CC"/>
                </a:solidFill>
              </a:rPr>
              <a:t>"  Action="</a:t>
            </a:r>
            <a:r>
              <a:rPr lang="en-US" sz="2400" b="1" dirty="0" err="1">
                <a:solidFill>
                  <a:srgbClr val="0000CC"/>
                </a:solidFill>
              </a:rPr>
              <a:t>url</a:t>
            </a:r>
            <a:r>
              <a:rPr lang="en-US" sz="2400" b="1" dirty="0">
                <a:solidFill>
                  <a:srgbClr val="0000CC"/>
                </a:solidFill>
              </a:rPr>
              <a:t>"  method="get"&gt;</a:t>
            </a:r>
          </a:p>
          <a:p>
            <a:pPr eaLnBrk="1" hangingPunct="1"/>
            <a:r>
              <a:rPr lang="en-US" sz="2400" b="1" dirty="0"/>
              <a:t>&lt;font color=red&gt; Select Country: &lt;/font&gt;&lt;BR&gt;</a:t>
            </a:r>
          </a:p>
          <a:p>
            <a:pPr eaLnBrk="1" hangingPunct="1"/>
            <a:r>
              <a:rPr lang="en-US" sz="2400" b="1" dirty="0" err="1">
                <a:solidFill>
                  <a:srgbClr val="FF0000"/>
                </a:solidFill>
              </a:rPr>
              <a:t>jordan</a:t>
            </a:r>
            <a:r>
              <a:rPr lang="en-US" sz="2400" b="1" dirty="0">
                <a:solidFill>
                  <a:srgbClr val="FF0000"/>
                </a:solidFill>
              </a:rPr>
              <a:t>:&lt;INPUT TYPE= "RADIO"  Name="country"  CHECKED&gt;&lt;BR&gt;</a:t>
            </a:r>
          </a:p>
          <a:p>
            <a:pPr eaLnBrk="1" hangingPunct="1"/>
            <a:r>
              <a:rPr lang="en-US" sz="2400" b="1" dirty="0">
                <a:solidFill>
                  <a:srgbClr val="0000CC"/>
                </a:solidFill>
              </a:rPr>
              <a:t>Yemen&lt;INPUT TYPE="</a:t>
            </a:r>
            <a:r>
              <a:rPr lang="en-US" sz="2400" b="1" dirty="0">
                <a:solidFill>
                  <a:srgbClr val="FF0000"/>
                </a:solidFill>
              </a:rPr>
              <a:t>RADIO</a:t>
            </a:r>
            <a:r>
              <a:rPr lang="en-US" sz="2400" b="1" dirty="0"/>
              <a:t> </a:t>
            </a:r>
            <a:r>
              <a:rPr lang="en-US" sz="2400" b="1" dirty="0">
                <a:solidFill>
                  <a:srgbClr val="0000CC"/>
                </a:solidFill>
              </a:rPr>
              <a:t>"  Name="country"&gt;&lt;BR&gt;</a:t>
            </a:r>
          </a:p>
          <a:p>
            <a:pPr eaLnBrk="1" hangingPunct="1"/>
            <a:r>
              <a:rPr lang="en-US" sz="2400" b="1" dirty="0">
                <a:solidFill>
                  <a:srgbClr val="0000CC"/>
                </a:solidFill>
              </a:rPr>
              <a:t>Qatar:&lt;INPUT TYPE="</a:t>
            </a:r>
            <a:r>
              <a:rPr lang="en-US" sz="2400" b="1" dirty="0">
                <a:solidFill>
                  <a:srgbClr val="FF0000"/>
                </a:solidFill>
              </a:rPr>
              <a:t>RADIO</a:t>
            </a:r>
            <a:r>
              <a:rPr lang="en-US" sz="2400" b="1" dirty="0">
                <a:solidFill>
                  <a:srgbClr val="0000CC"/>
                </a:solidFill>
              </a:rPr>
              <a:t>"  Name="country"&gt;&lt;BR&gt; &lt;BR&gt;</a:t>
            </a:r>
          </a:p>
          <a:p>
            <a:pPr eaLnBrk="1" hangingPunct="1"/>
            <a:r>
              <a:rPr lang="en-US" sz="2400" b="1" dirty="0"/>
              <a:t>&lt;font color=blue&gt;Select Language:&lt;/font&gt;&lt;BR&gt;</a:t>
            </a:r>
          </a:p>
          <a:p>
            <a:pPr eaLnBrk="1" hangingPunct="1"/>
            <a:r>
              <a:rPr lang="en-US" sz="2400" b="1" dirty="0">
                <a:solidFill>
                  <a:srgbClr val="009900"/>
                </a:solidFill>
              </a:rPr>
              <a:t>Arabic:&lt;INPUT TYPE="</a:t>
            </a:r>
            <a:r>
              <a:rPr lang="en-US" sz="2400" b="1" dirty="0">
                <a:solidFill>
                  <a:srgbClr val="FF0000"/>
                </a:solidFill>
              </a:rPr>
              <a:t>RADIO</a:t>
            </a:r>
            <a:r>
              <a:rPr lang="en-US" sz="2400" b="1" dirty="0">
                <a:solidFill>
                  <a:srgbClr val="009900"/>
                </a:solidFill>
              </a:rPr>
              <a:t>"  Name="language"  CHECKED&gt;&lt;BR&gt; English:&lt;INPUT TYPE=" </a:t>
            </a:r>
            <a:r>
              <a:rPr lang="en-US" sz="2400" b="1" dirty="0">
                <a:solidFill>
                  <a:srgbClr val="FF0000"/>
                </a:solidFill>
              </a:rPr>
              <a:t>RADIO</a:t>
            </a:r>
            <a:r>
              <a:rPr lang="en-US" sz="2400" b="1" dirty="0"/>
              <a:t> </a:t>
            </a:r>
            <a:r>
              <a:rPr lang="en-US" sz="2400" b="1" dirty="0">
                <a:solidFill>
                  <a:srgbClr val="009900"/>
                </a:solidFill>
              </a:rPr>
              <a:t>" Name="language"&gt;&lt;BR&gt;</a:t>
            </a:r>
          </a:p>
          <a:p>
            <a:pPr eaLnBrk="1" hangingPunct="1"/>
            <a:r>
              <a:rPr lang="en-US" sz="2400" b="1" dirty="0">
                <a:solidFill>
                  <a:srgbClr val="009900"/>
                </a:solidFill>
              </a:rPr>
              <a:t>French:&lt;INPUT TYPE=" </a:t>
            </a:r>
            <a:r>
              <a:rPr lang="en-US" sz="2400" b="1" dirty="0">
                <a:solidFill>
                  <a:srgbClr val="FF0000"/>
                </a:solidFill>
              </a:rPr>
              <a:t>RADIO</a:t>
            </a:r>
            <a:r>
              <a:rPr lang="en-US" sz="2400" b="1" dirty="0"/>
              <a:t> </a:t>
            </a:r>
            <a:r>
              <a:rPr lang="en-US" sz="2400" b="1" dirty="0">
                <a:solidFill>
                  <a:srgbClr val="009900"/>
                </a:solidFill>
              </a:rPr>
              <a:t>"  Name="language"&gt;</a:t>
            </a:r>
            <a:r>
              <a:rPr lang="en-US" sz="2400" b="1" dirty="0"/>
              <a:t> </a:t>
            </a:r>
            <a:r>
              <a:rPr lang="en-US" sz="2400" b="1" dirty="0">
                <a:solidFill>
                  <a:srgbClr val="FF0000"/>
                </a:solidFill>
              </a:rPr>
              <a:t>&lt;BR&gt;&lt;/FORM&gt; &lt;/BODY&gt;&lt;/HTML&gt;</a:t>
            </a:r>
          </a:p>
        </p:txBody>
      </p:sp>
      <p:sp>
        <p:nvSpPr>
          <p:cNvPr id="4" name="Rectangle 4"/>
          <p:cNvSpPr>
            <a:spLocks noGrp="1" noChangeArrowheads="1"/>
          </p:cNvSpPr>
          <p:nvPr>
            <p:ph type="title"/>
          </p:nvPr>
        </p:nvSpPr>
        <p:spPr>
          <a:xfrm>
            <a:off x="381000" y="381000"/>
            <a:ext cx="8229600" cy="762000"/>
          </a:xfrm>
          <a:noFill/>
          <a:ln/>
        </p:spPr>
        <p:txBody>
          <a:bodyPr>
            <a:normAutofit/>
            <a:flatTx/>
          </a:bodyPr>
          <a:lstStyle/>
          <a:p>
            <a:r>
              <a:rPr lang="en-US" sz="4000" dirty="0">
                <a:solidFill>
                  <a:srgbClr val="C00000"/>
                </a:solidFill>
              </a:rPr>
              <a:t>Example on </a:t>
            </a:r>
            <a:r>
              <a:rPr lang="en-US" sz="4000" dirty="0" smtClean="0">
                <a:solidFill>
                  <a:srgbClr val="C00000"/>
                </a:solidFill>
              </a:rPr>
              <a:t>Radio Button</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E3750E3C-60FB-46AF-81BD-1A6343DD0FDA}" type="slidenum">
              <a:rPr lang="ar-SA"/>
              <a:pPr/>
              <a:t>20</a:t>
            </a:fld>
            <a:endParaRPr lang="en-US"/>
          </a:p>
        </p:txBody>
      </p:sp>
      <p:pic>
        <p:nvPicPr>
          <p:cNvPr id="35841" name="Picture 1" descr="C:\Users\Full Time\Desktop\Untitled4.png"/>
          <p:cNvPicPr>
            <a:picLocks noChangeAspect="1" noChangeArrowheads="1"/>
          </p:cNvPicPr>
          <p:nvPr/>
        </p:nvPicPr>
        <p:blipFill>
          <a:blip r:embed="rId2" cstate="print"/>
          <a:srcRect/>
          <a:stretch>
            <a:fillRect/>
          </a:stretch>
        </p:blipFill>
        <p:spPr bwMode="auto">
          <a:xfrm>
            <a:off x="1523999" y="1295400"/>
            <a:ext cx="6615267" cy="5105400"/>
          </a:xfrm>
          <a:prstGeom prst="rect">
            <a:avLst/>
          </a:prstGeom>
          <a:noFill/>
        </p:spPr>
      </p:pic>
      <p:sp>
        <p:nvSpPr>
          <p:cNvPr id="6" name="Rectangle 5"/>
          <p:cNvSpPr>
            <a:spLocks noGrp="1" noChangeArrowheads="1"/>
          </p:cNvSpPr>
          <p:nvPr>
            <p:ph type="title"/>
          </p:nvPr>
        </p:nvSpPr>
        <p:spPr>
          <a:xfrm>
            <a:off x="754063" y="350838"/>
            <a:ext cx="7929562" cy="762000"/>
          </a:xfrm>
          <a:noFill/>
          <a:ln/>
        </p:spPr>
        <p:txBody>
          <a:bodyPr>
            <a:flatTx/>
          </a:bodyPr>
          <a:lstStyle/>
          <a:p>
            <a:r>
              <a:rPr lang="en-US">
                <a:solidFill>
                  <a:srgbClr val="C00000"/>
                </a:solidFill>
              </a:rPr>
              <a:t>Output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D6631959-4C6D-4542-9F44-640C58CE8E2B}" type="slidenum">
              <a:rPr lang="ar-SA"/>
              <a:pPr/>
              <a:t>21</a:t>
            </a:fld>
            <a:endParaRPr lang="en-US"/>
          </a:p>
        </p:txBody>
      </p:sp>
      <p:sp>
        <p:nvSpPr>
          <p:cNvPr id="177156" name="Rectangle 4"/>
          <p:cNvSpPr>
            <a:spLocks noChangeArrowheads="1"/>
          </p:cNvSpPr>
          <p:nvPr/>
        </p:nvSpPr>
        <p:spPr bwMode="auto">
          <a:xfrm>
            <a:off x="152400" y="457200"/>
            <a:ext cx="8991600" cy="5995988"/>
          </a:xfrm>
          <a:prstGeom prst="rect">
            <a:avLst/>
          </a:prstGeom>
          <a:noFill/>
          <a:ln w="9525">
            <a:noFill/>
            <a:miter lim="800000"/>
            <a:headEnd/>
            <a:tailEnd/>
          </a:ln>
          <a:effectLst/>
        </p:spPr>
        <p:txBody>
          <a:bodyPr>
            <a:spAutoFit/>
          </a:bodyPr>
          <a:lstStyle/>
          <a:p>
            <a:pPr eaLnBrk="1" hangingPunct="1"/>
            <a:r>
              <a:rPr lang="en-US" sz="2400" b="1" dirty="0">
                <a:solidFill>
                  <a:srgbClr val="0000CC"/>
                </a:solidFill>
              </a:rPr>
              <a:t>&lt;HTML&gt;&lt;HEAD&gt;</a:t>
            </a:r>
          </a:p>
          <a:p>
            <a:pPr eaLnBrk="1" hangingPunct="1"/>
            <a:r>
              <a:rPr lang="en-US" sz="2400" b="1" dirty="0">
                <a:solidFill>
                  <a:srgbClr val="0000CC"/>
                </a:solidFill>
              </a:rPr>
              <a:t>&lt;TITLE&gt;</a:t>
            </a:r>
            <a:r>
              <a:rPr lang="en-US" sz="2400" b="1" dirty="0" err="1">
                <a:solidFill>
                  <a:srgbClr val="0000CC"/>
                </a:solidFill>
              </a:rPr>
              <a:t>RADIOBox</a:t>
            </a:r>
            <a:r>
              <a:rPr lang="en-US" sz="2400" b="1" dirty="0">
                <a:solidFill>
                  <a:srgbClr val="0000CC"/>
                </a:solidFill>
              </a:rPr>
              <a:t>&lt;/TITLE&gt; &lt;/HEAD&gt;</a:t>
            </a:r>
          </a:p>
          <a:p>
            <a:pPr eaLnBrk="1" hangingPunct="1"/>
            <a:r>
              <a:rPr lang="en-US" sz="2400" b="1" dirty="0">
                <a:solidFill>
                  <a:srgbClr val="0000CC"/>
                </a:solidFill>
              </a:rPr>
              <a:t>&lt;BODY&gt;</a:t>
            </a:r>
          </a:p>
          <a:p>
            <a:pPr eaLnBrk="1" hangingPunct="1"/>
            <a:r>
              <a:rPr lang="en-US" sz="2400" b="1" dirty="0">
                <a:solidFill>
                  <a:srgbClr val="FF0000"/>
                </a:solidFill>
              </a:rPr>
              <a:t>Form #1:</a:t>
            </a:r>
          </a:p>
          <a:p>
            <a:pPr eaLnBrk="1" hangingPunct="1"/>
            <a:r>
              <a:rPr lang="en-US" sz="2400" b="1" dirty="0"/>
              <a:t>&lt;FORM&gt;</a:t>
            </a:r>
          </a:p>
          <a:p>
            <a:pPr eaLnBrk="1" hangingPunct="1"/>
            <a:r>
              <a:rPr lang="en-US" sz="2400" b="1" dirty="0"/>
              <a:t>  &lt;INPUT TYPE="radio" NAME="choice" VALUE="one"&gt; Yes.</a:t>
            </a:r>
          </a:p>
          <a:p>
            <a:pPr eaLnBrk="1" hangingPunct="1"/>
            <a:r>
              <a:rPr lang="en-US" sz="2400" b="1" dirty="0"/>
              <a:t>   &lt;INPUT TYPE="radio" NAME="choice" VALUE="two"&gt; No.</a:t>
            </a:r>
          </a:p>
          <a:p>
            <a:pPr eaLnBrk="1" hangingPunct="1"/>
            <a:r>
              <a:rPr lang="en-US" sz="2400" b="1" dirty="0"/>
              <a:t>&lt;/FORM&gt;</a:t>
            </a:r>
          </a:p>
          <a:p>
            <a:pPr eaLnBrk="1" hangingPunct="1"/>
            <a:r>
              <a:rPr lang="en-US" sz="2800" b="1" dirty="0"/>
              <a:t>&lt;HR color=red size="10" &gt;</a:t>
            </a:r>
          </a:p>
          <a:p>
            <a:pPr eaLnBrk="1" hangingPunct="1"/>
            <a:r>
              <a:rPr lang="en-US" sz="2400" b="1" dirty="0">
                <a:solidFill>
                  <a:srgbClr val="FF0000"/>
                </a:solidFill>
              </a:rPr>
              <a:t>Form #2:</a:t>
            </a:r>
          </a:p>
          <a:p>
            <a:pPr eaLnBrk="1" hangingPunct="1"/>
            <a:r>
              <a:rPr lang="en-US" sz="2400" b="1" dirty="0"/>
              <a:t>&lt;FORM&gt;</a:t>
            </a:r>
          </a:p>
          <a:p>
            <a:pPr eaLnBrk="1" hangingPunct="1"/>
            <a:r>
              <a:rPr lang="en-US" sz="2400" b="1" dirty="0"/>
              <a:t>      &lt;INPUT TYPE="radio" NAME="choice" VALUE="three" CHECKED&gt; Yes.</a:t>
            </a:r>
          </a:p>
          <a:p>
            <a:pPr eaLnBrk="1" hangingPunct="1"/>
            <a:r>
              <a:rPr lang="en-US" sz="2400" b="1" dirty="0"/>
              <a:t>   &lt;INPUT TYPE="radio" NAME="choice" VALUE="four"&gt; No.</a:t>
            </a:r>
          </a:p>
          <a:p>
            <a:pPr eaLnBrk="1" hangingPunct="1"/>
            <a:r>
              <a:rPr lang="en-US" sz="2400" b="1" dirty="0"/>
              <a:t>&lt;/FORM&gt;</a:t>
            </a:r>
          </a:p>
          <a:p>
            <a:pPr eaLnBrk="1" hangingPunct="1"/>
            <a:r>
              <a:rPr lang="en-US" sz="2400" b="1" dirty="0"/>
              <a:t>&lt;/BODY&gt;&lt;/HTML&gt;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AEF6175-0C17-4525-9A46-F2F33FA0309B}" type="slidenum">
              <a:rPr lang="ar-SA"/>
              <a:pPr/>
              <a:t>22</a:t>
            </a:fld>
            <a:endParaRPr lang="en-US"/>
          </a:p>
        </p:txBody>
      </p:sp>
      <p:sp>
        <p:nvSpPr>
          <p:cNvPr id="7" name="Rectangle 5"/>
          <p:cNvSpPr txBox="1">
            <a:spLocks noChangeArrowheads="1"/>
          </p:cNvSpPr>
          <p:nvPr/>
        </p:nvSpPr>
        <p:spPr>
          <a:xfrm>
            <a:off x="754063" y="350838"/>
            <a:ext cx="7929562" cy="762000"/>
          </a:xfrm>
          <a:prstGeom prst="rect">
            <a:avLst/>
          </a:prstGeom>
          <a:noFill/>
          <a:ln/>
        </p:spPr>
        <p:txBody>
          <a:bodyPr vert="horz" lIns="91440" tIns="45720" rIns="91440" bIns="45720" rtlCol="0" anchor="ctr">
            <a:normAutofit/>
            <a:flatTx/>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rgbClr val="C00000"/>
                </a:solidFill>
                <a:effectLst/>
                <a:uLnTx/>
                <a:uFillTx/>
                <a:latin typeface="+mj-lt"/>
                <a:ea typeface="+mj-ea"/>
                <a:cs typeface="+mj-cs"/>
              </a:rPr>
              <a:t>Output</a:t>
            </a:r>
            <a:endParaRPr kumimoji="0" lang="en-US" sz="4400" b="0" i="0" u="none" strike="noStrike" kern="1200" cap="none" spc="0" normalizeH="0" baseline="0" noProof="0">
              <a:ln>
                <a:noFill/>
              </a:ln>
              <a:solidFill>
                <a:srgbClr val="C00000"/>
              </a:solidFill>
              <a:effectLst/>
              <a:uLnTx/>
              <a:uFillTx/>
              <a:latin typeface="+mj-lt"/>
              <a:ea typeface="+mj-ea"/>
              <a:cs typeface="+mj-cs"/>
            </a:endParaRPr>
          </a:p>
        </p:txBody>
      </p:sp>
      <p:pic>
        <p:nvPicPr>
          <p:cNvPr id="33793" name="Picture 1" descr="C:\Users\Full Time\Desktop\Untitled5.png"/>
          <p:cNvPicPr>
            <a:picLocks noChangeAspect="1" noChangeArrowheads="1"/>
          </p:cNvPicPr>
          <p:nvPr/>
        </p:nvPicPr>
        <p:blipFill>
          <a:blip r:embed="rId2" cstate="print"/>
          <a:srcRect/>
          <a:stretch>
            <a:fillRect/>
          </a:stretch>
        </p:blipFill>
        <p:spPr bwMode="auto">
          <a:xfrm>
            <a:off x="1524000" y="1524000"/>
            <a:ext cx="7043828" cy="4495800"/>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5704DF20-931E-4E55-B9BE-A580E6D69012}" type="slidenum">
              <a:rPr lang="ar-SA"/>
              <a:pPr/>
              <a:t>23</a:t>
            </a:fld>
            <a:endParaRPr lang="en-US"/>
          </a:p>
        </p:txBody>
      </p:sp>
      <p:sp>
        <p:nvSpPr>
          <p:cNvPr id="113667" name="Rectangle 3"/>
          <p:cNvSpPr>
            <a:spLocks noGrp="1" noChangeArrowheads="1"/>
          </p:cNvSpPr>
          <p:nvPr>
            <p:ph type="body" idx="1"/>
          </p:nvPr>
        </p:nvSpPr>
        <p:spPr>
          <a:xfrm>
            <a:off x="685800" y="1371600"/>
            <a:ext cx="7772400" cy="4648200"/>
          </a:xfrm>
          <a:noFill/>
          <a:ln>
            <a:solidFill>
              <a:srgbClr val="333300"/>
            </a:solidFill>
          </a:ln>
        </p:spPr>
        <p:txBody>
          <a:bodyPr/>
          <a:lstStyle/>
          <a:p>
            <a:pPr>
              <a:lnSpc>
                <a:spcPct val="90000"/>
              </a:lnSpc>
              <a:buClr>
                <a:schemeClr val="accent2"/>
              </a:buClr>
              <a:buNone/>
            </a:pPr>
            <a:r>
              <a:rPr lang="en-US" sz="2800" b="1" dirty="0">
                <a:solidFill>
                  <a:srgbClr val="0000FF"/>
                </a:solidFill>
              </a:rPr>
              <a:t>Push Button:</a:t>
            </a:r>
            <a:r>
              <a:rPr lang="en-US" sz="2400" dirty="0"/>
              <a:t> This element would be used with</a:t>
            </a:r>
          </a:p>
          <a:p>
            <a:pPr>
              <a:lnSpc>
                <a:spcPct val="90000"/>
              </a:lnSpc>
              <a:buClr>
                <a:schemeClr val="accent2"/>
              </a:buClr>
              <a:buFont typeface="Wingdings" pitchFamily="2" charset="2"/>
              <a:buNone/>
            </a:pPr>
            <a:r>
              <a:rPr lang="en-US" sz="2400" dirty="0"/>
              <a:t>JavaScript to cause an action to take place</a:t>
            </a:r>
            <a:r>
              <a:rPr lang="en-US" sz="2400" dirty="0" smtClean="0"/>
              <a:t>.</a:t>
            </a:r>
          </a:p>
          <a:p>
            <a:pPr>
              <a:lnSpc>
                <a:spcPct val="90000"/>
              </a:lnSpc>
              <a:buClr>
                <a:schemeClr val="accent2"/>
              </a:buClr>
              <a:buFont typeface="Wingdings" pitchFamily="2" charset="2"/>
              <a:buNone/>
            </a:pPr>
            <a:endParaRPr lang="en-US" sz="2400" dirty="0"/>
          </a:p>
          <a:p>
            <a:pPr>
              <a:lnSpc>
                <a:spcPct val="90000"/>
              </a:lnSpc>
              <a:buClr>
                <a:schemeClr val="accent2"/>
              </a:buClr>
              <a:buFont typeface="Wingdings" pitchFamily="2" charset="2"/>
              <a:buNone/>
            </a:pPr>
            <a:r>
              <a:rPr lang="en-US" sz="2400" b="1" dirty="0">
                <a:solidFill>
                  <a:srgbClr val="FF0000"/>
                </a:solidFill>
              </a:rPr>
              <a:t>&lt;INPUT TYPE=“BUTTON”&gt;</a:t>
            </a:r>
          </a:p>
          <a:p>
            <a:pPr>
              <a:lnSpc>
                <a:spcPct val="90000"/>
              </a:lnSpc>
              <a:buClr>
                <a:schemeClr val="accent2"/>
              </a:buClr>
              <a:buFont typeface="Wingdings" pitchFamily="2" charset="2"/>
              <a:buNone/>
            </a:pPr>
            <a:r>
              <a:rPr lang="en-US" sz="2400" dirty="0"/>
              <a:t>Browser will display </a:t>
            </a:r>
          </a:p>
          <a:p>
            <a:pPr>
              <a:lnSpc>
                <a:spcPct val="90000"/>
              </a:lnSpc>
              <a:buClr>
                <a:schemeClr val="accent2"/>
              </a:buClr>
              <a:buFont typeface="Wingdings" pitchFamily="2" charset="2"/>
              <a:buNone/>
            </a:pPr>
            <a:endParaRPr lang="en-US" sz="2400" dirty="0"/>
          </a:p>
          <a:p>
            <a:pPr>
              <a:lnSpc>
                <a:spcPct val="90000"/>
              </a:lnSpc>
              <a:buClr>
                <a:schemeClr val="accent2"/>
              </a:buClr>
              <a:buFont typeface="Wingdings" pitchFamily="2" charset="2"/>
              <a:buNone/>
            </a:pPr>
            <a:r>
              <a:rPr lang="en-US" sz="2400" dirty="0"/>
              <a:t>Push Button has the following attributes:</a:t>
            </a:r>
          </a:p>
          <a:p>
            <a:pPr>
              <a:lnSpc>
                <a:spcPct val="90000"/>
              </a:lnSpc>
              <a:buClr>
                <a:schemeClr val="accent2"/>
              </a:buClr>
              <a:buFont typeface="Wingdings" pitchFamily="2" charset="2"/>
              <a:buChar char="§"/>
            </a:pPr>
            <a:r>
              <a:rPr lang="en-US" sz="2400" b="1" dirty="0">
                <a:solidFill>
                  <a:srgbClr val="FF0000"/>
                </a:solidFill>
              </a:rPr>
              <a:t>TYPE:</a:t>
            </a:r>
            <a:r>
              <a:rPr lang="en-US" sz="2400" dirty="0"/>
              <a:t> button.</a:t>
            </a:r>
          </a:p>
          <a:p>
            <a:pPr>
              <a:lnSpc>
                <a:spcPct val="90000"/>
              </a:lnSpc>
              <a:buClr>
                <a:schemeClr val="accent2"/>
              </a:buClr>
              <a:buFont typeface="Wingdings" pitchFamily="2" charset="2"/>
              <a:buChar char="§"/>
            </a:pPr>
            <a:r>
              <a:rPr lang="en-US" sz="2400" b="1" dirty="0">
                <a:solidFill>
                  <a:srgbClr val="FF0000"/>
                </a:solidFill>
              </a:rPr>
              <a:t>NAME:</a:t>
            </a:r>
            <a:r>
              <a:rPr lang="en-US" sz="2400" dirty="0"/>
              <a:t> is the name of the button to be used</a:t>
            </a:r>
          </a:p>
          <a:p>
            <a:pPr>
              <a:lnSpc>
                <a:spcPct val="90000"/>
              </a:lnSpc>
              <a:buClr>
                <a:schemeClr val="accent2"/>
              </a:buClr>
              <a:buFont typeface="Wingdings" pitchFamily="2" charset="2"/>
              <a:buNone/>
            </a:pPr>
            <a:r>
              <a:rPr lang="en-US" sz="2400" dirty="0"/>
              <a:t>in scripting. </a:t>
            </a:r>
          </a:p>
          <a:p>
            <a:pPr>
              <a:lnSpc>
                <a:spcPct val="90000"/>
              </a:lnSpc>
              <a:buClr>
                <a:schemeClr val="accent2"/>
              </a:buClr>
              <a:buFont typeface="Wingdings" pitchFamily="2" charset="2"/>
              <a:buChar char="§"/>
            </a:pPr>
            <a:r>
              <a:rPr lang="en-US" sz="2400" b="1" dirty="0">
                <a:solidFill>
                  <a:srgbClr val="FF0000"/>
                </a:solidFill>
              </a:rPr>
              <a:t>VALUE:</a:t>
            </a:r>
            <a:r>
              <a:rPr lang="en-US" sz="2400" dirty="0"/>
              <a:t> determines the text label on the button.</a:t>
            </a:r>
          </a:p>
        </p:txBody>
      </p:sp>
      <p:graphicFrame>
        <p:nvGraphicFramePr>
          <p:cNvPr id="113668" name="Object 4"/>
          <p:cNvGraphicFramePr>
            <a:graphicFrameLocks noChangeAspect="1"/>
          </p:cNvGraphicFramePr>
          <p:nvPr/>
        </p:nvGraphicFramePr>
        <p:xfrm>
          <a:off x="3733800" y="3124200"/>
          <a:ext cx="1581150" cy="481013"/>
        </p:xfrm>
        <a:graphic>
          <a:graphicData uri="http://schemas.openxmlformats.org/presentationml/2006/ole">
            <p:oleObj spid="_x0000_s5122" name="Bitmap Image" r:id="rId3" imgW="876190" imgH="266737" progId="PBrush">
              <p:embed/>
            </p:oleObj>
          </a:graphicData>
        </a:graphic>
      </p:graphicFrame>
      <p:sp>
        <p:nvSpPr>
          <p:cNvPr id="113670" name="Rectangle 6"/>
          <p:cNvSpPr>
            <a:spLocks noGrp="1" noChangeArrowheads="1"/>
          </p:cNvSpPr>
          <p:nvPr>
            <p:ph type="title"/>
          </p:nvPr>
        </p:nvSpPr>
        <p:spPr>
          <a:xfrm>
            <a:off x="606425" y="274638"/>
            <a:ext cx="7931150" cy="762000"/>
          </a:xfrm>
          <a:noFill/>
          <a:ln/>
        </p:spPr>
        <p:txBody>
          <a:bodyPr>
            <a:flatTx/>
          </a:bodyPr>
          <a:lstStyle/>
          <a:p>
            <a:r>
              <a:rPr lang="en-US" dirty="0">
                <a:solidFill>
                  <a:srgbClr val="C00000"/>
                </a:solidFill>
              </a:rPr>
              <a:t>Push Button</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3D8F85B-5B8F-47EB-B175-40F38289491F}" type="slidenum">
              <a:rPr lang="ar-SA"/>
              <a:pPr/>
              <a:t>24</a:t>
            </a:fld>
            <a:endParaRPr lang="en-US"/>
          </a:p>
        </p:txBody>
      </p:sp>
      <p:sp>
        <p:nvSpPr>
          <p:cNvPr id="182275" name="Rectangle 3"/>
          <p:cNvSpPr>
            <a:spLocks noGrp="1" noChangeArrowheads="1"/>
          </p:cNvSpPr>
          <p:nvPr>
            <p:ph type="body" idx="1"/>
          </p:nvPr>
        </p:nvSpPr>
        <p:spPr>
          <a:xfrm>
            <a:off x="457200" y="990600"/>
            <a:ext cx="8686800" cy="5867400"/>
          </a:xfrm>
          <a:noFill/>
        </p:spPr>
        <p:txBody>
          <a:bodyPr/>
          <a:lstStyle/>
          <a:p>
            <a:pPr>
              <a:lnSpc>
                <a:spcPct val="90000"/>
              </a:lnSpc>
              <a:buFontTx/>
              <a:buNone/>
            </a:pPr>
            <a:r>
              <a:rPr lang="en-US" sz="2600" b="1" dirty="0">
                <a:solidFill>
                  <a:srgbClr val="FF0000"/>
                </a:solidFill>
              </a:rPr>
              <a:t>&lt;DIV align=center&gt;&lt;BR&gt;&lt;BR&gt;</a:t>
            </a:r>
          </a:p>
          <a:p>
            <a:pPr>
              <a:lnSpc>
                <a:spcPct val="90000"/>
              </a:lnSpc>
              <a:buFontTx/>
              <a:buNone/>
            </a:pPr>
            <a:r>
              <a:rPr lang="en-US" sz="2600" b="1" dirty="0">
                <a:solidFill>
                  <a:srgbClr val="009900"/>
                </a:solidFill>
              </a:rPr>
              <a:t>&lt;FORM&gt;</a:t>
            </a:r>
          </a:p>
          <a:p>
            <a:pPr>
              <a:lnSpc>
                <a:spcPct val="90000"/>
              </a:lnSpc>
              <a:buFontTx/>
              <a:buNone/>
            </a:pPr>
            <a:r>
              <a:rPr lang="en-US" sz="2600" b="1" dirty="0">
                <a:solidFill>
                  <a:srgbClr val="0000CC"/>
                </a:solidFill>
              </a:rPr>
              <a:t>&lt;FONT Color=red&gt;</a:t>
            </a:r>
          </a:p>
          <a:p>
            <a:pPr>
              <a:lnSpc>
                <a:spcPct val="90000"/>
              </a:lnSpc>
              <a:buFontTx/>
              <a:buNone/>
            </a:pPr>
            <a:r>
              <a:rPr lang="en-US" sz="2600" b="1" dirty="0">
                <a:solidFill>
                  <a:srgbClr val="0000CC"/>
                </a:solidFill>
              </a:rPr>
              <a:t>&lt;h1&gt;Press Here to see a baby crying:&lt;BR&gt;</a:t>
            </a:r>
          </a:p>
          <a:p>
            <a:pPr>
              <a:lnSpc>
                <a:spcPct val="90000"/>
              </a:lnSpc>
              <a:buFontTx/>
              <a:buNone/>
            </a:pPr>
            <a:r>
              <a:rPr lang="en-US" sz="2600" b="1" dirty="0">
                <a:solidFill>
                  <a:srgbClr val="0000CC"/>
                </a:solidFill>
              </a:rPr>
              <a:t>&lt;INPUT TYPE="button" VALUE="</a:t>
            </a:r>
            <a:r>
              <a:rPr lang="en-US" sz="2600" b="1" dirty="0" smtClean="0">
                <a:solidFill>
                  <a:srgbClr val="0000CC"/>
                </a:solidFill>
              </a:rPr>
              <a:t>Press Me</a:t>
            </a:r>
            <a:r>
              <a:rPr lang="en-US" sz="2600" b="1" dirty="0">
                <a:solidFill>
                  <a:srgbClr val="0000CC"/>
                </a:solidFill>
              </a:rPr>
              <a:t>"&gt;&lt;BR&gt;&lt;BR&gt;</a:t>
            </a:r>
          </a:p>
          <a:p>
            <a:pPr>
              <a:lnSpc>
                <a:spcPct val="90000"/>
              </a:lnSpc>
              <a:buFontTx/>
              <a:buNone/>
            </a:pPr>
            <a:r>
              <a:rPr lang="en-US" sz="2600" b="1" dirty="0">
                <a:solidFill>
                  <a:srgbClr val="FF0000"/>
                </a:solidFill>
              </a:rPr>
              <a:t>&lt;FONT Color=blue&gt;</a:t>
            </a:r>
          </a:p>
          <a:p>
            <a:pPr>
              <a:lnSpc>
                <a:spcPct val="90000"/>
              </a:lnSpc>
              <a:buFontTx/>
              <a:buNone/>
            </a:pPr>
            <a:r>
              <a:rPr lang="en-US" sz="2600" b="1" dirty="0">
                <a:solidFill>
                  <a:srgbClr val="FF0000"/>
                </a:solidFill>
              </a:rPr>
              <a:t>Click Here to see a baby shouting:&lt;BR&gt;</a:t>
            </a:r>
          </a:p>
          <a:p>
            <a:pPr>
              <a:lnSpc>
                <a:spcPct val="90000"/>
              </a:lnSpc>
              <a:buFontTx/>
              <a:buNone/>
            </a:pPr>
            <a:r>
              <a:rPr lang="en-US" sz="2600" b="1" dirty="0">
                <a:solidFill>
                  <a:srgbClr val="FF0000"/>
                </a:solidFill>
              </a:rPr>
              <a:t>&lt;INPUT TYPE="button" VALUE="</a:t>
            </a:r>
            <a:r>
              <a:rPr lang="en-US" sz="2600" b="1" dirty="0" smtClean="0">
                <a:solidFill>
                  <a:srgbClr val="FF0000"/>
                </a:solidFill>
              </a:rPr>
              <a:t>Click Me</a:t>
            </a:r>
            <a:r>
              <a:rPr lang="en-US" sz="2600" b="1" dirty="0">
                <a:solidFill>
                  <a:srgbClr val="FF0000"/>
                </a:solidFill>
              </a:rPr>
              <a:t>" &gt; &lt;BR&gt;&lt;BR&gt;</a:t>
            </a:r>
          </a:p>
          <a:p>
            <a:pPr>
              <a:lnSpc>
                <a:spcPct val="90000"/>
              </a:lnSpc>
              <a:buFontTx/>
              <a:buNone/>
            </a:pPr>
            <a:r>
              <a:rPr lang="en-US" sz="2600" b="1" dirty="0"/>
              <a:t>&lt;FONT Color=green&gt;</a:t>
            </a:r>
          </a:p>
          <a:p>
            <a:pPr>
              <a:lnSpc>
                <a:spcPct val="90000"/>
              </a:lnSpc>
              <a:buFontTx/>
              <a:buNone/>
            </a:pPr>
            <a:r>
              <a:rPr lang="en-US" sz="2600" b="1" dirty="0"/>
              <a:t>Hit Here to see a baby eating:&lt;BR&gt;</a:t>
            </a:r>
          </a:p>
          <a:p>
            <a:pPr>
              <a:lnSpc>
                <a:spcPct val="90000"/>
              </a:lnSpc>
              <a:buFontTx/>
              <a:buNone/>
            </a:pPr>
            <a:r>
              <a:rPr lang="en-US" sz="2600" b="1" dirty="0"/>
              <a:t>&lt;INPUT TYPE="button" VALUE="</a:t>
            </a:r>
            <a:r>
              <a:rPr lang="en-US" sz="2600" b="1" dirty="0" smtClean="0"/>
              <a:t>Hit ME</a:t>
            </a:r>
            <a:r>
              <a:rPr lang="en-US" sz="2600" b="1" dirty="0"/>
              <a:t>" &gt; &lt;BR&gt;&lt;BR&gt;</a:t>
            </a:r>
          </a:p>
          <a:p>
            <a:pPr>
              <a:lnSpc>
                <a:spcPct val="90000"/>
              </a:lnSpc>
              <a:buFontTx/>
              <a:buNone/>
            </a:pPr>
            <a:r>
              <a:rPr lang="en-US" sz="2600" b="1" dirty="0"/>
              <a:t>&lt;FONT Color=yellow&gt;</a:t>
            </a:r>
          </a:p>
          <a:p>
            <a:pPr>
              <a:lnSpc>
                <a:spcPct val="90000"/>
              </a:lnSpc>
              <a:buFontTx/>
              <a:buNone/>
            </a:pPr>
            <a:r>
              <a:rPr lang="en-US" sz="2600" b="1" dirty="0">
                <a:solidFill>
                  <a:srgbClr val="FF0000"/>
                </a:solidFill>
              </a:rPr>
              <a:t>&lt;/FORM&gt;&lt;/DIV&gt;</a:t>
            </a:r>
          </a:p>
        </p:txBody>
      </p:sp>
      <p:sp>
        <p:nvSpPr>
          <p:cNvPr id="4" name="Rectangle 4"/>
          <p:cNvSpPr>
            <a:spLocks noGrp="1" noChangeArrowheads="1"/>
          </p:cNvSpPr>
          <p:nvPr>
            <p:ph type="title"/>
          </p:nvPr>
        </p:nvSpPr>
        <p:spPr>
          <a:xfrm>
            <a:off x="457200" y="228600"/>
            <a:ext cx="8229600" cy="762000"/>
          </a:xfrm>
          <a:noFill/>
          <a:ln/>
        </p:spPr>
        <p:txBody>
          <a:bodyPr>
            <a:normAutofit/>
            <a:flatTx/>
          </a:bodyPr>
          <a:lstStyle/>
          <a:p>
            <a:r>
              <a:rPr lang="en-US" sz="4000" dirty="0">
                <a:solidFill>
                  <a:srgbClr val="C00000"/>
                </a:solidFill>
              </a:rPr>
              <a:t>Example on </a:t>
            </a:r>
            <a:r>
              <a:rPr lang="en-US" sz="4000" dirty="0" smtClean="0">
                <a:solidFill>
                  <a:srgbClr val="C00000"/>
                </a:solidFill>
              </a:rPr>
              <a:t>Push</a:t>
            </a:r>
            <a:r>
              <a:rPr lang="en-US" sz="4000" dirty="0" smtClean="0">
                <a:solidFill>
                  <a:srgbClr val="C00000"/>
                </a:solidFill>
              </a:rPr>
              <a:t> </a:t>
            </a:r>
            <a:r>
              <a:rPr lang="en-US" sz="4000" dirty="0" smtClean="0">
                <a:solidFill>
                  <a:srgbClr val="C00000"/>
                </a:solidFill>
              </a:rPr>
              <a:t>Button</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5784A11-8872-43D3-94CF-0D6B2004F6D7}" type="slidenum">
              <a:rPr lang="ar-SA"/>
              <a:pPr/>
              <a:t>25</a:t>
            </a:fld>
            <a:endParaRPr lang="en-US"/>
          </a:p>
        </p:txBody>
      </p:sp>
      <p:pic>
        <p:nvPicPr>
          <p:cNvPr id="38913" name="Picture 1" descr="C:\Users\Full Time\Desktop\Untitled5.png"/>
          <p:cNvPicPr>
            <a:picLocks noChangeAspect="1" noChangeArrowheads="1"/>
          </p:cNvPicPr>
          <p:nvPr/>
        </p:nvPicPr>
        <p:blipFill>
          <a:blip r:embed="rId2" cstate="print"/>
          <a:srcRect/>
          <a:stretch>
            <a:fillRect/>
          </a:stretch>
        </p:blipFill>
        <p:spPr bwMode="auto">
          <a:xfrm>
            <a:off x="1295400" y="1447800"/>
            <a:ext cx="6477000" cy="4993321"/>
          </a:xfrm>
          <a:prstGeom prst="rect">
            <a:avLst/>
          </a:prstGeom>
          <a:noFill/>
        </p:spPr>
      </p:pic>
      <p:sp>
        <p:nvSpPr>
          <p:cNvPr id="6" name="Rectangle 5"/>
          <p:cNvSpPr txBox="1">
            <a:spLocks noChangeArrowheads="1"/>
          </p:cNvSpPr>
          <p:nvPr/>
        </p:nvSpPr>
        <p:spPr>
          <a:xfrm>
            <a:off x="754063" y="350838"/>
            <a:ext cx="7929562" cy="762000"/>
          </a:xfrm>
          <a:prstGeom prst="rect">
            <a:avLst/>
          </a:prstGeom>
          <a:noFill/>
          <a:ln/>
        </p:spPr>
        <p:txBody>
          <a:bodyPr vert="horz" lIns="91440" tIns="45720" rIns="91440" bIns="45720" rtlCol="0" anchor="ctr">
            <a:normAutofit/>
            <a:flatTx/>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rgbClr val="C00000"/>
                </a:solidFill>
                <a:effectLst/>
                <a:uLnTx/>
                <a:uFillTx/>
                <a:latin typeface="+mj-lt"/>
                <a:ea typeface="+mj-ea"/>
                <a:cs typeface="+mj-cs"/>
              </a:rPr>
              <a:t>Output</a:t>
            </a:r>
            <a:endParaRPr kumimoji="0" lang="en-US" sz="4400" b="0" i="0" u="none" strike="noStrike" kern="1200" cap="none" spc="0" normalizeH="0" baseline="0" noProof="0">
              <a:ln>
                <a:noFill/>
              </a:ln>
              <a:solidFill>
                <a:srgbClr val="C0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DC962354-3569-407A-916F-F3CF46265E19}" type="slidenum">
              <a:rPr lang="ar-SA"/>
              <a:pPr/>
              <a:t>26</a:t>
            </a:fld>
            <a:endParaRPr lang="en-US"/>
          </a:p>
        </p:txBody>
      </p:sp>
      <p:sp>
        <p:nvSpPr>
          <p:cNvPr id="114691" name="Rectangle 3"/>
          <p:cNvSpPr>
            <a:spLocks noGrp="1" noChangeArrowheads="1"/>
          </p:cNvSpPr>
          <p:nvPr>
            <p:ph type="body" idx="1"/>
          </p:nvPr>
        </p:nvSpPr>
        <p:spPr>
          <a:xfrm>
            <a:off x="685800" y="1371600"/>
            <a:ext cx="7772400" cy="5257800"/>
          </a:xfrm>
          <a:noFill/>
          <a:ln>
            <a:noFill/>
          </a:ln>
        </p:spPr>
        <p:txBody>
          <a:bodyPr>
            <a:normAutofit/>
          </a:bodyPr>
          <a:lstStyle/>
          <a:p>
            <a:pPr>
              <a:lnSpc>
                <a:spcPct val="90000"/>
              </a:lnSpc>
              <a:buClr>
                <a:schemeClr val="accent2"/>
              </a:buClr>
              <a:buNone/>
            </a:pPr>
            <a:r>
              <a:rPr lang="en-US" sz="2800" b="1" dirty="0">
                <a:solidFill>
                  <a:srgbClr val="0000FF"/>
                </a:solidFill>
              </a:rPr>
              <a:t>Submit:</a:t>
            </a:r>
            <a:r>
              <a:rPr lang="en-US" sz="2400" dirty="0"/>
              <a:t> Every set of Form tags requires a Submit button. This is the element causes the browser to send the names and values of the other elements to the CGI Application specified by the ACTION attribute of the FORM element</a:t>
            </a:r>
            <a:r>
              <a:rPr lang="en-US" sz="2400" dirty="0" smtClean="0"/>
              <a:t>.</a:t>
            </a:r>
          </a:p>
          <a:p>
            <a:pPr>
              <a:lnSpc>
                <a:spcPct val="90000"/>
              </a:lnSpc>
              <a:buClr>
                <a:schemeClr val="accent2"/>
              </a:buClr>
              <a:buNone/>
            </a:pPr>
            <a:endParaRPr lang="en-US" sz="2400" dirty="0"/>
          </a:p>
          <a:p>
            <a:pPr>
              <a:lnSpc>
                <a:spcPct val="90000"/>
              </a:lnSpc>
              <a:buClr>
                <a:schemeClr val="accent2"/>
              </a:buClr>
              <a:buFont typeface="Wingdings" pitchFamily="2" charset="2"/>
              <a:buNone/>
            </a:pPr>
            <a:r>
              <a:rPr lang="en-US" sz="2400" b="1" dirty="0">
                <a:solidFill>
                  <a:srgbClr val="FF0000"/>
                </a:solidFill>
              </a:rPr>
              <a:t>&lt;INPUT TYPE=“SUBMIT”&gt;</a:t>
            </a:r>
          </a:p>
          <a:p>
            <a:pPr>
              <a:lnSpc>
                <a:spcPct val="90000"/>
              </a:lnSpc>
              <a:buClr>
                <a:schemeClr val="accent2"/>
              </a:buClr>
              <a:buFont typeface="Wingdings" pitchFamily="2" charset="2"/>
              <a:buNone/>
            </a:pPr>
            <a:r>
              <a:rPr lang="en-US" sz="2400" dirty="0"/>
              <a:t>The browser will display</a:t>
            </a:r>
          </a:p>
          <a:p>
            <a:pPr>
              <a:lnSpc>
                <a:spcPct val="90000"/>
              </a:lnSpc>
              <a:buClr>
                <a:schemeClr val="accent2"/>
              </a:buClr>
              <a:buFont typeface="Wingdings" pitchFamily="2" charset="2"/>
              <a:buNone/>
            </a:pPr>
            <a:r>
              <a:rPr lang="en-US" sz="2400" dirty="0"/>
              <a:t> </a:t>
            </a:r>
            <a:endParaRPr lang="en-US" sz="2400" dirty="0" smtClean="0"/>
          </a:p>
          <a:p>
            <a:pPr>
              <a:lnSpc>
                <a:spcPct val="90000"/>
              </a:lnSpc>
              <a:buClr>
                <a:schemeClr val="accent2"/>
              </a:buClr>
              <a:buFont typeface="Wingdings" pitchFamily="2" charset="2"/>
              <a:buNone/>
            </a:pPr>
            <a:r>
              <a:rPr lang="en-US" sz="2400" dirty="0" smtClean="0"/>
              <a:t>Submit </a:t>
            </a:r>
            <a:r>
              <a:rPr lang="en-US" sz="2400" dirty="0"/>
              <a:t>has the following attributes:</a:t>
            </a:r>
          </a:p>
          <a:p>
            <a:pPr>
              <a:lnSpc>
                <a:spcPct val="90000"/>
              </a:lnSpc>
              <a:buClr>
                <a:schemeClr val="accent2"/>
              </a:buClr>
              <a:buFont typeface="Wingdings" pitchFamily="2" charset="2"/>
              <a:buChar char="§"/>
            </a:pPr>
            <a:r>
              <a:rPr lang="en-US" sz="2400" b="1" dirty="0">
                <a:solidFill>
                  <a:srgbClr val="FF0000"/>
                </a:solidFill>
              </a:rPr>
              <a:t>TYPE:</a:t>
            </a:r>
            <a:r>
              <a:rPr lang="en-US" sz="2400" dirty="0"/>
              <a:t> submit.</a:t>
            </a:r>
          </a:p>
          <a:p>
            <a:pPr>
              <a:lnSpc>
                <a:spcPct val="90000"/>
              </a:lnSpc>
              <a:buClr>
                <a:schemeClr val="accent2"/>
              </a:buClr>
              <a:buFont typeface="Wingdings" pitchFamily="2" charset="2"/>
              <a:buChar char="§"/>
            </a:pPr>
            <a:r>
              <a:rPr lang="en-US" sz="2400" b="1" dirty="0">
                <a:solidFill>
                  <a:srgbClr val="FF0000"/>
                </a:solidFill>
              </a:rPr>
              <a:t>NAME</a:t>
            </a:r>
            <a:r>
              <a:rPr lang="en-US" sz="2400" b="1" dirty="0"/>
              <a:t>:</a:t>
            </a:r>
            <a:r>
              <a:rPr lang="en-US" sz="2400" dirty="0"/>
              <a:t> value used by the CGI script for processing.</a:t>
            </a:r>
          </a:p>
          <a:p>
            <a:pPr>
              <a:lnSpc>
                <a:spcPct val="90000"/>
              </a:lnSpc>
              <a:buClr>
                <a:schemeClr val="accent2"/>
              </a:buClr>
              <a:buFont typeface="Wingdings" pitchFamily="2" charset="2"/>
              <a:buChar char="§"/>
            </a:pPr>
            <a:r>
              <a:rPr lang="en-US" sz="2400" b="1" dirty="0">
                <a:solidFill>
                  <a:srgbClr val="FF0000"/>
                </a:solidFill>
              </a:rPr>
              <a:t>VALUE:</a:t>
            </a:r>
            <a:r>
              <a:rPr lang="en-US" sz="2400" dirty="0"/>
              <a:t> determines the text label on the button, usually Submit Query.</a:t>
            </a:r>
          </a:p>
        </p:txBody>
      </p:sp>
      <p:graphicFrame>
        <p:nvGraphicFramePr>
          <p:cNvPr id="114692" name="Object 4"/>
          <p:cNvGraphicFramePr>
            <a:graphicFrameLocks noChangeAspect="1"/>
          </p:cNvGraphicFramePr>
          <p:nvPr/>
        </p:nvGraphicFramePr>
        <p:xfrm>
          <a:off x="3886200" y="3505200"/>
          <a:ext cx="2438400" cy="595313"/>
        </p:xfrm>
        <a:graphic>
          <a:graphicData uri="http://schemas.openxmlformats.org/presentationml/2006/ole">
            <p:oleObj spid="_x0000_s6146" name="Bitmap Image" r:id="rId3" imgW="1209524" imgH="295238" progId="PBrush">
              <p:embed/>
            </p:oleObj>
          </a:graphicData>
        </a:graphic>
      </p:graphicFrame>
      <p:sp>
        <p:nvSpPr>
          <p:cNvPr id="114694" name="Rectangle 6"/>
          <p:cNvSpPr>
            <a:spLocks noGrp="1" noChangeArrowheads="1"/>
          </p:cNvSpPr>
          <p:nvPr>
            <p:ph type="title"/>
          </p:nvPr>
        </p:nvSpPr>
        <p:spPr>
          <a:xfrm>
            <a:off x="533400" y="274638"/>
            <a:ext cx="7929563" cy="762000"/>
          </a:xfrm>
          <a:noFill/>
          <a:ln>
            <a:noFill/>
          </a:ln>
        </p:spPr>
        <p:txBody>
          <a:bodyPr>
            <a:flatTx/>
          </a:bodyPr>
          <a:lstStyle/>
          <a:p>
            <a:r>
              <a:rPr lang="en-US">
                <a:solidFill>
                  <a:srgbClr val="C00000"/>
                </a:solidFill>
              </a:rPr>
              <a:t>Submit Button</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3CF4F72-519C-4A73-8545-00E46B90CDD3}" type="slidenum">
              <a:rPr lang="ar-SA"/>
              <a:pPr/>
              <a:t>27</a:t>
            </a:fld>
            <a:endParaRPr lang="en-US"/>
          </a:p>
        </p:txBody>
      </p:sp>
      <p:sp>
        <p:nvSpPr>
          <p:cNvPr id="184324" name="Rectangle 4"/>
          <p:cNvSpPr>
            <a:spLocks noChangeArrowheads="1"/>
          </p:cNvSpPr>
          <p:nvPr/>
        </p:nvSpPr>
        <p:spPr bwMode="auto">
          <a:xfrm>
            <a:off x="533400" y="1676400"/>
            <a:ext cx="8610600" cy="4362450"/>
          </a:xfrm>
          <a:prstGeom prst="rect">
            <a:avLst/>
          </a:prstGeom>
          <a:noFill/>
          <a:ln w="9525">
            <a:noFill/>
            <a:miter lim="800000"/>
            <a:headEnd/>
            <a:tailEnd/>
          </a:ln>
          <a:effectLst/>
        </p:spPr>
        <p:txBody>
          <a:bodyPr>
            <a:spAutoFit/>
          </a:bodyPr>
          <a:lstStyle/>
          <a:p>
            <a:pPr eaLnBrk="1" hangingPunct="1"/>
            <a:r>
              <a:rPr lang="en-US" sz="2800" b="1" dirty="0">
                <a:solidFill>
                  <a:srgbClr val="FF0000"/>
                </a:solidFill>
              </a:rPr>
              <a:t>&lt;FORM     Action="URL"         method="get"&gt;</a:t>
            </a:r>
          </a:p>
          <a:p>
            <a:pPr eaLnBrk="1" hangingPunct="1"/>
            <a:r>
              <a:rPr lang="en-US" sz="2800" b="1" dirty="0">
                <a:solidFill>
                  <a:srgbClr val="0000CC"/>
                </a:solidFill>
              </a:rPr>
              <a:t>First Name: &lt;INPUT TYPE="TEXT" Size=25 name="</a:t>
            </a:r>
            <a:r>
              <a:rPr lang="en-US" sz="2800" b="1" dirty="0" err="1">
                <a:solidFill>
                  <a:srgbClr val="0000CC"/>
                </a:solidFill>
              </a:rPr>
              <a:t>firstName</a:t>
            </a:r>
            <a:r>
              <a:rPr lang="en-US" sz="2800" b="1" dirty="0">
                <a:solidFill>
                  <a:srgbClr val="0000CC"/>
                </a:solidFill>
              </a:rPr>
              <a:t>"&gt;&lt;BR&gt;</a:t>
            </a:r>
          </a:p>
          <a:p>
            <a:pPr eaLnBrk="1" hangingPunct="1"/>
            <a:r>
              <a:rPr lang="en-US" sz="2800" b="1" dirty="0">
                <a:solidFill>
                  <a:schemeClr val="hlink"/>
                </a:solidFill>
              </a:rPr>
              <a:t>Family Name: &lt;INPUT TYPE="TEXT" Size=25 name="</a:t>
            </a:r>
            <a:r>
              <a:rPr lang="en-US" sz="2800" b="1" dirty="0" err="1">
                <a:solidFill>
                  <a:schemeClr val="hlink"/>
                </a:solidFill>
              </a:rPr>
              <a:t>LastName</a:t>
            </a:r>
            <a:r>
              <a:rPr lang="en-US" sz="2800" b="1" dirty="0">
                <a:solidFill>
                  <a:schemeClr val="hlink"/>
                </a:solidFill>
              </a:rPr>
              <a:t>"&gt;&lt;BR&gt;</a:t>
            </a:r>
          </a:p>
          <a:p>
            <a:pPr eaLnBrk="1" hangingPunct="1"/>
            <a:r>
              <a:rPr lang="en-US" sz="2800" b="1" dirty="0"/>
              <a:t>&lt;BR&gt;</a:t>
            </a:r>
          </a:p>
          <a:p>
            <a:pPr eaLnBrk="1" hangingPunct="1"/>
            <a:r>
              <a:rPr lang="en-US" sz="2800" b="1" dirty="0"/>
              <a:t>&lt;FONT Color=red&gt;</a:t>
            </a:r>
          </a:p>
          <a:p>
            <a:pPr eaLnBrk="1" hangingPunct="1"/>
            <a:r>
              <a:rPr lang="en-US" sz="2800" b="1" dirty="0"/>
              <a:t>Press Here to submit the data:&lt;BR&gt;</a:t>
            </a:r>
          </a:p>
          <a:p>
            <a:pPr eaLnBrk="1" hangingPunct="1"/>
            <a:r>
              <a:rPr lang="en-US" sz="2800" b="1" dirty="0">
                <a:solidFill>
                  <a:srgbClr val="990000"/>
                </a:solidFill>
              </a:rPr>
              <a:t>&lt;INPUT TYPE="submit" VALUE="</a:t>
            </a:r>
            <a:r>
              <a:rPr lang="en-US" sz="2800" b="1" dirty="0" smtClean="0">
                <a:solidFill>
                  <a:srgbClr val="990000"/>
                </a:solidFill>
              </a:rPr>
              <a:t>Submit Data </a:t>
            </a:r>
            <a:r>
              <a:rPr lang="en-US" sz="2800" b="1" dirty="0">
                <a:solidFill>
                  <a:srgbClr val="990000"/>
                </a:solidFill>
              </a:rPr>
              <a:t>" &gt;</a:t>
            </a:r>
          </a:p>
          <a:p>
            <a:pPr eaLnBrk="1" hangingPunct="1"/>
            <a:r>
              <a:rPr lang="en-US" sz="2800" b="1" dirty="0">
                <a:solidFill>
                  <a:srgbClr val="FF0000"/>
                </a:solidFill>
              </a:rPr>
              <a:t>&lt;/FORM&gt;</a:t>
            </a:r>
          </a:p>
        </p:txBody>
      </p:sp>
      <p:sp>
        <p:nvSpPr>
          <p:cNvPr id="4" name="Rectangle 4"/>
          <p:cNvSpPr>
            <a:spLocks noGrp="1" noChangeArrowheads="1"/>
          </p:cNvSpPr>
          <p:nvPr>
            <p:ph type="title"/>
          </p:nvPr>
        </p:nvSpPr>
        <p:spPr>
          <a:xfrm>
            <a:off x="457200" y="381000"/>
            <a:ext cx="8229600" cy="762000"/>
          </a:xfrm>
          <a:noFill/>
          <a:ln/>
        </p:spPr>
        <p:txBody>
          <a:bodyPr>
            <a:normAutofit/>
            <a:flatTx/>
          </a:bodyPr>
          <a:lstStyle/>
          <a:p>
            <a:r>
              <a:rPr lang="en-US" sz="4000" dirty="0">
                <a:solidFill>
                  <a:srgbClr val="C00000"/>
                </a:solidFill>
              </a:rPr>
              <a:t>Example on </a:t>
            </a:r>
            <a:r>
              <a:rPr lang="en-US" sz="4000" dirty="0" smtClean="0">
                <a:solidFill>
                  <a:srgbClr val="C00000"/>
                </a:solidFill>
              </a:rPr>
              <a:t>Submit </a:t>
            </a:r>
            <a:r>
              <a:rPr lang="en-US" sz="4000" dirty="0" smtClean="0">
                <a:solidFill>
                  <a:srgbClr val="C00000"/>
                </a:solidFill>
              </a:rPr>
              <a:t>Button</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0625C5C-6095-49C2-A5D7-13E8DB6196EC}" type="slidenum">
              <a:rPr lang="ar-SA"/>
              <a:pPr/>
              <a:t>28</a:t>
            </a:fld>
            <a:endParaRPr lang="en-US"/>
          </a:p>
        </p:txBody>
      </p:sp>
      <p:pic>
        <p:nvPicPr>
          <p:cNvPr id="52225" name="Picture 1" descr="C:\Users\Full Time\Desktop\Untitled5.png"/>
          <p:cNvPicPr>
            <a:picLocks noChangeAspect="1" noChangeArrowheads="1"/>
          </p:cNvPicPr>
          <p:nvPr/>
        </p:nvPicPr>
        <p:blipFill>
          <a:blip r:embed="rId2" cstate="print"/>
          <a:srcRect r="20363" b="24074"/>
          <a:stretch>
            <a:fillRect/>
          </a:stretch>
        </p:blipFill>
        <p:spPr bwMode="auto">
          <a:xfrm>
            <a:off x="1142999" y="1600200"/>
            <a:ext cx="6861717" cy="3962400"/>
          </a:xfrm>
          <a:prstGeom prst="rect">
            <a:avLst/>
          </a:prstGeom>
          <a:noFill/>
        </p:spPr>
      </p:pic>
      <p:sp>
        <p:nvSpPr>
          <p:cNvPr id="6" name="Rectangle 5"/>
          <p:cNvSpPr txBox="1">
            <a:spLocks noChangeArrowheads="1"/>
          </p:cNvSpPr>
          <p:nvPr/>
        </p:nvSpPr>
        <p:spPr>
          <a:xfrm>
            <a:off x="754063" y="350838"/>
            <a:ext cx="7929562" cy="762000"/>
          </a:xfrm>
          <a:prstGeom prst="rect">
            <a:avLst/>
          </a:prstGeom>
          <a:noFill/>
          <a:ln/>
        </p:spPr>
        <p:txBody>
          <a:bodyPr vert="horz" lIns="91440" tIns="45720" rIns="91440" bIns="45720" rtlCol="0" anchor="ctr">
            <a:normAutofit/>
            <a:flatTx/>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rgbClr val="C00000"/>
                </a:solidFill>
                <a:effectLst/>
                <a:uLnTx/>
                <a:uFillTx/>
                <a:latin typeface="+mj-lt"/>
                <a:ea typeface="+mj-ea"/>
                <a:cs typeface="+mj-cs"/>
              </a:rPr>
              <a:t>Output</a:t>
            </a:r>
            <a:endParaRPr kumimoji="0" lang="en-US" sz="4400" b="0" i="0" u="none" strike="noStrike" kern="1200" cap="none" spc="0" normalizeH="0" baseline="0" noProof="0">
              <a:ln>
                <a:noFill/>
              </a:ln>
              <a:solidFill>
                <a:srgbClr val="C0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93094C7E-AEFC-4663-B213-2FF29BE913CB}" type="slidenum">
              <a:rPr lang="ar-SA"/>
              <a:pPr/>
              <a:t>29</a:t>
            </a:fld>
            <a:endParaRPr lang="en-US"/>
          </a:p>
        </p:txBody>
      </p:sp>
      <p:sp>
        <p:nvSpPr>
          <p:cNvPr id="181252" name="Rectangle 4"/>
          <p:cNvSpPr>
            <a:spLocks noGrp="1" noChangeArrowheads="1"/>
          </p:cNvSpPr>
          <p:nvPr>
            <p:ph type="title"/>
          </p:nvPr>
        </p:nvSpPr>
        <p:spPr>
          <a:xfrm>
            <a:off x="457200" y="381000"/>
            <a:ext cx="8229600" cy="685800"/>
          </a:xfrm>
          <a:noFill/>
          <a:ln/>
        </p:spPr>
        <p:txBody>
          <a:bodyPr>
            <a:normAutofit fontScale="90000"/>
            <a:flatTx/>
          </a:bodyPr>
          <a:lstStyle/>
          <a:p>
            <a:r>
              <a:rPr lang="en-US">
                <a:solidFill>
                  <a:srgbClr val="C00000"/>
                </a:solidFill>
              </a:rPr>
              <a:t>Reset Button</a:t>
            </a:r>
          </a:p>
        </p:txBody>
      </p:sp>
      <p:sp>
        <p:nvSpPr>
          <p:cNvPr id="181253" name="Rectangle 5"/>
          <p:cNvSpPr>
            <a:spLocks noGrp="1" noChangeArrowheads="1"/>
          </p:cNvSpPr>
          <p:nvPr>
            <p:ph type="body" idx="1"/>
          </p:nvPr>
        </p:nvSpPr>
        <p:spPr>
          <a:xfrm>
            <a:off x="762000" y="1447800"/>
            <a:ext cx="7772400" cy="5410200"/>
          </a:xfrm>
          <a:noFill/>
          <a:ln>
            <a:solidFill>
              <a:srgbClr val="333300"/>
            </a:solidFill>
          </a:ln>
        </p:spPr>
        <p:txBody>
          <a:bodyPr/>
          <a:lstStyle/>
          <a:p>
            <a:pPr>
              <a:lnSpc>
                <a:spcPct val="80000"/>
              </a:lnSpc>
              <a:buNone/>
            </a:pPr>
            <a:r>
              <a:rPr lang="en-US" sz="2800" b="1" dirty="0">
                <a:solidFill>
                  <a:srgbClr val="0070C0"/>
                </a:solidFill>
              </a:rPr>
              <a:t>Reset</a:t>
            </a:r>
            <a:r>
              <a:rPr lang="en-US" sz="2800" b="1" dirty="0"/>
              <a:t>:</a:t>
            </a:r>
            <a:r>
              <a:rPr lang="en-US" sz="2800" dirty="0"/>
              <a:t> It is a good idea to include one of these for each form where users are entering data. It allows the surfer to clear all the input in the form.</a:t>
            </a:r>
          </a:p>
          <a:p>
            <a:pPr>
              <a:lnSpc>
                <a:spcPct val="80000"/>
              </a:lnSpc>
            </a:pPr>
            <a:endParaRPr lang="en-US" sz="2800" dirty="0"/>
          </a:p>
          <a:p>
            <a:pPr>
              <a:lnSpc>
                <a:spcPct val="80000"/>
              </a:lnSpc>
            </a:pPr>
            <a:r>
              <a:rPr lang="en-US" sz="2800" b="1" dirty="0">
                <a:solidFill>
                  <a:srgbClr val="FF0000"/>
                </a:solidFill>
              </a:rPr>
              <a:t>&lt;INPUT TYPE=“RESET”&gt;</a:t>
            </a:r>
          </a:p>
          <a:p>
            <a:pPr>
              <a:lnSpc>
                <a:spcPct val="80000"/>
              </a:lnSpc>
            </a:pPr>
            <a:endParaRPr lang="en-US" sz="2800" b="1" dirty="0"/>
          </a:p>
          <a:p>
            <a:pPr>
              <a:lnSpc>
                <a:spcPct val="80000"/>
              </a:lnSpc>
            </a:pPr>
            <a:r>
              <a:rPr lang="en-US" sz="2800" dirty="0"/>
              <a:t>Browser will display  </a:t>
            </a:r>
          </a:p>
          <a:p>
            <a:pPr>
              <a:lnSpc>
                <a:spcPct val="80000"/>
              </a:lnSpc>
              <a:buNone/>
            </a:pPr>
            <a:r>
              <a:rPr lang="en-US" sz="2800" dirty="0" smtClean="0"/>
              <a:t>    </a:t>
            </a:r>
            <a:endParaRPr lang="en-US" sz="2800" dirty="0"/>
          </a:p>
          <a:p>
            <a:pPr>
              <a:lnSpc>
                <a:spcPct val="80000"/>
              </a:lnSpc>
              <a:buNone/>
            </a:pPr>
            <a:r>
              <a:rPr lang="en-US" sz="2800" dirty="0"/>
              <a:t>Reset buttons have the following attributes:</a:t>
            </a:r>
          </a:p>
          <a:p>
            <a:pPr>
              <a:lnSpc>
                <a:spcPct val="80000"/>
              </a:lnSpc>
            </a:pPr>
            <a:r>
              <a:rPr lang="en-US" sz="2800" b="1" dirty="0">
                <a:solidFill>
                  <a:srgbClr val="FF0000"/>
                </a:solidFill>
              </a:rPr>
              <a:t>TYPE</a:t>
            </a:r>
            <a:r>
              <a:rPr lang="en-US" sz="2800" b="1" dirty="0"/>
              <a:t>:</a:t>
            </a:r>
            <a:r>
              <a:rPr lang="en-US" sz="2800" dirty="0"/>
              <a:t> reset.</a:t>
            </a:r>
          </a:p>
          <a:p>
            <a:pPr>
              <a:lnSpc>
                <a:spcPct val="80000"/>
              </a:lnSpc>
            </a:pPr>
            <a:r>
              <a:rPr lang="en-US" sz="2800" b="1" dirty="0">
                <a:solidFill>
                  <a:srgbClr val="FF0000"/>
                </a:solidFill>
              </a:rPr>
              <a:t>VALUE</a:t>
            </a:r>
            <a:r>
              <a:rPr lang="en-US" sz="2800" b="1" dirty="0"/>
              <a:t>:</a:t>
            </a:r>
            <a:r>
              <a:rPr lang="en-US" sz="2800" dirty="0"/>
              <a:t> determines the text label on the button, usually Reset.</a:t>
            </a:r>
          </a:p>
        </p:txBody>
      </p:sp>
      <p:pic>
        <p:nvPicPr>
          <p:cNvPr id="181255" name="Picture 7"/>
          <p:cNvPicPr>
            <a:picLocks noChangeAspect="1" noChangeArrowheads="1"/>
          </p:cNvPicPr>
          <p:nvPr/>
        </p:nvPicPr>
        <p:blipFill>
          <a:blip r:embed="rId2" cstate="print"/>
          <a:srcRect/>
          <a:stretch>
            <a:fillRect/>
          </a:stretch>
        </p:blipFill>
        <p:spPr bwMode="auto">
          <a:xfrm>
            <a:off x="4267200" y="3886200"/>
            <a:ext cx="1290638" cy="614363"/>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0EBC1C93-42FF-45CA-93A1-D75601A0B986}" type="slidenum">
              <a:rPr lang="ar-SA"/>
              <a:pPr/>
              <a:t>30</a:t>
            </a:fld>
            <a:endParaRPr lang="en-US"/>
          </a:p>
        </p:txBody>
      </p:sp>
      <p:sp>
        <p:nvSpPr>
          <p:cNvPr id="186372" name="Rectangle 4"/>
          <p:cNvSpPr>
            <a:spLocks noChangeArrowheads="1"/>
          </p:cNvSpPr>
          <p:nvPr/>
        </p:nvSpPr>
        <p:spPr bwMode="auto">
          <a:xfrm>
            <a:off x="533400" y="1641475"/>
            <a:ext cx="8458200" cy="5216525"/>
          </a:xfrm>
          <a:prstGeom prst="rect">
            <a:avLst/>
          </a:prstGeom>
          <a:noFill/>
          <a:ln w="9525">
            <a:noFill/>
            <a:miter lim="800000"/>
            <a:headEnd/>
            <a:tailEnd/>
          </a:ln>
          <a:effectLst/>
        </p:spPr>
        <p:txBody>
          <a:bodyPr>
            <a:spAutoFit/>
          </a:bodyPr>
          <a:lstStyle/>
          <a:p>
            <a:pPr eaLnBrk="1" hangingPunct="1"/>
            <a:r>
              <a:rPr lang="en-US" sz="2800" b="1" dirty="0">
                <a:solidFill>
                  <a:srgbClr val="FF0000"/>
                </a:solidFill>
              </a:rPr>
              <a:t>&lt;FORM     Action="URL"         method="get"&gt;</a:t>
            </a:r>
          </a:p>
          <a:p>
            <a:pPr eaLnBrk="1" hangingPunct="1"/>
            <a:r>
              <a:rPr lang="en-US" sz="2800" b="1" dirty="0">
                <a:solidFill>
                  <a:srgbClr val="0000CC"/>
                </a:solidFill>
              </a:rPr>
              <a:t>First Name: &lt;INPUT TYPE="TEXT" Size=25 name="</a:t>
            </a:r>
            <a:r>
              <a:rPr lang="en-US" sz="2800" b="1" dirty="0" err="1">
                <a:solidFill>
                  <a:srgbClr val="0000CC"/>
                </a:solidFill>
              </a:rPr>
              <a:t>firstName</a:t>
            </a:r>
            <a:r>
              <a:rPr lang="en-US" sz="2800" b="1" dirty="0">
                <a:solidFill>
                  <a:srgbClr val="0000CC"/>
                </a:solidFill>
              </a:rPr>
              <a:t>"&gt; &lt;BR&gt;</a:t>
            </a:r>
          </a:p>
          <a:p>
            <a:pPr eaLnBrk="1" hangingPunct="1"/>
            <a:r>
              <a:rPr lang="en-US" sz="2800" b="1" dirty="0">
                <a:solidFill>
                  <a:srgbClr val="990000"/>
                </a:solidFill>
              </a:rPr>
              <a:t>Family Name: &lt;INPUT TYPE="TEXT" Size=25 name="</a:t>
            </a:r>
            <a:r>
              <a:rPr lang="en-US" sz="2800" b="1" dirty="0" err="1">
                <a:solidFill>
                  <a:srgbClr val="990000"/>
                </a:solidFill>
              </a:rPr>
              <a:t>LastName</a:t>
            </a:r>
            <a:r>
              <a:rPr lang="en-US" sz="2800" b="1" dirty="0">
                <a:solidFill>
                  <a:srgbClr val="990000"/>
                </a:solidFill>
              </a:rPr>
              <a:t>"&gt;&lt;BR&gt;</a:t>
            </a:r>
          </a:p>
          <a:p>
            <a:pPr eaLnBrk="1" hangingPunct="1"/>
            <a:r>
              <a:rPr lang="en-US" sz="2800" b="1" dirty="0"/>
              <a:t>&lt;BR&gt;</a:t>
            </a:r>
          </a:p>
          <a:p>
            <a:pPr eaLnBrk="1" hangingPunct="1"/>
            <a:r>
              <a:rPr lang="en-US" sz="2800" b="1" dirty="0"/>
              <a:t>&lt;FONT Color</a:t>
            </a:r>
            <a:r>
              <a:rPr lang="ar-SA" sz="2800" b="1" dirty="0"/>
              <a:t> </a:t>
            </a:r>
            <a:r>
              <a:rPr lang="en-US" sz="2800" b="1" dirty="0"/>
              <a:t>= red&gt;</a:t>
            </a:r>
          </a:p>
          <a:p>
            <a:pPr eaLnBrk="1" hangingPunct="1"/>
            <a:r>
              <a:rPr lang="en-US" sz="2800" b="1" dirty="0"/>
              <a:t>&lt;STRONG&gt;&lt;font size=5&gt;Press Here to submit the data:&lt;/font&gt;&lt;/STRONG&gt;&lt;BR&gt;</a:t>
            </a:r>
          </a:p>
          <a:p>
            <a:pPr eaLnBrk="1" hangingPunct="1"/>
            <a:r>
              <a:rPr lang="en-US" sz="2800" b="1" dirty="0">
                <a:solidFill>
                  <a:srgbClr val="FF0000"/>
                </a:solidFill>
              </a:rPr>
              <a:t>&lt;INPUT TYPE="submit" VALUE="</a:t>
            </a:r>
            <a:r>
              <a:rPr lang="en-US" sz="2800" b="1" dirty="0" err="1">
                <a:solidFill>
                  <a:srgbClr val="FF0000"/>
                </a:solidFill>
              </a:rPr>
              <a:t>SubmitData</a:t>
            </a:r>
            <a:r>
              <a:rPr lang="en-US" sz="2800" b="1" dirty="0">
                <a:solidFill>
                  <a:srgbClr val="FF0000"/>
                </a:solidFill>
              </a:rPr>
              <a:t>"&gt;</a:t>
            </a:r>
          </a:p>
          <a:p>
            <a:pPr eaLnBrk="1" hangingPunct="1"/>
            <a:r>
              <a:rPr lang="en-US" sz="2800" b="1" dirty="0">
                <a:solidFill>
                  <a:srgbClr val="0000CC"/>
                </a:solidFill>
              </a:rPr>
              <a:t>&lt;INPUT TYPE="RESET" VALUE="Reset"&gt;</a:t>
            </a:r>
          </a:p>
          <a:p>
            <a:pPr eaLnBrk="1" hangingPunct="1"/>
            <a:r>
              <a:rPr lang="en-US" sz="2800" b="1" dirty="0">
                <a:solidFill>
                  <a:srgbClr val="FF0000"/>
                </a:solidFill>
              </a:rPr>
              <a:t>&lt;/FORM&gt;</a:t>
            </a:r>
          </a:p>
        </p:txBody>
      </p:sp>
      <p:sp>
        <p:nvSpPr>
          <p:cNvPr id="4" name="Rectangle 4"/>
          <p:cNvSpPr>
            <a:spLocks noGrp="1" noChangeArrowheads="1"/>
          </p:cNvSpPr>
          <p:nvPr>
            <p:ph type="title"/>
          </p:nvPr>
        </p:nvSpPr>
        <p:spPr>
          <a:xfrm>
            <a:off x="457200" y="381000"/>
            <a:ext cx="8229600" cy="762000"/>
          </a:xfrm>
          <a:noFill/>
          <a:ln/>
        </p:spPr>
        <p:txBody>
          <a:bodyPr>
            <a:normAutofit/>
            <a:flatTx/>
          </a:bodyPr>
          <a:lstStyle/>
          <a:p>
            <a:r>
              <a:rPr lang="en-US" sz="4000" dirty="0">
                <a:solidFill>
                  <a:srgbClr val="C00000"/>
                </a:solidFill>
              </a:rPr>
              <a:t>Example on </a:t>
            </a:r>
            <a:r>
              <a:rPr lang="en-US" sz="4000" dirty="0" smtClean="0">
                <a:solidFill>
                  <a:srgbClr val="C00000"/>
                </a:solidFill>
              </a:rPr>
              <a:t>Reset </a:t>
            </a:r>
            <a:r>
              <a:rPr lang="en-US" sz="4000" dirty="0" smtClean="0">
                <a:solidFill>
                  <a:srgbClr val="C00000"/>
                </a:solidFill>
              </a:rPr>
              <a:t>Button</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EBB064D5-D3E9-4E63-A697-1448D464D286}" type="slidenum">
              <a:rPr lang="ar-SA"/>
              <a:pPr/>
              <a:t>31</a:t>
            </a:fld>
            <a:endParaRPr lang="en-US"/>
          </a:p>
        </p:txBody>
      </p:sp>
      <p:pic>
        <p:nvPicPr>
          <p:cNvPr id="49153" name="Picture 1" descr="C:\Users\Full Time\Desktop\Untitled5.png"/>
          <p:cNvPicPr>
            <a:picLocks noChangeAspect="1" noChangeArrowheads="1"/>
          </p:cNvPicPr>
          <p:nvPr/>
        </p:nvPicPr>
        <p:blipFill>
          <a:blip r:embed="rId2" cstate="print"/>
          <a:srcRect r="20962" b="18966"/>
          <a:stretch>
            <a:fillRect/>
          </a:stretch>
        </p:blipFill>
        <p:spPr bwMode="auto">
          <a:xfrm>
            <a:off x="1066799" y="1447800"/>
            <a:ext cx="6828817" cy="4114800"/>
          </a:xfrm>
          <a:prstGeom prst="rect">
            <a:avLst/>
          </a:prstGeom>
          <a:noFill/>
        </p:spPr>
      </p:pic>
      <p:sp>
        <p:nvSpPr>
          <p:cNvPr id="6" name="Rectangle 5"/>
          <p:cNvSpPr txBox="1">
            <a:spLocks noChangeArrowheads="1"/>
          </p:cNvSpPr>
          <p:nvPr/>
        </p:nvSpPr>
        <p:spPr>
          <a:xfrm>
            <a:off x="754063" y="350838"/>
            <a:ext cx="7929562" cy="762000"/>
          </a:xfrm>
          <a:prstGeom prst="rect">
            <a:avLst/>
          </a:prstGeom>
          <a:noFill/>
          <a:ln/>
        </p:spPr>
        <p:txBody>
          <a:bodyPr vert="horz" lIns="91440" tIns="45720" rIns="91440" bIns="45720" rtlCol="0" anchor="ctr">
            <a:normAutofit/>
            <a:flatTx/>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rgbClr val="C00000"/>
                </a:solidFill>
                <a:effectLst/>
                <a:uLnTx/>
                <a:uFillTx/>
                <a:latin typeface="+mj-lt"/>
                <a:ea typeface="+mj-ea"/>
                <a:cs typeface="+mj-cs"/>
              </a:rPr>
              <a:t>Output</a:t>
            </a:r>
            <a:endParaRPr kumimoji="0" lang="en-US" sz="4400" b="0" i="0" u="none" strike="noStrike" kern="1200" cap="none" spc="0" normalizeH="0" baseline="0" noProof="0" dirty="0">
              <a:ln>
                <a:noFill/>
              </a:ln>
              <a:solidFill>
                <a:srgbClr val="C0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9A347B0-F107-4BB5-A17E-5ACB335317FD}" type="slidenum">
              <a:rPr lang="ar-SA"/>
              <a:pPr/>
              <a:t>32</a:t>
            </a:fld>
            <a:endParaRPr lang="en-US"/>
          </a:p>
        </p:txBody>
      </p:sp>
      <p:sp>
        <p:nvSpPr>
          <p:cNvPr id="115714" name="Rectangle 2"/>
          <p:cNvSpPr>
            <a:spLocks noGrp="1" noChangeArrowheads="1"/>
          </p:cNvSpPr>
          <p:nvPr>
            <p:ph type="title"/>
          </p:nvPr>
        </p:nvSpPr>
        <p:spPr>
          <a:xfrm>
            <a:off x="457200" y="274638"/>
            <a:ext cx="8229600" cy="762000"/>
          </a:xfrm>
          <a:noFill/>
        </p:spPr>
        <p:txBody>
          <a:bodyPr>
            <a:flatTx/>
          </a:bodyPr>
          <a:lstStyle/>
          <a:p>
            <a:r>
              <a:rPr lang="en-US">
                <a:solidFill>
                  <a:srgbClr val="C00000"/>
                </a:solidFill>
              </a:rPr>
              <a:t>Image Submit Button</a:t>
            </a:r>
          </a:p>
        </p:txBody>
      </p:sp>
      <p:sp>
        <p:nvSpPr>
          <p:cNvPr id="115715" name="Rectangle 3"/>
          <p:cNvSpPr>
            <a:spLocks noGrp="1" noChangeArrowheads="1"/>
          </p:cNvSpPr>
          <p:nvPr>
            <p:ph type="body" idx="1"/>
          </p:nvPr>
        </p:nvSpPr>
        <p:spPr>
          <a:xfrm>
            <a:off x="685800" y="1447800"/>
            <a:ext cx="7772400" cy="4419600"/>
          </a:xfrm>
          <a:noFill/>
          <a:ln>
            <a:solidFill>
              <a:srgbClr val="333300"/>
            </a:solidFill>
          </a:ln>
        </p:spPr>
        <p:txBody>
          <a:bodyPr/>
          <a:lstStyle/>
          <a:p>
            <a:pPr>
              <a:buClr>
                <a:schemeClr val="accent2"/>
              </a:buClr>
              <a:buNone/>
            </a:pPr>
            <a:r>
              <a:rPr lang="en-US" sz="2800" b="1" dirty="0">
                <a:solidFill>
                  <a:srgbClr val="0000FF"/>
                </a:solidFill>
              </a:rPr>
              <a:t>Image Submit Button:</a:t>
            </a:r>
            <a:r>
              <a:rPr lang="en-US" sz="2400" dirty="0"/>
              <a:t> Allows you to substitute an image for the standard submit button.</a:t>
            </a:r>
          </a:p>
          <a:p>
            <a:pPr>
              <a:buClr>
                <a:schemeClr val="accent2"/>
              </a:buClr>
              <a:buFont typeface="Wingdings" pitchFamily="2" charset="2"/>
              <a:buNone/>
            </a:pPr>
            <a:endParaRPr lang="en-US" sz="2400" dirty="0"/>
          </a:p>
          <a:p>
            <a:pPr>
              <a:buClr>
                <a:schemeClr val="accent2"/>
              </a:buClr>
              <a:buFont typeface="Wingdings" pitchFamily="2" charset="2"/>
              <a:buNone/>
            </a:pPr>
            <a:r>
              <a:rPr lang="en-US" sz="2400" b="1" dirty="0">
                <a:solidFill>
                  <a:srgbClr val="FF0000"/>
                </a:solidFill>
              </a:rPr>
              <a:t>&lt;INPUT  TYPE=“IMAGE”  SRC</a:t>
            </a:r>
            <a:r>
              <a:rPr lang="en-US" sz="2400" b="1" dirty="0" smtClean="0">
                <a:solidFill>
                  <a:srgbClr val="FF0000"/>
                </a:solidFill>
              </a:rPr>
              <a:t>=“image1.gif</a:t>
            </a:r>
            <a:r>
              <a:rPr lang="en-US" sz="2400" b="1" dirty="0">
                <a:solidFill>
                  <a:srgbClr val="FF0000"/>
                </a:solidFill>
              </a:rPr>
              <a:t>”&gt;</a:t>
            </a:r>
          </a:p>
          <a:p>
            <a:pPr>
              <a:buClr>
                <a:schemeClr val="accent2"/>
              </a:buClr>
              <a:buFont typeface="Wingdings" pitchFamily="2" charset="2"/>
              <a:buNone/>
            </a:pPr>
            <a:endParaRPr lang="en-US" sz="2400" b="1" dirty="0">
              <a:solidFill>
                <a:srgbClr val="FF0000"/>
              </a:solidFill>
            </a:endParaRPr>
          </a:p>
          <a:p>
            <a:pPr>
              <a:buClr>
                <a:schemeClr val="accent2"/>
              </a:buClr>
              <a:buFont typeface="Wingdings" pitchFamily="2" charset="2"/>
              <a:buNone/>
            </a:pPr>
            <a:r>
              <a:rPr lang="en-US" sz="2400" dirty="0"/>
              <a:t>Image submit button has the following attributes:</a:t>
            </a:r>
          </a:p>
          <a:p>
            <a:pPr>
              <a:buClr>
                <a:schemeClr val="accent2"/>
              </a:buClr>
              <a:buFont typeface="Wingdings" pitchFamily="2" charset="2"/>
              <a:buChar char="§"/>
            </a:pPr>
            <a:r>
              <a:rPr lang="en-US" sz="2400" b="1" dirty="0">
                <a:solidFill>
                  <a:srgbClr val="FF0000"/>
                </a:solidFill>
              </a:rPr>
              <a:t>TYPE:</a:t>
            </a:r>
            <a:r>
              <a:rPr lang="en-US" sz="2400" dirty="0"/>
              <a:t> Image.</a:t>
            </a:r>
          </a:p>
          <a:p>
            <a:pPr>
              <a:buClr>
                <a:schemeClr val="accent2"/>
              </a:buClr>
              <a:buFont typeface="Wingdings" pitchFamily="2" charset="2"/>
              <a:buChar char="§"/>
            </a:pPr>
            <a:r>
              <a:rPr lang="en-US" sz="2400" b="1" dirty="0">
                <a:solidFill>
                  <a:srgbClr val="FF0000"/>
                </a:solidFill>
              </a:rPr>
              <a:t>NAME:</a:t>
            </a:r>
            <a:r>
              <a:rPr lang="en-US" sz="2400" dirty="0"/>
              <a:t> is the name of the button to be used in scripting.</a:t>
            </a:r>
          </a:p>
          <a:p>
            <a:pPr>
              <a:buClr>
                <a:schemeClr val="accent2"/>
              </a:buClr>
              <a:buFont typeface="Wingdings" pitchFamily="2" charset="2"/>
              <a:buChar char="§"/>
            </a:pPr>
            <a:r>
              <a:rPr lang="en-US" sz="2400" b="1" dirty="0">
                <a:solidFill>
                  <a:srgbClr val="FF0000"/>
                </a:solidFill>
              </a:rPr>
              <a:t>SRC:</a:t>
            </a:r>
            <a:r>
              <a:rPr lang="en-US" sz="2400" dirty="0"/>
              <a:t> URL of the Image file.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A6ACD29-647A-4EA3-A69C-1B1498081493}" type="slidenum">
              <a:rPr lang="ar-SA"/>
              <a:pPr/>
              <a:t>33</a:t>
            </a:fld>
            <a:endParaRPr lang="en-US"/>
          </a:p>
        </p:txBody>
      </p:sp>
      <p:sp>
        <p:nvSpPr>
          <p:cNvPr id="188418" name="Rectangle 2"/>
          <p:cNvSpPr>
            <a:spLocks noGrp="1" noChangeArrowheads="1"/>
          </p:cNvSpPr>
          <p:nvPr>
            <p:ph type="title"/>
          </p:nvPr>
        </p:nvSpPr>
        <p:spPr>
          <a:xfrm>
            <a:off x="304800" y="228600"/>
            <a:ext cx="8229600" cy="2133600"/>
          </a:xfrm>
          <a:noFill/>
        </p:spPr>
        <p:txBody>
          <a:bodyPr>
            <a:normAutofit fontScale="90000"/>
          </a:bodyPr>
          <a:lstStyle/>
          <a:p>
            <a:pPr algn="l"/>
            <a:r>
              <a:rPr lang="en-US" sz="2800" dirty="0">
                <a:solidFill>
                  <a:schemeClr val="accent6">
                    <a:lumMod val="50000"/>
                  </a:schemeClr>
                </a:solidFill>
              </a:rPr>
              <a:t>&lt;form&gt;</a:t>
            </a:r>
            <a:br>
              <a:rPr lang="en-US" sz="2800" dirty="0">
                <a:solidFill>
                  <a:schemeClr val="accent6">
                    <a:lumMod val="50000"/>
                  </a:schemeClr>
                </a:solidFill>
              </a:rPr>
            </a:br>
            <a:r>
              <a:rPr lang="en-US" sz="2800" dirty="0">
                <a:solidFill>
                  <a:schemeClr val="accent6">
                    <a:lumMod val="50000"/>
                  </a:schemeClr>
                </a:solidFill>
              </a:rPr>
              <a:t>&lt;H1&gt;&lt;font color=blue&gt;</a:t>
            </a:r>
            <a:br>
              <a:rPr lang="en-US" sz="2800" dirty="0">
                <a:solidFill>
                  <a:schemeClr val="accent6">
                    <a:lumMod val="50000"/>
                  </a:schemeClr>
                </a:solidFill>
              </a:rPr>
            </a:br>
            <a:r>
              <a:rPr lang="en-US" sz="2800" dirty="0">
                <a:solidFill>
                  <a:schemeClr val="accent6">
                    <a:lumMod val="50000"/>
                  </a:schemeClr>
                </a:solidFill>
              </a:rPr>
              <a:t>Click to go </a:t>
            </a:r>
            <a:r>
              <a:rPr lang="en-US" sz="2800" dirty="0" smtClean="0">
                <a:solidFill>
                  <a:schemeClr val="accent6">
                    <a:lumMod val="50000"/>
                  </a:schemeClr>
                </a:solidFill>
              </a:rPr>
              <a:t>Sri Lanka’s </a:t>
            </a:r>
            <a:r>
              <a:rPr lang="en-US" sz="2800" dirty="0">
                <a:solidFill>
                  <a:schemeClr val="accent6">
                    <a:lumMod val="50000"/>
                  </a:schemeClr>
                </a:solidFill>
              </a:rPr>
              <a:t>Map:</a:t>
            </a:r>
            <a:br>
              <a:rPr lang="en-US" sz="2800" dirty="0">
                <a:solidFill>
                  <a:schemeClr val="accent6">
                    <a:lumMod val="50000"/>
                  </a:schemeClr>
                </a:solidFill>
              </a:rPr>
            </a:br>
            <a:r>
              <a:rPr lang="en-US" sz="2800" dirty="0">
                <a:solidFill>
                  <a:schemeClr val="accent6">
                    <a:lumMod val="50000"/>
                  </a:schemeClr>
                </a:solidFill>
              </a:rPr>
              <a:t>&lt;INPUT  TYPE="IMAGE"  </a:t>
            </a:r>
            <a:r>
              <a:rPr lang="en-US" sz="2800" dirty="0" smtClean="0">
                <a:solidFill>
                  <a:schemeClr val="accent6">
                    <a:lumMod val="50000"/>
                  </a:schemeClr>
                </a:solidFill>
              </a:rPr>
              <a:t>SRC=“sri</a:t>
            </a:r>
            <a:r>
              <a:rPr lang="en-US" sz="2800" dirty="0" smtClean="0">
                <a:solidFill>
                  <a:schemeClr val="accent6">
                    <a:lumMod val="50000"/>
                  </a:schemeClr>
                </a:solidFill>
              </a:rPr>
              <a:t>lanka</a:t>
            </a:r>
            <a:r>
              <a:rPr lang="en-US" sz="2800" dirty="0" smtClean="0">
                <a:solidFill>
                  <a:schemeClr val="accent6">
                    <a:lumMod val="50000"/>
                  </a:schemeClr>
                </a:solidFill>
              </a:rPr>
              <a:t>.jpg”&gt;</a:t>
            </a:r>
            <a:r>
              <a:rPr lang="en-US" sz="2800" dirty="0">
                <a:solidFill>
                  <a:schemeClr val="accent6">
                    <a:lumMod val="50000"/>
                  </a:schemeClr>
                </a:solidFill>
              </a:rPr>
              <a:t/>
            </a:r>
            <a:br>
              <a:rPr lang="en-US" sz="2800" dirty="0">
                <a:solidFill>
                  <a:schemeClr val="accent6">
                    <a:lumMod val="50000"/>
                  </a:schemeClr>
                </a:solidFill>
              </a:rPr>
            </a:br>
            <a:r>
              <a:rPr lang="en-US" sz="2800" dirty="0">
                <a:solidFill>
                  <a:schemeClr val="accent6">
                    <a:lumMod val="50000"/>
                  </a:schemeClr>
                </a:solidFill>
              </a:rPr>
              <a:t>&lt;/form&gt;</a:t>
            </a:r>
          </a:p>
        </p:txBody>
      </p:sp>
      <p:pic>
        <p:nvPicPr>
          <p:cNvPr id="47105" name="Picture 1" descr="C:\Users\Full Time\Desktop\Untitled5.png"/>
          <p:cNvPicPr>
            <a:picLocks noChangeAspect="1" noChangeArrowheads="1"/>
          </p:cNvPicPr>
          <p:nvPr/>
        </p:nvPicPr>
        <p:blipFill>
          <a:blip r:embed="rId2" cstate="print"/>
          <a:srcRect/>
          <a:stretch>
            <a:fillRect/>
          </a:stretch>
        </p:blipFill>
        <p:spPr bwMode="auto">
          <a:xfrm>
            <a:off x="1676400" y="2590800"/>
            <a:ext cx="5715000" cy="4095952"/>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F84A8E5A-8DA5-43ED-A413-1E0F654B37FF}" type="slidenum">
              <a:rPr lang="ar-SA"/>
              <a:pPr/>
              <a:t>34</a:t>
            </a:fld>
            <a:endParaRPr lang="en-US"/>
          </a:p>
        </p:txBody>
      </p:sp>
      <p:sp>
        <p:nvSpPr>
          <p:cNvPr id="174084" name="Rectangle 4"/>
          <p:cNvSpPr>
            <a:spLocks noGrp="1" noChangeArrowheads="1"/>
          </p:cNvSpPr>
          <p:nvPr>
            <p:ph type="body" idx="1"/>
          </p:nvPr>
        </p:nvSpPr>
        <p:spPr>
          <a:xfrm>
            <a:off x="533400" y="1219200"/>
            <a:ext cx="8305800" cy="5638800"/>
          </a:xfrm>
          <a:noFill/>
          <a:ln>
            <a:solidFill>
              <a:srgbClr val="333300"/>
            </a:solidFill>
          </a:ln>
        </p:spPr>
        <p:txBody>
          <a:bodyPr/>
          <a:lstStyle/>
          <a:p>
            <a:pPr>
              <a:buNone/>
            </a:pPr>
            <a:r>
              <a:rPr lang="en-US" sz="2800" b="1" dirty="0">
                <a:solidFill>
                  <a:srgbClr val="0070C0"/>
                </a:solidFill>
              </a:rPr>
              <a:t>File Upload</a:t>
            </a:r>
            <a:r>
              <a:rPr lang="en-US" sz="2400" b="1" dirty="0"/>
              <a:t>:</a:t>
            </a:r>
            <a:r>
              <a:rPr lang="en-US" sz="2400" dirty="0"/>
              <a:t> You can use a file upload to allow surfers to upload files to your web server.</a:t>
            </a:r>
          </a:p>
          <a:p>
            <a:pPr>
              <a:buNone/>
            </a:pPr>
            <a:r>
              <a:rPr lang="en-US" sz="2400" b="1" dirty="0">
                <a:solidFill>
                  <a:srgbClr val="FF0000"/>
                </a:solidFill>
              </a:rPr>
              <a:t>&lt;INPUT TYPE=“FILE”&gt;</a:t>
            </a:r>
          </a:p>
          <a:p>
            <a:pPr>
              <a:buNone/>
            </a:pPr>
            <a:r>
              <a:rPr lang="en-US" sz="2400" dirty="0"/>
              <a:t>Browser will display </a:t>
            </a:r>
          </a:p>
          <a:p>
            <a:endParaRPr lang="en-US" sz="2400" dirty="0"/>
          </a:p>
          <a:p>
            <a:pPr>
              <a:buNone/>
            </a:pPr>
            <a:r>
              <a:rPr lang="en-US" sz="2400" dirty="0"/>
              <a:t>File Upload has the following attributes:</a:t>
            </a:r>
          </a:p>
          <a:p>
            <a:r>
              <a:rPr lang="en-US" sz="2400" b="1" dirty="0">
                <a:solidFill>
                  <a:srgbClr val="FF0000"/>
                </a:solidFill>
              </a:rPr>
              <a:t>TYPE</a:t>
            </a:r>
            <a:r>
              <a:rPr lang="en-US" sz="2400" b="1" dirty="0"/>
              <a:t>:</a:t>
            </a:r>
            <a:r>
              <a:rPr lang="en-US" sz="2400" b="1" i="1" dirty="0"/>
              <a:t>  </a:t>
            </a:r>
            <a:r>
              <a:rPr lang="en-US" sz="2400" dirty="0"/>
              <a:t>file.</a:t>
            </a:r>
          </a:p>
          <a:p>
            <a:r>
              <a:rPr lang="en-US" sz="2400" b="1" dirty="0">
                <a:solidFill>
                  <a:srgbClr val="FF0000"/>
                </a:solidFill>
              </a:rPr>
              <a:t>SIZE</a:t>
            </a:r>
            <a:r>
              <a:rPr lang="en-US" sz="2400" b="1" dirty="0"/>
              <a:t>:</a:t>
            </a:r>
            <a:r>
              <a:rPr lang="en-US" sz="2400" b="1" i="1" dirty="0"/>
              <a:t> </a:t>
            </a:r>
            <a:r>
              <a:rPr lang="en-US" sz="2400" dirty="0"/>
              <a:t>is the size of the text box in characters.</a:t>
            </a:r>
          </a:p>
          <a:p>
            <a:r>
              <a:rPr lang="en-US" sz="2400" b="1" dirty="0">
                <a:solidFill>
                  <a:srgbClr val="FF0000"/>
                </a:solidFill>
              </a:rPr>
              <a:t>NAME</a:t>
            </a:r>
            <a:r>
              <a:rPr lang="en-US" sz="2400" b="1" dirty="0"/>
              <a:t>:</a:t>
            </a:r>
            <a:r>
              <a:rPr lang="en-US" sz="2400" dirty="0"/>
              <a:t> is the name of the variable to be sent to the</a:t>
            </a:r>
          </a:p>
          <a:p>
            <a:pPr>
              <a:buFontTx/>
              <a:buNone/>
            </a:pPr>
            <a:r>
              <a:rPr lang="en-US" sz="2400" dirty="0"/>
              <a:t>CGI application.</a:t>
            </a:r>
          </a:p>
          <a:p>
            <a:r>
              <a:rPr lang="en-US" sz="2400" b="1" dirty="0">
                <a:solidFill>
                  <a:srgbClr val="FF0000"/>
                </a:solidFill>
              </a:rPr>
              <a:t>MAXLENGHT</a:t>
            </a:r>
            <a:r>
              <a:rPr lang="en-US" sz="2400" b="1" dirty="0"/>
              <a:t>:</a:t>
            </a:r>
            <a:r>
              <a:rPr lang="en-US" sz="2400" dirty="0"/>
              <a:t> is the maximum size of the input in the</a:t>
            </a:r>
          </a:p>
          <a:p>
            <a:pPr>
              <a:buFontTx/>
              <a:buNone/>
            </a:pPr>
            <a:r>
              <a:rPr lang="en-US" sz="2400" dirty="0"/>
              <a:t>textbox in characters.</a:t>
            </a:r>
          </a:p>
        </p:txBody>
      </p:sp>
      <p:sp>
        <p:nvSpPr>
          <p:cNvPr id="174086" name="Rectangle 6"/>
          <p:cNvSpPr>
            <a:spLocks noGrp="1" noChangeArrowheads="1"/>
          </p:cNvSpPr>
          <p:nvPr>
            <p:ph type="title"/>
          </p:nvPr>
        </p:nvSpPr>
        <p:spPr>
          <a:xfrm>
            <a:off x="609600" y="304800"/>
            <a:ext cx="8229600" cy="762000"/>
          </a:xfrm>
          <a:noFill/>
          <a:ln/>
        </p:spPr>
        <p:txBody>
          <a:bodyPr>
            <a:normAutofit fontScale="90000"/>
            <a:flatTx/>
          </a:bodyPr>
          <a:lstStyle/>
          <a:p>
            <a:r>
              <a:rPr lang="en-US" sz="4800" dirty="0">
                <a:solidFill>
                  <a:srgbClr val="C00000"/>
                </a:solidFill>
              </a:rPr>
              <a:t>File</a:t>
            </a:r>
          </a:p>
        </p:txBody>
      </p:sp>
      <p:pic>
        <p:nvPicPr>
          <p:cNvPr id="174087" name="Picture 7"/>
          <p:cNvPicPr>
            <a:picLocks noChangeAspect="1" noChangeArrowheads="1"/>
          </p:cNvPicPr>
          <p:nvPr/>
        </p:nvPicPr>
        <p:blipFill>
          <a:blip r:embed="rId2" cstate="print"/>
          <a:srcRect/>
          <a:stretch>
            <a:fillRect/>
          </a:stretch>
        </p:blipFill>
        <p:spPr bwMode="auto">
          <a:xfrm>
            <a:off x="3581400" y="2667000"/>
            <a:ext cx="3700463" cy="476250"/>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6B4D6314-D14A-4B52-B226-03B85C8FDC66}" type="slidenum">
              <a:rPr lang="ar-SA"/>
              <a:pPr/>
              <a:t>35</a:t>
            </a:fld>
            <a:endParaRPr lang="en-US"/>
          </a:p>
        </p:txBody>
      </p:sp>
      <p:sp>
        <p:nvSpPr>
          <p:cNvPr id="176131" name="Rectangle 3"/>
          <p:cNvSpPr>
            <a:spLocks noGrp="1" noChangeArrowheads="1"/>
          </p:cNvSpPr>
          <p:nvPr>
            <p:ph type="body" idx="1"/>
          </p:nvPr>
        </p:nvSpPr>
        <p:spPr>
          <a:xfrm>
            <a:off x="685800" y="1447800"/>
            <a:ext cx="8458200" cy="5821363"/>
          </a:xfrm>
          <a:noFill/>
        </p:spPr>
        <p:txBody>
          <a:bodyPr/>
          <a:lstStyle/>
          <a:p>
            <a:pPr>
              <a:lnSpc>
                <a:spcPct val="90000"/>
              </a:lnSpc>
              <a:buFontTx/>
              <a:buNone/>
            </a:pPr>
            <a:r>
              <a:rPr lang="en-US" sz="2800" b="1" dirty="0">
                <a:solidFill>
                  <a:srgbClr val="FF0000"/>
                </a:solidFill>
              </a:rPr>
              <a:t>&lt;BODY </a:t>
            </a:r>
            <a:r>
              <a:rPr lang="en-US" sz="2800" b="1" dirty="0" err="1"/>
              <a:t>bgcolor</a:t>
            </a:r>
            <a:r>
              <a:rPr lang="en-US" sz="2800" b="1" dirty="0"/>
              <a:t>=</a:t>
            </a:r>
            <a:r>
              <a:rPr lang="en-US" sz="2800" b="1" dirty="0" err="1"/>
              <a:t>lightblue</a:t>
            </a:r>
            <a:r>
              <a:rPr lang="en-US" sz="2800" b="1" dirty="0">
                <a:solidFill>
                  <a:srgbClr val="FF0000"/>
                </a:solidFill>
              </a:rPr>
              <a:t>&gt;</a:t>
            </a:r>
          </a:p>
          <a:p>
            <a:pPr>
              <a:lnSpc>
                <a:spcPct val="90000"/>
              </a:lnSpc>
              <a:buFontTx/>
              <a:buNone/>
            </a:pPr>
            <a:r>
              <a:rPr lang="en-US" sz="2800" b="1" dirty="0">
                <a:solidFill>
                  <a:srgbClr val="0000CC"/>
                </a:solidFill>
              </a:rPr>
              <a:t>&lt;form&gt;</a:t>
            </a:r>
          </a:p>
          <a:p>
            <a:pPr>
              <a:lnSpc>
                <a:spcPct val="90000"/>
              </a:lnSpc>
              <a:buFontTx/>
              <a:buNone/>
            </a:pPr>
            <a:r>
              <a:rPr lang="en-US" sz="2800" b="1" dirty="0">
                <a:solidFill>
                  <a:schemeClr val="tx2"/>
                </a:solidFill>
              </a:rPr>
              <a:t>&lt;H3&gt;&lt;font color=</a:t>
            </a:r>
            <a:r>
              <a:rPr lang="en-US" sz="2800" b="1" dirty="0" err="1"/>
              <a:t>forestgreen</a:t>
            </a:r>
            <a:r>
              <a:rPr lang="en-US" sz="2800" b="1" dirty="0">
                <a:solidFill>
                  <a:schemeClr val="tx2"/>
                </a:solidFill>
              </a:rPr>
              <a:t>&gt;</a:t>
            </a:r>
          </a:p>
          <a:p>
            <a:pPr>
              <a:lnSpc>
                <a:spcPct val="90000"/>
              </a:lnSpc>
              <a:buFontTx/>
              <a:buNone/>
            </a:pPr>
            <a:r>
              <a:rPr lang="en-US" sz="2800" b="1" dirty="0"/>
              <a:t>Please attach your file here to for uploading to</a:t>
            </a:r>
          </a:p>
          <a:p>
            <a:pPr>
              <a:lnSpc>
                <a:spcPct val="90000"/>
              </a:lnSpc>
              <a:buFontTx/>
              <a:buNone/>
            </a:pPr>
            <a:r>
              <a:rPr lang="en-US" sz="2800" b="1" dirty="0"/>
              <a:t>My &lt;font color =</a:t>
            </a:r>
            <a:r>
              <a:rPr lang="en-US" sz="2800" b="1" dirty="0">
                <a:solidFill>
                  <a:srgbClr val="FF0000"/>
                </a:solidFill>
              </a:rPr>
              <a:t>red</a:t>
            </a:r>
            <a:r>
              <a:rPr lang="en-US" sz="2800" b="1" dirty="0"/>
              <a:t>&gt;SERVER...&lt;BR&gt;</a:t>
            </a:r>
          </a:p>
          <a:p>
            <a:pPr>
              <a:lnSpc>
                <a:spcPct val="90000"/>
              </a:lnSpc>
              <a:buFontTx/>
              <a:buNone/>
            </a:pPr>
            <a:endParaRPr lang="en-US" sz="2800" b="1" dirty="0">
              <a:solidFill>
                <a:srgbClr val="0000CC"/>
              </a:solidFill>
            </a:endParaRPr>
          </a:p>
          <a:p>
            <a:pPr>
              <a:lnSpc>
                <a:spcPct val="90000"/>
              </a:lnSpc>
              <a:buFontTx/>
              <a:buNone/>
            </a:pPr>
            <a:r>
              <a:rPr lang="en-US" sz="2800" b="1" dirty="0">
                <a:solidFill>
                  <a:srgbClr val="0000CC"/>
                </a:solidFill>
              </a:rPr>
              <a:t>&lt;INPUT  TYPE="File"  name="</a:t>
            </a:r>
            <a:r>
              <a:rPr lang="en-US" sz="2800" b="1" dirty="0" err="1">
                <a:solidFill>
                  <a:srgbClr val="0000CC"/>
                </a:solidFill>
              </a:rPr>
              <a:t>myFile</a:t>
            </a:r>
            <a:r>
              <a:rPr lang="en-US" sz="2800" b="1" dirty="0">
                <a:solidFill>
                  <a:srgbClr val="0000CC"/>
                </a:solidFill>
              </a:rPr>
              <a:t>"  size="30"&gt;</a:t>
            </a:r>
          </a:p>
          <a:p>
            <a:pPr>
              <a:lnSpc>
                <a:spcPct val="90000"/>
              </a:lnSpc>
              <a:buFontTx/>
              <a:buNone/>
            </a:pPr>
            <a:endParaRPr lang="en-US" sz="2800" b="1" dirty="0">
              <a:solidFill>
                <a:srgbClr val="993300"/>
              </a:solidFill>
            </a:endParaRPr>
          </a:p>
          <a:p>
            <a:pPr>
              <a:lnSpc>
                <a:spcPct val="90000"/>
              </a:lnSpc>
              <a:buFontTx/>
              <a:buNone/>
            </a:pPr>
            <a:r>
              <a:rPr lang="en-US" sz="2800" b="1" dirty="0">
                <a:solidFill>
                  <a:srgbClr val="993300"/>
                </a:solidFill>
              </a:rPr>
              <a:t>&lt;INPUT  TYPE="Submit"  value="</a:t>
            </a:r>
            <a:r>
              <a:rPr lang="en-US" sz="2800" b="1" dirty="0" smtClean="0">
                <a:solidFill>
                  <a:srgbClr val="993300"/>
                </a:solidFill>
              </a:rPr>
              <a:t>Submit File</a:t>
            </a:r>
            <a:r>
              <a:rPr lang="en-US" sz="2800" b="1" dirty="0">
                <a:solidFill>
                  <a:srgbClr val="993300"/>
                </a:solidFill>
              </a:rPr>
              <a:t>"&gt;</a:t>
            </a:r>
          </a:p>
          <a:p>
            <a:pPr>
              <a:lnSpc>
                <a:spcPct val="90000"/>
              </a:lnSpc>
              <a:buFontTx/>
              <a:buNone/>
            </a:pPr>
            <a:r>
              <a:rPr lang="en-US" sz="2800" b="1" dirty="0">
                <a:solidFill>
                  <a:srgbClr val="0000CC"/>
                </a:solidFill>
              </a:rPr>
              <a:t>&lt;/form&gt;</a:t>
            </a:r>
          </a:p>
          <a:p>
            <a:pPr>
              <a:lnSpc>
                <a:spcPct val="90000"/>
              </a:lnSpc>
              <a:buFontTx/>
              <a:buNone/>
            </a:pPr>
            <a:r>
              <a:rPr lang="en-US" sz="2800" b="1" dirty="0">
                <a:solidFill>
                  <a:srgbClr val="FF0000"/>
                </a:solidFill>
              </a:rPr>
              <a:t>&lt;/BODY&gt;</a:t>
            </a:r>
          </a:p>
        </p:txBody>
      </p:sp>
      <p:sp>
        <p:nvSpPr>
          <p:cNvPr id="4" name="Rectangle 4"/>
          <p:cNvSpPr>
            <a:spLocks noGrp="1" noChangeArrowheads="1"/>
          </p:cNvSpPr>
          <p:nvPr>
            <p:ph type="title"/>
          </p:nvPr>
        </p:nvSpPr>
        <p:spPr>
          <a:xfrm>
            <a:off x="457200" y="381000"/>
            <a:ext cx="8229600" cy="762000"/>
          </a:xfrm>
          <a:noFill/>
          <a:ln/>
        </p:spPr>
        <p:txBody>
          <a:bodyPr>
            <a:normAutofit/>
            <a:flatTx/>
          </a:bodyPr>
          <a:lstStyle/>
          <a:p>
            <a:r>
              <a:rPr lang="en-US" sz="4000" dirty="0">
                <a:solidFill>
                  <a:srgbClr val="C00000"/>
                </a:solidFill>
              </a:rPr>
              <a:t>Example on </a:t>
            </a:r>
            <a:r>
              <a:rPr lang="en-US" sz="4000" dirty="0" smtClean="0">
                <a:solidFill>
                  <a:srgbClr val="C00000"/>
                </a:solidFill>
              </a:rPr>
              <a:t>File</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F42E1B5C-7BB2-4B87-90A2-6B93F90CB756}" type="slidenum">
              <a:rPr lang="ar-SA"/>
              <a:pPr/>
              <a:t>36</a:t>
            </a:fld>
            <a:endParaRPr lang="en-US"/>
          </a:p>
        </p:txBody>
      </p:sp>
      <p:sp>
        <p:nvSpPr>
          <p:cNvPr id="117762" name="Rectangle 2"/>
          <p:cNvSpPr>
            <a:spLocks noGrp="1" noChangeArrowheads="1"/>
          </p:cNvSpPr>
          <p:nvPr>
            <p:ph type="title"/>
          </p:nvPr>
        </p:nvSpPr>
        <p:spPr>
          <a:xfrm>
            <a:off x="381000" y="228600"/>
            <a:ext cx="8229600" cy="1036638"/>
          </a:xfrm>
          <a:noFill/>
        </p:spPr>
        <p:txBody>
          <a:bodyPr>
            <a:flatTx/>
          </a:bodyPr>
          <a:lstStyle/>
          <a:p>
            <a:r>
              <a:rPr lang="en-US" sz="4000">
                <a:solidFill>
                  <a:srgbClr val="C00000"/>
                </a:solidFill>
              </a:rPr>
              <a:t>Other Elements used in Forms</a:t>
            </a:r>
          </a:p>
        </p:txBody>
      </p:sp>
      <p:sp>
        <p:nvSpPr>
          <p:cNvPr id="117763" name="Rectangle 3"/>
          <p:cNvSpPr>
            <a:spLocks noGrp="1" noChangeArrowheads="1"/>
          </p:cNvSpPr>
          <p:nvPr>
            <p:ph type="body" idx="1"/>
          </p:nvPr>
        </p:nvSpPr>
        <p:spPr>
          <a:xfrm>
            <a:off x="533400" y="1600200"/>
            <a:ext cx="7848600" cy="5029200"/>
          </a:xfrm>
          <a:noFill/>
        </p:spPr>
        <p:txBody>
          <a:bodyPr/>
          <a:lstStyle/>
          <a:p>
            <a:pPr>
              <a:buClr>
                <a:schemeClr val="accent2"/>
              </a:buClr>
              <a:buNone/>
            </a:pPr>
            <a:r>
              <a:rPr lang="en-US" sz="2800" b="1" dirty="0">
                <a:solidFill>
                  <a:srgbClr val="FF0000"/>
                </a:solidFill>
              </a:rPr>
              <a:t>&lt;TEXTAREA&gt;&lt;/TEXTAREA&gt;:</a:t>
            </a:r>
            <a:r>
              <a:rPr lang="en-US" sz="2800" dirty="0"/>
              <a:t> is an element that allows for free form text entry.</a:t>
            </a:r>
          </a:p>
          <a:p>
            <a:pPr>
              <a:buClr>
                <a:schemeClr val="accent2"/>
              </a:buClr>
              <a:buFont typeface="Wingdings" pitchFamily="2" charset="2"/>
              <a:buNone/>
            </a:pPr>
            <a:endParaRPr lang="en-US" sz="2800" dirty="0"/>
          </a:p>
          <a:p>
            <a:pPr>
              <a:buClr>
                <a:schemeClr val="accent2"/>
              </a:buClr>
              <a:buFont typeface="Wingdings" pitchFamily="2" charset="2"/>
              <a:buNone/>
            </a:pPr>
            <a:r>
              <a:rPr lang="en-US" sz="2800" dirty="0"/>
              <a:t>Browser will display </a:t>
            </a:r>
          </a:p>
          <a:p>
            <a:pPr>
              <a:buClr>
                <a:schemeClr val="accent2"/>
              </a:buClr>
              <a:buFont typeface="Wingdings" pitchFamily="2" charset="2"/>
              <a:buNone/>
            </a:pPr>
            <a:endParaRPr lang="en-US" sz="2800" dirty="0"/>
          </a:p>
          <a:p>
            <a:pPr>
              <a:buClr>
                <a:schemeClr val="accent2"/>
              </a:buClr>
              <a:buFont typeface="Wingdings" pitchFamily="2" charset="2"/>
              <a:buNone/>
            </a:pPr>
            <a:r>
              <a:rPr lang="en-US" sz="2800" dirty="0" err="1"/>
              <a:t>Textarea</a:t>
            </a:r>
            <a:r>
              <a:rPr lang="en-US" sz="2800" dirty="0"/>
              <a:t> has the following attributes:</a:t>
            </a:r>
          </a:p>
          <a:p>
            <a:pPr>
              <a:buClr>
                <a:schemeClr val="accent2"/>
              </a:buClr>
              <a:buFont typeface="Wingdings" pitchFamily="2" charset="2"/>
              <a:buChar char="§"/>
            </a:pPr>
            <a:r>
              <a:rPr lang="en-US" sz="2800" b="1" dirty="0">
                <a:solidFill>
                  <a:srgbClr val="FF0000"/>
                </a:solidFill>
              </a:rPr>
              <a:t>NAME</a:t>
            </a:r>
            <a:r>
              <a:rPr lang="en-US" sz="2800" b="1" dirty="0"/>
              <a:t>:</a:t>
            </a:r>
            <a:r>
              <a:rPr lang="en-US" sz="2800" dirty="0"/>
              <a:t> is the name of the variable to be sent to the CGI application.</a:t>
            </a:r>
          </a:p>
          <a:p>
            <a:pPr>
              <a:buClr>
                <a:schemeClr val="accent2"/>
              </a:buClr>
              <a:buFont typeface="Wingdings" pitchFamily="2" charset="2"/>
              <a:buChar char="§"/>
            </a:pPr>
            <a:r>
              <a:rPr lang="en-US" sz="2800" b="1" dirty="0">
                <a:solidFill>
                  <a:srgbClr val="FF0000"/>
                </a:solidFill>
              </a:rPr>
              <a:t>ROWS</a:t>
            </a:r>
            <a:r>
              <a:rPr lang="en-US" sz="2800" b="1" dirty="0"/>
              <a:t>:</a:t>
            </a:r>
            <a:r>
              <a:rPr lang="en-US" sz="2800" dirty="0"/>
              <a:t> the number of rows to the textbox.</a:t>
            </a:r>
          </a:p>
          <a:p>
            <a:pPr>
              <a:buClr>
                <a:schemeClr val="accent2"/>
              </a:buClr>
              <a:buFont typeface="Wingdings" pitchFamily="2" charset="2"/>
              <a:buChar char="§"/>
            </a:pPr>
            <a:r>
              <a:rPr lang="en-US" sz="2800" b="1" dirty="0">
                <a:solidFill>
                  <a:srgbClr val="FF0000"/>
                </a:solidFill>
              </a:rPr>
              <a:t>COLS</a:t>
            </a:r>
            <a:r>
              <a:rPr lang="en-US" sz="2800" b="1" dirty="0"/>
              <a:t>:</a:t>
            </a:r>
            <a:r>
              <a:rPr lang="en-US" sz="2800" dirty="0"/>
              <a:t> the number of columns to the textbox.</a:t>
            </a:r>
          </a:p>
        </p:txBody>
      </p:sp>
      <p:pic>
        <p:nvPicPr>
          <p:cNvPr id="117766" name="Picture 6"/>
          <p:cNvPicPr>
            <a:picLocks noChangeAspect="1" noChangeArrowheads="1"/>
          </p:cNvPicPr>
          <p:nvPr/>
        </p:nvPicPr>
        <p:blipFill>
          <a:blip r:embed="rId2" cstate="print"/>
          <a:srcRect/>
          <a:stretch>
            <a:fillRect/>
          </a:stretch>
        </p:blipFill>
        <p:spPr bwMode="auto">
          <a:xfrm>
            <a:off x="4191000" y="2590800"/>
            <a:ext cx="2686050" cy="156210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447278F-9EA9-41C6-BBF1-58CE5F84FC62}" type="slidenum">
              <a:rPr lang="ar-SA"/>
              <a:pPr/>
              <a:t>37</a:t>
            </a:fld>
            <a:endParaRPr lang="en-US"/>
          </a:p>
        </p:txBody>
      </p:sp>
      <p:sp>
        <p:nvSpPr>
          <p:cNvPr id="190468" name="Text Box 4"/>
          <p:cNvSpPr txBox="1">
            <a:spLocks noChangeArrowheads="1"/>
          </p:cNvSpPr>
          <p:nvPr/>
        </p:nvSpPr>
        <p:spPr bwMode="auto">
          <a:xfrm>
            <a:off x="304800" y="2057400"/>
            <a:ext cx="8610600" cy="3600986"/>
          </a:xfrm>
          <a:prstGeom prst="rect">
            <a:avLst/>
          </a:prstGeom>
          <a:noFill/>
          <a:ln w="9525">
            <a:noFill/>
            <a:miter lim="800000"/>
            <a:headEnd/>
            <a:tailEnd/>
          </a:ln>
          <a:effectLst/>
        </p:spPr>
        <p:txBody>
          <a:bodyPr>
            <a:spAutoFit/>
          </a:bodyPr>
          <a:lstStyle/>
          <a:p>
            <a:pPr eaLnBrk="1" hangingPunct="1"/>
            <a:r>
              <a:rPr lang="en-US" sz="2600" b="1" dirty="0">
                <a:solidFill>
                  <a:srgbClr val="FF0000"/>
                </a:solidFill>
              </a:rPr>
              <a:t>&lt;BODY </a:t>
            </a:r>
            <a:r>
              <a:rPr lang="en-US" sz="2600" b="1" dirty="0" err="1">
                <a:solidFill>
                  <a:srgbClr val="FF0000"/>
                </a:solidFill>
              </a:rPr>
              <a:t>bgcolor</a:t>
            </a:r>
            <a:r>
              <a:rPr lang="en-US" sz="2600" b="1" dirty="0">
                <a:solidFill>
                  <a:srgbClr val="FF0000"/>
                </a:solidFill>
              </a:rPr>
              <a:t>=</a:t>
            </a:r>
            <a:r>
              <a:rPr lang="en-US" sz="2600" b="1" dirty="0" err="1">
                <a:solidFill>
                  <a:srgbClr val="3366CC"/>
                </a:solidFill>
              </a:rPr>
              <a:t>lightblue</a:t>
            </a:r>
            <a:r>
              <a:rPr lang="en-US" sz="2600" b="1" dirty="0">
                <a:solidFill>
                  <a:schemeClr val="tx2"/>
                </a:solidFill>
              </a:rPr>
              <a:t>&gt;</a:t>
            </a:r>
          </a:p>
          <a:p>
            <a:pPr eaLnBrk="1" hangingPunct="1"/>
            <a:r>
              <a:rPr lang="en-US" sz="2600" b="1" dirty="0">
                <a:solidFill>
                  <a:schemeClr val="tx2"/>
                </a:solidFill>
              </a:rPr>
              <a:t>&lt;form&gt;</a:t>
            </a:r>
          </a:p>
          <a:p>
            <a:pPr eaLnBrk="1" hangingPunct="1"/>
            <a:r>
              <a:rPr lang="en-US" sz="2600" b="1" dirty="0">
                <a:solidFill>
                  <a:schemeClr val="tx2"/>
                </a:solidFill>
              </a:rPr>
              <a:t>&lt;TEXTAREA   </a:t>
            </a:r>
            <a:r>
              <a:rPr lang="en-US" sz="2600" b="1" dirty="0">
                <a:solidFill>
                  <a:srgbClr val="008000"/>
                </a:solidFill>
              </a:rPr>
              <a:t>COLS=40  ROWS=20</a:t>
            </a:r>
            <a:r>
              <a:rPr lang="en-US" sz="2600" b="1" dirty="0">
                <a:solidFill>
                  <a:schemeClr val="tx2"/>
                </a:solidFill>
              </a:rPr>
              <a:t>  Name="comments"  &gt;</a:t>
            </a:r>
          </a:p>
          <a:p>
            <a:r>
              <a:rPr lang="en-US" sz="2400" dirty="0" smtClean="0">
                <a:solidFill>
                  <a:srgbClr val="FF0000"/>
                </a:solidFill>
              </a:rPr>
              <a:t>HTML </a:t>
            </a:r>
            <a:r>
              <a:rPr lang="en-US" sz="2400" dirty="0" smtClean="0">
                <a:solidFill>
                  <a:srgbClr val="FF0000"/>
                </a:solidFill>
              </a:rPr>
              <a:t>Hypertext Markup Language is the set of markup symbols or codes inserted in a file intended for display on a World Wide Web browser page The </a:t>
            </a:r>
            <a:r>
              <a:rPr lang="en-US" sz="2400" dirty="0" smtClean="0">
                <a:solidFill>
                  <a:srgbClr val="FF0000"/>
                </a:solidFill>
              </a:rPr>
              <a:t>markup.</a:t>
            </a:r>
            <a:endParaRPr lang="en-US" sz="2400" b="1" dirty="0">
              <a:solidFill>
                <a:srgbClr val="FF0000"/>
              </a:solidFill>
            </a:endParaRPr>
          </a:p>
          <a:p>
            <a:pPr eaLnBrk="1" hangingPunct="1"/>
            <a:r>
              <a:rPr lang="en-US" sz="2600" b="1" dirty="0">
                <a:solidFill>
                  <a:schemeClr val="tx2"/>
                </a:solidFill>
              </a:rPr>
              <a:t>&lt;/TEXTAREA&gt;: </a:t>
            </a:r>
          </a:p>
          <a:p>
            <a:pPr eaLnBrk="1" hangingPunct="1"/>
            <a:r>
              <a:rPr lang="en-US" sz="2600" b="1" dirty="0">
                <a:solidFill>
                  <a:schemeClr val="tx2"/>
                </a:solidFill>
              </a:rPr>
              <a:t>&lt;/form&gt;</a:t>
            </a:r>
          </a:p>
          <a:p>
            <a:pPr eaLnBrk="1" hangingPunct="1"/>
            <a:r>
              <a:rPr lang="en-US" sz="2600" b="1" dirty="0">
                <a:solidFill>
                  <a:srgbClr val="FF0000"/>
                </a:solidFill>
              </a:rPr>
              <a:t>&lt;/BODY&gt;</a:t>
            </a:r>
          </a:p>
        </p:txBody>
      </p:sp>
      <p:sp>
        <p:nvSpPr>
          <p:cNvPr id="4" name="Rectangle 4"/>
          <p:cNvSpPr>
            <a:spLocks noGrp="1" noChangeArrowheads="1"/>
          </p:cNvSpPr>
          <p:nvPr>
            <p:ph type="title"/>
          </p:nvPr>
        </p:nvSpPr>
        <p:spPr>
          <a:xfrm>
            <a:off x="457200" y="381000"/>
            <a:ext cx="8229600" cy="762000"/>
          </a:xfrm>
          <a:noFill/>
          <a:ln/>
        </p:spPr>
        <p:txBody>
          <a:bodyPr>
            <a:normAutofit/>
            <a:flatTx/>
          </a:bodyPr>
          <a:lstStyle/>
          <a:p>
            <a:r>
              <a:rPr lang="en-US" sz="4000" dirty="0">
                <a:solidFill>
                  <a:srgbClr val="C00000"/>
                </a:solidFill>
              </a:rPr>
              <a:t>Example on </a:t>
            </a:r>
            <a:r>
              <a:rPr lang="en-US" sz="4000" dirty="0" smtClean="0">
                <a:solidFill>
                  <a:srgbClr val="C00000"/>
                </a:solidFill>
              </a:rPr>
              <a:t>&lt;</a:t>
            </a:r>
            <a:r>
              <a:rPr lang="en-US" sz="4000" dirty="0" smtClean="0">
                <a:solidFill>
                  <a:srgbClr val="C00000"/>
                </a:solidFill>
              </a:rPr>
              <a:t>TEXTAREA&gt;</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2EC804AE-69E7-4E0F-A188-48B96EAE472B}" type="slidenum">
              <a:rPr lang="ar-SA"/>
              <a:pPr/>
              <a:t>38</a:t>
            </a:fld>
            <a:endParaRPr lang="en-US"/>
          </a:p>
        </p:txBody>
      </p:sp>
      <p:pic>
        <p:nvPicPr>
          <p:cNvPr id="41985" name="Picture 1" descr="C:\Users\Full Time\Desktop\Untitled5.png"/>
          <p:cNvPicPr>
            <a:picLocks noChangeAspect="1" noChangeArrowheads="1"/>
          </p:cNvPicPr>
          <p:nvPr/>
        </p:nvPicPr>
        <p:blipFill>
          <a:blip r:embed="rId2" cstate="print"/>
          <a:srcRect/>
          <a:stretch>
            <a:fillRect/>
          </a:stretch>
        </p:blipFill>
        <p:spPr bwMode="auto">
          <a:xfrm>
            <a:off x="2057400" y="1447800"/>
            <a:ext cx="5638800" cy="5358136"/>
          </a:xfrm>
          <a:prstGeom prst="rect">
            <a:avLst/>
          </a:prstGeom>
          <a:noFill/>
        </p:spPr>
      </p:pic>
      <p:sp>
        <p:nvSpPr>
          <p:cNvPr id="6" name="Rectangle 5"/>
          <p:cNvSpPr txBox="1">
            <a:spLocks noChangeArrowheads="1"/>
          </p:cNvSpPr>
          <p:nvPr/>
        </p:nvSpPr>
        <p:spPr>
          <a:xfrm>
            <a:off x="754063" y="350838"/>
            <a:ext cx="7929562" cy="762000"/>
          </a:xfrm>
          <a:prstGeom prst="rect">
            <a:avLst/>
          </a:prstGeom>
          <a:noFill/>
          <a:ln/>
        </p:spPr>
        <p:txBody>
          <a:bodyPr vert="horz" lIns="91440" tIns="45720" rIns="91440" bIns="45720" rtlCol="0" anchor="ctr">
            <a:normAutofit/>
            <a:flatTx/>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rgbClr val="C00000"/>
                </a:solidFill>
                <a:effectLst/>
                <a:uLnTx/>
                <a:uFillTx/>
                <a:latin typeface="+mj-lt"/>
                <a:ea typeface="+mj-ea"/>
                <a:cs typeface="+mj-cs"/>
              </a:rPr>
              <a:t>Output</a:t>
            </a:r>
            <a:endParaRPr kumimoji="0" lang="en-US" sz="4400" b="0" i="0" u="none" strike="noStrike" kern="1200" cap="none" spc="0" normalizeH="0" baseline="0" noProof="0" dirty="0">
              <a:ln>
                <a:noFill/>
              </a:ln>
              <a:solidFill>
                <a:srgbClr val="C0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F72F31B-A4F1-460E-80E0-41C8D6806B04}" type="slidenum">
              <a:rPr lang="ar-SA"/>
              <a:pPr/>
              <a:t>39</a:t>
            </a:fld>
            <a:endParaRPr lang="en-US"/>
          </a:p>
        </p:txBody>
      </p:sp>
      <p:sp>
        <p:nvSpPr>
          <p:cNvPr id="120834" name="Rectangle 2"/>
          <p:cNvSpPr>
            <a:spLocks noGrp="1" noChangeArrowheads="1"/>
          </p:cNvSpPr>
          <p:nvPr>
            <p:ph type="title"/>
          </p:nvPr>
        </p:nvSpPr>
        <p:spPr>
          <a:xfrm>
            <a:off x="606425" y="274638"/>
            <a:ext cx="7931150" cy="838200"/>
          </a:xfrm>
          <a:noFill/>
        </p:spPr>
        <p:txBody>
          <a:bodyPr>
            <a:flatTx/>
          </a:bodyPr>
          <a:lstStyle/>
          <a:p>
            <a:r>
              <a:rPr lang="en-US" sz="4000">
                <a:solidFill>
                  <a:srgbClr val="C00000"/>
                </a:solidFill>
              </a:rPr>
              <a:t>Other Elements used in Forms</a:t>
            </a:r>
          </a:p>
        </p:txBody>
      </p:sp>
      <p:sp>
        <p:nvSpPr>
          <p:cNvPr id="120835" name="Rectangle 3"/>
          <p:cNvSpPr>
            <a:spLocks noGrp="1" noChangeArrowheads="1"/>
          </p:cNvSpPr>
          <p:nvPr>
            <p:ph type="body" idx="1"/>
          </p:nvPr>
        </p:nvSpPr>
        <p:spPr>
          <a:xfrm>
            <a:off x="685800" y="1371600"/>
            <a:ext cx="7772400" cy="4800600"/>
          </a:xfrm>
          <a:noFill/>
          <a:ln>
            <a:solidFill>
              <a:schemeClr val="accent1"/>
            </a:solidFill>
          </a:ln>
        </p:spPr>
        <p:txBody>
          <a:bodyPr/>
          <a:lstStyle/>
          <a:p>
            <a:pPr>
              <a:lnSpc>
                <a:spcPct val="90000"/>
              </a:lnSpc>
              <a:buClr>
                <a:schemeClr val="accent2"/>
              </a:buClr>
              <a:buFont typeface="Wingdings" pitchFamily="2" charset="2"/>
              <a:buChar char="§"/>
            </a:pPr>
            <a:r>
              <a:rPr lang="en-US" sz="2800" dirty="0"/>
              <a:t>The two following examples are </a:t>
            </a:r>
            <a:r>
              <a:rPr lang="en-US" sz="2800" b="1" dirty="0">
                <a:solidFill>
                  <a:srgbClr val="FF0000"/>
                </a:solidFill>
              </a:rPr>
              <a:t>&lt;SELECT&gt;&lt;/SELECT&gt;</a:t>
            </a:r>
            <a:r>
              <a:rPr lang="en-US" sz="2800" dirty="0"/>
              <a:t> elements, where the attributes are set differently.</a:t>
            </a:r>
          </a:p>
          <a:p>
            <a:pPr>
              <a:lnSpc>
                <a:spcPct val="90000"/>
              </a:lnSpc>
              <a:buClr>
                <a:schemeClr val="accent2"/>
              </a:buClr>
              <a:buFont typeface="Wingdings" pitchFamily="2" charset="2"/>
              <a:buNone/>
            </a:pPr>
            <a:r>
              <a:rPr lang="en-US" sz="2800" dirty="0"/>
              <a:t>The Select elements attributes are:</a:t>
            </a:r>
          </a:p>
          <a:p>
            <a:pPr>
              <a:lnSpc>
                <a:spcPct val="90000"/>
              </a:lnSpc>
              <a:buClr>
                <a:schemeClr val="accent2"/>
              </a:buClr>
              <a:buFont typeface="Wingdings" pitchFamily="2" charset="2"/>
              <a:buChar char="§"/>
            </a:pPr>
            <a:r>
              <a:rPr lang="en-US" sz="2800" b="1" dirty="0">
                <a:solidFill>
                  <a:srgbClr val="FF0000"/>
                </a:solidFill>
              </a:rPr>
              <a:t>NAME</a:t>
            </a:r>
            <a:r>
              <a:rPr lang="en-US" sz="2800" b="1" dirty="0"/>
              <a:t>:</a:t>
            </a:r>
            <a:r>
              <a:rPr lang="en-US" sz="2800" dirty="0"/>
              <a:t> is the name of the variable to be sent to the CGI application.</a:t>
            </a:r>
          </a:p>
          <a:p>
            <a:pPr>
              <a:lnSpc>
                <a:spcPct val="90000"/>
              </a:lnSpc>
              <a:buClr>
                <a:schemeClr val="accent2"/>
              </a:buClr>
              <a:buFont typeface="Wingdings" pitchFamily="2" charset="2"/>
              <a:buChar char="§"/>
            </a:pPr>
            <a:r>
              <a:rPr lang="en-US" sz="2800" b="1" dirty="0">
                <a:solidFill>
                  <a:srgbClr val="FF0000"/>
                </a:solidFill>
              </a:rPr>
              <a:t>SIZE</a:t>
            </a:r>
            <a:r>
              <a:rPr lang="en-US" sz="2800" b="1" dirty="0"/>
              <a:t>:</a:t>
            </a:r>
            <a:r>
              <a:rPr lang="en-US" sz="2800" dirty="0"/>
              <a:t> this sets the number of </a:t>
            </a:r>
            <a:r>
              <a:rPr lang="en-US" sz="2800" b="1" dirty="0">
                <a:solidFill>
                  <a:srgbClr val="0000FF"/>
                </a:solidFill>
              </a:rPr>
              <a:t>visible</a:t>
            </a:r>
            <a:r>
              <a:rPr lang="en-US" sz="2800" dirty="0"/>
              <a:t> choices.</a:t>
            </a:r>
          </a:p>
          <a:p>
            <a:pPr>
              <a:lnSpc>
                <a:spcPct val="90000"/>
              </a:lnSpc>
              <a:buClr>
                <a:schemeClr val="accent2"/>
              </a:buClr>
              <a:buFont typeface="Wingdings" pitchFamily="2" charset="2"/>
              <a:buChar char="§"/>
            </a:pPr>
            <a:r>
              <a:rPr lang="en-US" sz="2800" b="1" dirty="0">
                <a:solidFill>
                  <a:srgbClr val="FF0000"/>
                </a:solidFill>
              </a:rPr>
              <a:t>MULTIPLE</a:t>
            </a:r>
            <a:r>
              <a:rPr lang="en-US" sz="2800" b="1" dirty="0"/>
              <a:t>:</a:t>
            </a:r>
            <a:r>
              <a:rPr lang="en-US" sz="2800" dirty="0"/>
              <a:t> the presence of this attribute signifies that the user can make multiple selections. By default only one selection is allowed.</a:t>
            </a:r>
          </a:p>
          <a:p>
            <a:pPr>
              <a:lnSpc>
                <a:spcPct val="90000"/>
              </a:lnSpc>
              <a:buClr>
                <a:schemeClr val="accent2"/>
              </a:buClr>
              <a:buFont typeface="Wingdings" pitchFamily="2" charset="2"/>
              <a:buChar char="§"/>
            </a:pPr>
            <a:endParaRPr lang="en-US" sz="28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54E87859-2E43-42E6-8899-6C0F5F90D3A8}" type="slidenum">
              <a:rPr lang="ar-SA"/>
              <a:pPr/>
              <a:t>40</a:t>
            </a:fld>
            <a:endParaRPr lang="en-US"/>
          </a:p>
        </p:txBody>
      </p:sp>
      <p:sp>
        <p:nvSpPr>
          <p:cNvPr id="192517" name="Text Box 5"/>
          <p:cNvSpPr txBox="1">
            <a:spLocks noChangeArrowheads="1"/>
          </p:cNvSpPr>
          <p:nvPr/>
        </p:nvSpPr>
        <p:spPr bwMode="auto">
          <a:xfrm>
            <a:off x="304800" y="1214437"/>
            <a:ext cx="8610600" cy="5643563"/>
          </a:xfrm>
          <a:prstGeom prst="rect">
            <a:avLst/>
          </a:prstGeom>
          <a:noFill/>
          <a:ln w="9525">
            <a:noFill/>
            <a:miter lim="800000"/>
            <a:headEnd/>
            <a:tailEnd/>
          </a:ln>
          <a:effectLst/>
        </p:spPr>
        <p:txBody>
          <a:bodyPr>
            <a:spAutoFit/>
          </a:bodyPr>
          <a:lstStyle/>
          <a:p>
            <a:pPr eaLnBrk="1" hangingPunct="1"/>
            <a:r>
              <a:rPr lang="en-US" sz="2800" b="1" dirty="0">
                <a:solidFill>
                  <a:srgbClr val="FF0000"/>
                </a:solidFill>
              </a:rPr>
              <a:t>&lt;BODY </a:t>
            </a:r>
            <a:r>
              <a:rPr lang="en-US" sz="2800" b="1" dirty="0" err="1">
                <a:solidFill>
                  <a:srgbClr val="FF0000"/>
                </a:solidFill>
              </a:rPr>
              <a:t>bgcolor</a:t>
            </a:r>
            <a:r>
              <a:rPr lang="en-US" sz="2800" b="1" dirty="0">
                <a:solidFill>
                  <a:srgbClr val="FF0000"/>
                </a:solidFill>
              </a:rPr>
              <a:t>=</a:t>
            </a:r>
            <a:r>
              <a:rPr lang="en-US" sz="2800" b="1" dirty="0" err="1">
                <a:solidFill>
                  <a:srgbClr val="FF0000"/>
                </a:solidFill>
              </a:rPr>
              <a:t>lightblue</a:t>
            </a:r>
            <a:r>
              <a:rPr lang="en-US" sz="2800" b="1" dirty="0">
                <a:solidFill>
                  <a:srgbClr val="FF0000"/>
                </a:solidFill>
              </a:rPr>
              <a:t>&gt;</a:t>
            </a:r>
          </a:p>
          <a:p>
            <a:pPr eaLnBrk="1" hangingPunct="1"/>
            <a:r>
              <a:rPr lang="en-US" sz="2800" b="1" dirty="0"/>
              <a:t>&lt;form&gt;</a:t>
            </a:r>
          </a:p>
          <a:p>
            <a:pPr eaLnBrk="1" hangingPunct="1"/>
            <a:r>
              <a:rPr lang="en-US" sz="2800" b="1" dirty="0"/>
              <a:t>Select the cities you have visited:</a:t>
            </a:r>
          </a:p>
          <a:p>
            <a:pPr eaLnBrk="1" hangingPunct="1"/>
            <a:r>
              <a:rPr lang="en-US" sz="2800" b="1" dirty="0">
                <a:solidFill>
                  <a:srgbClr val="0000FF"/>
                </a:solidFill>
              </a:rPr>
              <a:t>&lt;SELECT name=“list”  size=5&gt;</a:t>
            </a:r>
          </a:p>
          <a:p>
            <a:pPr eaLnBrk="1" hangingPunct="1"/>
            <a:r>
              <a:rPr lang="en-US" sz="2800" b="1" dirty="0">
                <a:solidFill>
                  <a:srgbClr val="FF0000"/>
                </a:solidFill>
              </a:rPr>
              <a:t>&lt;option&gt; London&lt;/option&gt;</a:t>
            </a:r>
          </a:p>
          <a:p>
            <a:pPr eaLnBrk="1" hangingPunct="1"/>
            <a:r>
              <a:rPr lang="en-US" sz="2800" b="1" dirty="0"/>
              <a:t>&lt;option&gt; Tokyo&lt;/option&gt;</a:t>
            </a:r>
          </a:p>
          <a:p>
            <a:pPr eaLnBrk="1" hangingPunct="1"/>
            <a:r>
              <a:rPr lang="en-US" sz="2800" b="1" dirty="0"/>
              <a:t>&lt;option&gt; Paris&lt;/option&gt;</a:t>
            </a:r>
          </a:p>
          <a:p>
            <a:pPr eaLnBrk="1" hangingPunct="1"/>
            <a:r>
              <a:rPr lang="en-US" sz="2800" b="1" dirty="0">
                <a:solidFill>
                  <a:srgbClr val="FF0000"/>
                </a:solidFill>
              </a:rPr>
              <a:t>&lt;option&gt; New York&lt;/option&gt;</a:t>
            </a:r>
          </a:p>
          <a:p>
            <a:pPr eaLnBrk="1" hangingPunct="1"/>
            <a:r>
              <a:rPr lang="en-US" sz="2800" b="1" dirty="0"/>
              <a:t>&lt;option&gt; LA&lt;/option&gt;</a:t>
            </a:r>
          </a:p>
          <a:p>
            <a:pPr eaLnBrk="1" hangingPunct="1"/>
            <a:r>
              <a:rPr lang="en-US" sz="2800" b="1" dirty="0">
                <a:solidFill>
                  <a:srgbClr val="FF0000"/>
                </a:solidFill>
              </a:rPr>
              <a:t>&lt;option&gt; KL&lt;/option&gt;</a:t>
            </a:r>
          </a:p>
          <a:p>
            <a:pPr eaLnBrk="1" hangingPunct="1"/>
            <a:r>
              <a:rPr lang="en-US" sz="2800" b="1" dirty="0">
                <a:solidFill>
                  <a:srgbClr val="0000FF"/>
                </a:solidFill>
              </a:rPr>
              <a:t>&lt;/SELECT&gt;</a:t>
            </a:r>
            <a:r>
              <a:rPr lang="en-US" sz="2800" b="1" dirty="0"/>
              <a:t> </a:t>
            </a:r>
          </a:p>
          <a:p>
            <a:pPr eaLnBrk="1" hangingPunct="1"/>
            <a:r>
              <a:rPr lang="en-US" sz="2800" b="1" dirty="0"/>
              <a:t>&lt;/form&gt;</a:t>
            </a:r>
          </a:p>
          <a:p>
            <a:pPr eaLnBrk="1" hangingPunct="1"/>
            <a:r>
              <a:rPr lang="en-US" sz="2800" b="1" dirty="0">
                <a:solidFill>
                  <a:srgbClr val="FF0000"/>
                </a:solidFill>
              </a:rPr>
              <a:t>&lt;/BODY&gt;</a:t>
            </a:r>
          </a:p>
        </p:txBody>
      </p:sp>
      <p:sp>
        <p:nvSpPr>
          <p:cNvPr id="4" name="Rectangle 4"/>
          <p:cNvSpPr>
            <a:spLocks noGrp="1" noChangeArrowheads="1"/>
          </p:cNvSpPr>
          <p:nvPr>
            <p:ph type="title"/>
          </p:nvPr>
        </p:nvSpPr>
        <p:spPr>
          <a:xfrm>
            <a:off x="457200" y="381000"/>
            <a:ext cx="8229600" cy="762000"/>
          </a:xfrm>
          <a:noFill/>
          <a:ln/>
        </p:spPr>
        <p:txBody>
          <a:bodyPr>
            <a:normAutofit/>
            <a:flatTx/>
          </a:bodyPr>
          <a:lstStyle/>
          <a:p>
            <a:r>
              <a:rPr lang="en-US" sz="4000" dirty="0" smtClean="0">
                <a:solidFill>
                  <a:srgbClr val="C00000"/>
                </a:solidFill>
              </a:rPr>
              <a:t>Example on </a:t>
            </a:r>
            <a:r>
              <a:rPr lang="en-US" sz="3600" dirty="0" smtClean="0">
                <a:solidFill>
                  <a:srgbClr val="C00000"/>
                </a:solidFill>
              </a:rPr>
              <a:t>&lt;SELECT&gt;</a:t>
            </a:r>
            <a:endParaRPr lang="en-US" sz="3600" dirty="0">
              <a:solidFill>
                <a:srgbClr val="C00000"/>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0ED0C4C2-09BA-4EF8-AAFC-A9C04D3B6639}" type="slidenum">
              <a:rPr lang="ar-SA"/>
              <a:pPr/>
              <a:t>41</a:t>
            </a:fld>
            <a:endParaRPr lang="en-US"/>
          </a:p>
        </p:txBody>
      </p:sp>
      <p:sp>
        <p:nvSpPr>
          <p:cNvPr id="4" name="Rectangle 5"/>
          <p:cNvSpPr txBox="1">
            <a:spLocks noChangeArrowheads="1"/>
          </p:cNvSpPr>
          <p:nvPr/>
        </p:nvSpPr>
        <p:spPr>
          <a:xfrm>
            <a:off x="754063" y="350838"/>
            <a:ext cx="7929562" cy="762000"/>
          </a:xfrm>
          <a:prstGeom prst="rect">
            <a:avLst/>
          </a:prstGeom>
          <a:noFill/>
          <a:ln/>
        </p:spPr>
        <p:txBody>
          <a:bodyPr vert="horz" lIns="91440" tIns="45720" rIns="91440" bIns="45720" rtlCol="0" anchor="ctr">
            <a:normAutofit/>
            <a:flatTx/>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rgbClr val="C00000"/>
                </a:solidFill>
                <a:effectLst/>
                <a:uLnTx/>
                <a:uFillTx/>
                <a:latin typeface="+mj-lt"/>
                <a:ea typeface="+mj-ea"/>
                <a:cs typeface="+mj-cs"/>
              </a:rPr>
              <a:t>Output</a:t>
            </a:r>
            <a:endParaRPr kumimoji="0" lang="en-US" sz="4400" b="0" i="0" u="none" strike="noStrike" kern="1200" cap="none" spc="0" normalizeH="0" baseline="0" noProof="0" dirty="0">
              <a:ln>
                <a:noFill/>
              </a:ln>
              <a:solidFill>
                <a:srgbClr val="C00000"/>
              </a:solidFill>
              <a:effectLst/>
              <a:uLnTx/>
              <a:uFillTx/>
              <a:latin typeface="+mj-lt"/>
              <a:ea typeface="+mj-ea"/>
              <a:cs typeface="+mj-cs"/>
            </a:endParaRPr>
          </a:p>
        </p:txBody>
      </p:sp>
      <p:pic>
        <p:nvPicPr>
          <p:cNvPr id="56321" name="Picture 1" descr="C:\Users\Full Time\Desktop\Untitled5.png"/>
          <p:cNvPicPr>
            <a:picLocks noChangeAspect="1" noChangeArrowheads="1"/>
          </p:cNvPicPr>
          <p:nvPr/>
        </p:nvPicPr>
        <p:blipFill>
          <a:blip r:embed="rId2" cstate="print"/>
          <a:srcRect/>
          <a:stretch>
            <a:fillRect/>
          </a:stretch>
        </p:blipFill>
        <p:spPr bwMode="auto">
          <a:xfrm>
            <a:off x="1524000" y="1676400"/>
            <a:ext cx="6851984" cy="3886200"/>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9B31E22D-218D-4D97-929C-41FC38900C5B}" type="slidenum">
              <a:rPr lang="ar-SA"/>
              <a:pPr/>
              <a:t>42</a:t>
            </a:fld>
            <a:endParaRPr lang="en-US"/>
          </a:p>
        </p:txBody>
      </p:sp>
      <p:sp>
        <p:nvSpPr>
          <p:cNvPr id="121858" name="Rectangle 2"/>
          <p:cNvSpPr>
            <a:spLocks noGrp="1" noChangeArrowheads="1"/>
          </p:cNvSpPr>
          <p:nvPr>
            <p:ph type="title"/>
          </p:nvPr>
        </p:nvSpPr>
        <p:spPr>
          <a:xfrm>
            <a:off x="457200" y="533400"/>
            <a:ext cx="8229600" cy="762000"/>
          </a:xfrm>
          <a:noFill/>
        </p:spPr>
        <p:txBody>
          <a:bodyPr>
            <a:flatTx/>
          </a:bodyPr>
          <a:lstStyle/>
          <a:p>
            <a:r>
              <a:rPr lang="en-US">
                <a:solidFill>
                  <a:srgbClr val="C00000"/>
                </a:solidFill>
              </a:rPr>
              <a:t>Other Elements used in Forms</a:t>
            </a:r>
          </a:p>
        </p:txBody>
      </p:sp>
      <p:sp>
        <p:nvSpPr>
          <p:cNvPr id="121859" name="Rectangle 3"/>
          <p:cNvSpPr>
            <a:spLocks noGrp="1" noChangeArrowheads="1"/>
          </p:cNvSpPr>
          <p:nvPr>
            <p:ph type="body" idx="1"/>
          </p:nvPr>
        </p:nvSpPr>
        <p:spPr>
          <a:xfrm>
            <a:off x="533400" y="1828800"/>
            <a:ext cx="7772400" cy="3505200"/>
          </a:xfrm>
          <a:noFill/>
        </p:spPr>
        <p:txBody>
          <a:bodyPr>
            <a:normAutofit lnSpcReduction="10000"/>
          </a:bodyPr>
          <a:lstStyle/>
          <a:p>
            <a:pPr>
              <a:buClr>
                <a:schemeClr val="accent2"/>
              </a:buClr>
              <a:buNone/>
            </a:pPr>
            <a:r>
              <a:rPr lang="en-US" b="1" dirty="0">
                <a:solidFill>
                  <a:srgbClr val="0070C0"/>
                </a:solidFill>
              </a:rPr>
              <a:t>Drop Down List:</a:t>
            </a:r>
          </a:p>
          <a:p>
            <a:pPr>
              <a:buClr>
                <a:schemeClr val="accent2"/>
              </a:buClr>
              <a:buFont typeface="Wingdings" pitchFamily="2" charset="2"/>
              <a:buChar char="§"/>
            </a:pPr>
            <a:endParaRPr lang="en-US" sz="2800" dirty="0">
              <a:solidFill>
                <a:srgbClr val="FF0000"/>
              </a:solidFill>
            </a:endParaRPr>
          </a:p>
          <a:p>
            <a:pPr>
              <a:buClr>
                <a:schemeClr val="accent2"/>
              </a:buClr>
              <a:buFont typeface="Wingdings" pitchFamily="2" charset="2"/>
              <a:buChar char="§"/>
            </a:pPr>
            <a:endParaRPr lang="en-US" sz="2800" b="1" dirty="0"/>
          </a:p>
          <a:p>
            <a:pPr>
              <a:buClr>
                <a:schemeClr val="accent2"/>
              </a:buClr>
              <a:buFont typeface="Wingdings" pitchFamily="2" charset="2"/>
              <a:buChar char="§"/>
            </a:pPr>
            <a:endParaRPr lang="en-US" sz="2800" b="1" dirty="0"/>
          </a:p>
          <a:p>
            <a:pPr>
              <a:buClr>
                <a:schemeClr val="accent2"/>
              </a:buClr>
              <a:buFont typeface="Wingdings" pitchFamily="2" charset="2"/>
              <a:buChar char="§"/>
            </a:pPr>
            <a:r>
              <a:rPr lang="en-US" sz="2800" b="1" dirty="0">
                <a:solidFill>
                  <a:srgbClr val="FF0000"/>
                </a:solidFill>
              </a:rPr>
              <a:t>Name:</a:t>
            </a:r>
            <a:r>
              <a:rPr lang="en-US" sz="2800" dirty="0"/>
              <a:t> is the name of the variable to be sent to the CGI application.</a:t>
            </a:r>
          </a:p>
          <a:p>
            <a:pPr>
              <a:buClr>
                <a:schemeClr val="accent2"/>
              </a:buClr>
              <a:buFont typeface="Wingdings" pitchFamily="2" charset="2"/>
              <a:buChar char="§"/>
            </a:pPr>
            <a:r>
              <a:rPr lang="en-US" sz="2800" b="1" dirty="0">
                <a:solidFill>
                  <a:srgbClr val="FF0000"/>
                </a:solidFill>
              </a:rPr>
              <a:t>Size:</a:t>
            </a:r>
            <a:r>
              <a:rPr lang="en-US" sz="2800" dirty="0">
                <a:solidFill>
                  <a:srgbClr val="FF0000"/>
                </a:solidFill>
              </a:rPr>
              <a:t> </a:t>
            </a:r>
            <a:r>
              <a:rPr lang="en-US" dirty="0" smtClean="0">
                <a:solidFill>
                  <a:srgbClr val="FF0000"/>
                </a:solidFill>
              </a:rPr>
              <a:t>1</a:t>
            </a:r>
            <a:endParaRPr lang="en-US" sz="2800" dirty="0"/>
          </a:p>
          <a:p>
            <a:pPr>
              <a:buClr>
                <a:schemeClr val="accent2"/>
              </a:buClr>
              <a:buFont typeface="Wingdings" pitchFamily="2" charset="2"/>
              <a:buChar char="§"/>
            </a:pPr>
            <a:endParaRPr lang="en-US" sz="2800" dirty="0"/>
          </a:p>
          <a:p>
            <a:pPr>
              <a:buClr>
                <a:schemeClr val="accent2"/>
              </a:buClr>
              <a:buFont typeface="Wingdings" pitchFamily="2" charset="2"/>
              <a:buChar char="§"/>
            </a:pPr>
            <a:endParaRPr lang="en-US" sz="2800" dirty="0"/>
          </a:p>
          <a:p>
            <a:pPr>
              <a:buClr>
                <a:schemeClr val="accent2"/>
              </a:buClr>
              <a:buFont typeface="Wingdings" pitchFamily="2" charset="2"/>
              <a:buNone/>
            </a:pPr>
            <a:endParaRPr lang="en-US" sz="2800" dirty="0"/>
          </a:p>
          <a:p>
            <a:pPr>
              <a:buClr>
                <a:schemeClr val="accent2"/>
              </a:buClr>
              <a:buFont typeface="Wingdings" pitchFamily="2" charset="2"/>
              <a:buNone/>
            </a:pPr>
            <a:endParaRPr lang="en-US" sz="2800" dirty="0"/>
          </a:p>
        </p:txBody>
      </p:sp>
      <p:graphicFrame>
        <p:nvGraphicFramePr>
          <p:cNvPr id="121860" name="Object 4"/>
          <p:cNvGraphicFramePr>
            <a:graphicFrameLocks noChangeAspect="1"/>
          </p:cNvGraphicFramePr>
          <p:nvPr/>
        </p:nvGraphicFramePr>
        <p:xfrm>
          <a:off x="1219200" y="2438400"/>
          <a:ext cx="2133600" cy="865188"/>
        </p:xfrm>
        <a:graphic>
          <a:graphicData uri="http://schemas.openxmlformats.org/presentationml/2006/ole">
            <p:oleObj spid="_x0000_s9218" name="Bitmap Image" r:id="rId3" imgW="657317" imgH="266737" progId="PBrush">
              <p:embed/>
            </p:oleObj>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8EB2DD0B-1EE4-41EC-BCC8-E06FD0B5BE88}" type="slidenum">
              <a:rPr lang="ar-SA"/>
              <a:pPr/>
              <a:t>43</a:t>
            </a:fld>
            <a:endParaRPr lang="en-US"/>
          </a:p>
        </p:txBody>
      </p:sp>
      <p:sp>
        <p:nvSpPr>
          <p:cNvPr id="122882" name="Rectangle 2"/>
          <p:cNvSpPr>
            <a:spLocks noGrp="1" noChangeArrowheads="1"/>
          </p:cNvSpPr>
          <p:nvPr>
            <p:ph type="title"/>
          </p:nvPr>
        </p:nvSpPr>
        <p:spPr>
          <a:xfrm>
            <a:off x="457200" y="274638"/>
            <a:ext cx="8229600" cy="762000"/>
          </a:xfrm>
          <a:noFill/>
        </p:spPr>
        <p:txBody>
          <a:bodyPr>
            <a:flatTx/>
          </a:bodyPr>
          <a:lstStyle/>
          <a:p>
            <a:r>
              <a:rPr lang="en-US">
                <a:solidFill>
                  <a:srgbClr val="C00000"/>
                </a:solidFill>
              </a:rPr>
              <a:t>Other Elements used in Forms</a:t>
            </a:r>
          </a:p>
        </p:txBody>
      </p:sp>
      <p:sp>
        <p:nvSpPr>
          <p:cNvPr id="122883" name="Rectangle 3"/>
          <p:cNvSpPr>
            <a:spLocks noGrp="1" noChangeArrowheads="1"/>
          </p:cNvSpPr>
          <p:nvPr>
            <p:ph type="body" idx="1"/>
          </p:nvPr>
        </p:nvSpPr>
        <p:spPr>
          <a:xfrm>
            <a:off x="685800" y="1524000"/>
            <a:ext cx="7772400" cy="4495800"/>
          </a:xfrm>
          <a:noFill/>
        </p:spPr>
        <p:txBody>
          <a:bodyPr>
            <a:normAutofit lnSpcReduction="10000"/>
          </a:bodyPr>
          <a:lstStyle/>
          <a:p>
            <a:pPr>
              <a:buClr>
                <a:schemeClr val="accent2"/>
              </a:buClr>
              <a:buNone/>
            </a:pPr>
            <a:r>
              <a:rPr lang="en-US" sz="3600" b="1" dirty="0">
                <a:solidFill>
                  <a:srgbClr val="0070C0"/>
                </a:solidFill>
              </a:rPr>
              <a:t>List Box:</a:t>
            </a:r>
          </a:p>
          <a:p>
            <a:pPr>
              <a:buClr>
                <a:schemeClr val="accent2"/>
              </a:buClr>
              <a:buFont typeface="Wingdings" pitchFamily="2" charset="2"/>
              <a:buNone/>
            </a:pPr>
            <a:endParaRPr lang="en-US" sz="2800" b="1" dirty="0">
              <a:solidFill>
                <a:srgbClr val="FF0000"/>
              </a:solidFill>
            </a:endParaRPr>
          </a:p>
          <a:p>
            <a:pPr>
              <a:buClr>
                <a:schemeClr val="accent2"/>
              </a:buClr>
              <a:buFont typeface="Wingdings" pitchFamily="2" charset="2"/>
              <a:buChar char="§"/>
            </a:pPr>
            <a:endParaRPr lang="en-US" sz="2800" b="1" dirty="0"/>
          </a:p>
          <a:p>
            <a:pPr>
              <a:buClr>
                <a:schemeClr val="accent2"/>
              </a:buClr>
              <a:buFont typeface="Wingdings" pitchFamily="2" charset="2"/>
              <a:buChar char="§"/>
            </a:pPr>
            <a:endParaRPr lang="en-US" sz="2800" b="1" dirty="0"/>
          </a:p>
          <a:p>
            <a:pPr>
              <a:buClr>
                <a:schemeClr val="accent2"/>
              </a:buClr>
              <a:buFont typeface="Wingdings" pitchFamily="2" charset="2"/>
              <a:buChar char="§"/>
            </a:pPr>
            <a:endParaRPr lang="en-US" sz="2800" b="1" dirty="0"/>
          </a:p>
          <a:p>
            <a:pPr>
              <a:buClr>
                <a:schemeClr val="accent2"/>
              </a:buClr>
              <a:buFont typeface="Wingdings" pitchFamily="2" charset="2"/>
              <a:buChar char="§"/>
            </a:pPr>
            <a:endParaRPr lang="en-US" sz="2800" b="1" dirty="0"/>
          </a:p>
          <a:p>
            <a:pPr>
              <a:buClr>
                <a:schemeClr val="accent2"/>
              </a:buClr>
              <a:buFont typeface="Wingdings" pitchFamily="2" charset="2"/>
              <a:buChar char="§"/>
            </a:pPr>
            <a:r>
              <a:rPr lang="en-US" sz="2800" b="1" dirty="0">
                <a:solidFill>
                  <a:srgbClr val="FF0000"/>
                </a:solidFill>
              </a:rPr>
              <a:t>Name:</a:t>
            </a:r>
            <a:r>
              <a:rPr lang="en-US" sz="2800" b="1" dirty="0"/>
              <a:t> is the name of the variable to be sent to the CGI application.</a:t>
            </a:r>
          </a:p>
          <a:p>
            <a:pPr>
              <a:buClr>
                <a:schemeClr val="accent2"/>
              </a:buClr>
              <a:buFont typeface="Wingdings" pitchFamily="2" charset="2"/>
              <a:buChar char="§"/>
            </a:pPr>
            <a:r>
              <a:rPr lang="en-US" sz="2800" b="1" dirty="0">
                <a:solidFill>
                  <a:srgbClr val="FF0000"/>
                </a:solidFill>
              </a:rPr>
              <a:t>SIZE:</a:t>
            </a:r>
            <a:r>
              <a:rPr lang="en-US" sz="2800" b="1" dirty="0"/>
              <a:t> is greater than one.</a:t>
            </a:r>
          </a:p>
        </p:txBody>
      </p:sp>
      <p:graphicFrame>
        <p:nvGraphicFramePr>
          <p:cNvPr id="122884" name="Object 4"/>
          <p:cNvGraphicFramePr>
            <a:graphicFrameLocks noChangeAspect="1"/>
          </p:cNvGraphicFramePr>
          <p:nvPr/>
        </p:nvGraphicFramePr>
        <p:xfrm>
          <a:off x="990600" y="2133600"/>
          <a:ext cx="1400175" cy="1585913"/>
        </p:xfrm>
        <a:graphic>
          <a:graphicData uri="http://schemas.openxmlformats.org/presentationml/2006/ole">
            <p:oleObj spid="_x0000_s10242" name="Bitmap Image" r:id="rId3" imgW="647619" imgH="733333" progId="PBrush">
              <p:embed/>
            </p:oleObj>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69FF88-8F05-45DB-946A-8C728340CD4E}" type="slidenum">
              <a:rPr lang="ar-SA"/>
              <a:pPr/>
              <a:t>44</a:t>
            </a:fld>
            <a:endParaRPr lang="en-US"/>
          </a:p>
        </p:txBody>
      </p:sp>
      <p:sp>
        <p:nvSpPr>
          <p:cNvPr id="123906" name="Rectangle 2"/>
          <p:cNvSpPr>
            <a:spLocks noGrp="1" noChangeArrowheads="1"/>
          </p:cNvSpPr>
          <p:nvPr>
            <p:ph type="title"/>
          </p:nvPr>
        </p:nvSpPr>
        <p:spPr>
          <a:xfrm>
            <a:off x="457200" y="274638"/>
            <a:ext cx="8229600" cy="838200"/>
          </a:xfrm>
          <a:noFill/>
        </p:spPr>
        <p:txBody>
          <a:bodyPr>
            <a:flatTx/>
          </a:bodyPr>
          <a:lstStyle/>
          <a:p>
            <a:r>
              <a:rPr lang="en-US" sz="4000">
                <a:solidFill>
                  <a:srgbClr val="C00000"/>
                </a:solidFill>
              </a:rPr>
              <a:t>Other Elements used in Forms</a:t>
            </a:r>
          </a:p>
        </p:txBody>
      </p:sp>
      <p:sp>
        <p:nvSpPr>
          <p:cNvPr id="123907" name="Rectangle 3"/>
          <p:cNvSpPr>
            <a:spLocks noGrp="1" noChangeArrowheads="1"/>
          </p:cNvSpPr>
          <p:nvPr>
            <p:ph type="body" idx="1"/>
          </p:nvPr>
        </p:nvSpPr>
        <p:spPr>
          <a:xfrm>
            <a:off x="685800" y="1600200"/>
            <a:ext cx="7772400" cy="4876800"/>
          </a:xfrm>
          <a:noFill/>
        </p:spPr>
        <p:txBody>
          <a:bodyPr/>
          <a:lstStyle/>
          <a:p>
            <a:pPr>
              <a:lnSpc>
                <a:spcPct val="90000"/>
              </a:lnSpc>
              <a:buClr>
                <a:schemeClr val="accent2"/>
              </a:buClr>
              <a:buNone/>
            </a:pPr>
            <a:r>
              <a:rPr lang="en-US" sz="3600" b="1" dirty="0">
                <a:solidFill>
                  <a:srgbClr val="0070C0"/>
                </a:solidFill>
              </a:rPr>
              <a:t>Option</a:t>
            </a:r>
          </a:p>
          <a:p>
            <a:pPr>
              <a:lnSpc>
                <a:spcPct val="90000"/>
              </a:lnSpc>
              <a:buClr>
                <a:schemeClr val="accent2"/>
              </a:buClr>
              <a:buFont typeface="Wingdings" pitchFamily="2" charset="2"/>
              <a:buNone/>
            </a:pPr>
            <a:r>
              <a:rPr lang="en-US" sz="2800" dirty="0"/>
              <a:t>The list items are added to the </a:t>
            </a:r>
            <a:r>
              <a:rPr lang="en-US" sz="2800" b="1" dirty="0"/>
              <a:t>&lt;SELECT&gt;</a:t>
            </a:r>
            <a:r>
              <a:rPr lang="en-US" sz="2800" dirty="0"/>
              <a:t> element by inserting </a:t>
            </a:r>
            <a:r>
              <a:rPr lang="en-US" sz="2800" b="1" dirty="0"/>
              <a:t>&lt;OPTION&gt;&lt;/OPTION&gt;</a:t>
            </a:r>
            <a:r>
              <a:rPr lang="en-US" sz="2800" dirty="0"/>
              <a:t> elements.</a:t>
            </a:r>
          </a:p>
          <a:p>
            <a:pPr>
              <a:lnSpc>
                <a:spcPct val="90000"/>
              </a:lnSpc>
              <a:buClr>
                <a:schemeClr val="accent2"/>
              </a:buClr>
              <a:buFont typeface="Wingdings" pitchFamily="2" charset="2"/>
              <a:buNone/>
            </a:pPr>
            <a:r>
              <a:rPr lang="en-US" sz="2800" dirty="0"/>
              <a:t>The Option Element’s attributes are:</a:t>
            </a:r>
          </a:p>
          <a:p>
            <a:pPr>
              <a:lnSpc>
                <a:spcPct val="90000"/>
              </a:lnSpc>
              <a:buClr>
                <a:schemeClr val="accent2"/>
              </a:buClr>
              <a:buFont typeface="Wingdings" pitchFamily="2" charset="2"/>
              <a:buChar char="§"/>
            </a:pPr>
            <a:r>
              <a:rPr lang="en-US" sz="2800" b="1" dirty="0">
                <a:solidFill>
                  <a:srgbClr val="FF0000"/>
                </a:solidFill>
              </a:rPr>
              <a:t>SELECTED</a:t>
            </a:r>
            <a:r>
              <a:rPr lang="en-US" sz="2800" b="1" dirty="0"/>
              <a:t>:</a:t>
            </a:r>
            <a:r>
              <a:rPr lang="en-US" sz="2800" dirty="0"/>
              <a:t> When this attribute is present, the option is selected when the document is initially loaded. </a:t>
            </a:r>
            <a:r>
              <a:rPr lang="en-US" sz="2800" b="1" dirty="0">
                <a:solidFill>
                  <a:srgbClr val="FF0000"/>
                </a:solidFill>
              </a:rPr>
              <a:t>It is an error for more than one option to be selected.</a:t>
            </a:r>
          </a:p>
          <a:p>
            <a:pPr>
              <a:lnSpc>
                <a:spcPct val="90000"/>
              </a:lnSpc>
              <a:buClr>
                <a:schemeClr val="accent2"/>
              </a:buClr>
              <a:buFont typeface="Wingdings" pitchFamily="2" charset="2"/>
              <a:buChar char="§"/>
            </a:pPr>
            <a:r>
              <a:rPr lang="en-US" sz="2800" b="1" dirty="0">
                <a:solidFill>
                  <a:srgbClr val="FF0000"/>
                </a:solidFill>
              </a:rPr>
              <a:t>VALUE</a:t>
            </a:r>
            <a:r>
              <a:rPr lang="en-US" sz="2800" b="1" dirty="0"/>
              <a:t>:</a:t>
            </a:r>
            <a:r>
              <a:rPr lang="en-US" sz="2800" dirty="0"/>
              <a:t> Specifies the value the variable named in the select element.</a:t>
            </a:r>
          </a:p>
          <a:p>
            <a:pPr>
              <a:lnSpc>
                <a:spcPct val="90000"/>
              </a:lnSpc>
              <a:buClr>
                <a:schemeClr val="accent2"/>
              </a:buClr>
              <a:buFont typeface="Wingdings" pitchFamily="2" charset="2"/>
              <a:buNone/>
            </a:pPr>
            <a:r>
              <a:rPr lang="en-US" sz="2800" dirty="0"/>
              <a:t>							</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0EAEAD8E-37CE-4B79-B828-3ECB3ADC1DAE}" type="slidenum">
              <a:rPr lang="ar-SA"/>
              <a:pPr/>
              <a:t>45</a:t>
            </a:fld>
            <a:endParaRPr lang="en-US"/>
          </a:p>
        </p:txBody>
      </p:sp>
      <p:sp>
        <p:nvSpPr>
          <p:cNvPr id="124932" name="Rectangle 4"/>
          <p:cNvSpPr>
            <a:spLocks noGrp="1" noChangeArrowheads="1"/>
          </p:cNvSpPr>
          <p:nvPr>
            <p:ph type="body" idx="1"/>
          </p:nvPr>
        </p:nvSpPr>
        <p:spPr>
          <a:xfrm>
            <a:off x="762000" y="1447800"/>
            <a:ext cx="8382000" cy="5410200"/>
          </a:xfrm>
          <a:noFill/>
          <a:ln/>
        </p:spPr>
        <p:txBody>
          <a:bodyPr>
            <a:normAutofit fontScale="92500" lnSpcReduction="10000"/>
          </a:bodyPr>
          <a:lstStyle/>
          <a:p>
            <a:pPr>
              <a:buFontTx/>
              <a:buNone/>
            </a:pPr>
            <a:r>
              <a:rPr lang="en-US" sz="2400" b="1" dirty="0" smtClean="0"/>
              <a:t>&lt;HTML&gt;</a:t>
            </a:r>
          </a:p>
          <a:p>
            <a:pPr>
              <a:buFontTx/>
              <a:buNone/>
            </a:pPr>
            <a:r>
              <a:rPr lang="en-US" sz="2400" b="1" dirty="0" smtClean="0"/>
              <a:t>&lt;HEAD&gt;</a:t>
            </a:r>
            <a:r>
              <a:rPr lang="en-US" sz="2400" b="1" dirty="0" smtClean="0"/>
              <a:t>&lt;/</a:t>
            </a:r>
            <a:r>
              <a:rPr lang="en-US" sz="2400" b="1" dirty="0"/>
              <a:t>HEAD&gt;</a:t>
            </a:r>
          </a:p>
          <a:p>
            <a:pPr>
              <a:buFontTx/>
              <a:buNone/>
            </a:pPr>
            <a:r>
              <a:rPr lang="en-US" sz="2400" b="1" dirty="0"/>
              <a:t>&lt;BODY&gt;</a:t>
            </a:r>
          </a:p>
          <a:p>
            <a:pPr>
              <a:buFontTx/>
              <a:buNone/>
            </a:pPr>
            <a:r>
              <a:rPr lang="en-US" sz="2400" b="1" dirty="0">
                <a:solidFill>
                  <a:srgbClr val="FF0000"/>
                </a:solidFill>
              </a:rPr>
              <a:t>&lt;h2&gt;&lt;font color=blue&gt;What type of Computer do you have?&lt;/font&gt;&lt;h2&gt;</a:t>
            </a:r>
          </a:p>
          <a:p>
            <a:pPr>
              <a:buFontTx/>
              <a:buNone/>
            </a:pPr>
            <a:r>
              <a:rPr lang="en-US" sz="2400" b="1" dirty="0"/>
              <a:t>&lt;FORM&gt;</a:t>
            </a:r>
          </a:p>
          <a:p>
            <a:pPr>
              <a:buFontTx/>
              <a:buNone/>
            </a:pPr>
            <a:r>
              <a:rPr lang="en-US" sz="2400" b="1" dirty="0">
                <a:solidFill>
                  <a:srgbClr val="FF0000"/>
                </a:solidFill>
              </a:rPr>
              <a:t>&lt;SELECT NAME="</a:t>
            </a:r>
            <a:r>
              <a:rPr lang="en-US" sz="2400" b="1" dirty="0" err="1">
                <a:solidFill>
                  <a:srgbClr val="FF0000"/>
                </a:solidFill>
              </a:rPr>
              <a:t>ComputerType</a:t>
            </a:r>
            <a:r>
              <a:rPr lang="en-US" sz="2400" b="1" dirty="0">
                <a:solidFill>
                  <a:srgbClr val="FF0000"/>
                </a:solidFill>
              </a:rPr>
              <a:t>" size=4&gt;</a:t>
            </a:r>
          </a:p>
          <a:p>
            <a:pPr>
              <a:buFontTx/>
              <a:buNone/>
            </a:pPr>
            <a:r>
              <a:rPr lang="en-US" sz="2400" b="1" dirty="0"/>
              <a:t> 	</a:t>
            </a:r>
            <a:r>
              <a:rPr lang="en-US" sz="2400" b="1" dirty="0">
                <a:solidFill>
                  <a:srgbClr val="0000FF"/>
                </a:solidFill>
              </a:rPr>
              <a:t>&lt;OPTION  value="IBM" SELECTED&gt; IBM&lt;/OPTION&gt;</a:t>
            </a:r>
          </a:p>
          <a:p>
            <a:pPr>
              <a:buFontTx/>
              <a:buNone/>
            </a:pPr>
            <a:r>
              <a:rPr lang="en-US" sz="2400" b="1" dirty="0">
                <a:solidFill>
                  <a:srgbClr val="0000FF"/>
                </a:solidFill>
              </a:rPr>
              <a:t>	&lt;OPTION  value="INTEL"&gt; INTEL&lt;/OPTION&gt;</a:t>
            </a:r>
          </a:p>
          <a:p>
            <a:pPr>
              <a:buFontTx/>
              <a:buNone/>
            </a:pPr>
            <a:r>
              <a:rPr lang="en-US" sz="2400" b="1" dirty="0">
                <a:solidFill>
                  <a:srgbClr val="0000FF"/>
                </a:solidFill>
              </a:rPr>
              <a:t>	&lt;OPTION value=" Apple"&gt; Apple&lt;/OPTION&gt;</a:t>
            </a:r>
          </a:p>
          <a:p>
            <a:pPr>
              <a:buFontTx/>
              <a:buNone/>
            </a:pPr>
            <a:r>
              <a:rPr lang="en-US" sz="2400" b="1" dirty="0">
                <a:solidFill>
                  <a:srgbClr val="0000FF"/>
                </a:solidFill>
              </a:rPr>
              <a:t>	&lt;OPTION value="Compaq"&gt;</a:t>
            </a:r>
            <a:r>
              <a:rPr lang="en-US" sz="2400" b="1" dirty="0"/>
              <a:t> </a:t>
            </a:r>
            <a:r>
              <a:rPr lang="en-US" sz="2400" b="1" dirty="0">
                <a:solidFill>
                  <a:srgbClr val="0000FF"/>
                </a:solidFill>
              </a:rPr>
              <a:t>Compaq&lt;/OPTION&gt;</a:t>
            </a:r>
          </a:p>
          <a:p>
            <a:pPr>
              <a:buFontTx/>
              <a:buNone/>
            </a:pPr>
            <a:r>
              <a:rPr lang="en-US" sz="2400" b="1" dirty="0">
                <a:solidFill>
                  <a:srgbClr val="FF0000"/>
                </a:solidFill>
              </a:rPr>
              <a:t>&lt;/SELECT&gt; </a:t>
            </a:r>
          </a:p>
          <a:p>
            <a:pPr>
              <a:buFontTx/>
              <a:buNone/>
            </a:pPr>
            <a:r>
              <a:rPr lang="en-US" sz="2400" b="1" dirty="0"/>
              <a:t>&lt;/FORM&gt;&lt;/BODY&gt;&lt;/HTML&gt;							</a:t>
            </a:r>
          </a:p>
        </p:txBody>
      </p:sp>
      <p:sp>
        <p:nvSpPr>
          <p:cNvPr id="4" name="Rectangle 4"/>
          <p:cNvSpPr>
            <a:spLocks noGrp="1" noChangeArrowheads="1"/>
          </p:cNvSpPr>
          <p:nvPr>
            <p:ph type="title"/>
          </p:nvPr>
        </p:nvSpPr>
        <p:spPr>
          <a:xfrm>
            <a:off x="457200" y="381000"/>
            <a:ext cx="8229600" cy="762000"/>
          </a:xfrm>
          <a:noFill/>
          <a:ln/>
        </p:spPr>
        <p:txBody>
          <a:bodyPr>
            <a:normAutofit/>
            <a:flatTx/>
          </a:bodyPr>
          <a:lstStyle/>
          <a:p>
            <a:r>
              <a:rPr lang="en-US" sz="4000" dirty="0" smtClean="0">
                <a:solidFill>
                  <a:srgbClr val="C00000"/>
                </a:solidFill>
              </a:rPr>
              <a:t>Example</a:t>
            </a:r>
            <a:endParaRPr lang="en-US" sz="3600" dirty="0">
              <a:solidFill>
                <a:srgbClr val="C00000"/>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B4514219-8C9E-4AC8-9941-C08990FB5580}" type="slidenum">
              <a:rPr lang="ar-SA"/>
              <a:pPr/>
              <a:t>46</a:t>
            </a:fld>
            <a:endParaRPr lang="en-US"/>
          </a:p>
        </p:txBody>
      </p:sp>
      <p:pic>
        <p:nvPicPr>
          <p:cNvPr id="61442" name="Picture 2" descr="C:\Users\Full Time\Desktop\Untitled5.png"/>
          <p:cNvPicPr>
            <a:picLocks noChangeAspect="1" noChangeArrowheads="1"/>
          </p:cNvPicPr>
          <p:nvPr/>
        </p:nvPicPr>
        <p:blipFill>
          <a:blip r:embed="rId2" cstate="print"/>
          <a:srcRect/>
          <a:stretch>
            <a:fillRect/>
          </a:stretch>
        </p:blipFill>
        <p:spPr bwMode="auto">
          <a:xfrm>
            <a:off x="1524000" y="1676400"/>
            <a:ext cx="6627446" cy="4038600"/>
          </a:xfrm>
          <a:prstGeom prst="rect">
            <a:avLst/>
          </a:prstGeom>
          <a:noFill/>
        </p:spPr>
      </p:pic>
      <p:sp>
        <p:nvSpPr>
          <p:cNvPr id="6" name="Rectangle 5"/>
          <p:cNvSpPr txBox="1">
            <a:spLocks noChangeArrowheads="1"/>
          </p:cNvSpPr>
          <p:nvPr/>
        </p:nvSpPr>
        <p:spPr>
          <a:xfrm>
            <a:off x="609600" y="457200"/>
            <a:ext cx="7929562" cy="762000"/>
          </a:xfrm>
          <a:prstGeom prst="rect">
            <a:avLst/>
          </a:prstGeom>
          <a:noFill/>
          <a:ln/>
        </p:spPr>
        <p:txBody>
          <a:bodyPr vert="horz" lIns="91440" tIns="45720" rIns="91440" bIns="45720" rtlCol="0" anchor="ctr">
            <a:normAutofit/>
            <a:flatTx/>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rgbClr val="C00000"/>
                </a:solidFill>
                <a:effectLst/>
                <a:uLnTx/>
                <a:uFillTx/>
                <a:latin typeface="+mj-lt"/>
                <a:ea typeface="+mj-ea"/>
                <a:cs typeface="+mj-cs"/>
              </a:rPr>
              <a:t>Output</a:t>
            </a:r>
            <a:endParaRPr kumimoji="0" lang="en-US" sz="4400" b="0" i="0" u="none" strike="noStrike" kern="1200" cap="none" spc="0" normalizeH="0" baseline="0" noProof="0" dirty="0">
              <a:ln>
                <a:noFill/>
              </a:ln>
              <a:solidFill>
                <a:srgbClr val="C00000"/>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C4F21CB-0667-472D-80D4-F8C53D7779C2}" type="slidenum">
              <a:rPr lang="ar-SA"/>
              <a:pPr/>
              <a:t>47</a:t>
            </a:fld>
            <a:endParaRPr lang="en-US"/>
          </a:p>
        </p:txBody>
      </p:sp>
      <p:pic>
        <p:nvPicPr>
          <p:cNvPr id="180229" name="Picture 5"/>
          <p:cNvPicPr>
            <a:picLocks noChangeAspect="1" noChangeArrowheads="1"/>
          </p:cNvPicPr>
          <p:nvPr/>
        </p:nvPicPr>
        <p:blipFill>
          <a:blip r:embed="rId2" cstate="print">
            <a:lum contrast="-12000"/>
          </a:blip>
          <a:srcRect/>
          <a:stretch>
            <a:fillRect/>
          </a:stretch>
        </p:blipFill>
        <p:spPr bwMode="auto">
          <a:xfrm>
            <a:off x="1295400" y="381000"/>
            <a:ext cx="6423025" cy="6477000"/>
          </a:xfrm>
          <a:prstGeom prst="rect">
            <a:avLst/>
          </a:prstGeom>
          <a:solidFill>
            <a:schemeClr val="accent1"/>
          </a:solidFill>
        </p:spPr>
      </p:pic>
      <p:sp>
        <p:nvSpPr>
          <p:cNvPr id="180230" name="Text Box 6"/>
          <p:cNvSpPr txBox="1">
            <a:spLocks noChangeArrowheads="1"/>
          </p:cNvSpPr>
          <p:nvPr/>
        </p:nvSpPr>
        <p:spPr bwMode="auto">
          <a:xfrm>
            <a:off x="6477000" y="2438400"/>
            <a:ext cx="1905000" cy="366713"/>
          </a:xfrm>
          <a:prstGeom prst="rect">
            <a:avLst/>
          </a:prstGeom>
          <a:noFill/>
          <a:ln w="9525">
            <a:noFill/>
            <a:miter lim="800000"/>
            <a:headEnd/>
            <a:tailEnd/>
          </a:ln>
          <a:effectLst/>
        </p:spPr>
        <p:txBody>
          <a:bodyPr>
            <a:spAutoFit/>
          </a:bodyPr>
          <a:lstStyle/>
          <a:p>
            <a:pPr eaLnBrk="1" hangingPunct="1">
              <a:spcBef>
                <a:spcPct val="50000"/>
              </a:spcBef>
            </a:pPr>
            <a:endParaRPr lang="en-US" b="1"/>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580</TotalTime>
  <Words>2623</Words>
  <Application>Microsoft Office PowerPoint</Application>
  <PresentationFormat>On-screen Show (4:3)</PresentationFormat>
  <Paragraphs>399</Paragraphs>
  <Slides>47</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49" baseType="lpstr">
      <vt:lpstr>HNDIT</vt:lpstr>
      <vt:lpstr>Bitmap Image</vt:lpstr>
      <vt:lpstr>HNDIT11062 –  Web Development</vt:lpstr>
      <vt:lpstr>Forms</vt:lpstr>
      <vt:lpstr>Forms</vt:lpstr>
      <vt:lpstr>&lt;FORM&gt; element attributes</vt:lpstr>
      <vt:lpstr>Form Elements</vt:lpstr>
      <vt:lpstr>Slide 6</vt:lpstr>
      <vt:lpstr>Form Elements</vt:lpstr>
      <vt:lpstr>Text Box</vt:lpstr>
      <vt:lpstr>Example on Text Box</vt:lpstr>
      <vt:lpstr>Output</vt:lpstr>
      <vt:lpstr>Password</vt:lpstr>
      <vt:lpstr>Example on Password Box</vt:lpstr>
      <vt:lpstr>Output</vt:lpstr>
      <vt:lpstr>Hidden</vt:lpstr>
      <vt:lpstr>Check Box</vt:lpstr>
      <vt:lpstr>Example on Check Box</vt:lpstr>
      <vt:lpstr>Output</vt:lpstr>
      <vt:lpstr>Radio Button</vt:lpstr>
      <vt:lpstr>Example on Radio Button</vt:lpstr>
      <vt:lpstr>Output</vt:lpstr>
      <vt:lpstr>Slide 21</vt:lpstr>
      <vt:lpstr>Slide 22</vt:lpstr>
      <vt:lpstr>Push Button</vt:lpstr>
      <vt:lpstr>Example on Push Button</vt:lpstr>
      <vt:lpstr>Slide 25</vt:lpstr>
      <vt:lpstr>Submit Button</vt:lpstr>
      <vt:lpstr>Example on Submit Button</vt:lpstr>
      <vt:lpstr>Slide 28</vt:lpstr>
      <vt:lpstr>Reset Button</vt:lpstr>
      <vt:lpstr>Example on Reset Button</vt:lpstr>
      <vt:lpstr>Slide 31</vt:lpstr>
      <vt:lpstr>Image Submit Button</vt:lpstr>
      <vt:lpstr>&lt;form&gt; &lt;H1&gt;&lt;font color=blue&gt; Click to go Sri Lanka’s Map: &lt;INPUT  TYPE="IMAGE"  SRC=“srilanka.jpg”&gt; &lt;/form&gt;</vt:lpstr>
      <vt:lpstr>File</vt:lpstr>
      <vt:lpstr>Example on File</vt:lpstr>
      <vt:lpstr>Other Elements used in Forms</vt:lpstr>
      <vt:lpstr>Example on &lt;TEXTAREA&gt;</vt:lpstr>
      <vt:lpstr>Slide 38</vt:lpstr>
      <vt:lpstr>Other Elements used in Forms</vt:lpstr>
      <vt:lpstr>Example on &lt;SELECT&gt;</vt:lpstr>
      <vt:lpstr>Slide 41</vt:lpstr>
      <vt:lpstr>Other Elements used in Forms</vt:lpstr>
      <vt:lpstr>Other Elements used in Forms</vt:lpstr>
      <vt:lpstr>Other Elements used in Forms</vt:lpstr>
      <vt:lpstr>Example</vt:lpstr>
      <vt:lpstr>Slide 46</vt:lpstr>
      <vt:lpstr>Slide 47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2002 – Graphics &amp; Multimedia</dc:title>
  <dc:creator>Dell PC</dc:creator>
  <cp:lastModifiedBy>Full Time</cp:lastModifiedBy>
  <cp:revision>50</cp:revision>
  <dcterms:created xsi:type="dcterms:W3CDTF">2013-10-16T01:16:09Z</dcterms:created>
  <dcterms:modified xsi:type="dcterms:W3CDTF">2014-06-05T10:02:06Z</dcterms:modified>
</cp:coreProperties>
</file>