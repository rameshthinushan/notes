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C83782-8B05-4A3D-A71C-1AD7ED888411}" type="datetimeFigureOut">
              <a:rPr lang="en-US" smtClean="0"/>
              <a:pPr/>
              <a:t>3/12/2014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E88469-0835-4E88-BCF2-2A1EEB884E6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Common_Gateway_Interface"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0000"/>
                </a:solidFill>
              </a:rPr>
              <a:t>CGI - </a:t>
            </a:r>
            <a:r>
              <a:rPr lang="en-US" b="1" i="1" dirty="0" smtClean="0">
                <a:hlinkClick r:id="rId3"/>
              </a:rPr>
              <a:t>Common Gateway Interface</a:t>
            </a:r>
            <a:endParaRPr lang="en-US" b="1" dirty="0" smtClean="0"/>
          </a:p>
          <a:p>
            <a:endParaRPr lang="en-US" dirty="0"/>
          </a:p>
        </p:txBody>
      </p:sp>
      <p:sp>
        <p:nvSpPr>
          <p:cNvPr id="4" name="Slide Number Placeholder 3"/>
          <p:cNvSpPr>
            <a:spLocks noGrp="1"/>
          </p:cNvSpPr>
          <p:nvPr>
            <p:ph type="sldNum" sz="quarter" idx="10"/>
          </p:nvPr>
        </p:nvSpPr>
        <p:spPr/>
        <p:txBody>
          <a:bodyPr/>
          <a:lstStyle/>
          <a:p>
            <a:fld id="{8F55B167-DDC8-47F0-9972-EBDBAD6B4893}" type="slidenum">
              <a:rPr lang="en-US" smtClean="0"/>
              <a:pPr/>
              <a:t>20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p:spPr>
      </p:sp>
      <p:sp>
        <p:nvSpPr>
          <p:cNvPr id="215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15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C282362-B9E9-4D5A-9C40-B66C36A7EBD5}" type="slidenum">
              <a:rPr lang="en-US" smtClean="0"/>
              <a:pPr/>
              <a:t>34</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1B331C-56BB-4EB8-9AC9-218739B608CF}" type="slidenum">
              <a:rPr lang="en-US"/>
              <a:pPr/>
              <a:t>37</a:t>
            </a:fld>
            <a:endParaRPr lang="en-US"/>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5EDADC-1BBC-489E-BCBB-69C3895170AA}" type="slidenum">
              <a:rPr lang="en-US"/>
              <a:pPr/>
              <a:t>38</a:t>
            </a:fld>
            <a:endParaRPr lang="en-US"/>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r>
              <a:rPr lang="en-US" dirty="0" smtClean="0"/>
              <a:t>RSS - </a:t>
            </a:r>
            <a:r>
              <a:rPr lang="en-US" i="1" dirty="0" smtClean="0"/>
              <a:t>Really Simple Syndication</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AA71DD-D0EC-4926-8ED6-19B5D40D3F29}" type="datetimeFigureOut">
              <a:rPr lang="en-US" smtClean="0"/>
              <a:pPr/>
              <a:t>3/12/2014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3/12/2014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AA71DD-D0EC-4926-8ED6-19B5D40D3F29}" type="datetimeFigureOut">
              <a:rPr lang="en-US" smtClean="0"/>
              <a:pPr/>
              <a:t>3/12/2014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AA71DD-D0EC-4926-8ED6-19B5D40D3F29}" type="datetimeFigureOut">
              <a:rPr lang="en-US" smtClean="0"/>
              <a:pPr/>
              <a:t>3/12/2014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AA71DD-D0EC-4926-8ED6-19B5D40D3F29}" type="datetimeFigureOut">
              <a:rPr lang="en-US" smtClean="0"/>
              <a:pPr/>
              <a:t>3/12/2014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AA71DD-D0EC-4926-8ED6-19B5D40D3F29}" type="datetimeFigureOut">
              <a:rPr lang="en-US" smtClean="0"/>
              <a:pPr/>
              <a:t>3/12/2014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AA71DD-D0EC-4926-8ED6-19B5D40D3F29}" type="datetimeFigureOut">
              <a:rPr lang="en-US" smtClean="0"/>
              <a:pPr/>
              <a:t>3/12/2014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3/12/2014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3/12/2014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3/12/2014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3/12/2014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885950"/>
            <a:ext cx="4013200" cy="41719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2800" y="1885950"/>
            <a:ext cx="4013200" cy="41719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31800" y="6229350"/>
            <a:ext cx="1905000" cy="457200"/>
          </a:xfrm>
        </p:spPr>
        <p:txBody>
          <a:bodyPr/>
          <a:lstStyle>
            <a:lvl1pPr>
              <a:defRPr/>
            </a:lvl1pPr>
          </a:lstStyle>
          <a:p>
            <a:endParaRPr lang="en-US" altLang="zh-TW"/>
          </a:p>
        </p:txBody>
      </p:sp>
      <p:sp>
        <p:nvSpPr>
          <p:cNvPr id="6" name="Footer Placeholder 5"/>
          <p:cNvSpPr>
            <a:spLocks noGrp="1"/>
          </p:cNvSpPr>
          <p:nvPr>
            <p:ph type="ftr" sz="quarter" idx="11"/>
          </p:nvPr>
        </p:nvSpPr>
        <p:spPr>
          <a:xfrm>
            <a:off x="3124200" y="6229350"/>
            <a:ext cx="2895600" cy="457200"/>
          </a:xfrm>
        </p:spPr>
        <p:txBody>
          <a:bodyPr/>
          <a:lstStyle>
            <a:lvl1pPr>
              <a:defRPr/>
            </a:lvl1pPr>
          </a:lstStyle>
          <a:p>
            <a:endParaRPr lang="en-US" altLang="zh-TW"/>
          </a:p>
        </p:txBody>
      </p:sp>
      <p:sp>
        <p:nvSpPr>
          <p:cNvPr id="7" name="Slide Number Placeholder 6"/>
          <p:cNvSpPr>
            <a:spLocks noGrp="1"/>
          </p:cNvSpPr>
          <p:nvPr>
            <p:ph type="sldNum" sz="quarter" idx="12"/>
          </p:nvPr>
        </p:nvSpPr>
        <p:spPr>
          <a:xfrm>
            <a:off x="6731000" y="6229350"/>
            <a:ext cx="1905000" cy="457200"/>
          </a:xfrm>
        </p:spPr>
        <p:txBody>
          <a:bodyPr/>
          <a:lstStyle>
            <a:lvl1pPr>
              <a:defRPr/>
            </a:lvl1pPr>
          </a:lstStyle>
          <a:p>
            <a:fld id="{402BBD72-C026-4384-B184-150C41D69FF4}" type="slidenum">
              <a:rPr lang="en-US" altLang="zh-TW"/>
              <a:pPr/>
              <a:t>‹#›</a:t>
            </a:fld>
            <a:endParaRPr lang="en-US" altLang="zh-TW"/>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772400" cy="381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04800" y="1200150"/>
            <a:ext cx="8001000" cy="4972050"/>
          </a:xfrm>
        </p:spPr>
        <p:txBody>
          <a:bodyPr/>
          <a:lstStyle/>
          <a:p>
            <a:endParaRPr lang="en-US"/>
          </a:p>
        </p:txBody>
      </p:sp>
      <p:sp>
        <p:nvSpPr>
          <p:cNvPr id="4" name="Footer Placeholder 3"/>
          <p:cNvSpPr>
            <a:spLocks noGrp="1"/>
          </p:cNvSpPr>
          <p:nvPr>
            <p:ph type="ftr" sz="quarter" idx="10"/>
          </p:nvPr>
        </p:nvSpPr>
        <p:spPr>
          <a:xfrm>
            <a:off x="76200" y="6400800"/>
            <a:ext cx="4419600" cy="457200"/>
          </a:xfrm>
        </p:spPr>
        <p:txBody>
          <a:bodyPr/>
          <a:lstStyle>
            <a:lvl1pPr>
              <a:defRPr/>
            </a:lvl1pPr>
          </a:lstStyle>
          <a:p>
            <a:r>
              <a:rPr lang="en-US"/>
              <a:t>Cuene.com/mima</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AA71DD-D0EC-4926-8ED6-19B5D40D3F29}" type="datetimeFigureOut">
              <a:rPr lang="en-US" smtClean="0"/>
              <a:pPr/>
              <a:t>3/12/2014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5">
            <a:extLst>
              <a:ext uri="{28A0092B-C50C-407E-A947-70E740481C1C}">
                <a14:useLocalDpi xmlns=""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a:t>
            </a:r>
            <a:r>
              <a:rPr lang="en-US" dirty="0" smtClean="0"/>
              <a:t>4 &amp; 5: </a:t>
            </a:r>
            <a:r>
              <a:rPr lang="en-US" dirty="0" smtClean="0"/>
              <a:t>Types of websites</a:t>
            </a:r>
            <a:endParaRPr lang="en-US" dirty="0"/>
          </a:p>
        </p:txBody>
      </p:sp>
      <p:sp>
        <p:nvSpPr>
          <p:cNvPr id="5" name="Title 1"/>
          <p:cNvSpPr>
            <a:spLocks noGrp="1"/>
          </p:cNvSpPr>
          <p:nvPr>
            <p:ph type="ctrTitle"/>
          </p:nvPr>
        </p:nvSpPr>
        <p:spPr>
          <a:xfrm>
            <a:off x="228600" y="2247901"/>
            <a:ext cx="4267200" cy="1981199"/>
          </a:xfrm>
        </p:spPr>
        <p:txBody>
          <a:bodyPr>
            <a:normAutofit fontScale="90000"/>
          </a:bodyPr>
          <a:lstStyle/>
          <a:p>
            <a:pPr algn="l"/>
            <a:r>
              <a:rPr lang="en-US" dirty="0" smtClean="0"/>
              <a:t>HNDIT11062 –  Web Development</a:t>
            </a:r>
            <a:endParaRPr lang="en-US" dirty="0"/>
          </a:p>
        </p:txBody>
      </p:sp>
    </p:spTree>
    <p:extLst>
      <p:ext uri="{BB962C8B-B14F-4D97-AF65-F5344CB8AC3E}">
        <p14:creationId xmlns="" xmlns:p14="http://schemas.microsoft.com/office/powerpoint/2010/main" val="172696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Content</a:t>
            </a:r>
            <a:endParaRPr lang="en-US" dirty="0"/>
          </a:p>
        </p:txBody>
      </p:sp>
      <p:sp>
        <p:nvSpPr>
          <p:cNvPr id="3" name="Content Placeholder 2"/>
          <p:cNvSpPr>
            <a:spLocks noGrp="1"/>
          </p:cNvSpPr>
          <p:nvPr>
            <p:ph idx="1"/>
          </p:nvPr>
        </p:nvSpPr>
        <p:spPr>
          <a:xfrm>
            <a:off x="-990600" y="2057400"/>
            <a:ext cx="10134600" cy="4221163"/>
          </a:xfrm>
        </p:spPr>
        <p:txBody>
          <a:bodyPr>
            <a:normAutofit/>
          </a:bodyPr>
          <a:lstStyle/>
          <a:p>
            <a:pPr marL="2194560" lvl="4" indent="-256032" fontAlgn="auto">
              <a:lnSpc>
                <a:spcPct val="150000"/>
              </a:lnSpc>
              <a:spcBef>
                <a:spcPts val="400"/>
              </a:spcBef>
              <a:spcAft>
                <a:spcPts val="0"/>
              </a:spcAft>
              <a:buClr>
                <a:schemeClr val="tx1"/>
              </a:buClr>
              <a:buSzPct val="68000"/>
              <a:buFont typeface="Wingdings" pitchFamily="2" charset="2"/>
              <a:buChar char="§"/>
            </a:pPr>
            <a:r>
              <a:rPr lang="en-US" sz="3200" dirty="0" smtClean="0">
                <a:latin typeface="Arial" pitchFamily="34" charset="0"/>
                <a:cs typeface="Arial" pitchFamily="34" charset="0"/>
              </a:rPr>
              <a:t>Static and Dynamic websites</a:t>
            </a:r>
          </a:p>
          <a:p>
            <a:pPr marL="2194560" lvl="4" indent="-256032" fontAlgn="auto">
              <a:lnSpc>
                <a:spcPct val="150000"/>
              </a:lnSpc>
              <a:spcBef>
                <a:spcPts val="400"/>
              </a:spcBef>
              <a:spcAft>
                <a:spcPts val="0"/>
              </a:spcAft>
              <a:buClr>
                <a:schemeClr val="tx1"/>
              </a:buClr>
              <a:buSzPct val="68000"/>
              <a:buFont typeface="Wingdings" pitchFamily="2" charset="2"/>
              <a:buChar char="§"/>
            </a:pPr>
            <a:r>
              <a:rPr lang="en-US" sz="3200" dirty="0" smtClean="0">
                <a:latin typeface="Arial" pitchFamily="34" charset="0"/>
                <a:cs typeface="Arial" pitchFamily="34" charset="0"/>
              </a:rPr>
              <a:t>Web Syndication and Collaborative websites</a:t>
            </a:r>
          </a:p>
          <a:p>
            <a:pPr marL="2194560" lvl="4" indent="-256032" fontAlgn="auto">
              <a:lnSpc>
                <a:spcPct val="150000"/>
              </a:lnSpc>
              <a:spcBef>
                <a:spcPts val="400"/>
              </a:spcBef>
              <a:spcAft>
                <a:spcPts val="0"/>
              </a:spcAft>
              <a:buClr>
                <a:schemeClr val="tx1"/>
              </a:buClr>
              <a:buSzPct val="68000"/>
              <a:buFont typeface="Wingdings" pitchFamily="2" charset="2"/>
              <a:buChar char="§"/>
            </a:pPr>
            <a:r>
              <a:rPr lang="en-US" sz="3200" dirty="0" smtClean="0">
                <a:latin typeface="Arial" pitchFamily="34" charset="0"/>
                <a:cs typeface="Arial" pitchFamily="34" charset="0"/>
              </a:rPr>
              <a:t>Web 1.0 and Web 2.0</a:t>
            </a:r>
          </a:p>
          <a:p>
            <a:pPr>
              <a:lnSpc>
                <a:spcPct val="150000"/>
              </a:lnSpc>
              <a:buClr>
                <a:schemeClr val="tx1"/>
              </a:buClr>
              <a:buNone/>
            </a:pPr>
            <a:endParaRPr lang="en-US" sz="4000" dirty="0" smtClean="0"/>
          </a:p>
        </p:txBody>
      </p:sp>
    </p:spTree>
    <p:extLst>
      <p:ext uri="{BB962C8B-B14F-4D97-AF65-F5344CB8AC3E}">
        <p14:creationId xmlns="" xmlns:p14="http://schemas.microsoft.com/office/powerpoint/2010/main" val="322258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Content Placeholder 2"/>
          <p:cNvSpPr>
            <a:spLocks noGrp="1"/>
          </p:cNvSpPr>
          <p:nvPr>
            <p:ph idx="1"/>
          </p:nvPr>
        </p:nvSpPr>
        <p:spPr>
          <a:xfrm>
            <a:off x="457200" y="1524000"/>
            <a:ext cx="8229600" cy="4221163"/>
          </a:xfrm>
        </p:spPr>
        <p:txBody>
          <a:bodyPr>
            <a:noAutofit/>
          </a:bodyPr>
          <a:lstStyle/>
          <a:p>
            <a:pPr eaLnBrk="1" hangingPunct="1">
              <a:buFont typeface="Arial" charset="0"/>
              <a:buNone/>
            </a:pPr>
            <a:r>
              <a:rPr lang="en-US" sz="2800" dirty="0" smtClean="0"/>
              <a:t>A </a:t>
            </a:r>
            <a:r>
              <a:rPr lang="en-US" sz="2800" b="1" dirty="0" smtClean="0"/>
              <a:t>website</a:t>
            </a:r>
            <a:r>
              <a:rPr lang="en-US" sz="2800" dirty="0" smtClean="0"/>
              <a:t> is a collection of related web pages containing images, videos or other digital assets.</a:t>
            </a:r>
          </a:p>
          <a:p>
            <a:pPr eaLnBrk="1" hangingPunct="1">
              <a:buFont typeface="Arial" charset="0"/>
              <a:buNone/>
            </a:pPr>
            <a:endParaRPr lang="en-US" sz="2800" dirty="0" smtClean="0"/>
          </a:p>
          <a:p>
            <a:pPr eaLnBrk="1" hangingPunct="1">
              <a:buFont typeface="Arial" charset="0"/>
              <a:buNone/>
            </a:pPr>
            <a:r>
              <a:rPr lang="en-US" sz="2800" dirty="0" smtClean="0"/>
              <a:t>A web page is a document, typically written in plain text  with formatting instructions of Hypertext Markup Language (HTML, XHTML).</a:t>
            </a:r>
          </a:p>
          <a:p>
            <a:pPr eaLnBrk="1" hangingPunct="1">
              <a:buFont typeface="Arial" charset="0"/>
              <a:buNone/>
            </a:pPr>
            <a:r>
              <a:rPr lang="en-US" sz="2800" dirty="0" smtClean="0"/>
              <a:t>   </a:t>
            </a:r>
          </a:p>
          <a:p>
            <a:r>
              <a:rPr lang="en-US" sz="2800" dirty="0" smtClean="0"/>
              <a:t>Other languages are;</a:t>
            </a:r>
          </a:p>
          <a:p>
            <a:pPr lvl="4"/>
            <a:r>
              <a:rPr lang="en-US" sz="2400" dirty="0" smtClean="0"/>
              <a:t>Java script</a:t>
            </a:r>
          </a:p>
          <a:p>
            <a:pPr lvl="4"/>
            <a:r>
              <a:rPr lang="en-US" sz="2400" dirty="0" smtClean="0"/>
              <a:t>XML</a:t>
            </a:r>
          </a:p>
          <a:p>
            <a:pPr lvl="4"/>
            <a:r>
              <a:rPr lang="en-US" sz="2400" dirty="0" smtClean="0"/>
              <a:t>VB script</a:t>
            </a:r>
          </a:p>
          <a:p>
            <a:pPr eaLnBrk="1" hangingPunct="1">
              <a:buFont typeface="Arial" charset="0"/>
              <a:buNone/>
            </a:pPr>
            <a:r>
              <a:rPr lang="en-US" sz="2800" dirty="0" smtClean="0"/>
              <a:t> </a:t>
            </a:r>
          </a:p>
        </p:txBody>
      </p:sp>
      <p:sp>
        <p:nvSpPr>
          <p:cNvPr id="3074" name="Title 1"/>
          <p:cNvSpPr>
            <a:spLocks noGrp="1"/>
          </p:cNvSpPr>
          <p:nvPr>
            <p:ph type="title"/>
          </p:nvPr>
        </p:nvSpPr>
        <p:spPr>
          <a:xfrm>
            <a:off x="0" y="304800"/>
            <a:ext cx="8686800" cy="1179286"/>
          </a:xfrm>
        </p:spPr>
        <p:txBody>
          <a:bodyPr>
            <a:normAutofit/>
          </a:bodyPr>
          <a:lstStyle/>
          <a:p>
            <a:pPr eaLnBrk="1" hangingPunct="1"/>
            <a:r>
              <a:rPr lang="en-US" sz="4000" dirty="0" smtClean="0">
                <a:solidFill>
                  <a:schemeClr val="tx2">
                    <a:lumMod val="60000"/>
                    <a:lumOff val="40000"/>
                  </a:schemeClr>
                </a:solidFill>
              </a:rPr>
              <a:t>Website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486" y="1640115"/>
            <a:ext cx="8686800" cy="2743199"/>
          </a:xfrm>
        </p:spPr>
        <p:txBody>
          <a:bodyPr>
            <a:normAutofit/>
          </a:bodyPr>
          <a:lstStyle/>
          <a:p>
            <a:pPr algn="ctr"/>
            <a:r>
              <a:rPr lang="en-US" sz="4800" dirty="0" smtClean="0"/>
              <a:t>Static and Dynamic</a:t>
            </a:r>
            <a:br>
              <a:rPr lang="en-US" sz="4800" dirty="0" smtClean="0"/>
            </a:br>
            <a:r>
              <a:rPr lang="en-US" sz="4800" dirty="0" smtClean="0"/>
              <a:t> web sites</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743" y="1307418"/>
            <a:ext cx="8686800" cy="5340125"/>
          </a:xfrm>
        </p:spPr>
        <p:txBody>
          <a:bodyPr>
            <a:normAutofit fontScale="85000" lnSpcReduction="20000"/>
          </a:bodyPr>
          <a:lstStyle/>
          <a:p>
            <a:r>
              <a:rPr lang="en-US" dirty="0" smtClean="0"/>
              <a:t>For a static-content Web site, all content appearing on Web pages is placed manually by professional Web developers. </a:t>
            </a:r>
          </a:p>
          <a:p>
            <a:r>
              <a:rPr lang="en-US" dirty="0" smtClean="0"/>
              <a:t>This is also called "design-time page construction," because the pages are fully built while the site is being developed. </a:t>
            </a:r>
          </a:p>
          <a:p>
            <a:r>
              <a:rPr lang="en-US" dirty="0" smtClean="0"/>
              <a:t>Static-content Web site is developed and then maintained by experienced professionals. </a:t>
            </a:r>
          </a:p>
          <a:p>
            <a:r>
              <a:rPr lang="en-US" dirty="0" smtClean="0"/>
              <a:t>Such Web site usually costs less when initially developed, but then all future changes still have to be done by Web professionals. </a:t>
            </a:r>
          </a:p>
          <a:p>
            <a:r>
              <a:rPr lang="en-US" dirty="0" smtClean="0"/>
              <a:t>Therefore, a static Web site can be more expensive to maintain, especially when you want to make frequent changes to your site.</a:t>
            </a:r>
            <a:endParaRPr lang="en-US" dirty="0"/>
          </a:p>
        </p:txBody>
      </p:sp>
      <p:sp>
        <p:nvSpPr>
          <p:cNvPr id="2" name="Title 1"/>
          <p:cNvSpPr>
            <a:spLocks noGrp="1"/>
          </p:cNvSpPr>
          <p:nvPr>
            <p:ph type="title"/>
          </p:nvPr>
        </p:nvSpPr>
        <p:spPr>
          <a:xfrm>
            <a:off x="457200" y="326572"/>
            <a:ext cx="8686800" cy="838200"/>
          </a:xfrm>
        </p:spPr>
        <p:txBody>
          <a:bodyPr/>
          <a:lstStyle/>
          <a:p>
            <a:r>
              <a:rPr lang="en-US" altLang="en-US" dirty="0" smtClean="0">
                <a:solidFill>
                  <a:schemeClr val="tx2">
                    <a:lumMod val="60000"/>
                    <a:lumOff val="40000"/>
                  </a:schemeClr>
                </a:solidFill>
                <a:latin typeface="Arial" charset="0"/>
              </a:rPr>
              <a:t>Static web Sites</a:t>
            </a:r>
            <a:endParaRPr lang="en-US" dirty="0">
              <a:solidFill>
                <a:schemeClr val="tx2">
                  <a:lumMod val="60000"/>
                  <a:lumOff val="4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645206" y="1363889"/>
            <a:ext cx="8137525" cy="4152900"/>
          </a:xfrm>
        </p:spPr>
        <p:txBody>
          <a:bodyPr/>
          <a:lstStyle/>
          <a:p>
            <a:r>
              <a:rPr lang="en-US" altLang="en-US" dirty="0">
                <a:latin typeface="Arial" charset="0"/>
              </a:rPr>
              <a:t>Static web page</a:t>
            </a:r>
          </a:p>
          <a:p>
            <a:pPr lvl="1"/>
            <a:r>
              <a:rPr lang="en-US" altLang="zh-TW" dirty="0">
                <a:latin typeface="Arial" charset="0"/>
              </a:rPr>
              <a:t>a web page with contents that remain fixed and unchanged once it has been created by the author</a:t>
            </a:r>
          </a:p>
        </p:txBody>
      </p:sp>
      <p:sp>
        <p:nvSpPr>
          <p:cNvPr id="16" name="Title 1"/>
          <p:cNvSpPr>
            <a:spLocks noGrp="1"/>
          </p:cNvSpPr>
          <p:nvPr>
            <p:ph type="title"/>
          </p:nvPr>
        </p:nvSpPr>
        <p:spPr>
          <a:xfrm>
            <a:off x="457200" y="326572"/>
            <a:ext cx="8686800" cy="838200"/>
          </a:xfrm>
        </p:spPr>
        <p:txBody>
          <a:bodyPr/>
          <a:lstStyle/>
          <a:p>
            <a:r>
              <a:rPr lang="en-US" altLang="en-US" dirty="0" smtClean="0">
                <a:solidFill>
                  <a:schemeClr val="tx2">
                    <a:lumMod val="60000"/>
                    <a:lumOff val="40000"/>
                  </a:schemeClr>
                </a:solidFill>
                <a:latin typeface="Arial" charset="0"/>
              </a:rPr>
              <a:t>Static web Sites…(cont.)</a:t>
            </a:r>
            <a:endParaRPr lang="en-US" dirty="0">
              <a:solidFill>
                <a:schemeClr val="tx2">
                  <a:lumMod val="60000"/>
                  <a:lumOff val="40000"/>
                </a:schemeClr>
              </a:solidFill>
            </a:endParaRPr>
          </a:p>
        </p:txBody>
      </p:sp>
      <p:grpSp>
        <p:nvGrpSpPr>
          <p:cNvPr id="2" name="Group 21"/>
          <p:cNvGrpSpPr>
            <a:grpSpLocks/>
          </p:cNvGrpSpPr>
          <p:nvPr/>
        </p:nvGrpSpPr>
        <p:grpSpPr bwMode="auto">
          <a:xfrm>
            <a:off x="1612900" y="3790950"/>
            <a:ext cx="6203950" cy="2484438"/>
            <a:chOff x="1016" y="2388"/>
            <a:chExt cx="3908" cy="1565"/>
          </a:xfrm>
        </p:grpSpPr>
        <p:pic>
          <p:nvPicPr>
            <p:cNvPr id="21512" name="Picture 8"/>
            <p:cNvPicPr>
              <a:picLocks noChangeAspect="1" noChangeArrowheads="1"/>
            </p:cNvPicPr>
            <p:nvPr/>
          </p:nvPicPr>
          <p:blipFill>
            <a:blip r:embed="rId2"/>
            <a:srcRect l="13753" t="28880" r="80630" b="55133"/>
            <a:stretch>
              <a:fillRect/>
            </a:stretch>
          </p:blipFill>
          <p:spPr bwMode="auto">
            <a:xfrm>
              <a:off x="1294" y="2388"/>
              <a:ext cx="568" cy="1232"/>
            </a:xfrm>
            <a:prstGeom prst="rect">
              <a:avLst/>
            </a:prstGeom>
            <a:noFill/>
            <a:ln w="9525">
              <a:noFill/>
              <a:miter lim="800000"/>
              <a:headEnd/>
              <a:tailEnd/>
            </a:ln>
            <a:effectLst/>
          </p:spPr>
        </p:pic>
        <p:pic>
          <p:nvPicPr>
            <p:cNvPr id="21513" name="Picture 9"/>
            <p:cNvPicPr>
              <a:picLocks noChangeAspect="1" noChangeArrowheads="1"/>
            </p:cNvPicPr>
            <p:nvPr/>
          </p:nvPicPr>
          <p:blipFill>
            <a:blip r:embed="rId2"/>
            <a:srcRect l="39238" t="44945" r="50571" b="42949"/>
            <a:stretch>
              <a:fillRect/>
            </a:stretch>
          </p:blipFill>
          <p:spPr bwMode="auto">
            <a:xfrm>
              <a:off x="3800" y="2522"/>
              <a:ext cx="1046" cy="949"/>
            </a:xfrm>
            <a:prstGeom prst="rect">
              <a:avLst/>
            </a:prstGeom>
            <a:noFill/>
            <a:ln w="9525">
              <a:noFill/>
              <a:miter lim="800000"/>
              <a:headEnd/>
              <a:tailEnd/>
            </a:ln>
            <a:effectLst/>
          </p:spPr>
        </p:pic>
        <p:sp>
          <p:nvSpPr>
            <p:cNvPr id="21514" name="Text Box 10"/>
            <p:cNvSpPr txBox="1">
              <a:spLocks noChangeArrowheads="1"/>
            </p:cNvSpPr>
            <p:nvPr/>
          </p:nvSpPr>
          <p:spPr bwMode="auto">
            <a:xfrm>
              <a:off x="1016" y="3665"/>
              <a:ext cx="1152" cy="288"/>
            </a:xfrm>
            <a:prstGeom prst="rect">
              <a:avLst/>
            </a:prstGeom>
            <a:noFill/>
            <a:ln w="9525">
              <a:noFill/>
              <a:miter lim="800000"/>
              <a:headEnd/>
              <a:tailEnd/>
            </a:ln>
            <a:effectLst/>
          </p:spPr>
          <p:txBody>
            <a:bodyPr wrap="none">
              <a:spAutoFit/>
            </a:bodyPr>
            <a:lstStyle/>
            <a:p>
              <a:r>
                <a:rPr lang="en-US" altLang="zh-TW" b="1">
                  <a:latin typeface="Arial" charset="0"/>
                  <a:ea typeface="標楷體" pitchFamily="65" charset="-120"/>
                </a:rPr>
                <a:t>Web server</a:t>
              </a:r>
              <a:endParaRPr lang="en-US" altLang="zh-TW">
                <a:latin typeface="Arial" charset="0"/>
                <a:ea typeface="標楷體" pitchFamily="65" charset="-120"/>
              </a:endParaRPr>
            </a:p>
          </p:txBody>
        </p:sp>
        <p:sp>
          <p:nvSpPr>
            <p:cNvPr id="21515" name="Text Box 11"/>
            <p:cNvSpPr txBox="1">
              <a:spLocks noChangeArrowheads="1"/>
            </p:cNvSpPr>
            <p:nvPr/>
          </p:nvSpPr>
          <p:spPr bwMode="auto">
            <a:xfrm>
              <a:off x="3347" y="3522"/>
              <a:ext cx="1577" cy="288"/>
            </a:xfrm>
            <a:prstGeom prst="rect">
              <a:avLst/>
            </a:prstGeom>
            <a:noFill/>
            <a:ln w="9525">
              <a:noFill/>
              <a:miter lim="800000"/>
              <a:headEnd/>
              <a:tailEnd/>
            </a:ln>
            <a:effectLst/>
          </p:spPr>
          <p:txBody>
            <a:bodyPr wrap="none">
              <a:spAutoFit/>
            </a:bodyPr>
            <a:lstStyle/>
            <a:p>
              <a:r>
                <a:rPr lang="en-US" altLang="zh-TW" b="1">
                  <a:latin typeface="Arial" charset="0"/>
                  <a:ea typeface="標楷體" pitchFamily="65" charset="-120"/>
                </a:rPr>
                <a:t>Client computer</a:t>
              </a:r>
              <a:endParaRPr lang="en-US" altLang="zh-TW">
                <a:latin typeface="Arial" charset="0"/>
                <a:ea typeface="標楷體" pitchFamily="65" charset="-120"/>
              </a:endParaRPr>
            </a:p>
          </p:txBody>
        </p:sp>
      </p:grpSp>
      <p:grpSp>
        <p:nvGrpSpPr>
          <p:cNvPr id="3" name="Group 24"/>
          <p:cNvGrpSpPr>
            <a:grpSpLocks/>
          </p:cNvGrpSpPr>
          <p:nvPr/>
        </p:nvGrpSpPr>
        <p:grpSpPr bwMode="auto">
          <a:xfrm>
            <a:off x="3170238" y="4789488"/>
            <a:ext cx="2690812" cy="1084262"/>
            <a:chOff x="1997" y="3017"/>
            <a:chExt cx="1695" cy="683"/>
          </a:xfrm>
        </p:grpSpPr>
        <p:sp>
          <p:nvSpPr>
            <p:cNvPr id="21516" name="AutoShape 12"/>
            <p:cNvSpPr>
              <a:spLocks noChangeArrowheads="1"/>
            </p:cNvSpPr>
            <p:nvPr/>
          </p:nvSpPr>
          <p:spPr bwMode="auto">
            <a:xfrm>
              <a:off x="2011" y="3017"/>
              <a:ext cx="1681" cy="200"/>
            </a:xfrm>
            <a:prstGeom prst="leftArrow">
              <a:avLst>
                <a:gd name="adj1" fmla="val 50000"/>
                <a:gd name="adj2" fmla="val 210125"/>
              </a:avLst>
            </a:prstGeom>
            <a:solidFill>
              <a:srgbClr val="FF9900"/>
            </a:solidFill>
            <a:ln w="9525">
              <a:noFill/>
              <a:miter lim="800000"/>
              <a:headEnd/>
              <a:tailEnd/>
            </a:ln>
            <a:effectLst/>
          </p:spPr>
          <p:txBody>
            <a:bodyPr wrap="none" anchor="ctr"/>
            <a:lstStyle/>
            <a:p>
              <a:endParaRPr lang="en-US"/>
            </a:p>
          </p:txBody>
        </p:sp>
        <p:sp>
          <p:nvSpPr>
            <p:cNvPr id="21518" name="Text Box 14"/>
            <p:cNvSpPr txBox="1">
              <a:spLocks noChangeArrowheads="1"/>
            </p:cNvSpPr>
            <p:nvPr/>
          </p:nvSpPr>
          <p:spPr bwMode="auto">
            <a:xfrm>
              <a:off x="1997" y="3258"/>
              <a:ext cx="1404" cy="442"/>
            </a:xfrm>
            <a:prstGeom prst="rect">
              <a:avLst/>
            </a:prstGeom>
            <a:noFill/>
            <a:ln w="9525">
              <a:noFill/>
              <a:miter lim="800000"/>
              <a:headEnd/>
              <a:tailEnd/>
            </a:ln>
            <a:effectLst/>
          </p:spPr>
          <p:txBody>
            <a:bodyPr wrap="none">
              <a:spAutoFit/>
            </a:bodyPr>
            <a:lstStyle/>
            <a:p>
              <a:pPr marL="457200" indent="-457200"/>
              <a:r>
                <a:rPr lang="en-US" altLang="zh-TW" sz="2000">
                  <a:latin typeface="Arial" charset="0"/>
                  <a:ea typeface="標楷體" pitchFamily="65" charset="-120"/>
                </a:rPr>
                <a:t>1.  Client requests</a:t>
              </a:r>
            </a:p>
            <a:p>
              <a:pPr marL="457200" indent="-457200"/>
              <a:r>
                <a:rPr lang="en-US" altLang="zh-TW" sz="2000">
                  <a:latin typeface="Arial" charset="0"/>
                  <a:ea typeface="標楷體" pitchFamily="65" charset="-120"/>
                </a:rPr>
                <a:t>     web pages</a:t>
              </a:r>
            </a:p>
          </p:txBody>
        </p:sp>
      </p:grpSp>
      <p:sp>
        <p:nvSpPr>
          <p:cNvPr id="21519" name="Text Box 15"/>
          <p:cNvSpPr txBox="1">
            <a:spLocks noChangeArrowheads="1"/>
          </p:cNvSpPr>
          <p:nvPr/>
        </p:nvSpPr>
        <p:spPr bwMode="auto">
          <a:xfrm>
            <a:off x="203200" y="3756025"/>
            <a:ext cx="2159000" cy="1311275"/>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2. Web server looks for the corresponding HTML files</a:t>
            </a:r>
          </a:p>
        </p:txBody>
      </p:sp>
      <p:grpSp>
        <p:nvGrpSpPr>
          <p:cNvPr id="4" name="Group 23"/>
          <p:cNvGrpSpPr>
            <a:grpSpLocks/>
          </p:cNvGrpSpPr>
          <p:nvPr/>
        </p:nvGrpSpPr>
        <p:grpSpPr bwMode="auto">
          <a:xfrm>
            <a:off x="3257550" y="3713163"/>
            <a:ext cx="2668588" cy="979487"/>
            <a:chOff x="2052" y="2339"/>
            <a:chExt cx="1681" cy="617"/>
          </a:xfrm>
        </p:grpSpPr>
        <p:sp>
          <p:nvSpPr>
            <p:cNvPr id="21517" name="AutoShape 13"/>
            <p:cNvSpPr>
              <a:spLocks noChangeArrowheads="1"/>
            </p:cNvSpPr>
            <p:nvPr/>
          </p:nvSpPr>
          <p:spPr bwMode="auto">
            <a:xfrm rot="10800000">
              <a:off x="2052" y="2756"/>
              <a:ext cx="1681" cy="200"/>
            </a:xfrm>
            <a:prstGeom prst="leftArrow">
              <a:avLst>
                <a:gd name="adj1" fmla="val 50000"/>
                <a:gd name="adj2" fmla="val 210125"/>
              </a:avLst>
            </a:prstGeom>
            <a:solidFill>
              <a:srgbClr val="339966"/>
            </a:solidFill>
            <a:ln w="9525">
              <a:noFill/>
              <a:miter lim="800000"/>
              <a:headEnd/>
              <a:tailEnd/>
            </a:ln>
            <a:effectLst/>
          </p:spPr>
          <p:txBody>
            <a:bodyPr wrap="none" anchor="ctr"/>
            <a:lstStyle/>
            <a:p>
              <a:endParaRPr lang="en-US"/>
            </a:p>
          </p:txBody>
        </p:sp>
        <p:sp>
          <p:nvSpPr>
            <p:cNvPr id="21520" name="Text Box 16"/>
            <p:cNvSpPr txBox="1">
              <a:spLocks noChangeArrowheads="1"/>
            </p:cNvSpPr>
            <p:nvPr/>
          </p:nvSpPr>
          <p:spPr bwMode="auto">
            <a:xfrm>
              <a:off x="2093" y="2339"/>
              <a:ext cx="1433" cy="442"/>
            </a:xfrm>
            <a:prstGeom prst="rect">
              <a:avLst/>
            </a:prstGeom>
            <a:noFill/>
            <a:ln w="9525">
              <a:noFill/>
              <a:miter lim="800000"/>
              <a:headEnd/>
              <a:tailEnd/>
            </a:ln>
            <a:effectLst/>
          </p:spPr>
          <p:txBody>
            <a:bodyPr>
              <a:spAutoFit/>
            </a:bodyPr>
            <a:lstStyle/>
            <a:p>
              <a:pPr marL="288925" indent="-288925"/>
              <a:r>
                <a:rPr lang="en-US" altLang="zh-TW" sz="2000" dirty="0">
                  <a:latin typeface="Arial" charset="0"/>
                  <a:ea typeface="標楷體" pitchFamily="65" charset="-120"/>
                </a:rPr>
                <a:t>3. HTML files return to client</a:t>
              </a:r>
            </a:p>
          </p:txBody>
        </p:sp>
      </p:grpSp>
      <p:sp>
        <p:nvSpPr>
          <p:cNvPr id="21521" name="Text Box 17"/>
          <p:cNvSpPr txBox="1">
            <a:spLocks noChangeArrowheads="1"/>
          </p:cNvSpPr>
          <p:nvPr/>
        </p:nvSpPr>
        <p:spPr bwMode="auto">
          <a:xfrm>
            <a:off x="7077075" y="3689350"/>
            <a:ext cx="1892300" cy="1311275"/>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4. Client browser formats HTML files</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5" fill="hold" grpId="0" nodeType="clickEffect">
                                  <p:stCondLst>
                                    <p:cond delay="0"/>
                                  </p:stCondLst>
                                  <p:childTnLst>
                                    <p:set>
                                      <p:cBhvr>
                                        <p:cTn id="28" dur="1" fill="hold">
                                          <p:stCondLst>
                                            <p:cond delay="0"/>
                                          </p:stCondLst>
                                        </p:cTn>
                                        <p:tgtEl>
                                          <p:spTgt spid="21519"/>
                                        </p:tgtEl>
                                        <p:attrNameLst>
                                          <p:attrName>style.visibility</p:attrName>
                                        </p:attrNameLst>
                                      </p:cBhvr>
                                      <p:to>
                                        <p:strVal val="visible"/>
                                      </p:to>
                                    </p:set>
                                    <p:animEffect transition="in" filter="checkerboard(down)">
                                      <p:cBhvr>
                                        <p:cTn id="29" dur="500"/>
                                        <p:tgtEl>
                                          <p:spTgt spid="2151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ssolve">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21521"/>
                                        </p:tgtEl>
                                        <p:attrNameLst>
                                          <p:attrName>style.visibility</p:attrName>
                                        </p:attrNameLst>
                                      </p:cBhvr>
                                      <p:to>
                                        <p:strVal val="visible"/>
                                      </p:to>
                                    </p:set>
                                    <p:animEffect transition="in" filter="checkerboard(across)">
                                      <p:cBhvr>
                                        <p:cTn id="39" dur="500"/>
                                        <p:tgtEl>
                                          <p:spTgt spid="21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bldLvl="3" autoUpdateAnimBg="0"/>
      <p:bldP spid="21519" grpId="0" autoUpdateAnimBg="0"/>
      <p:bldP spid="21521"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ext Box 4"/>
          <p:cNvSpPr txBox="1">
            <a:spLocks noChangeArrowheads="1"/>
          </p:cNvSpPr>
          <p:nvPr/>
        </p:nvSpPr>
        <p:spPr bwMode="auto">
          <a:xfrm>
            <a:off x="283029" y="1100591"/>
            <a:ext cx="8534400" cy="1477328"/>
          </a:xfrm>
          <a:prstGeom prst="rect">
            <a:avLst/>
          </a:prstGeom>
          <a:noFill/>
          <a:ln w="9525">
            <a:noFill/>
            <a:miter lim="800000"/>
            <a:headEnd/>
            <a:tailEnd/>
          </a:ln>
          <a:effectLst/>
        </p:spPr>
        <p:txBody>
          <a:bodyPr>
            <a:spAutoFit/>
          </a:bodyPr>
          <a:lstStyle/>
          <a:p>
            <a:pPr>
              <a:spcBef>
                <a:spcPct val="50000"/>
              </a:spcBef>
            </a:pPr>
            <a:r>
              <a:rPr lang="en-US" sz="3600" dirty="0"/>
              <a:t>Static pages architecture:</a:t>
            </a:r>
          </a:p>
          <a:p>
            <a:pPr>
              <a:spcBef>
                <a:spcPct val="50000"/>
              </a:spcBef>
            </a:pPr>
            <a:endParaRPr lang="en-US" sz="3600" dirty="0"/>
          </a:p>
        </p:txBody>
      </p:sp>
      <p:sp>
        <p:nvSpPr>
          <p:cNvPr id="14341" name="Oval 5"/>
          <p:cNvSpPr>
            <a:spLocks noChangeArrowheads="1"/>
          </p:cNvSpPr>
          <p:nvPr/>
        </p:nvSpPr>
        <p:spPr bwMode="auto">
          <a:xfrm>
            <a:off x="1676400" y="4038600"/>
            <a:ext cx="1981200" cy="1828800"/>
          </a:xfrm>
          <a:prstGeom prst="ellipse">
            <a:avLst/>
          </a:prstGeom>
          <a:noFill/>
          <a:ln w="19050">
            <a:solidFill>
              <a:schemeClr val="tx1"/>
            </a:solidFill>
            <a:round/>
            <a:headEnd/>
            <a:tailEnd/>
          </a:ln>
          <a:effectLst/>
        </p:spPr>
        <p:txBody>
          <a:bodyPr wrap="none" anchor="ctr"/>
          <a:lstStyle/>
          <a:p>
            <a:endParaRPr lang="en-US"/>
          </a:p>
        </p:txBody>
      </p:sp>
      <p:sp>
        <p:nvSpPr>
          <p:cNvPr id="14342" name="Oval 6"/>
          <p:cNvSpPr>
            <a:spLocks noChangeArrowheads="1"/>
          </p:cNvSpPr>
          <p:nvPr/>
        </p:nvSpPr>
        <p:spPr bwMode="auto">
          <a:xfrm>
            <a:off x="5486400" y="2057400"/>
            <a:ext cx="1981200" cy="1828800"/>
          </a:xfrm>
          <a:prstGeom prst="ellipse">
            <a:avLst/>
          </a:prstGeom>
          <a:noFill/>
          <a:ln w="19050">
            <a:solidFill>
              <a:schemeClr val="tx1"/>
            </a:solidFill>
            <a:round/>
            <a:headEnd/>
            <a:tailEnd/>
          </a:ln>
          <a:effectLst/>
        </p:spPr>
        <p:txBody>
          <a:bodyPr wrap="none" anchor="ctr"/>
          <a:lstStyle/>
          <a:p>
            <a:endParaRPr lang="en-US"/>
          </a:p>
        </p:txBody>
      </p:sp>
      <p:sp>
        <p:nvSpPr>
          <p:cNvPr id="14343" name="Line 7"/>
          <p:cNvSpPr>
            <a:spLocks noChangeShapeType="1"/>
          </p:cNvSpPr>
          <p:nvPr/>
        </p:nvSpPr>
        <p:spPr bwMode="auto">
          <a:xfrm flipV="1">
            <a:off x="2994025" y="2743200"/>
            <a:ext cx="2438400" cy="1295400"/>
          </a:xfrm>
          <a:prstGeom prst="line">
            <a:avLst/>
          </a:prstGeom>
          <a:noFill/>
          <a:ln w="15875">
            <a:solidFill>
              <a:schemeClr val="tx1"/>
            </a:solidFill>
            <a:round/>
            <a:headEnd/>
            <a:tailEnd type="triangle" w="lg" len="lg"/>
          </a:ln>
          <a:effectLst/>
        </p:spPr>
        <p:txBody>
          <a:bodyPr/>
          <a:lstStyle/>
          <a:p>
            <a:endParaRPr lang="en-US"/>
          </a:p>
        </p:txBody>
      </p:sp>
      <p:sp>
        <p:nvSpPr>
          <p:cNvPr id="14344" name="Line 8"/>
          <p:cNvSpPr>
            <a:spLocks noChangeShapeType="1"/>
          </p:cNvSpPr>
          <p:nvPr/>
        </p:nvSpPr>
        <p:spPr bwMode="auto">
          <a:xfrm flipH="1">
            <a:off x="3656013" y="3962400"/>
            <a:ext cx="2590800" cy="1447800"/>
          </a:xfrm>
          <a:prstGeom prst="line">
            <a:avLst/>
          </a:prstGeom>
          <a:noFill/>
          <a:ln w="15875">
            <a:solidFill>
              <a:schemeClr val="tx1"/>
            </a:solidFill>
            <a:round/>
            <a:headEnd/>
            <a:tailEnd type="triangle" w="lg" len="lg"/>
          </a:ln>
          <a:effectLst/>
        </p:spPr>
        <p:txBody>
          <a:bodyPr/>
          <a:lstStyle/>
          <a:p>
            <a:endParaRPr lang="en-US"/>
          </a:p>
        </p:txBody>
      </p:sp>
      <p:sp>
        <p:nvSpPr>
          <p:cNvPr id="14345" name="Text Box 9"/>
          <p:cNvSpPr txBox="1">
            <a:spLocks noChangeArrowheads="1"/>
          </p:cNvSpPr>
          <p:nvPr/>
        </p:nvSpPr>
        <p:spPr bwMode="auto">
          <a:xfrm>
            <a:off x="2001838" y="4724400"/>
            <a:ext cx="1371600" cy="457200"/>
          </a:xfrm>
          <a:prstGeom prst="rect">
            <a:avLst/>
          </a:prstGeom>
          <a:noFill/>
          <a:ln w="9525">
            <a:noFill/>
            <a:miter lim="800000"/>
            <a:headEnd/>
            <a:tailEnd/>
          </a:ln>
          <a:effectLst/>
        </p:spPr>
        <p:txBody>
          <a:bodyPr>
            <a:spAutoFit/>
          </a:bodyPr>
          <a:lstStyle/>
          <a:p>
            <a:pPr algn="ctr">
              <a:spcBef>
                <a:spcPct val="50000"/>
              </a:spcBef>
            </a:pPr>
            <a:r>
              <a:rPr lang="en-US">
                <a:solidFill>
                  <a:schemeClr val="tx1"/>
                </a:solidFill>
              </a:rPr>
              <a:t>Browser</a:t>
            </a:r>
          </a:p>
        </p:txBody>
      </p:sp>
      <p:sp>
        <p:nvSpPr>
          <p:cNvPr id="14346" name="Text Box 10"/>
          <p:cNvSpPr txBox="1">
            <a:spLocks noChangeArrowheads="1"/>
          </p:cNvSpPr>
          <p:nvPr/>
        </p:nvSpPr>
        <p:spPr bwMode="auto">
          <a:xfrm>
            <a:off x="5791200" y="2743200"/>
            <a:ext cx="1371600" cy="457200"/>
          </a:xfrm>
          <a:prstGeom prst="rect">
            <a:avLst/>
          </a:prstGeom>
          <a:noFill/>
          <a:ln w="9525">
            <a:noFill/>
            <a:miter lim="800000"/>
            <a:headEnd/>
            <a:tailEnd/>
          </a:ln>
          <a:effectLst/>
        </p:spPr>
        <p:txBody>
          <a:bodyPr>
            <a:spAutoFit/>
          </a:bodyPr>
          <a:lstStyle/>
          <a:p>
            <a:pPr algn="ctr">
              <a:spcBef>
                <a:spcPct val="50000"/>
              </a:spcBef>
            </a:pPr>
            <a:r>
              <a:rPr lang="en-US">
                <a:solidFill>
                  <a:schemeClr val="tx1"/>
                </a:solidFill>
              </a:rPr>
              <a:t>Server</a:t>
            </a:r>
          </a:p>
        </p:txBody>
      </p:sp>
      <p:sp>
        <p:nvSpPr>
          <p:cNvPr id="14347" name="Text Box 11"/>
          <p:cNvSpPr txBox="1">
            <a:spLocks noChangeArrowheads="1"/>
          </p:cNvSpPr>
          <p:nvPr/>
        </p:nvSpPr>
        <p:spPr bwMode="auto">
          <a:xfrm rot="-1716533">
            <a:off x="2743200" y="2986088"/>
            <a:ext cx="2743200" cy="366712"/>
          </a:xfrm>
          <a:prstGeom prst="rect">
            <a:avLst/>
          </a:prstGeom>
          <a:noFill/>
          <a:ln w="9525">
            <a:noFill/>
            <a:miter lim="800000"/>
            <a:headEnd/>
            <a:tailEnd/>
          </a:ln>
          <a:effectLst/>
        </p:spPr>
        <p:txBody>
          <a:bodyPr>
            <a:spAutoFit/>
          </a:bodyPr>
          <a:lstStyle/>
          <a:p>
            <a:pPr>
              <a:spcBef>
                <a:spcPct val="50000"/>
              </a:spcBef>
            </a:pPr>
            <a:r>
              <a:rPr lang="en-US" sz="1800">
                <a:solidFill>
                  <a:schemeClr val="tx1"/>
                </a:solidFill>
              </a:rPr>
              <a:t>Browser sends request</a:t>
            </a:r>
          </a:p>
        </p:txBody>
      </p:sp>
      <p:sp>
        <p:nvSpPr>
          <p:cNvPr id="14348" name="Text Box 12"/>
          <p:cNvSpPr txBox="1">
            <a:spLocks noChangeArrowheads="1"/>
          </p:cNvSpPr>
          <p:nvPr/>
        </p:nvSpPr>
        <p:spPr bwMode="auto">
          <a:xfrm rot="-1716533">
            <a:off x="3713163" y="4648200"/>
            <a:ext cx="3144837" cy="366713"/>
          </a:xfrm>
          <a:prstGeom prst="rect">
            <a:avLst/>
          </a:prstGeom>
          <a:noFill/>
          <a:ln w="9525">
            <a:noFill/>
            <a:miter lim="800000"/>
            <a:headEnd/>
            <a:tailEnd/>
          </a:ln>
          <a:effectLst/>
        </p:spPr>
        <p:txBody>
          <a:bodyPr>
            <a:spAutoFit/>
          </a:bodyPr>
          <a:lstStyle/>
          <a:p>
            <a:pPr>
              <a:spcBef>
                <a:spcPct val="50000"/>
              </a:spcBef>
            </a:pPr>
            <a:r>
              <a:rPr lang="en-US" sz="1800">
                <a:solidFill>
                  <a:schemeClr val="tx1"/>
                </a:solidFill>
              </a:rPr>
              <a:t>Server returns document (s)</a:t>
            </a:r>
          </a:p>
        </p:txBody>
      </p:sp>
      <p:pic>
        <p:nvPicPr>
          <p:cNvPr id="14349" name="Picture 13" descr="D:\Peter\Desktop\Pictures\orange.GIF"/>
          <p:cNvPicPr>
            <a:picLocks noChangeAspect="1" noChangeArrowheads="1"/>
          </p:cNvPicPr>
          <p:nvPr/>
        </p:nvPicPr>
        <p:blipFill>
          <a:blip r:embed="rId2"/>
          <a:srcRect/>
          <a:stretch>
            <a:fillRect/>
          </a:stretch>
        </p:blipFill>
        <p:spPr bwMode="auto">
          <a:xfrm>
            <a:off x="0" y="0"/>
            <a:ext cx="650875" cy="685800"/>
          </a:xfrm>
          <a:prstGeom prst="rect">
            <a:avLst/>
          </a:prstGeom>
          <a:noFill/>
        </p:spPr>
      </p:pic>
      <p:sp>
        <p:nvSpPr>
          <p:cNvPr id="13" name="Title 1"/>
          <p:cNvSpPr txBox="1">
            <a:spLocks/>
          </p:cNvSpPr>
          <p:nvPr/>
        </p:nvSpPr>
        <p:spPr>
          <a:xfrm>
            <a:off x="685800" y="304800"/>
            <a:ext cx="8686800" cy="83820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4100"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Arial" charset="0"/>
                <a:ea typeface="+mj-ea"/>
                <a:cs typeface="+mj-cs"/>
              </a:rPr>
              <a:t>Static web Sites…(cont.)</a:t>
            </a:r>
            <a:endParaRPr kumimoji="0" lang="en-US" sz="4100"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196170" y="1375455"/>
            <a:ext cx="8137525" cy="4152900"/>
          </a:xfrm>
        </p:spPr>
        <p:txBody>
          <a:bodyPr/>
          <a:lstStyle/>
          <a:p>
            <a:r>
              <a:rPr lang="en-US" altLang="en-US" dirty="0">
                <a:latin typeface="Arial" charset="0"/>
              </a:rPr>
              <a:t>Static web page</a:t>
            </a:r>
            <a:endParaRPr lang="en-US" altLang="zh-TW" dirty="0">
              <a:latin typeface="Arial" charset="0"/>
            </a:endParaRPr>
          </a:p>
        </p:txBody>
      </p:sp>
      <p:pic>
        <p:nvPicPr>
          <p:cNvPr id="37908" name="Picture 20"/>
          <p:cNvPicPr>
            <a:picLocks noChangeAspect="1" noChangeArrowheads="1"/>
          </p:cNvPicPr>
          <p:nvPr/>
        </p:nvPicPr>
        <p:blipFill>
          <a:blip r:embed="rId2"/>
          <a:srcRect/>
          <a:stretch>
            <a:fillRect/>
          </a:stretch>
        </p:blipFill>
        <p:spPr bwMode="auto">
          <a:xfrm>
            <a:off x="0" y="2670628"/>
            <a:ext cx="4543787" cy="2815771"/>
          </a:xfrm>
          <a:prstGeom prst="rect">
            <a:avLst/>
          </a:prstGeom>
          <a:noFill/>
          <a:ln w="9525">
            <a:noFill/>
            <a:miter lim="800000"/>
            <a:headEnd/>
            <a:tailEnd/>
          </a:ln>
          <a:effectLst/>
        </p:spPr>
      </p:pic>
      <p:pic>
        <p:nvPicPr>
          <p:cNvPr id="37909" name="Picture 21"/>
          <p:cNvPicPr>
            <a:picLocks noChangeAspect="1" noChangeArrowheads="1"/>
          </p:cNvPicPr>
          <p:nvPr/>
        </p:nvPicPr>
        <p:blipFill>
          <a:blip r:embed="rId3"/>
          <a:srcRect/>
          <a:stretch>
            <a:fillRect/>
          </a:stretch>
        </p:blipFill>
        <p:spPr bwMode="auto">
          <a:xfrm>
            <a:off x="4764769" y="2541587"/>
            <a:ext cx="4197350" cy="3546475"/>
          </a:xfrm>
          <a:prstGeom prst="rect">
            <a:avLst/>
          </a:prstGeom>
          <a:noFill/>
          <a:ln w="9525">
            <a:noFill/>
            <a:miter lim="800000"/>
            <a:headEnd/>
            <a:tailEnd/>
          </a:ln>
          <a:effectLst/>
        </p:spPr>
      </p:pic>
      <p:sp>
        <p:nvSpPr>
          <p:cNvPr id="6" name="Title 1"/>
          <p:cNvSpPr>
            <a:spLocks noGrp="1"/>
          </p:cNvSpPr>
          <p:nvPr>
            <p:ph type="title"/>
          </p:nvPr>
        </p:nvSpPr>
        <p:spPr>
          <a:xfrm>
            <a:off x="457200" y="283029"/>
            <a:ext cx="8686800" cy="838200"/>
          </a:xfrm>
        </p:spPr>
        <p:txBody>
          <a:bodyPr/>
          <a:lstStyle/>
          <a:p>
            <a:r>
              <a:rPr lang="en-US" altLang="en-US" dirty="0" smtClean="0">
                <a:solidFill>
                  <a:schemeClr val="tx2">
                    <a:lumMod val="60000"/>
                    <a:lumOff val="40000"/>
                  </a:schemeClr>
                </a:solidFill>
                <a:latin typeface="Arial" charset="0"/>
              </a:rPr>
              <a:t>Static web Sites…(cont.)</a:t>
            </a:r>
            <a:endParaRPr lang="en-US" dirty="0">
              <a:solidFill>
                <a:schemeClr val="tx2">
                  <a:lumMod val="60000"/>
                  <a:lumOff val="40000"/>
                </a:schemeClr>
              </a:solidFill>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908"/>
                                        </p:tgtEl>
                                        <p:attrNameLst>
                                          <p:attrName>style.visibility</p:attrName>
                                        </p:attrNameLst>
                                      </p:cBhvr>
                                      <p:to>
                                        <p:strVal val="visible"/>
                                      </p:to>
                                    </p:set>
                                    <p:animEffect transition="in" filter="dissolve">
                                      <p:cBhvr>
                                        <p:cTn id="7" dur="500"/>
                                        <p:tgtEl>
                                          <p:spTgt spid="379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7909"/>
                                        </p:tgtEl>
                                        <p:attrNameLst>
                                          <p:attrName>style.visibility</p:attrName>
                                        </p:attrNameLst>
                                      </p:cBhvr>
                                      <p:to>
                                        <p:strVal val="visible"/>
                                      </p:to>
                                    </p:set>
                                    <p:animEffect transition="in" filter="dissolve">
                                      <p:cBhvr>
                                        <p:cTn id="12" dur="500"/>
                                        <p:tgtEl>
                                          <p:spTgt spid="37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172" y="1176528"/>
            <a:ext cx="8229600" cy="4525963"/>
          </a:xfrm>
        </p:spPr>
        <p:txBody>
          <a:bodyPr rtlCol="0">
            <a:normAutofit fontScale="92500"/>
          </a:bodyPr>
          <a:lstStyle/>
          <a:p>
            <a:pPr marL="0" indent="0" eaLnBrk="1" fontAlgn="auto" hangingPunct="1">
              <a:spcAft>
                <a:spcPts val="0"/>
              </a:spcAft>
              <a:buFont typeface="Arial" charset="0"/>
              <a:buNone/>
              <a:defRPr/>
            </a:pPr>
            <a:r>
              <a:rPr lang="en-US" b="1" dirty="0" smtClean="0"/>
              <a:t>Static web sites</a:t>
            </a:r>
            <a:r>
              <a:rPr lang="en-US" dirty="0" smtClean="0"/>
              <a:t> are mainly focused on showing permanent information , where the navigator is limited by itself to obtain the data. </a:t>
            </a:r>
          </a:p>
          <a:p>
            <a:pPr marL="0" indent="0" eaLnBrk="1" fontAlgn="auto" hangingPunct="1">
              <a:spcAft>
                <a:spcPts val="0"/>
              </a:spcAft>
              <a:buFont typeface="Arial" charset="0"/>
              <a:buNone/>
              <a:defRPr/>
            </a:pPr>
            <a:r>
              <a:rPr lang="en-US" dirty="0" smtClean="0"/>
              <a:t>Static web sites can not interact with this information, without interacting with the visited web page. </a:t>
            </a:r>
          </a:p>
          <a:p>
            <a:pPr marL="0" indent="0" eaLnBrk="1" fontAlgn="auto" hangingPunct="1">
              <a:spcAft>
                <a:spcPts val="0"/>
              </a:spcAft>
              <a:buFont typeface="Arial" charset="0"/>
              <a:buNone/>
              <a:defRPr/>
            </a:pPr>
            <a:r>
              <a:rPr lang="en-US" dirty="0" smtClean="0"/>
              <a:t>         These kind of web are not able to support web applications as intelligent data base managers, forums, consultations on line, intelligent e-mails... </a:t>
            </a:r>
          </a:p>
        </p:txBody>
      </p:sp>
      <p:sp>
        <p:nvSpPr>
          <p:cNvPr id="4" name="Title 1"/>
          <p:cNvSpPr>
            <a:spLocks noGrp="1"/>
          </p:cNvSpPr>
          <p:nvPr>
            <p:ph type="title"/>
          </p:nvPr>
        </p:nvSpPr>
        <p:spPr>
          <a:xfrm>
            <a:off x="457200" y="239486"/>
            <a:ext cx="8686800" cy="838200"/>
          </a:xfrm>
        </p:spPr>
        <p:txBody>
          <a:bodyPr/>
          <a:lstStyle/>
          <a:p>
            <a:r>
              <a:rPr lang="en-US" altLang="en-US" dirty="0" smtClean="0">
                <a:solidFill>
                  <a:schemeClr val="tx2">
                    <a:lumMod val="60000"/>
                    <a:lumOff val="40000"/>
                  </a:schemeClr>
                </a:solidFill>
                <a:latin typeface="Arial" charset="0"/>
              </a:rPr>
              <a:t>Static web Sites…(cont.)</a:t>
            </a:r>
            <a:endParaRPr lang="en-US" dirty="0">
              <a:solidFill>
                <a:schemeClr val="tx2">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p:cNvSpPr>
            <a:spLocks noGrp="1"/>
          </p:cNvSpPr>
          <p:nvPr>
            <p:ph idx="1"/>
          </p:nvPr>
        </p:nvSpPr>
        <p:spPr>
          <a:xfrm>
            <a:off x="457200" y="1635352"/>
            <a:ext cx="8686800" cy="2501220"/>
          </a:xfrm>
        </p:spPr>
        <p:txBody>
          <a:bodyPr>
            <a:normAutofit fontScale="92500" lnSpcReduction="10000"/>
          </a:bodyPr>
          <a:lstStyle/>
          <a:p>
            <a:pPr eaLnBrk="1" hangingPunct="1">
              <a:defRPr/>
            </a:pPr>
            <a:r>
              <a:rPr lang="en-US" sz="2800" dirty="0" smtClean="0"/>
              <a:t>Quick to develop</a:t>
            </a:r>
          </a:p>
          <a:p>
            <a:pPr eaLnBrk="1" hangingPunct="1">
              <a:defRPr/>
            </a:pPr>
            <a:r>
              <a:rPr lang="en-US" sz="2800" dirty="0" smtClean="0"/>
              <a:t>Cheap to develop and host</a:t>
            </a:r>
          </a:p>
          <a:p>
            <a:pPr eaLnBrk="1" hangingPunct="1">
              <a:defRPr/>
            </a:pPr>
            <a:r>
              <a:rPr lang="en-US" sz="2800" dirty="0" smtClean="0"/>
              <a:t>Quick and easy to put together even by someone who doesn’t have much experience</a:t>
            </a:r>
          </a:p>
          <a:p>
            <a:pPr eaLnBrk="1" hangingPunct="1">
              <a:defRPr/>
            </a:pPr>
            <a:r>
              <a:rPr lang="en-US" sz="2800" dirty="0" smtClean="0"/>
              <a:t> A static web site can be created without any special type of programming ( </a:t>
            </a:r>
            <a:r>
              <a:rPr lang="en-US" sz="2800" dirty="0" err="1" smtClean="0"/>
              <a:t>php</a:t>
            </a:r>
            <a:r>
              <a:rPr lang="en-US" sz="2800" dirty="0" smtClean="0"/>
              <a:t> , asp ) .</a:t>
            </a:r>
          </a:p>
        </p:txBody>
      </p:sp>
      <p:sp>
        <p:nvSpPr>
          <p:cNvPr id="8194" name="Title 1"/>
          <p:cNvSpPr>
            <a:spLocks noGrp="1"/>
          </p:cNvSpPr>
          <p:nvPr>
            <p:ph type="title"/>
          </p:nvPr>
        </p:nvSpPr>
        <p:spPr>
          <a:xfrm>
            <a:off x="-1219200" y="914400"/>
            <a:ext cx="8686800" cy="838200"/>
          </a:xfrm>
        </p:spPr>
        <p:txBody>
          <a:bodyPr>
            <a:normAutofit/>
          </a:bodyPr>
          <a:lstStyle/>
          <a:p>
            <a:pPr eaLnBrk="1" hangingPunct="1"/>
            <a:r>
              <a:rPr lang="en-US" sz="3200" b="1" i="1" cap="none"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Advantages</a:t>
            </a:r>
          </a:p>
        </p:txBody>
      </p:sp>
      <p:sp>
        <p:nvSpPr>
          <p:cNvPr id="5" name="Title 1"/>
          <p:cNvSpPr txBox="1">
            <a:spLocks/>
          </p:cNvSpPr>
          <p:nvPr/>
        </p:nvSpPr>
        <p:spPr>
          <a:xfrm>
            <a:off x="246743" y="4027714"/>
            <a:ext cx="8686800" cy="776514"/>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rPr>
              <a:t>Disadvantages</a:t>
            </a:r>
          </a:p>
        </p:txBody>
      </p:sp>
      <p:sp>
        <p:nvSpPr>
          <p:cNvPr id="6" name="Content Placeholder 2"/>
          <p:cNvSpPr txBox="1">
            <a:spLocks/>
          </p:cNvSpPr>
          <p:nvPr/>
        </p:nvSpPr>
        <p:spPr>
          <a:xfrm>
            <a:off x="457200" y="4734152"/>
            <a:ext cx="8686800" cy="2123848"/>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2800" b="0" i="0" u="none" strike="noStrike" kern="1200" cap="none" spc="0" normalizeH="0" baseline="0" noProof="0" dirty="0" smtClean="0">
                <a:ln>
                  <a:noFill/>
                </a:ln>
                <a:effectLst/>
                <a:uLnTx/>
                <a:uFillTx/>
                <a:latin typeface="+mn-lt"/>
                <a:ea typeface="+mn-ea"/>
                <a:cs typeface="+mn-cs"/>
              </a:rPr>
              <a:t>The only disadvantage of the static websites resides on the hard updating as well as the loss of powerful tools supported with data bases, like the creation of historical registers of the clients, orders online ..</a:t>
            </a:r>
          </a:p>
        </p:txBody>
      </p:sp>
      <p:sp>
        <p:nvSpPr>
          <p:cNvPr id="7" name="Title 1"/>
          <p:cNvSpPr txBox="1">
            <a:spLocks/>
          </p:cNvSpPr>
          <p:nvPr/>
        </p:nvSpPr>
        <p:spPr>
          <a:xfrm>
            <a:off x="457200" y="228600"/>
            <a:ext cx="8686800" cy="838200"/>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4100"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Arial" charset="0"/>
                <a:ea typeface="+mj-ea"/>
                <a:cs typeface="+mj-cs"/>
              </a:rPr>
              <a:t>Static web Sites…(cont.)</a:t>
            </a:r>
            <a:endParaRPr kumimoji="0" lang="en-US" sz="4100"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246743" y="1379991"/>
            <a:ext cx="8686800" cy="5478009"/>
          </a:xfrm>
        </p:spPr>
        <p:txBody>
          <a:bodyPr>
            <a:normAutofit fontScale="92500" lnSpcReduction="10000"/>
          </a:bodyPr>
          <a:lstStyle/>
          <a:p>
            <a:pPr eaLnBrk="1" hangingPunct="1"/>
            <a:r>
              <a:rPr lang="en-US" dirty="0" smtClean="0"/>
              <a:t>Dynamic websites contain Web pages that are generated in real-time. </a:t>
            </a:r>
          </a:p>
          <a:p>
            <a:pPr marL="342900" lvl="1" indent="-342900">
              <a:buFont typeface="Wingdings 2"/>
              <a:buChar char=""/>
            </a:pPr>
            <a:r>
              <a:rPr lang="en-US" altLang="en-US" dirty="0" smtClean="0">
                <a:latin typeface="Arial" charset="0"/>
              </a:rPr>
              <a:t>A web page with contents generated “on-the-fly” by the server or the client computer according to clients’ requests</a:t>
            </a:r>
          </a:p>
          <a:p>
            <a:pPr eaLnBrk="1" hangingPunct="1"/>
            <a:r>
              <a:rPr lang="en-US" dirty="0" smtClean="0"/>
              <a:t>These pages include Web scripting code, such as PHP or ASP. </a:t>
            </a:r>
          </a:p>
          <a:p>
            <a:pPr eaLnBrk="1" hangingPunct="1"/>
            <a:r>
              <a:rPr lang="en-US" dirty="0" smtClean="0"/>
              <a:t>When a dynamic page is accessed, the code within the page is parsed on the Web server and the resulting HTML is sent to the client's Web browser.</a:t>
            </a:r>
          </a:p>
          <a:p>
            <a:pPr marL="342900" lvl="1" indent="-342900">
              <a:buNone/>
            </a:pPr>
            <a:r>
              <a:rPr lang="en-US" altLang="zh-TW" i="1" dirty="0" smtClean="0">
                <a:latin typeface="Arial" charset="0"/>
              </a:rPr>
              <a:t>e.g.    return the system’s current date and time to the   	server  browser (written in </a:t>
            </a:r>
            <a:r>
              <a:rPr lang="zh-TW" altLang="zh-TW" i="1" dirty="0" smtClean="0">
                <a:latin typeface="Arial" charset="0"/>
              </a:rPr>
              <a:t>Active Server Pag</a:t>
            </a:r>
            <a:r>
              <a:rPr lang="en-US" altLang="zh-TW" i="1" dirty="0" smtClean="0">
                <a:latin typeface="Arial" charset="0"/>
              </a:rPr>
              <a:t>e</a:t>
            </a:r>
            <a:r>
              <a:rPr lang="zh-TW" altLang="zh-TW" i="1" dirty="0" smtClean="0">
                <a:latin typeface="Arial" charset="0"/>
              </a:rPr>
              <a:t>)</a:t>
            </a:r>
            <a:r>
              <a:rPr lang="en-US" altLang="zh-TW" i="1" dirty="0" smtClean="0">
                <a:latin typeface="Arial" charset="0"/>
              </a:rPr>
              <a:t> </a:t>
            </a:r>
          </a:p>
          <a:p>
            <a:pPr eaLnBrk="1" hangingPunct="1">
              <a:buNone/>
            </a:pPr>
            <a:endParaRPr lang="en-US" dirty="0" smtClean="0"/>
          </a:p>
        </p:txBody>
      </p:sp>
      <p:sp>
        <p:nvSpPr>
          <p:cNvPr id="5" name="Title 1"/>
          <p:cNvSpPr>
            <a:spLocks noGrp="1"/>
          </p:cNvSpPr>
          <p:nvPr>
            <p:ph type="title"/>
          </p:nvPr>
        </p:nvSpPr>
        <p:spPr>
          <a:xfrm>
            <a:off x="457200" y="355600"/>
            <a:ext cx="8686800" cy="838200"/>
          </a:xfrm>
        </p:spPr>
        <p:txBody>
          <a:bodyPr/>
          <a:lstStyle/>
          <a:p>
            <a:r>
              <a:rPr lang="en-US" altLang="en-US" dirty="0" smtClean="0">
                <a:solidFill>
                  <a:schemeClr val="tx2">
                    <a:lumMod val="60000"/>
                    <a:lumOff val="40000"/>
                  </a:schemeClr>
                </a:solidFill>
                <a:latin typeface="Arial" charset="0"/>
              </a:rPr>
              <a:t>Dynamic web Sites</a:t>
            </a:r>
            <a:endParaRPr lang="en-US" dirty="0">
              <a:solidFill>
                <a:schemeClr val="tx2">
                  <a:lumMod val="60000"/>
                  <a:lumOff val="4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1394504"/>
            <a:ext cx="8940800" cy="4991782"/>
          </a:xfrm>
        </p:spPr>
        <p:txBody>
          <a:bodyPr>
            <a:normAutofit lnSpcReduction="10000"/>
          </a:bodyPr>
          <a:lstStyle/>
          <a:p>
            <a:r>
              <a:rPr lang="en-US" dirty="0" smtClean="0"/>
              <a:t>Dynamic-content Web site, while still developed by professionals, can be maintained directly by you, our customer. </a:t>
            </a:r>
          </a:p>
          <a:p>
            <a:r>
              <a:rPr lang="en-US" dirty="0" smtClean="0"/>
              <a:t>Such Web site initially costs more to develop, but then you don't have to pay Web professionals every time you need to change something on your site. </a:t>
            </a:r>
          </a:p>
          <a:p>
            <a:r>
              <a:rPr lang="en-US" dirty="0" smtClean="0"/>
              <a:t>If you plan to make frequent changes to your site, you most likely will be better off with a dynamic Web site.</a:t>
            </a:r>
            <a:endParaRPr lang="en-US" dirty="0"/>
          </a:p>
        </p:txBody>
      </p:sp>
      <p:sp>
        <p:nvSpPr>
          <p:cNvPr id="4" name="Title 1"/>
          <p:cNvSpPr>
            <a:spLocks noGrp="1"/>
          </p:cNvSpPr>
          <p:nvPr>
            <p:ph type="title"/>
          </p:nvPr>
        </p:nvSpPr>
        <p:spPr>
          <a:xfrm>
            <a:off x="457200" y="355600"/>
            <a:ext cx="8686800" cy="838200"/>
          </a:xfrm>
        </p:spPr>
        <p:txBody>
          <a:bodyPr/>
          <a:lstStyle/>
          <a:p>
            <a:r>
              <a:rPr lang="en-US" altLang="en-US" dirty="0" smtClean="0">
                <a:solidFill>
                  <a:schemeClr val="tx2">
                    <a:lumMod val="60000"/>
                    <a:lumOff val="40000"/>
                  </a:schemeClr>
                </a:solidFill>
                <a:latin typeface="Arial" charset="0"/>
              </a:rPr>
              <a:t>Dynamic web Sites… (cont.)</a:t>
            </a:r>
            <a:endParaRPr lang="en-US" dirty="0">
              <a:solidFill>
                <a:schemeClr val="tx2">
                  <a:lumMod val="60000"/>
                  <a:lumOff val="4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742" y="1292904"/>
            <a:ext cx="9187543" cy="5238525"/>
          </a:xfrm>
        </p:spPr>
        <p:txBody>
          <a:bodyPr rtlCol="0">
            <a:normAutofit/>
          </a:bodyPr>
          <a:lstStyle/>
          <a:p>
            <a:pPr eaLnBrk="1" fontAlgn="auto" hangingPunct="1">
              <a:spcAft>
                <a:spcPts val="0"/>
              </a:spcAft>
              <a:buFont typeface="Arial" charset="0"/>
              <a:buNone/>
              <a:defRPr/>
            </a:pPr>
            <a:r>
              <a:rPr lang="en-US" b="1" dirty="0" smtClean="0"/>
              <a:t>Examples of dynamic website features could be: </a:t>
            </a:r>
          </a:p>
          <a:p>
            <a:pPr eaLnBrk="1" fontAlgn="auto" hangingPunct="1">
              <a:spcAft>
                <a:spcPts val="0"/>
              </a:spcAft>
              <a:buFont typeface="Arial" charset="0"/>
              <a:buNone/>
              <a:defRPr/>
            </a:pPr>
            <a:endParaRPr lang="en-US" b="1" dirty="0" smtClean="0"/>
          </a:p>
          <a:p>
            <a:pPr eaLnBrk="1" fontAlgn="auto" hangingPunct="1">
              <a:spcAft>
                <a:spcPts val="0"/>
              </a:spcAft>
              <a:buFont typeface="Arial" pitchFamily="34" charset="0"/>
              <a:buChar char="•"/>
              <a:defRPr/>
            </a:pPr>
            <a:r>
              <a:rPr lang="en-US" dirty="0" smtClean="0"/>
              <a:t>content management system</a:t>
            </a:r>
          </a:p>
          <a:p>
            <a:pPr eaLnBrk="1" fontAlgn="auto" hangingPunct="1">
              <a:spcAft>
                <a:spcPts val="0"/>
              </a:spcAft>
              <a:buFont typeface="Arial" pitchFamily="34" charset="0"/>
              <a:buChar char="•"/>
              <a:defRPr/>
            </a:pPr>
            <a:r>
              <a:rPr lang="en-US" dirty="0" smtClean="0"/>
              <a:t> e-commerce system </a:t>
            </a:r>
          </a:p>
          <a:p>
            <a:pPr eaLnBrk="1" fontAlgn="auto" hangingPunct="1">
              <a:spcAft>
                <a:spcPts val="0"/>
              </a:spcAft>
              <a:buFont typeface="Arial" pitchFamily="34" charset="0"/>
              <a:buChar char="•"/>
              <a:defRPr/>
            </a:pPr>
            <a:r>
              <a:rPr lang="en-US" dirty="0" smtClean="0"/>
              <a:t> bulletin / discussion boards</a:t>
            </a:r>
          </a:p>
          <a:p>
            <a:pPr eaLnBrk="1" fontAlgn="auto" hangingPunct="1">
              <a:spcAft>
                <a:spcPts val="0"/>
              </a:spcAft>
              <a:buFont typeface="Arial" pitchFamily="34" charset="0"/>
              <a:buChar char="•"/>
              <a:defRPr/>
            </a:pPr>
            <a:r>
              <a:rPr lang="en-US" dirty="0" smtClean="0"/>
              <a:t> intranet or extranet facilities </a:t>
            </a:r>
          </a:p>
          <a:p>
            <a:pPr eaLnBrk="1" fontAlgn="auto" hangingPunct="1">
              <a:spcAft>
                <a:spcPts val="0"/>
              </a:spcAft>
              <a:buFont typeface="Arial" pitchFamily="34" charset="0"/>
              <a:buChar char="•"/>
              <a:defRPr/>
            </a:pPr>
            <a:r>
              <a:rPr lang="en-US" dirty="0" smtClean="0"/>
              <a:t> ability for clients or users to upload documents </a:t>
            </a:r>
          </a:p>
          <a:p>
            <a:pPr eaLnBrk="1" fontAlgn="auto" hangingPunct="1">
              <a:spcAft>
                <a:spcPts val="0"/>
              </a:spcAft>
              <a:buFont typeface="Arial" pitchFamily="34" charset="0"/>
              <a:buChar char="•"/>
              <a:defRPr/>
            </a:pPr>
            <a:r>
              <a:rPr lang="en-US" dirty="0" smtClean="0"/>
              <a:t> ability for administrators or users to create  content or add information to a site (dynamic  publishing).</a:t>
            </a:r>
          </a:p>
        </p:txBody>
      </p:sp>
      <p:sp>
        <p:nvSpPr>
          <p:cNvPr id="4" name="Title 1"/>
          <p:cNvSpPr>
            <a:spLocks noGrp="1"/>
          </p:cNvSpPr>
          <p:nvPr>
            <p:ph type="title"/>
          </p:nvPr>
        </p:nvSpPr>
        <p:spPr>
          <a:xfrm>
            <a:off x="457200" y="268514"/>
            <a:ext cx="8686800" cy="838200"/>
          </a:xfrm>
        </p:spPr>
        <p:txBody>
          <a:bodyPr/>
          <a:lstStyle/>
          <a:p>
            <a:r>
              <a:rPr lang="en-US" altLang="en-US" dirty="0" smtClean="0">
                <a:solidFill>
                  <a:schemeClr val="tx2">
                    <a:lumMod val="60000"/>
                    <a:lumOff val="40000"/>
                  </a:schemeClr>
                </a:solidFill>
                <a:latin typeface="Arial" charset="0"/>
              </a:rPr>
              <a:t>Dynamic web Sites… (cont.)</a:t>
            </a:r>
            <a:endParaRPr lang="en-US" dirty="0">
              <a:solidFill>
                <a:schemeClr val="tx2">
                  <a:lumMod val="60000"/>
                  <a:lumOff val="4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667657" y="1713819"/>
            <a:ext cx="8686800" cy="3148467"/>
          </a:xfrm>
        </p:spPr>
        <p:txBody>
          <a:bodyPr>
            <a:normAutofit/>
          </a:bodyPr>
          <a:lstStyle/>
          <a:p>
            <a:pPr eaLnBrk="1" hangingPunct="1"/>
            <a:r>
              <a:rPr lang="en-US" sz="2800" dirty="0" smtClean="0"/>
              <a:t>Much more functional website</a:t>
            </a:r>
          </a:p>
          <a:p>
            <a:pPr eaLnBrk="1" hangingPunct="1"/>
            <a:r>
              <a:rPr lang="en-US" sz="2800" dirty="0" smtClean="0"/>
              <a:t>Much easier to update</a:t>
            </a:r>
          </a:p>
          <a:p>
            <a:pPr eaLnBrk="1" hangingPunct="1"/>
            <a:r>
              <a:rPr lang="en-US" sz="2800" dirty="0" smtClean="0"/>
              <a:t>New content brings people back to the site and helps in the search engines</a:t>
            </a:r>
          </a:p>
          <a:p>
            <a:pPr eaLnBrk="1" hangingPunct="1"/>
            <a:r>
              <a:rPr lang="en-US" sz="2800" dirty="0" smtClean="0"/>
              <a:t>Can work as a system to allow staff or users to collaborate</a:t>
            </a:r>
          </a:p>
          <a:p>
            <a:pPr eaLnBrk="1" hangingPunct="1">
              <a:buFont typeface="Arial" charset="0"/>
              <a:buNone/>
            </a:pPr>
            <a:endParaRPr lang="en-US" sz="2800" dirty="0" smtClean="0"/>
          </a:p>
        </p:txBody>
      </p:sp>
      <p:sp>
        <p:nvSpPr>
          <p:cNvPr id="5122" name="Title 1"/>
          <p:cNvSpPr>
            <a:spLocks noGrp="1"/>
          </p:cNvSpPr>
          <p:nvPr>
            <p:ph type="title"/>
          </p:nvPr>
        </p:nvSpPr>
        <p:spPr>
          <a:xfrm>
            <a:off x="195943" y="1110343"/>
            <a:ext cx="8686800" cy="838200"/>
          </a:xfrm>
        </p:spPr>
        <p:txBody>
          <a:bodyPr>
            <a:noAutofit/>
          </a:bodyPr>
          <a:lstStyle/>
          <a:p>
            <a:pPr eaLnBrk="1" hangingPunct="1"/>
            <a:r>
              <a:rPr lang="en-US" sz="2800" b="1" i="1" cap="none"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Advantages</a:t>
            </a:r>
          </a:p>
        </p:txBody>
      </p:sp>
      <p:sp>
        <p:nvSpPr>
          <p:cNvPr id="5" name="Title 1"/>
          <p:cNvSpPr txBox="1">
            <a:spLocks/>
          </p:cNvSpPr>
          <p:nvPr/>
        </p:nvSpPr>
        <p:spPr>
          <a:xfrm>
            <a:off x="217714" y="4767943"/>
            <a:ext cx="8686800" cy="838200"/>
          </a:xfrm>
          <a:prstGeom prst="rect">
            <a:avLst/>
          </a:prstGeom>
        </p:spPr>
        <p:txBody>
          <a:bodyPr vert="horz"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rPr>
              <a:t>Disadvantages </a:t>
            </a:r>
            <a:br>
              <a:rPr kumimoji="0" lang="en-US" sz="2800"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rPr>
            </a:br>
            <a:endParaRPr kumimoji="0" lang="en-US" sz="2800"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endParaRPr>
          </a:p>
        </p:txBody>
      </p:sp>
      <p:sp>
        <p:nvSpPr>
          <p:cNvPr id="6" name="Content Placeholder 2"/>
          <p:cNvSpPr txBox="1">
            <a:spLocks/>
          </p:cNvSpPr>
          <p:nvPr/>
        </p:nvSpPr>
        <p:spPr>
          <a:xfrm>
            <a:off x="1640114" y="5262562"/>
            <a:ext cx="7503886" cy="1406752"/>
          </a:xfrm>
          <a:prstGeom prst="rect">
            <a:avLst/>
          </a:prstGeom>
        </p:spPr>
        <p:txBody>
          <a:bodyPr vert="horz">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3200" b="0" i="0" u="none" strike="noStrike" kern="1200" cap="none" spc="0" normalizeH="0" baseline="0" noProof="0" dirty="0" smtClean="0">
                <a:ln>
                  <a:noFill/>
                </a:ln>
                <a:effectLst/>
                <a:uLnTx/>
                <a:uFillTx/>
                <a:latin typeface="+mn-lt"/>
                <a:ea typeface="+mn-ea"/>
                <a:cs typeface="+mn-cs"/>
              </a:rPr>
              <a:t>Slower / more expensive to develop</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3200" b="0" i="0" u="none" strike="noStrike" kern="1200" cap="none" spc="0" normalizeH="0" baseline="0" noProof="0" dirty="0" smtClean="0">
                <a:ln>
                  <a:noFill/>
                </a:ln>
                <a:effectLst/>
                <a:uLnTx/>
                <a:uFillTx/>
                <a:latin typeface="+mn-lt"/>
                <a:ea typeface="+mn-ea"/>
                <a:cs typeface="+mn-cs"/>
              </a:rPr>
              <a:t>Hosting costs a little more</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endParaRPr kumimoji="0" lang="en-US" sz="3200" b="0" i="0" u="none" strike="noStrike" kern="1200" cap="none" spc="0" normalizeH="0" baseline="0" noProof="0" dirty="0" smtClean="0">
              <a:ln>
                <a:noFill/>
              </a:ln>
              <a:effectLst/>
              <a:uLnTx/>
              <a:uFillTx/>
              <a:latin typeface="+mn-lt"/>
              <a:ea typeface="+mn-ea"/>
              <a:cs typeface="+mn-cs"/>
            </a:endParaRPr>
          </a:p>
        </p:txBody>
      </p:sp>
      <p:sp>
        <p:nvSpPr>
          <p:cNvPr id="7" name="Title 1"/>
          <p:cNvSpPr txBox="1">
            <a:spLocks/>
          </p:cNvSpPr>
          <p:nvPr/>
        </p:nvSpPr>
        <p:spPr>
          <a:xfrm>
            <a:off x="457200" y="228600"/>
            <a:ext cx="8686800" cy="838200"/>
          </a:xfrm>
          <a:prstGeom prst="rect">
            <a:avLst/>
          </a:prstGeom>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4100"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Arial" charset="0"/>
                <a:ea typeface="+mj-ea"/>
                <a:cs typeface="+mj-cs"/>
              </a:rPr>
              <a:t>Dynamic web Sites… (cont.)</a:t>
            </a:r>
            <a:endParaRPr kumimoji="0" lang="en-US" sz="4100"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231775" y="2255838"/>
            <a:ext cx="4052888" cy="3914775"/>
            <a:chOff x="146" y="1421"/>
            <a:chExt cx="2553" cy="2466"/>
          </a:xfrm>
        </p:grpSpPr>
        <p:pic>
          <p:nvPicPr>
            <p:cNvPr id="38923" name="Picture 11"/>
            <p:cNvPicPr>
              <a:picLocks noChangeAspect="1" noChangeArrowheads="1"/>
            </p:cNvPicPr>
            <p:nvPr/>
          </p:nvPicPr>
          <p:blipFill>
            <a:blip r:embed="rId2"/>
            <a:srcRect l="51936" t="22026" r="10564" b="36111"/>
            <a:stretch>
              <a:fillRect/>
            </a:stretch>
          </p:blipFill>
          <p:spPr bwMode="auto">
            <a:xfrm>
              <a:off x="265" y="1421"/>
              <a:ext cx="2434" cy="2038"/>
            </a:xfrm>
            <a:prstGeom prst="rect">
              <a:avLst/>
            </a:prstGeom>
            <a:noFill/>
            <a:ln w="9525">
              <a:noFill/>
              <a:miter lim="800000"/>
              <a:headEnd/>
              <a:tailEnd/>
            </a:ln>
            <a:effectLst/>
          </p:spPr>
        </p:pic>
        <p:sp>
          <p:nvSpPr>
            <p:cNvPr id="38925" name="Text Box 13"/>
            <p:cNvSpPr txBox="1">
              <a:spLocks noChangeArrowheads="1"/>
            </p:cNvSpPr>
            <p:nvPr/>
          </p:nvSpPr>
          <p:spPr bwMode="auto">
            <a:xfrm>
              <a:off x="146" y="3445"/>
              <a:ext cx="2489" cy="442"/>
            </a:xfrm>
            <a:prstGeom prst="rect">
              <a:avLst/>
            </a:prstGeom>
            <a:noFill/>
            <a:ln w="9525">
              <a:noFill/>
              <a:miter lim="800000"/>
              <a:headEnd/>
              <a:tailEnd/>
            </a:ln>
            <a:effectLst/>
          </p:spPr>
          <p:txBody>
            <a:bodyPr wrap="none">
              <a:spAutoFit/>
            </a:bodyPr>
            <a:lstStyle/>
            <a:p>
              <a:r>
                <a:rPr lang="en-US" altLang="zh-TW" sz="2000">
                  <a:latin typeface="Arial" charset="0"/>
                </a:rPr>
                <a:t>Buying ready-made lunch boxes: </a:t>
              </a:r>
            </a:p>
            <a:p>
              <a:r>
                <a:rPr lang="en-US" altLang="zh-TW" sz="2000">
                  <a:latin typeface="Arial" charset="0"/>
                </a:rPr>
                <a:t>browsing static web pages</a:t>
              </a:r>
            </a:p>
          </p:txBody>
        </p:sp>
      </p:grpSp>
      <p:sp>
        <p:nvSpPr>
          <p:cNvPr id="38926" name="Text Box 14"/>
          <p:cNvSpPr txBox="1">
            <a:spLocks noChangeArrowheads="1"/>
          </p:cNvSpPr>
          <p:nvPr/>
        </p:nvSpPr>
        <p:spPr bwMode="auto">
          <a:xfrm>
            <a:off x="4959350" y="5322888"/>
            <a:ext cx="184150" cy="457200"/>
          </a:xfrm>
          <a:prstGeom prst="rect">
            <a:avLst/>
          </a:prstGeom>
          <a:noFill/>
          <a:ln w="9525">
            <a:noFill/>
            <a:miter lim="800000"/>
            <a:headEnd/>
            <a:tailEnd/>
          </a:ln>
          <a:effectLst/>
        </p:spPr>
        <p:txBody>
          <a:bodyPr wrap="none">
            <a:spAutoFit/>
          </a:bodyPr>
          <a:lstStyle/>
          <a:p>
            <a:endParaRPr lang="en-US"/>
          </a:p>
        </p:txBody>
      </p:sp>
      <p:grpSp>
        <p:nvGrpSpPr>
          <p:cNvPr id="3" name="Group 17"/>
          <p:cNvGrpSpPr>
            <a:grpSpLocks/>
          </p:cNvGrpSpPr>
          <p:nvPr/>
        </p:nvGrpSpPr>
        <p:grpSpPr bwMode="auto">
          <a:xfrm>
            <a:off x="4541838" y="2282825"/>
            <a:ext cx="4283075" cy="3902075"/>
            <a:chOff x="2861" y="1438"/>
            <a:chExt cx="2698" cy="2458"/>
          </a:xfrm>
        </p:grpSpPr>
        <p:pic>
          <p:nvPicPr>
            <p:cNvPr id="38924" name="Picture 12"/>
            <p:cNvPicPr>
              <a:picLocks noChangeAspect="1" noChangeArrowheads="1"/>
            </p:cNvPicPr>
            <p:nvPr/>
          </p:nvPicPr>
          <p:blipFill>
            <a:blip r:embed="rId3"/>
            <a:srcRect l="43001" t="19835" r="16521" b="38498"/>
            <a:stretch>
              <a:fillRect/>
            </a:stretch>
          </p:blipFill>
          <p:spPr bwMode="auto">
            <a:xfrm>
              <a:off x="2907" y="1438"/>
              <a:ext cx="2652" cy="2047"/>
            </a:xfrm>
            <a:prstGeom prst="rect">
              <a:avLst/>
            </a:prstGeom>
            <a:noFill/>
            <a:ln w="9525">
              <a:noFill/>
              <a:miter lim="800000"/>
              <a:headEnd/>
              <a:tailEnd/>
            </a:ln>
            <a:effectLst/>
          </p:spPr>
        </p:pic>
        <p:sp>
          <p:nvSpPr>
            <p:cNvPr id="38927" name="Text Box 15"/>
            <p:cNvSpPr txBox="1">
              <a:spLocks noChangeArrowheads="1"/>
            </p:cNvSpPr>
            <p:nvPr/>
          </p:nvSpPr>
          <p:spPr bwMode="auto">
            <a:xfrm>
              <a:off x="2861" y="3454"/>
              <a:ext cx="2543" cy="442"/>
            </a:xfrm>
            <a:prstGeom prst="rect">
              <a:avLst/>
            </a:prstGeom>
            <a:noFill/>
            <a:ln w="9525">
              <a:noFill/>
              <a:miter lim="800000"/>
              <a:headEnd/>
              <a:tailEnd/>
            </a:ln>
            <a:effectLst/>
          </p:spPr>
          <p:txBody>
            <a:bodyPr wrap="none">
              <a:spAutoFit/>
            </a:bodyPr>
            <a:lstStyle/>
            <a:p>
              <a:r>
                <a:rPr lang="en-US" altLang="zh-TW" sz="2000">
                  <a:latin typeface="Arial" charset="0"/>
                </a:rPr>
                <a:t>Ordering noodles in a noodle stall:</a:t>
              </a:r>
            </a:p>
            <a:p>
              <a:r>
                <a:rPr lang="en-US" altLang="zh-TW" sz="2000">
                  <a:latin typeface="Arial" charset="0"/>
                </a:rPr>
                <a:t>browsing dynamic web pages</a:t>
              </a:r>
            </a:p>
          </p:txBody>
        </p:sp>
      </p:grpSp>
      <p:sp>
        <p:nvSpPr>
          <p:cNvPr id="10" name="Title 9"/>
          <p:cNvSpPr>
            <a:spLocks noGrp="1"/>
          </p:cNvSpPr>
          <p:nvPr>
            <p:ph type="title"/>
          </p:nvPr>
        </p:nvSpPr>
        <p:spPr>
          <a:xfrm>
            <a:off x="457200" y="370114"/>
            <a:ext cx="8686800" cy="838200"/>
          </a:xfrm>
        </p:spPr>
        <p:txBody>
          <a:bodyPr>
            <a:normAutofit/>
          </a:bodyPr>
          <a:lstStyle/>
          <a:p>
            <a:r>
              <a:rPr lang="en-US" dirty="0" smtClean="0"/>
              <a:t>E.g.  Static vs. dynamic web pages</a:t>
            </a:r>
            <a:endParaRPr lang="en-US"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174170" y="1"/>
            <a:ext cx="9361550" cy="6654257"/>
            <a:chOff x="0" y="676"/>
            <a:chExt cx="4667" cy="3266"/>
          </a:xfrm>
        </p:grpSpPr>
        <p:pic>
          <p:nvPicPr>
            <p:cNvPr id="39973" name="Picture 37"/>
            <p:cNvPicPr>
              <a:picLocks noChangeAspect="1" noChangeArrowheads="1"/>
            </p:cNvPicPr>
            <p:nvPr/>
          </p:nvPicPr>
          <p:blipFill>
            <a:blip r:embed="rId2"/>
            <a:srcRect l="34831" t="18056" r="8936" b="27777"/>
            <a:stretch>
              <a:fillRect/>
            </a:stretch>
          </p:blipFill>
          <p:spPr bwMode="auto">
            <a:xfrm>
              <a:off x="0" y="676"/>
              <a:ext cx="4327" cy="3127"/>
            </a:xfrm>
            <a:prstGeom prst="rect">
              <a:avLst/>
            </a:prstGeom>
            <a:noFill/>
            <a:ln w="9525">
              <a:noFill/>
              <a:miter lim="800000"/>
              <a:headEnd/>
              <a:tailEnd/>
            </a:ln>
            <a:effectLst/>
          </p:spPr>
        </p:pic>
        <p:sp>
          <p:nvSpPr>
            <p:cNvPr id="39975" name="Text Box 39"/>
            <p:cNvSpPr txBox="1">
              <a:spLocks noChangeArrowheads="1"/>
            </p:cNvSpPr>
            <p:nvPr/>
          </p:nvSpPr>
          <p:spPr bwMode="auto">
            <a:xfrm>
              <a:off x="1468" y="3746"/>
              <a:ext cx="3199" cy="196"/>
            </a:xfrm>
            <a:prstGeom prst="rect">
              <a:avLst/>
            </a:prstGeom>
            <a:noFill/>
            <a:ln w="9525">
              <a:noFill/>
              <a:miter lim="800000"/>
              <a:headEnd/>
              <a:tailEnd/>
            </a:ln>
            <a:effectLst/>
          </p:spPr>
          <p:txBody>
            <a:bodyPr wrap="square">
              <a:spAutoFit/>
            </a:bodyPr>
            <a:lstStyle/>
            <a:p>
              <a:r>
                <a:rPr lang="en-US" altLang="zh-TW" sz="2000" dirty="0">
                  <a:latin typeface="Arial" charset="0"/>
                </a:rPr>
                <a:t>Comparison between static and dynamic web pages</a:t>
              </a:r>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653143" y="418874"/>
            <a:ext cx="7972653" cy="5299754"/>
          </a:xfrm>
        </p:spPr>
        <p:txBody>
          <a:bodyPr>
            <a:normAutofit/>
          </a:bodyPr>
          <a:lstStyle/>
          <a:p>
            <a:pPr>
              <a:buNone/>
            </a:pPr>
            <a:r>
              <a:rPr lang="en-US" altLang="en-US" sz="3200" dirty="0">
                <a:solidFill>
                  <a:schemeClr val="accent1">
                    <a:lumMod val="75000"/>
                  </a:schemeClr>
                </a:solidFill>
                <a:latin typeface="+mj-lt"/>
              </a:rPr>
              <a:t>Classification of dynamic web </a:t>
            </a:r>
            <a:r>
              <a:rPr lang="en-US" altLang="en-US" sz="3200" dirty="0" smtClean="0">
                <a:solidFill>
                  <a:schemeClr val="accent1">
                    <a:lumMod val="75000"/>
                  </a:schemeClr>
                </a:solidFill>
                <a:latin typeface="+mj-lt"/>
              </a:rPr>
              <a:t>pages</a:t>
            </a:r>
          </a:p>
          <a:p>
            <a:endParaRPr lang="en-US" altLang="en-US" sz="2800" dirty="0">
              <a:latin typeface="Arial" charset="0"/>
            </a:endParaRPr>
          </a:p>
          <a:p>
            <a:pPr marL="907542" lvl="1" indent="-514350">
              <a:buFont typeface="Monotype Sorts" pitchFamily="2" charset="2"/>
              <a:buAutoNum type="arabicPeriod"/>
            </a:pPr>
            <a:r>
              <a:rPr lang="en-US" altLang="en-US" sz="2800" dirty="0" smtClean="0">
                <a:latin typeface="Arial" charset="0"/>
              </a:rPr>
              <a:t>Client-side </a:t>
            </a:r>
            <a:r>
              <a:rPr lang="en-US" altLang="en-US" sz="2800" dirty="0">
                <a:latin typeface="Arial" charset="0"/>
              </a:rPr>
              <a:t>dynamic web </a:t>
            </a:r>
            <a:r>
              <a:rPr lang="en-US" altLang="en-US" sz="2800" dirty="0" smtClean="0">
                <a:latin typeface="Arial" charset="0"/>
              </a:rPr>
              <a:t>pages</a:t>
            </a:r>
          </a:p>
          <a:p>
            <a:pPr marL="907542" lvl="1" indent="-514350">
              <a:buNone/>
            </a:pPr>
            <a:endParaRPr lang="en-US" altLang="en-US" sz="1400" dirty="0">
              <a:latin typeface="Arial" charset="0"/>
            </a:endParaRPr>
          </a:p>
          <a:p>
            <a:pPr lvl="2"/>
            <a:r>
              <a:rPr lang="en-US" altLang="zh-TW" dirty="0">
                <a:latin typeface="Arial" charset="0"/>
              </a:rPr>
              <a:t>T</a:t>
            </a:r>
            <a:r>
              <a:rPr lang="en-US" altLang="zh-TW" dirty="0" smtClean="0">
                <a:latin typeface="Arial" charset="0"/>
              </a:rPr>
              <a:t>he </a:t>
            </a:r>
            <a:r>
              <a:rPr lang="en-US" altLang="zh-TW" dirty="0">
                <a:latin typeface="Arial" charset="0"/>
              </a:rPr>
              <a:t>creation of the web pages takes place in the client </a:t>
            </a:r>
            <a:r>
              <a:rPr lang="en-US" altLang="zh-TW" dirty="0" smtClean="0">
                <a:latin typeface="Arial" charset="0"/>
              </a:rPr>
              <a:t>computer</a:t>
            </a:r>
          </a:p>
          <a:p>
            <a:pPr lvl="2"/>
            <a:endParaRPr lang="en-US" altLang="zh-TW" dirty="0">
              <a:latin typeface="Arial" charset="0"/>
            </a:endParaRPr>
          </a:p>
          <a:p>
            <a:pPr lvl="1">
              <a:buFont typeface="Monotype Sorts" pitchFamily="2" charset="2"/>
              <a:buNone/>
            </a:pPr>
            <a:r>
              <a:rPr lang="en-US" altLang="en-US" sz="2800" dirty="0">
                <a:latin typeface="Arial" charset="0"/>
              </a:rPr>
              <a:t>2. </a:t>
            </a:r>
            <a:r>
              <a:rPr lang="en-US" altLang="en-US" sz="2800" dirty="0" smtClean="0">
                <a:latin typeface="Arial" charset="0"/>
              </a:rPr>
              <a:t>Server-side </a:t>
            </a:r>
            <a:r>
              <a:rPr lang="en-US" altLang="en-US" sz="2800" dirty="0">
                <a:latin typeface="Arial" charset="0"/>
              </a:rPr>
              <a:t>dynamic web </a:t>
            </a:r>
            <a:r>
              <a:rPr lang="en-US" altLang="en-US" sz="2800" dirty="0" smtClean="0">
                <a:latin typeface="Arial" charset="0"/>
              </a:rPr>
              <a:t>pages</a:t>
            </a:r>
          </a:p>
          <a:p>
            <a:pPr lvl="1">
              <a:buFont typeface="Monotype Sorts" pitchFamily="2" charset="2"/>
              <a:buNone/>
            </a:pPr>
            <a:endParaRPr lang="en-US" altLang="en-US" sz="1200" dirty="0">
              <a:latin typeface="Arial" charset="0"/>
            </a:endParaRPr>
          </a:p>
          <a:p>
            <a:pPr lvl="2"/>
            <a:r>
              <a:rPr lang="en-US" altLang="en-US" dirty="0" smtClean="0">
                <a:latin typeface="Arial" charset="0"/>
              </a:rPr>
              <a:t>The </a:t>
            </a:r>
            <a:r>
              <a:rPr lang="en-US" altLang="en-US" dirty="0">
                <a:latin typeface="Arial" charset="0"/>
              </a:rPr>
              <a:t>server is responsible for creating the web pages</a:t>
            </a:r>
            <a:endParaRPr lang="en-US" altLang="zh-TW" dirty="0">
              <a:latin typeface="Arial" charset="0"/>
            </a:endParaRPr>
          </a:p>
        </p:txBody>
      </p:sp>
    </p:spTree>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1"/>
          <p:cNvGrpSpPr>
            <a:grpSpLocks/>
          </p:cNvGrpSpPr>
          <p:nvPr/>
        </p:nvGrpSpPr>
        <p:grpSpPr bwMode="auto">
          <a:xfrm>
            <a:off x="231775" y="1644651"/>
            <a:ext cx="8867775" cy="4598988"/>
            <a:chOff x="128" y="973"/>
            <a:chExt cx="5586" cy="2897"/>
          </a:xfrm>
        </p:grpSpPr>
        <p:grpSp>
          <p:nvGrpSpPr>
            <p:cNvPr id="3" name="Group 28"/>
            <p:cNvGrpSpPr>
              <a:grpSpLocks/>
            </p:cNvGrpSpPr>
            <p:nvPr/>
          </p:nvGrpSpPr>
          <p:grpSpPr bwMode="auto">
            <a:xfrm>
              <a:off x="128" y="973"/>
              <a:ext cx="5586" cy="2897"/>
              <a:chOff x="128" y="973"/>
              <a:chExt cx="5586" cy="2897"/>
            </a:xfrm>
          </p:grpSpPr>
          <p:sp>
            <p:nvSpPr>
              <p:cNvPr id="40981" name="Rectangle 21"/>
              <p:cNvSpPr>
                <a:spLocks noChangeArrowheads="1"/>
              </p:cNvSpPr>
              <p:nvPr/>
            </p:nvSpPr>
            <p:spPr bwMode="auto">
              <a:xfrm>
                <a:off x="2914" y="1605"/>
                <a:ext cx="2800" cy="2265"/>
              </a:xfrm>
              <a:prstGeom prst="rect">
                <a:avLst/>
              </a:prstGeom>
              <a:solidFill>
                <a:srgbClr val="99CCFF"/>
              </a:solidFill>
              <a:ln w="9525">
                <a:noFill/>
                <a:miter lim="800000"/>
                <a:headEnd/>
                <a:tailEnd/>
              </a:ln>
              <a:effectLst/>
            </p:spPr>
            <p:txBody>
              <a:bodyPr wrap="none" anchor="ctr"/>
              <a:lstStyle/>
              <a:p>
                <a:endParaRPr lang="en-US"/>
              </a:p>
            </p:txBody>
          </p:sp>
          <p:sp>
            <p:nvSpPr>
              <p:cNvPr id="40979" name="Rectangle 19"/>
              <p:cNvSpPr>
                <a:spLocks noChangeArrowheads="1"/>
              </p:cNvSpPr>
              <p:nvPr/>
            </p:nvSpPr>
            <p:spPr bwMode="auto">
              <a:xfrm>
                <a:off x="128" y="1600"/>
                <a:ext cx="2800" cy="2265"/>
              </a:xfrm>
              <a:prstGeom prst="rect">
                <a:avLst/>
              </a:prstGeom>
              <a:solidFill>
                <a:srgbClr val="FFCC99"/>
              </a:solidFill>
              <a:ln w="9525">
                <a:noFill/>
                <a:miter lim="800000"/>
                <a:headEnd/>
                <a:tailEnd/>
              </a:ln>
              <a:effectLst/>
            </p:spPr>
            <p:txBody>
              <a:bodyPr wrap="none" anchor="ctr"/>
              <a:lstStyle/>
              <a:p>
                <a:endParaRPr lang="en-US"/>
              </a:p>
            </p:txBody>
          </p:sp>
          <p:pic>
            <p:nvPicPr>
              <p:cNvPr id="40965" name="Picture 5"/>
              <p:cNvPicPr>
                <a:picLocks noChangeAspect="1" noChangeArrowheads="1"/>
              </p:cNvPicPr>
              <p:nvPr/>
            </p:nvPicPr>
            <p:blipFill>
              <a:blip r:embed="rId2"/>
              <a:srcRect l="13753" t="28880" r="80630" b="55133"/>
              <a:stretch>
                <a:fillRect/>
              </a:stretch>
            </p:blipFill>
            <p:spPr bwMode="auto">
              <a:xfrm>
                <a:off x="4133" y="1780"/>
                <a:ext cx="660" cy="1407"/>
              </a:xfrm>
              <a:prstGeom prst="rect">
                <a:avLst/>
              </a:prstGeom>
              <a:noFill/>
              <a:ln w="9525">
                <a:noFill/>
                <a:miter lim="800000"/>
                <a:headEnd/>
                <a:tailEnd/>
              </a:ln>
              <a:effectLst/>
            </p:spPr>
          </p:pic>
          <p:sp>
            <p:nvSpPr>
              <p:cNvPr id="40967" name="Text Box 7"/>
              <p:cNvSpPr txBox="1">
                <a:spLocks noChangeArrowheads="1"/>
              </p:cNvSpPr>
              <p:nvPr/>
            </p:nvSpPr>
            <p:spPr bwMode="auto">
              <a:xfrm>
                <a:off x="3877" y="3158"/>
                <a:ext cx="1152" cy="288"/>
              </a:xfrm>
              <a:prstGeom prst="rect">
                <a:avLst/>
              </a:prstGeom>
              <a:noFill/>
              <a:ln w="9525">
                <a:noFill/>
                <a:miter lim="800000"/>
                <a:headEnd/>
                <a:tailEnd/>
              </a:ln>
              <a:effectLst/>
            </p:spPr>
            <p:txBody>
              <a:bodyPr wrap="none">
                <a:spAutoFit/>
              </a:bodyPr>
              <a:lstStyle/>
              <a:p>
                <a:r>
                  <a:rPr lang="en-US" altLang="zh-TW" b="1">
                    <a:latin typeface="Arial" charset="0"/>
                    <a:ea typeface="標楷體" pitchFamily="65" charset="-120"/>
                  </a:rPr>
                  <a:t>Web server</a:t>
                </a:r>
                <a:endParaRPr lang="en-US" altLang="zh-TW">
                  <a:latin typeface="Arial" charset="0"/>
                  <a:ea typeface="標楷體" pitchFamily="65" charset="-120"/>
                </a:endParaRPr>
              </a:p>
            </p:txBody>
          </p:sp>
          <p:pic>
            <p:nvPicPr>
              <p:cNvPr id="40966" name="Picture 6"/>
              <p:cNvPicPr>
                <a:picLocks noChangeAspect="1" noChangeArrowheads="1"/>
              </p:cNvPicPr>
              <p:nvPr/>
            </p:nvPicPr>
            <p:blipFill>
              <a:blip r:embed="rId2"/>
              <a:srcRect l="39238" t="44945" r="50571" b="42949"/>
              <a:stretch>
                <a:fillRect/>
              </a:stretch>
            </p:blipFill>
            <p:spPr bwMode="auto">
              <a:xfrm>
                <a:off x="504" y="2164"/>
                <a:ext cx="1103" cy="983"/>
              </a:xfrm>
              <a:prstGeom prst="rect">
                <a:avLst/>
              </a:prstGeom>
              <a:noFill/>
              <a:ln w="9525">
                <a:noFill/>
                <a:miter lim="800000"/>
                <a:headEnd/>
                <a:tailEnd/>
              </a:ln>
              <a:effectLst/>
            </p:spPr>
          </p:pic>
          <p:sp>
            <p:nvSpPr>
              <p:cNvPr id="40968" name="Text Box 8"/>
              <p:cNvSpPr txBox="1">
                <a:spLocks noChangeArrowheads="1"/>
              </p:cNvSpPr>
              <p:nvPr/>
            </p:nvSpPr>
            <p:spPr bwMode="auto">
              <a:xfrm>
                <a:off x="272" y="3161"/>
                <a:ext cx="1577" cy="288"/>
              </a:xfrm>
              <a:prstGeom prst="rect">
                <a:avLst/>
              </a:prstGeom>
              <a:noFill/>
              <a:ln w="9525">
                <a:noFill/>
                <a:miter lim="800000"/>
                <a:headEnd/>
                <a:tailEnd/>
              </a:ln>
              <a:effectLst/>
            </p:spPr>
            <p:txBody>
              <a:bodyPr wrap="none">
                <a:spAutoFit/>
              </a:bodyPr>
              <a:lstStyle/>
              <a:p>
                <a:r>
                  <a:rPr lang="en-US" altLang="zh-TW" b="1">
                    <a:latin typeface="Arial" charset="0"/>
                    <a:ea typeface="標楷體" pitchFamily="65" charset="-120"/>
                  </a:rPr>
                  <a:t>Client computer</a:t>
                </a:r>
                <a:endParaRPr lang="en-US" altLang="zh-TW">
                  <a:latin typeface="Arial" charset="0"/>
                  <a:ea typeface="標楷體" pitchFamily="65" charset="-120"/>
                </a:endParaRPr>
              </a:p>
            </p:txBody>
          </p:sp>
          <p:sp>
            <p:nvSpPr>
              <p:cNvPr id="40987" name="Text Box 27"/>
              <p:cNvSpPr txBox="1">
                <a:spLocks noChangeArrowheads="1"/>
              </p:cNvSpPr>
              <p:nvPr/>
            </p:nvSpPr>
            <p:spPr bwMode="auto">
              <a:xfrm>
                <a:off x="244" y="973"/>
                <a:ext cx="2734" cy="288"/>
              </a:xfrm>
              <a:prstGeom prst="rect">
                <a:avLst/>
              </a:prstGeom>
              <a:noFill/>
              <a:ln w="9525">
                <a:noFill/>
                <a:miter lim="800000"/>
                <a:headEnd/>
                <a:tailEnd/>
              </a:ln>
              <a:effectLst/>
            </p:spPr>
            <p:txBody>
              <a:bodyPr wrap="none">
                <a:spAutoFit/>
              </a:bodyPr>
              <a:lstStyle/>
              <a:p>
                <a:r>
                  <a:rPr lang="en-US" altLang="en-US" dirty="0">
                    <a:latin typeface="Arial" charset="0"/>
                    <a:ea typeface="標楷體" pitchFamily="65" charset="-120"/>
                  </a:rPr>
                  <a:t>client-side dynamic web pages</a:t>
                </a:r>
                <a:endParaRPr lang="en-US" altLang="zh-TW" dirty="0">
                  <a:latin typeface="Arial" charset="0"/>
                  <a:ea typeface="標楷體" pitchFamily="65" charset="-120"/>
                </a:endParaRPr>
              </a:p>
            </p:txBody>
          </p:sp>
        </p:grpSp>
        <p:sp>
          <p:nvSpPr>
            <p:cNvPr id="40982" name="Rectangle 22"/>
            <p:cNvSpPr>
              <a:spLocks noChangeArrowheads="1"/>
            </p:cNvSpPr>
            <p:nvPr/>
          </p:nvSpPr>
          <p:spPr bwMode="auto">
            <a:xfrm>
              <a:off x="1921" y="1674"/>
              <a:ext cx="933" cy="250"/>
            </a:xfrm>
            <a:prstGeom prst="rect">
              <a:avLst/>
            </a:prstGeom>
            <a:noFill/>
            <a:ln w="9525">
              <a:noFill/>
              <a:miter lim="800000"/>
              <a:headEnd/>
              <a:tailEnd/>
            </a:ln>
            <a:effectLst/>
          </p:spPr>
          <p:txBody>
            <a:bodyPr wrap="none">
              <a:spAutoFit/>
            </a:bodyPr>
            <a:lstStyle/>
            <a:p>
              <a:r>
                <a:rPr lang="en-US" altLang="zh-TW" sz="2000" b="1">
                  <a:latin typeface="Arial" charset="0"/>
                  <a:ea typeface="標楷體" pitchFamily="65" charset="-120"/>
                </a:rPr>
                <a:t>Client-side</a:t>
              </a:r>
            </a:p>
          </p:txBody>
        </p:sp>
        <p:sp>
          <p:nvSpPr>
            <p:cNvPr id="40983" name="Rectangle 23"/>
            <p:cNvSpPr>
              <a:spLocks noChangeArrowheads="1"/>
            </p:cNvSpPr>
            <p:nvPr/>
          </p:nvSpPr>
          <p:spPr bwMode="auto">
            <a:xfrm>
              <a:off x="2974" y="1672"/>
              <a:ext cx="987" cy="250"/>
            </a:xfrm>
            <a:prstGeom prst="rect">
              <a:avLst/>
            </a:prstGeom>
            <a:noFill/>
            <a:ln w="9525">
              <a:noFill/>
              <a:miter lim="800000"/>
              <a:headEnd/>
              <a:tailEnd/>
            </a:ln>
            <a:effectLst/>
          </p:spPr>
          <p:txBody>
            <a:bodyPr wrap="none">
              <a:spAutoFit/>
            </a:bodyPr>
            <a:lstStyle/>
            <a:p>
              <a:r>
                <a:rPr lang="en-US" altLang="zh-TW" sz="2000" b="1">
                  <a:latin typeface="Arial" charset="0"/>
                  <a:ea typeface="標楷體" pitchFamily="65" charset="-120"/>
                </a:rPr>
                <a:t>Server-side</a:t>
              </a:r>
            </a:p>
          </p:txBody>
        </p:sp>
      </p:grpSp>
      <p:sp>
        <p:nvSpPr>
          <p:cNvPr id="40962" name="Rectangle 2"/>
          <p:cNvSpPr>
            <a:spLocks noGrp="1" noChangeArrowheads="1"/>
          </p:cNvSpPr>
          <p:nvPr>
            <p:ph type="title"/>
          </p:nvPr>
        </p:nvSpPr>
        <p:spPr>
          <a:xfrm>
            <a:off x="216806" y="378052"/>
            <a:ext cx="8686800" cy="762000"/>
          </a:xfrm>
        </p:spPr>
        <p:txBody>
          <a:bodyPr>
            <a:normAutofit fontScale="90000"/>
          </a:bodyPr>
          <a:lstStyle/>
          <a:p>
            <a:pPr>
              <a:tabLst>
                <a:tab pos="1428750" algn="l"/>
              </a:tabLst>
            </a:pPr>
            <a:r>
              <a:rPr lang="en-US" altLang="en-US" sz="3000" dirty="0">
                <a:solidFill>
                  <a:srgbClr val="333399"/>
                </a:solidFill>
              </a:rPr>
              <a:t>Client-Side </a:t>
            </a:r>
            <a:r>
              <a:rPr lang="en-US" altLang="zh-TW" sz="3000" dirty="0">
                <a:solidFill>
                  <a:srgbClr val="333399"/>
                </a:solidFill>
              </a:rPr>
              <a:t>Dynamic Web Pages </a:t>
            </a:r>
            <a:r>
              <a:rPr lang="en-US" altLang="zh-TW" sz="3000" dirty="0" smtClean="0">
                <a:solidFill>
                  <a:srgbClr val="333399"/>
                </a:solidFill>
              </a:rPr>
              <a:t>  Vs </a:t>
            </a:r>
            <a:br>
              <a:rPr lang="en-US" altLang="zh-TW" sz="3000" dirty="0" smtClean="0">
                <a:solidFill>
                  <a:srgbClr val="333399"/>
                </a:solidFill>
              </a:rPr>
            </a:br>
            <a:r>
              <a:rPr lang="en-US" altLang="zh-TW" sz="3000" dirty="0" smtClean="0">
                <a:solidFill>
                  <a:srgbClr val="333399"/>
                </a:solidFill>
              </a:rPr>
              <a:t>                             Server</a:t>
            </a:r>
            <a:r>
              <a:rPr lang="en-US" altLang="en-US" sz="3000" dirty="0" smtClean="0">
                <a:solidFill>
                  <a:srgbClr val="333399"/>
                </a:solidFill>
              </a:rPr>
              <a:t>-Side </a:t>
            </a:r>
            <a:r>
              <a:rPr lang="en-US" altLang="zh-TW" sz="3000" dirty="0">
                <a:solidFill>
                  <a:srgbClr val="333399"/>
                </a:solidFill>
              </a:rPr>
              <a:t>Dynamic Web Pages</a:t>
            </a:r>
          </a:p>
        </p:txBody>
      </p:sp>
      <p:sp>
        <p:nvSpPr>
          <p:cNvPr id="40972" name="Text Box 12"/>
          <p:cNvSpPr txBox="1">
            <a:spLocks noChangeArrowheads="1"/>
          </p:cNvSpPr>
          <p:nvPr/>
        </p:nvSpPr>
        <p:spPr bwMode="auto">
          <a:xfrm>
            <a:off x="4941888" y="5457825"/>
            <a:ext cx="4202112" cy="701675"/>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2. Web server looks for HTML files together with instruction files</a:t>
            </a:r>
          </a:p>
        </p:txBody>
      </p:sp>
      <p:grpSp>
        <p:nvGrpSpPr>
          <p:cNvPr id="4" name="Group 30"/>
          <p:cNvGrpSpPr>
            <a:grpSpLocks/>
          </p:cNvGrpSpPr>
          <p:nvPr/>
        </p:nvGrpSpPr>
        <p:grpSpPr bwMode="auto">
          <a:xfrm>
            <a:off x="2574925" y="3671888"/>
            <a:ext cx="3879850" cy="808037"/>
            <a:chOff x="1622" y="2313"/>
            <a:chExt cx="2444" cy="509"/>
          </a:xfrm>
        </p:grpSpPr>
        <p:sp>
          <p:nvSpPr>
            <p:cNvPr id="40971" name="Text Box 11"/>
            <p:cNvSpPr txBox="1">
              <a:spLocks noChangeArrowheads="1"/>
            </p:cNvSpPr>
            <p:nvPr/>
          </p:nvSpPr>
          <p:spPr bwMode="auto">
            <a:xfrm>
              <a:off x="1622" y="2313"/>
              <a:ext cx="2444" cy="250"/>
            </a:xfrm>
            <a:prstGeom prst="rect">
              <a:avLst/>
            </a:prstGeom>
            <a:noFill/>
            <a:ln w="9525">
              <a:noFill/>
              <a:miter lim="800000"/>
              <a:headEnd/>
              <a:tailEnd/>
            </a:ln>
            <a:effectLst/>
          </p:spPr>
          <p:txBody>
            <a:bodyPr wrap="none">
              <a:spAutoFit/>
            </a:bodyPr>
            <a:lstStyle/>
            <a:p>
              <a:r>
                <a:rPr lang="en-US" altLang="zh-TW" sz="2000" dirty="0">
                  <a:latin typeface="Arial" charset="0"/>
                  <a:ea typeface="標楷體" pitchFamily="65" charset="-120"/>
                </a:rPr>
                <a:t>1. Client requests the web pages</a:t>
              </a:r>
            </a:p>
          </p:txBody>
        </p:sp>
        <p:sp>
          <p:nvSpPr>
            <p:cNvPr id="40974" name="AutoShape 14"/>
            <p:cNvSpPr>
              <a:spLocks noChangeArrowheads="1"/>
            </p:cNvSpPr>
            <p:nvPr/>
          </p:nvSpPr>
          <p:spPr bwMode="auto">
            <a:xfrm rot="10800000">
              <a:off x="1833" y="2594"/>
              <a:ext cx="1955" cy="228"/>
            </a:xfrm>
            <a:prstGeom prst="leftArrow">
              <a:avLst>
                <a:gd name="adj1" fmla="val 50000"/>
                <a:gd name="adj2" fmla="val 214364"/>
              </a:avLst>
            </a:prstGeom>
            <a:solidFill>
              <a:srgbClr val="339966"/>
            </a:solidFill>
            <a:ln w="9525">
              <a:noFill/>
              <a:miter lim="800000"/>
              <a:headEnd/>
              <a:tailEnd/>
            </a:ln>
            <a:effectLst/>
          </p:spPr>
          <p:txBody>
            <a:bodyPr wrap="none" anchor="ctr"/>
            <a:lstStyle/>
            <a:p>
              <a:endParaRPr lang="en-US"/>
            </a:p>
          </p:txBody>
        </p:sp>
      </p:grpSp>
      <p:grpSp>
        <p:nvGrpSpPr>
          <p:cNvPr id="5" name="Group 29"/>
          <p:cNvGrpSpPr>
            <a:grpSpLocks/>
          </p:cNvGrpSpPr>
          <p:nvPr/>
        </p:nvGrpSpPr>
        <p:grpSpPr bwMode="auto">
          <a:xfrm>
            <a:off x="2887663" y="4487863"/>
            <a:ext cx="3103562" cy="1320800"/>
            <a:chOff x="1819" y="2827"/>
            <a:chExt cx="1955" cy="832"/>
          </a:xfrm>
        </p:grpSpPr>
        <p:sp>
          <p:nvSpPr>
            <p:cNvPr id="40970" name="AutoShape 10"/>
            <p:cNvSpPr>
              <a:spLocks noChangeArrowheads="1"/>
            </p:cNvSpPr>
            <p:nvPr/>
          </p:nvSpPr>
          <p:spPr bwMode="auto">
            <a:xfrm>
              <a:off x="1819" y="2827"/>
              <a:ext cx="1955" cy="228"/>
            </a:xfrm>
            <a:prstGeom prst="leftArrow">
              <a:avLst>
                <a:gd name="adj1" fmla="val 50000"/>
                <a:gd name="adj2" fmla="val 214364"/>
              </a:avLst>
            </a:prstGeom>
            <a:solidFill>
              <a:srgbClr val="FF9900"/>
            </a:solidFill>
            <a:ln w="9525">
              <a:noFill/>
              <a:miter lim="800000"/>
              <a:headEnd/>
              <a:tailEnd/>
            </a:ln>
            <a:effectLst/>
          </p:spPr>
          <p:txBody>
            <a:bodyPr wrap="none" anchor="ctr"/>
            <a:lstStyle/>
            <a:p>
              <a:endParaRPr lang="en-US"/>
            </a:p>
          </p:txBody>
        </p:sp>
        <p:sp>
          <p:nvSpPr>
            <p:cNvPr id="40975" name="Text Box 15"/>
            <p:cNvSpPr txBox="1">
              <a:spLocks noChangeArrowheads="1"/>
            </p:cNvSpPr>
            <p:nvPr/>
          </p:nvSpPr>
          <p:spPr bwMode="auto">
            <a:xfrm>
              <a:off x="1860" y="3025"/>
              <a:ext cx="1666" cy="634"/>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3. HTML codes and instructions return to client</a:t>
              </a:r>
            </a:p>
          </p:txBody>
        </p:sp>
      </p:grpSp>
      <p:sp>
        <p:nvSpPr>
          <p:cNvPr id="40976" name="Text Box 16"/>
          <p:cNvSpPr txBox="1">
            <a:spLocks noChangeArrowheads="1"/>
          </p:cNvSpPr>
          <p:nvPr/>
        </p:nvSpPr>
        <p:spPr bwMode="auto">
          <a:xfrm>
            <a:off x="0" y="2500539"/>
            <a:ext cx="3208338" cy="1006475"/>
          </a:xfrm>
          <a:prstGeom prst="rect">
            <a:avLst/>
          </a:prstGeom>
          <a:noFill/>
          <a:ln w="9525">
            <a:noFill/>
            <a:miter lim="800000"/>
            <a:headEnd/>
            <a:tailEnd/>
          </a:ln>
          <a:effectLst/>
        </p:spPr>
        <p:txBody>
          <a:bodyPr>
            <a:spAutoFit/>
          </a:bodyPr>
          <a:lstStyle/>
          <a:p>
            <a:pPr marL="288925" indent="-288925"/>
            <a:r>
              <a:rPr lang="en-US" altLang="zh-TW" sz="2000" dirty="0">
                <a:latin typeface="Arial" charset="0"/>
                <a:ea typeface="標楷體" pitchFamily="65" charset="-120"/>
              </a:rPr>
              <a:t>4. Client browser processes instructions and HTML codes</a:t>
            </a:r>
          </a:p>
        </p:txBody>
      </p:sp>
      <p:sp>
        <p:nvSpPr>
          <p:cNvPr id="40980" name="Text Box 20"/>
          <p:cNvSpPr txBox="1">
            <a:spLocks noChangeArrowheads="1"/>
          </p:cNvSpPr>
          <p:nvPr/>
        </p:nvSpPr>
        <p:spPr bwMode="auto">
          <a:xfrm>
            <a:off x="461963" y="5511574"/>
            <a:ext cx="2787650" cy="701675"/>
          </a:xfrm>
          <a:prstGeom prst="rect">
            <a:avLst/>
          </a:prstGeom>
          <a:noFill/>
          <a:ln w="9525">
            <a:noFill/>
            <a:miter lim="800000"/>
            <a:headEnd/>
            <a:tailEnd/>
          </a:ln>
          <a:effectLst/>
        </p:spPr>
        <p:txBody>
          <a:bodyPr>
            <a:spAutoFit/>
          </a:bodyPr>
          <a:lstStyle/>
          <a:p>
            <a:pPr marL="288925" indent="-288925"/>
            <a:r>
              <a:rPr lang="en-US" altLang="zh-TW" sz="2000" dirty="0">
                <a:latin typeface="Arial" charset="0"/>
                <a:ea typeface="標楷體" pitchFamily="65" charset="-120"/>
              </a:rPr>
              <a:t>5. Browser displays web pages</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72"/>
                                        </p:tgtEl>
                                        <p:attrNameLst>
                                          <p:attrName>style.visibility</p:attrName>
                                        </p:attrNameLst>
                                      </p:cBhvr>
                                      <p:to>
                                        <p:strVal val="visible"/>
                                      </p:to>
                                    </p:set>
                                    <p:animEffect transition="in" filter="dissolve">
                                      <p:cBhvr>
                                        <p:cTn id="17" dur="500"/>
                                        <p:tgtEl>
                                          <p:spTgt spid="4097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0976"/>
                                        </p:tgtEl>
                                        <p:attrNameLst>
                                          <p:attrName>style.visibility</p:attrName>
                                        </p:attrNameLst>
                                      </p:cBhvr>
                                      <p:to>
                                        <p:strVal val="visible"/>
                                      </p:to>
                                    </p:set>
                                    <p:animEffect transition="in" filter="dissolve">
                                      <p:cBhvr>
                                        <p:cTn id="27" dur="500"/>
                                        <p:tgtEl>
                                          <p:spTgt spid="4097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980"/>
                                        </p:tgtEl>
                                        <p:attrNameLst>
                                          <p:attrName>style.visibility</p:attrName>
                                        </p:attrNameLst>
                                      </p:cBhvr>
                                      <p:to>
                                        <p:strVal val="visible"/>
                                      </p:to>
                                    </p:set>
                                    <p:animEffect transition="in" filter="dissolve">
                                      <p:cBhvr>
                                        <p:cTn id="32" dur="500"/>
                                        <p:tgtEl>
                                          <p:spTgt spid="40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2" grpId="0" autoUpdateAnimBg="0"/>
      <p:bldP spid="40976" grpId="0" autoUpdateAnimBg="0"/>
      <p:bldP spid="4098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7"/>
          <p:cNvGrpSpPr>
            <a:grpSpLocks/>
          </p:cNvGrpSpPr>
          <p:nvPr/>
        </p:nvGrpSpPr>
        <p:grpSpPr bwMode="auto">
          <a:xfrm>
            <a:off x="271463" y="1530350"/>
            <a:ext cx="8872537" cy="4451350"/>
            <a:chOff x="171" y="964"/>
            <a:chExt cx="5589" cy="2804"/>
          </a:xfrm>
        </p:grpSpPr>
        <p:sp>
          <p:nvSpPr>
            <p:cNvPr id="41987" name="Rectangle 3"/>
            <p:cNvSpPr>
              <a:spLocks noChangeArrowheads="1"/>
            </p:cNvSpPr>
            <p:nvPr/>
          </p:nvSpPr>
          <p:spPr bwMode="auto">
            <a:xfrm>
              <a:off x="2960" y="1503"/>
              <a:ext cx="2800" cy="2265"/>
            </a:xfrm>
            <a:prstGeom prst="rect">
              <a:avLst/>
            </a:prstGeom>
            <a:solidFill>
              <a:srgbClr val="99CCFF"/>
            </a:solidFill>
            <a:ln w="9525">
              <a:noFill/>
              <a:miter lim="800000"/>
              <a:headEnd/>
              <a:tailEnd/>
            </a:ln>
            <a:effectLst/>
          </p:spPr>
          <p:txBody>
            <a:bodyPr wrap="none" anchor="ctr"/>
            <a:lstStyle/>
            <a:p>
              <a:endParaRPr lang="en-US"/>
            </a:p>
          </p:txBody>
        </p:sp>
        <p:sp>
          <p:nvSpPr>
            <p:cNvPr id="41988" name="Rectangle 4"/>
            <p:cNvSpPr>
              <a:spLocks noChangeArrowheads="1"/>
            </p:cNvSpPr>
            <p:nvPr/>
          </p:nvSpPr>
          <p:spPr bwMode="auto">
            <a:xfrm>
              <a:off x="174" y="1498"/>
              <a:ext cx="2800" cy="2265"/>
            </a:xfrm>
            <a:prstGeom prst="rect">
              <a:avLst/>
            </a:prstGeom>
            <a:solidFill>
              <a:srgbClr val="FFCC99"/>
            </a:solidFill>
            <a:ln w="9525">
              <a:noFill/>
              <a:miter lim="800000"/>
              <a:headEnd/>
              <a:tailEnd/>
            </a:ln>
            <a:effectLst/>
          </p:spPr>
          <p:txBody>
            <a:bodyPr wrap="none" anchor="ctr"/>
            <a:lstStyle/>
            <a:p>
              <a:endParaRPr lang="en-US"/>
            </a:p>
          </p:txBody>
        </p:sp>
        <p:pic>
          <p:nvPicPr>
            <p:cNvPr id="41990" name="Picture 6"/>
            <p:cNvPicPr>
              <a:picLocks noChangeAspect="1" noChangeArrowheads="1"/>
            </p:cNvPicPr>
            <p:nvPr/>
          </p:nvPicPr>
          <p:blipFill>
            <a:blip r:embed="rId2"/>
            <a:srcRect l="13753" t="28880" r="80630" b="55133"/>
            <a:stretch>
              <a:fillRect/>
            </a:stretch>
          </p:blipFill>
          <p:spPr bwMode="auto">
            <a:xfrm>
              <a:off x="3890" y="1894"/>
              <a:ext cx="660" cy="1407"/>
            </a:xfrm>
            <a:prstGeom prst="rect">
              <a:avLst/>
            </a:prstGeom>
            <a:noFill/>
            <a:ln w="9525">
              <a:noFill/>
              <a:miter lim="800000"/>
              <a:headEnd/>
              <a:tailEnd/>
            </a:ln>
            <a:effectLst/>
          </p:spPr>
        </p:pic>
        <p:sp>
          <p:nvSpPr>
            <p:cNvPr id="41991" name="Text Box 7"/>
            <p:cNvSpPr txBox="1">
              <a:spLocks noChangeArrowheads="1"/>
            </p:cNvSpPr>
            <p:nvPr/>
          </p:nvSpPr>
          <p:spPr bwMode="auto">
            <a:xfrm>
              <a:off x="3514" y="3281"/>
              <a:ext cx="1152" cy="288"/>
            </a:xfrm>
            <a:prstGeom prst="rect">
              <a:avLst/>
            </a:prstGeom>
            <a:noFill/>
            <a:ln w="9525">
              <a:noFill/>
              <a:miter lim="800000"/>
              <a:headEnd/>
              <a:tailEnd/>
            </a:ln>
            <a:effectLst/>
          </p:spPr>
          <p:txBody>
            <a:bodyPr wrap="none">
              <a:spAutoFit/>
            </a:bodyPr>
            <a:lstStyle/>
            <a:p>
              <a:r>
                <a:rPr lang="en-US" altLang="zh-TW" b="1">
                  <a:latin typeface="Arial" charset="0"/>
                  <a:ea typeface="標楷體" pitchFamily="65" charset="-120"/>
                </a:rPr>
                <a:t>Web server</a:t>
              </a:r>
              <a:endParaRPr lang="en-US" altLang="zh-TW">
                <a:latin typeface="Arial" charset="0"/>
                <a:ea typeface="標楷體" pitchFamily="65" charset="-120"/>
              </a:endParaRPr>
            </a:p>
          </p:txBody>
        </p:sp>
        <p:pic>
          <p:nvPicPr>
            <p:cNvPr id="41993" name="Picture 9"/>
            <p:cNvPicPr>
              <a:picLocks noChangeAspect="1" noChangeArrowheads="1"/>
            </p:cNvPicPr>
            <p:nvPr/>
          </p:nvPicPr>
          <p:blipFill>
            <a:blip r:embed="rId2"/>
            <a:srcRect l="39238" t="44945" r="50571" b="42949"/>
            <a:stretch>
              <a:fillRect/>
            </a:stretch>
          </p:blipFill>
          <p:spPr bwMode="auto">
            <a:xfrm>
              <a:off x="422" y="2062"/>
              <a:ext cx="1104" cy="983"/>
            </a:xfrm>
            <a:prstGeom prst="rect">
              <a:avLst/>
            </a:prstGeom>
            <a:noFill/>
            <a:ln w="9525">
              <a:noFill/>
              <a:miter lim="800000"/>
              <a:headEnd/>
              <a:tailEnd/>
            </a:ln>
            <a:effectLst/>
          </p:spPr>
        </p:pic>
        <p:sp>
          <p:nvSpPr>
            <p:cNvPr id="41994" name="Text Box 10"/>
            <p:cNvSpPr txBox="1">
              <a:spLocks noChangeArrowheads="1"/>
            </p:cNvSpPr>
            <p:nvPr/>
          </p:nvSpPr>
          <p:spPr bwMode="auto">
            <a:xfrm>
              <a:off x="171" y="3068"/>
              <a:ext cx="1577" cy="288"/>
            </a:xfrm>
            <a:prstGeom prst="rect">
              <a:avLst/>
            </a:prstGeom>
            <a:noFill/>
            <a:ln w="9525">
              <a:noFill/>
              <a:miter lim="800000"/>
              <a:headEnd/>
              <a:tailEnd/>
            </a:ln>
            <a:effectLst/>
          </p:spPr>
          <p:txBody>
            <a:bodyPr wrap="none">
              <a:spAutoFit/>
            </a:bodyPr>
            <a:lstStyle/>
            <a:p>
              <a:r>
                <a:rPr lang="en-US" altLang="zh-TW" b="1">
                  <a:latin typeface="Arial" charset="0"/>
                  <a:ea typeface="標楷體" pitchFamily="65" charset="-120"/>
                </a:rPr>
                <a:t>Client computer</a:t>
              </a:r>
              <a:endParaRPr lang="en-US" altLang="zh-TW">
                <a:latin typeface="Arial" charset="0"/>
                <a:ea typeface="標楷體" pitchFamily="65" charset="-120"/>
              </a:endParaRPr>
            </a:p>
          </p:txBody>
        </p:sp>
        <p:sp>
          <p:nvSpPr>
            <p:cNvPr id="41995" name="Rectangle 11"/>
            <p:cNvSpPr>
              <a:spLocks noChangeArrowheads="1"/>
            </p:cNvSpPr>
            <p:nvPr/>
          </p:nvSpPr>
          <p:spPr bwMode="auto">
            <a:xfrm>
              <a:off x="1931" y="1582"/>
              <a:ext cx="933" cy="250"/>
            </a:xfrm>
            <a:prstGeom prst="rect">
              <a:avLst/>
            </a:prstGeom>
            <a:noFill/>
            <a:ln w="9525">
              <a:noFill/>
              <a:miter lim="800000"/>
              <a:headEnd/>
              <a:tailEnd/>
            </a:ln>
            <a:effectLst/>
          </p:spPr>
          <p:txBody>
            <a:bodyPr wrap="none">
              <a:spAutoFit/>
            </a:bodyPr>
            <a:lstStyle/>
            <a:p>
              <a:r>
                <a:rPr lang="en-US" altLang="zh-TW" sz="2000" b="1">
                  <a:latin typeface="Arial" charset="0"/>
                  <a:ea typeface="標楷體" pitchFamily="65" charset="-120"/>
                </a:rPr>
                <a:t>Client-side</a:t>
              </a:r>
            </a:p>
          </p:txBody>
        </p:sp>
        <p:sp>
          <p:nvSpPr>
            <p:cNvPr id="41996" name="Rectangle 12"/>
            <p:cNvSpPr>
              <a:spLocks noChangeArrowheads="1"/>
            </p:cNvSpPr>
            <p:nvPr/>
          </p:nvSpPr>
          <p:spPr bwMode="auto">
            <a:xfrm>
              <a:off x="3029" y="1588"/>
              <a:ext cx="987" cy="250"/>
            </a:xfrm>
            <a:prstGeom prst="rect">
              <a:avLst/>
            </a:prstGeom>
            <a:noFill/>
            <a:ln w="9525">
              <a:noFill/>
              <a:miter lim="800000"/>
              <a:headEnd/>
              <a:tailEnd/>
            </a:ln>
            <a:effectLst/>
          </p:spPr>
          <p:txBody>
            <a:bodyPr wrap="none">
              <a:spAutoFit/>
            </a:bodyPr>
            <a:lstStyle/>
            <a:p>
              <a:r>
                <a:rPr lang="en-US" altLang="zh-TW" sz="2000" b="1">
                  <a:latin typeface="Arial" charset="0"/>
                  <a:ea typeface="標楷體" pitchFamily="65" charset="-120"/>
                </a:rPr>
                <a:t>Server-side</a:t>
              </a:r>
            </a:p>
          </p:txBody>
        </p:sp>
        <p:sp>
          <p:nvSpPr>
            <p:cNvPr id="42010" name="Text Box 26"/>
            <p:cNvSpPr txBox="1">
              <a:spLocks noChangeArrowheads="1"/>
            </p:cNvSpPr>
            <p:nvPr/>
          </p:nvSpPr>
          <p:spPr bwMode="auto">
            <a:xfrm>
              <a:off x="208" y="964"/>
              <a:ext cx="2819" cy="288"/>
            </a:xfrm>
            <a:prstGeom prst="rect">
              <a:avLst/>
            </a:prstGeom>
            <a:noFill/>
            <a:ln w="9525">
              <a:noFill/>
              <a:miter lim="800000"/>
              <a:headEnd/>
              <a:tailEnd/>
            </a:ln>
            <a:effectLst/>
          </p:spPr>
          <p:txBody>
            <a:bodyPr wrap="none">
              <a:spAutoFit/>
            </a:bodyPr>
            <a:lstStyle/>
            <a:p>
              <a:r>
                <a:rPr lang="en-US" altLang="zh-TW" dirty="0">
                  <a:latin typeface="Arial" charset="0"/>
                  <a:ea typeface="標楷體" pitchFamily="65" charset="-120"/>
                </a:rPr>
                <a:t>server</a:t>
              </a:r>
              <a:r>
                <a:rPr lang="en-US" altLang="en-US" dirty="0">
                  <a:latin typeface="Arial" charset="0"/>
                  <a:ea typeface="標楷體" pitchFamily="65" charset="-120"/>
                </a:rPr>
                <a:t>-side dynamic web pages</a:t>
              </a:r>
              <a:endParaRPr lang="en-US" altLang="zh-TW" dirty="0">
                <a:latin typeface="Arial" charset="0"/>
                <a:ea typeface="標楷體" pitchFamily="65" charset="-120"/>
              </a:endParaRPr>
            </a:p>
          </p:txBody>
        </p:sp>
      </p:grpSp>
      <p:sp>
        <p:nvSpPr>
          <p:cNvPr id="41997" name="Rectangle 13"/>
          <p:cNvSpPr>
            <a:spLocks noGrp="1" noChangeArrowheads="1"/>
          </p:cNvSpPr>
          <p:nvPr>
            <p:ph type="title"/>
          </p:nvPr>
        </p:nvSpPr>
        <p:spPr>
          <a:xfrm>
            <a:off x="457200" y="457200"/>
            <a:ext cx="8686800" cy="762000"/>
          </a:xfrm>
        </p:spPr>
        <p:txBody>
          <a:bodyPr>
            <a:normAutofit fontScale="90000"/>
          </a:bodyPr>
          <a:lstStyle/>
          <a:p>
            <a:pPr>
              <a:tabLst>
                <a:tab pos="1428750" algn="l"/>
              </a:tabLst>
            </a:pPr>
            <a:r>
              <a:rPr lang="en-US" altLang="en-US" sz="3000" dirty="0">
                <a:solidFill>
                  <a:srgbClr val="333399"/>
                </a:solidFill>
              </a:rPr>
              <a:t>Client-Side </a:t>
            </a:r>
            <a:r>
              <a:rPr lang="en-US" altLang="zh-TW" sz="3000" dirty="0">
                <a:solidFill>
                  <a:srgbClr val="333399"/>
                </a:solidFill>
              </a:rPr>
              <a:t>Dynamic Web Pages </a:t>
            </a:r>
            <a:r>
              <a:rPr lang="en-US" altLang="zh-TW" sz="3000" dirty="0" smtClean="0">
                <a:solidFill>
                  <a:srgbClr val="333399"/>
                </a:solidFill>
              </a:rPr>
              <a:t>     Vs </a:t>
            </a:r>
            <a:br>
              <a:rPr lang="en-US" altLang="zh-TW" sz="3000" dirty="0" smtClean="0">
                <a:solidFill>
                  <a:srgbClr val="333399"/>
                </a:solidFill>
              </a:rPr>
            </a:br>
            <a:r>
              <a:rPr lang="en-US" altLang="zh-TW" sz="3000" dirty="0" smtClean="0">
                <a:solidFill>
                  <a:srgbClr val="333399"/>
                </a:solidFill>
              </a:rPr>
              <a:t>                             Server</a:t>
            </a:r>
            <a:r>
              <a:rPr lang="en-US" altLang="en-US" sz="3000" dirty="0" smtClean="0">
                <a:solidFill>
                  <a:srgbClr val="333399"/>
                </a:solidFill>
              </a:rPr>
              <a:t>-Side </a:t>
            </a:r>
            <a:r>
              <a:rPr lang="en-US" altLang="zh-TW" sz="3000" dirty="0">
                <a:solidFill>
                  <a:srgbClr val="333399"/>
                </a:solidFill>
              </a:rPr>
              <a:t>Dynamic Web Pages</a:t>
            </a:r>
          </a:p>
        </p:txBody>
      </p:sp>
      <p:sp>
        <p:nvSpPr>
          <p:cNvPr id="41999" name="Text Box 15"/>
          <p:cNvSpPr txBox="1">
            <a:spLocks noChangeArrowheads="1"/>
          </p:cNvSpPr>
          <p:nvPr/>
        </p:nvSpPr>
        <p:spPr bwMode="auto">
          <a:xfrm>
            <a:off x="7116763" y="2522538"/>
            <a:ext cx="2027237" cy="1371600"/>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2. Web server looks for instruction files</a:t>
            </a:r>
            <a:r>
              <a:rPr lang="en-US" altLang="zh-TW">
                <a:ea typeface="標楷體" pitchFamily="65" charset="-120"/>
              </a:rPr>
              <a:t> </a:t>
            </a:r>
          </a:p>
        </p:txBody>
      </p:sp>
      <p:grpSp>
        <p:nvGrpSpPr>
          <p:cNvPr id="3" name="Group 28"/>
          <p:cNvGrpSpPr>
            <a:grpSpLocks/>
          </p:cNvGrpSpPr>
          <p:nvPr/>
        </p:nvGrpSpPr>
        <p:grpSpPr bwMode="auto">
          <a:xfrm>
            <a:off x="2343150" y="3425825"/>
            <a:ext cx="3879850" cy="809625"/>
            <a:chOff x="1476" y="2158"/>
            <a:chExt cx="2444" cy="510"/>
          </a:xfrm>
        </p:grpSpPr>
        <p:sp>
          <p:nvSpPr>
            <p:cNvPr id="42001" name="Text Box 17"/>
            <p:cNvSpPr txBox="1">
              <a:spLocks noChangeArrowheads="1"/>
            </p:cNvSpPr>
            <p:nvPr/>
          </p:nvSpPr>
          <p:spPr bwMode="auto">
            <a:xfrm>
              <a:off x="1476" y="2158"/>
              <a:ext cx="2444" cy="250"/>
            </a:xfrm>
            <a:prstGeom prst="rect">
              <a:avLst/>
            </a:prstGeom>
            <a:noFill/>
            <a:ln w="9525">
              <a:noFill/>
              <a:miter lim="800000"/>
              <a:headEnd/>
              <a:tailEnd/>
            </a:ln>
            <a:effectLst/>
          </p:spPr>
          <p:txBody>
            <a:bodyPr wrap="none">
              <a:spAutoFit/>
            </a:bodyPr>
            <a:lstStyle/>
            <a:p>
              <a:r>
                <a:rPr lang="en-US" altLang="zh-TW" sz="2000">
                  <a:latin typeface="Arial" charset="0"/>
                  <a:ea typeface="標楷體" pitchFamily="65" charset="-120"/>
                </a:rPr>
                <a:t>1. Client requests the web pages</a:t>
              </a:r>
            </a:p>
          </p:txBody>
        </p:sp>
        <p:sp>
          <p:nvSpPr>
            <p:cNvPr id="42002" name="AutoShape 18"/>
            <p:cNvSpPr>
              <a:spLocks noChangeArrowheads="1"/>
            </p:cNvSpPr>
            <p:nvPr/>
          </p:nvSpPr>
          <p:spPr bwMode="auto">
            <a:xfrm rot="10800000">
              <a:off x="1797" y="2440"/>
              <a:ext cx="1955" cy="228"/>
            </a:xfrm>
            <a:prstGeom prst="leftArrow">
              <a:avLst>
                <a:gd name="adj1" fmla="val 50000"/>
                <a:gd name="adj2" fmla="val 214364"/>
              </a:avLst>
            </a:prstGeom>
            <a:solidFill>
              <a:srgbClr val="339966"/>
            </a:solidFill>
            <a:ln w="9525">
              <a:noFill/>
              <a:miter lim="800000"/>
              <a:headEnd/>
              <a:tailEnd/>
            </a:ln>
            <a:effectLst/>
          </p:spPr>
          <p:txBody>
            <a:bodyPr wrap="none" anchor="ctr"/>
            <a:lstStyle/>
            <a:p>
              <a:endParaRPr lang="en-US"/>
            </a:p>
          </p:txBody>
        </p:sp>
      </p:grpSp>
      <p:grpSp>
        <p:nvGrpSpPr>
          <p:cNvPr id="4" name="Group 29"/>
          <p:cNvGrpSpPr>
            <a:grpSpLocks/>
          </p:cNvGrpSpPr>
          <p:nvPr/>
        </p:nvGrpSpPr>
        <p:grpSpPr bwMode="auto">
          <a:xfrm>
            <a:off x="2589213" y="4283075"/>
            <a:ext cx="3703637" cy="814388"/>
            <a:chOff x="1631" y="2698"/>
            <a:chExt cx="2333" cy="513"/>
          </a:xfrm>
        </p:grpSpPr>
        <p:sp>
          <p:nvSpPr>
            <p:cNvPr id="42004" name="AutoShape 20"/>
            <p:cNvSpPr>
              <a:spLocks noChangeArrowheads="1"/>
            </p:cNvSpPr>
            <p:nvPr/>
          </p:nvSpPr>
          <p:spPr bwMode="auto">
            <a:xfrm>
              <a:off x="1782" y="2698"/>
              <a:ext cx="1955" cy="228"/>
            </a:xfrm>
            <a:prstGeom prst="leftArrow">
              <a:avLst>
                <a:gd name="adj1" fmla="val 50000"/>
                <a:gd name="adj2" fmla="val 214364"/>
              </a:avLst>
            </a:prstGeom>
            <a:solidFill>
              <a:srgbClr val="FF9900"/>
            </a:solidFill>
            <a:ln w="9525">
              <a:noFill/>
              <a:miter lim="800000"/>
              <a:headEnd/>
              <a:tailEnd/>
            </a:ln>
            <a:effectLst/>
          </p:spPr>
          <p:txBody>
            <a:bodyPr wrap="none" anchor="ctr"/>
            <a:lstStyle/>
            <a:p>
              <a:endParaRPr lang="en-US"/>
            </a:p>
          </p:txBody>
        </p:sp>
        <p:sp>
          <p:nvSpPr>
            <p:cNvPr id="42005" name="Text Box 21"/>
            <p:cNvSpPr txBox="1">
              <a:spLocks noChangeArrowheads="1"/>
            </p:cNvSpPr>
            <p:nvPr/>
          </p:nvSpPr>
          <p:spPr bwMode="auto">
            <a:xfrm>
              <a:off x="1631" y="2961"/>
              <a:ext cx="2333" cy="250"/>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4. HTML codes return to client</a:t>
              </a:r>
            </a:p>
          </p:txBody>
        </p:sp>
      </p:grpSp>
      <p:sp>
        <p:nvSpPr>
          <p:cNvPr id="42006" name="Text Box 22"/>
          <p:cNvSpPr txBox="1">
            <a:spLocks noChangeArrowheads="1"/>
          </p:cNvSpPr>
          <p:nvPr/>
        </p:nvSpPr>
        <p:spPr bwMode="auto">
          <a:xfrm>
            <a:off x="7162800" y="4013200"/>
            <a:ext cx="2197100" cy="1920875"/>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3.Web server processes instructions and creates the necessary HTML codes</a:t>
            </a:r>
          </a:p>
        </p:txBody>
      </p:sp>
      <p:sp>
        <p:nvSpPr>
          <p:cNvPr id="42007" name="Text Box 23"/>
          <p:cNvSpPr txBox="1">
            <a:spLocks noChangeArrowheads="1"/>
          </p:cNvSpPr>
          <p:nvPr/>
        </p:nvSpPr>
        <p:spPr bwMode="auto">
          <a:xfrm>
            <a:off x="374650" y="5251450"/>
            <a:ext cx="3687763" cy="701675"/>
          </a:xfrm>
          <a:prstGeom prst="rect">
            <a:avLst/>
          </a:prstGeom>
          <a:noFill/>
          <a:ln w="9525">
            <a:noFill/>
            <a:miter lim="800000"/>
            <a:headEnd/>
            <a:tailEnd/>
          </a:ln>
          <a:effectLst/>
        </p:spPr>
        <p:txBody>
          <a:bodyPr>
            <a:spAutoFit/>
          </a:bodyPr>
          <a:lstStyle/>
          <a:p>
            <a:pPr marL="288925" indent="-288925"/>
            <a:r>
              <a:rPr lang="en-US" altLang="zh-TW" sz="2000">
                <a:latin typeface="Arial" charset="0"/>
                <a:ea typeface="標楷體" pitchFamily="65" charset="-120"/>
              </a:rPr>
              <a:t>5. Client browsers display the web pages</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1999"/>
                                        </p:tgtEl>
                                        <p:attrNameLst>
                                          <p:attrName>style.visibility</p:attrName>
                                        </p:attrNameLst>
                                      </p:cBhvr>
                                      <p:to>
                                        <p:strVal val="visible"/>
                                      </p:to>
                                    </p:set>
                                    <p:animEffect transition="in" filter="dissolve">
                                      <p:cBhvr>
                                        <p:cTn id="17" dur="500"/>
                                        <p:tgtEl>
                                          <p:spTgt spid="4199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2006"/>
                                        </p:tgtEl>
                                        <p:attrNameLst>
                                          <p:attrName>style.visibility</p:attrName>
                                        </p:attrNameLst>
                                      </p:cBhvr>
                                      <p:to>
                                        <p:strVal val="visible"/>
                                      </p:to>
                                    </p:set>
                                    <p:animEffect transition="in" filter="dissolve">
                                      <p:cBhvr>
                                        <p:cTn id="22" dur="500"/>
                                        <p:tgtEl>
                                          <p:spTgt spid="4200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2007"/>
                                        </p:tgtEl>
                                        <p:attrNameLst>
                                          <p:attrName>style.visibility</p:attrName>
                                        </p:attrNameLst>
                                      </p:cBhvr>
                                      <p:to>
                                        <p:strVal val="visible"/>
                                      </p:to>
                                    </p:set>
                                    <p:animEffect transition="in" filter="dissolve">
                                      <p:cBhvr>
                                        <p:cTn id="32" dur="500"/>
                                        <p:tgtEl>
                                          <p:spTgt spid="42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9" grpId="0" autoUpdateAnimBg="0"/>
      <p:bldP spid="42006" grpId="0" autoUpdateAnimBg="0"/>
      <p:bldP spid="42007"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609600" y="534535"/>
            <a:ext cx="8534400" cy="1477328"/>
          </a:xfrm>
          <a:prstGeom prst="rect">
            <a:avLst/>
          </a:prstGeom>
          <a:noFill/>
          <a:ln w="9525">
            <a:noFill/>
            <a:miter lim="800000"/>
            <a:headEnd/>
            <a:tailEnd/>
          </a:ln>
          <a:effectLst/>
        </p:spPr>
        <p:txBody>
          <a:bodyPr>
            <a:spAutoFit/>
          </a:bodyPr>
          <a:lstStyle/>
          <a:p>
            <a:pPr>
              <a:spcBef>
                <a:spcPct val="50000"/>
              </a:spcBef>
            </a:pPr>
            <a:r>
              <a:rPr lang="en-US" sz="3600" dirty="0"/>
              <a:t>Dynamic pages architecture:</a:t>
            </a:r>
          </a:p>
          <a:p>
            <a:pPr>
              <a:spcBef>
                <a:spcPct val="50000"/>
              </a:spcBef>
            </a:pPr>
            <a:endParaRPr lang="en-US" sz="3600" dirty="0"/>
          </a:p>
        </p:txBody>
      </p:sp>
      <p:sp>
        <p:nvSpPr>
          <p:cNvPr id="22533" name="Line 5"/>
          <p:cNvSpPr>
            <a:spLocks noChangeShapeType="1"/>
          </p:cNvSpPr>
          <p:nvPr/>
        </p:nvSpPr>
        <p:spPr bwMode="auto">
          <a:xfrm flipV="1">
            <a:off x="6257925" y="2579688"/>
            <a:ext cx="0" cy="990600"/>
          </a:xfrm>
          <a:prstGeom prst="line">
            <a:avLst/>
          </a:prstGeom>
          <a:noFill/>
          <a:ln w="15875">
            <a:solidFill>
              <a:schemeClr val="tx1"/>
            </a:solidFill>
            <a:round/>
            <a:headEnd/>
            <a:tailEnd type="triangle" w="lg" len="lg"/>
          </a:ln>
          <a:effectLst/>
        </p:spPr>
        <p:txBody>
          <a:bodyPr/>
          <a:lstStyle/>
          <a:p>
            <a:endParaRPr lang="en-US"/>
          </a:p>
        </p:txBody>
      </p:sp>
      <p:sp>
        <p:nvSpPr>
          <p:cNvPr id="22534" name="Line 6"/>
          <p:cNvSpPr>
            <a:spLocks noChangeShapeType="1"/>
          </p:cNvSpPr>
          <p:nvPr/>
        </p:nvSpPr>
        <p:spPr bwMode="auto">
          <a:xfrm flipH="1">
            <a:off x="5105400" y="2590800"/>
            <a:ext cx="0" cy="990600"/>
          </a:xfrm>
          <a:prstGeom prst="line">
            <a:avLst/>
          </a:prstGeom>
          <a:noFill/>
          <a:ln w="15875">
            <a:solidFill>
              <a:schemeClr val="tx1"/>
            </a:solidFill>
            <a:round/>
            <a:headEnd/>
            <a:tailEnd type="triangle" w="lg" len="lg"/>
          </a:ln>
          <a:effectLst/>
        </p:spPr>
        <p:txBody>
          <a:bodyPr/>
          <a:lstStyle/>
          <a:p>
            <a:endParaRPr lang="en-US"/>
          </a:p>
        </p:txBody>
      </p:sp>
      <p:grpSp>
        <p:nvGrpSpPr>
          <p:cNvPr id="2" name="Group 14"/>
          <p:cNvGrpSpPr>
            <a:grpSpLocks/>
          </p:cNvGrpSpPr>
          <p:nvPr/>
        </p:nvGrpSpPr>
        <p:grpSpPr bwMode="auto">
          <a:xfrm>
            <a:off x="4953000" y="1371600"/>
            <a:ext cx="1447800" cy="1295400"/>
            <a:chOff x="1056" y="2544"/>
            <a:chExt cx="1248" cy="1152"/>
          </a:xfrm>
        </p:grpSpPr>
        <p:sp>
          <p:nvSpPr>
            <p:cNvPr id="22531" name="Oval 3"/>
            <p:cNvSpPr>
              <a:spLocks noChangeArrowheads="1"/>
            </p:cNvSpPr>
            <p:nvPr/>
          </p:nvSpPr>
          <p:spPr bwMode="auto">
            <a:xfrm>
              <a:off x="1056" y="2544"/>
              <a:ext cx="1248" cy="1152"/>
            </a:xfrm>
            <a:prstGeom prst="ellipse">
              <a:avLst/>
            </a:prstGeom>
            <a:noFill/>
            <a:ln w="19050">
              <a:solidFill>
                <a:schemeClr val="tx1"/>
              </a:solidFill>
              <a:round/>
              <a:headEnd/>
              <a:tailEnd/>
            </a:ln>
            <a:effectLst/>
          </p:spPr>
          <p:txBody>
            <a:bodyPr wrap="none" anchor="ctr"/>
            <a:lstStyle/>
            <a:p>
              <a:endParaRPr lang="en-US"/>
            </a:p>
          </p:txBody>
        </p:sp>
        <p:sp>
          <p:nvSpPr>
            <p:cNvPr id="22535" name="Text Box 7"/>
            <p:cNvSpPr txBox="1">
              <a:spLocks noChangeArrowheads="1"/>
            </p:cNvSpPr>
            <p:nvPr/>
          </p:nvSpPr>
          <p:spPr bwMode="auto">
            <a:xfrm>
              <a:off x="1261" y="2976"/>
              <a:ext cx="864" cy="299"/>
            </a:xfrm>
            <a:prstGeom prst="rect">
              <a:avLst/>
            </a:prstGeom>
            <a:noFill/>
            <a:ln w="9525">
              <a:noFill/>
              <a:miter lim="800000"/>
              <a:headEnd/>
              <a:tailEnd/>
            </a:ln>
            <a:effectLst/>
          </p:spPr>
          <p:txBody>
            <a:bodyPr>
              <a:spAutoFit/>
            </a:bodyPr>
            <a:lstStyle/>
            <a:p>
              <a:pPr algn="ctr">
                <a:spcBef>
                  <a:spcPct val="50000"/>
                </a:spcBef>
              </a:pPr>
              <a:r>
                <a:rPr lang="en-US" sz="1600">
                  <a:solidFill>
                    <a:schemeClr val="tx1"/>
                  </a:solidFill>
                </a:rPr>
                <a:t>Browser</a:t>
              </a:r>
            </a:p>
          </p:txBody>
        </p:sp>
      </p:grpSp>
      <p:sp>
        <p:nvSpPr>
          <p:cNvPr id="22532" name="Oval 4"/>
          <p:cNvSpPr>
            <a:spLocks noChangeArrowheads="1"/>
          </p:cNvSpPr>
          <p:nvPr/>
        </p:nvSpPr>
        <p:spPr bwMode="auto">
          <a:xfrm>
            <a:off x="4953000" y="3505200"/>
            <a:ext cx="1524000" cy="1447800"/>
          </a:xfrm>
          <a:prstGeom prst="ellipse">
            <a:avLst/>
          </a:prstGeom>
          <a:noFill/>
          <a:ln w="19050">
            <a:solidFill>
              <a:schemeClr val="tx1"/>
            </a:solidFill>
            <a:round/>
            <a:headEnd/>
            <a:tailEnd/>
          </a:ln>
          <a:effectLst/>
        </p:spPr>
        <p:txBody>
          <a:bodyPr wrap="none" anchor="ctr"/>
          <a:lstStyle/>
          <a:p>
            <a:endParaRPr lang="en-US"/>
          </a:p>
        </p:txBody>
      </p:sp>
      <p:sp>
        <p:nvSpPr>
          <p:cNvPr id="22536" name="Text Box 8"/>
          <p:cNvSpPr txBox="1">
            <a:spLocks noChangeArrowheads="1"/>
          </p:cNvSpPr>
          <p:nvPr/>
        </p:nvSpPr>
        <p:spPr bwMode="auto">
          <a:xfrm>
            <a:off x="5305425" y="4048125"/>
            <a:ext cx="819150" cy="336550"/>
          </a:xfrm>
          <a:prstGeom prst="rect">
            <a:avLst/>
          </a:prstGeom>
          <a:noFill/>
          <a:ln w="9525">
            <a:noFill/>
            <a:miter lim="800000"/>
            <a:headEnd/>
            <a:tailEnd/>
          </a:ln>
          <a:effectLst/>
        </p:spPr>
        <p:txBody>
          <a:bodyPr>
            <a:spAutoFit/>
          </a:bodyPr>
          <a:lstStyle/>
          <a:p>
            <a:pPr algn="ctr">
              <a:spcBef>
                <a:spcPct val="50000"/>
              </a:spcBef>
            </a:pPr>
            <a:r>
              <a:rPr lang="en-US" sz="1600">
                <a:solidFill>
                  <a:schemeClr val="tx1"/>
                </a:solidFill>
              </a:rPr>
              <a:t>Server</a:t>
            </a:r>
          </a:p>
        </p:txBody>
      </p:sp>
      <p:pic>
        <p:nvPicPr>
          <p:cNvPr id="22539" name="Picture 11" descr="D:\Peter\Desktop\Pictures\orange.GIF"/>
          <p:cNvPicPr>
            <a:picLocks noChangeAspect="1" noChangeArrowheads="1"/>
          </p:cNvPicPr>
          <p:nvPr/>
        </p:nvPicPr>
        <p:blipFill>
          <a:blip r:embed="rId3"/>
          <a:srcRect/>
          <a:stretch>
            <a:fillRect/>
          </a:stretch>
        </p:blipFill>
        <p:spPr bwMode="auto">
          <a:xfrm>
            <a:off x="0" y="0"/>
            <a:ext cx="650875" cy="685800"/>
          </a:xfrm>
          <a:prstGeom prst="rect">
            <a:avLst/>
          </a:prstGeom>
          <a:noFill/>
        </p:spPr>
      </p:pic>
      <p:sp>
        <p:nvSpPr>
          <p:cNvPr id="22545" name="Text Box 17"/>
          <p:cNvSpPr txBox="1">
            <a:spLocks noChangeArrowheads="1"/>
          </p:cNvSpPr>
          <p:nvPr/>
        </p:nvSpPr>
        <p:spPr bwMode="auto">
          <a:xfrm>
            <a:off x="1828800" y="2667000"/>
            <a:ext cx="3181350" cy="703263"/>
          </a:xfrm>
          <a:prstGeom prst="rect">
            <a:avLst/>
          </a:prstGeom>
          <a:noFill/>
          <a:ln w="9525">
            <a:noFill/>
            <a:miter lim="800000"/>
            <a:headEnd/>
            <a:tailEnd/>
          </a:ln>
          <a:effectLst/>
        </p:spPr>
        <p:txBody>
          <a:bodyPr>
            <a:spAutoFit/>
          </a:bodyPr>
          <a:lstStyle/>
          <a:p>
            <a:pPr algn="r">
              <a:spcBef>
                <a:spcPct val="50000"/>
              </a:spcBef>
            </a:pPr>
            <a:r>
              <a:rPr lang="en-US" sz="1600">
                <a:solidFill>
                  <a:schemeClr val="tx1"/>
                </a:solidFill>
              </a:rPr>
              <a:t>Browser requests document</a:t>
            </a:r>
          </a:p>
          <a:p>
            <a:pPr algn="r">
              <a:spcBef>
                <a:spcPct val="50000"/>
              </a:spcBef>
            </a:pPr>
            <a:r>
              <a:rPr lang="en-US" sz="1600">
                <a:solidFill>
                  <a:schemeClr val="tx1"/>
                </a:solidFill>
              </a:rPr>
              <a:t>e.g </a:t>
            </a:r>
            <a:r>
              <a:rPr lang="en-US" sz="1600">
                <a:solidFill>
                  <a:srgbClr val="FF0000"/>
                </a:solidFill>
              </a:rPr>
              <a:t>form</a:t>
            </a:r>
            <a:r>
              <a:rPr lang="en-US" sz="1600">
                <a:solidFill>
                  <a:schemeClr val="tx1"/>
                </a:solidFill>
              </a:rPr>
              <a:t> on web page</a:t>
            </a:r>
          </a:p>
        </p:txBody>
      </p:sp>
      <p:sp>
        <p:nvSpPr>
          <p:cNvPr id="22546" name="Text Box 18"/>
          <p:cNvSpPr txBox="1">
            <a:spLocks noChangeArrowheads="1"/>
          </p:cNvSpPr>
          <p:nvPr/>
        </p:nvSpPr>
        <p:spPr bwMode="auto">
          <a:xfrm>
            <a:off x="6419850" y="2895600"/>
            <a:ext cx="2724150" cy="581025"/>
          </a:xfrm>
          <a:prstGeom prst="rect">
            <a:avLst/>
          </a:prstGeom>
          <a:noFill/>
          <a:ln w="9525">
            <a:noFill/>
            <a:miter lim="800000"/>
            <a:headEnd/>
            <a:tailEnd/>
          </a:ln>
          <a:effectLst/>
        </p:spPr>
        <p:txBody>
          <a:bodyPr>
            <a:spAutoFit/>
          </a:bodyPr>
          <a:lstStyle/>
          <a:p>
            <a:pPr>
              <a:spcBef>
                <a:spcPct val="50000"/>
              </a:spcBef>
            </a:pPr>
            <a:r>
              <a:rPr lang="en-US" sz="1600">
                <a:solidFill>
                  <a:schemeClr val="tx1"/>
                </a:solidFill>
              </a:rPr>
              <a:t>Server sends complete document</a:t>
            </a:r>
          </a:p>
        </p:txBody>
      </p:sp>
      <p:sp>
        <p:nvSpPr>
          <p:cNvPr id="22547" name="Rectangle 19"/>
          <p:cNvSpPr>
            <a:spLocks noChangeArrowheads="1"/>
          </p:cNvSpPr>
          <p:nvPr/>
        </p:nvSpPr>
        <p:spPr bwMode="auto">
          <a:xfrm>
            <a:off x="2263775" y="4648200"/>
            <a:ext cx="1828800" cy="838200"/>
          </a:xfrm>
          <a:prstGeom prst="rect">
            <a:avLst/>
          </a:prstGeom>
          <a:noFill/>
          <a:ln w="9525">
            <a:solidFill>
              <a:schemeClr val="tx1"/>
            </a:solidFill>
            <a:miter lim="800000"/>
            <a:headEnd/>
            <a:tailEnd/>
          </a:ln>
          <a:effectLst/>
        </p:spPr>
        <p:txBody>
          <a:bodyPr wrap="none" anchor="ctr"/>
          <a:lstStyle/>
          <a:p>
            <a:endParaRPr lang="en-US"/>
          </a:p>
        </p:txBody>
      </p:sp>
      <p:sp>
        <p:nvSpPr>
          <p:cNvPr id="22548" name="Text Box 20"/>
          <p:cNvSpPr txBox="1">
            <a:spLocks noChangeArrowheads="1"/>
          </p:cNvSpPr>
          <p:nvPr/>
        </p:nvSpPr>
        <p:spPr bwMode="auto">
          <a:xfrm>
            <a:off x="2492375" y="4876800"/>
            <a:ext cx="1447800" cy="336550"/>
          </a:xfrm>
          <a:prstGeom prst="rect">
            <a:avLst/>
          </a:prstGeom>
          <a:noFill/>
          <a:ln w="9525">
            <a:noFill/>
            <a:miter lim="800000"/>
            <a:headEnd/>
            <a:tailEnd/>
          </a:ln>
          <a:effectLst/>
        </p:spPr>
        <p:txBody>
          <a:bodyPr>
            <a:spAutoFit/>
          </a:bodyPr>
          <a:lstStyle/>
          <a:p>
            <a:pPr algn="ctr">
              <a:spcBef>
                <a:spcPct val="50000"/>
              </a:spcBef>
            </a:pPr>
            <a:r>
              <a:rPr lang="en-US" sz="1600">
                <a:solidFill>
                  <a:schemeClr val="tx1"/>
                </a:solidFill>
              </a:rPr>
              <a:t>Perl Program</a:t>
            </a:r>
          </a:p>
        </p:txBody>
      </p:sp>
      <p:sp>
        <p:nvSpPr>
          <p:cNvPr id="22549" name="Line 21"/>
          <p:cNvSpPr>
            <a:spLocks noChangeShapeType="1"/>
          </p:cNvSpPr>
          <p:nvPr/>
        </p:nvSpPr>
        <p:spPr bwMode="auto">
          <a:xfrm flipH="1">
            <a:off x="4114800" y="4495800"/>
            <a:ext cx="838200" cy="381000"/>
          </a:xfrm>
          <a:prstGeom prst="line">
            <a:avLst/>
          </a:prstGeom>
          <a:noFill/>
          <a:ln w="15875">
            <a:solidFill>
              <a:schemeClr val="tx1"/>
            </a:solidFill>
            <a:round/>
            <a:headEnd/>
            <a:tailEnd type="triangle" w="lg" len="lg"/>
          </a:ln>
          <a:effectLst/>
        </p:spPr>
        <p:txBody>
          <a:bodyPr/>
          <a:lstStyle/>
          <a:p>
            <a:endParaRPr lang="en-US"/>
          </a:p>
        </p:txBody>
      </p:sp>
      <p:sp>
        <p:nvSpPr>
          <p:cNvPr id="22550" name="Line 22"/>
          <p:cNvSpPr>
            <a:spLocks noChangeShapeType="1"/>
          </p:cNvSpPr>
          <p:nvPr/>
        </p:nvSpPr>
        <p:spPr bwMode="auto">
          <a:xfrm flipV="1">
            <a:off x="4191000" y="4876800"/>
            <a:ext cx="990600" cy="457200"/>
          </a:xfrm>
          <a:prstGeom prst="line">
            <a:avLst/>
          </a:prstGeom>
          <a:noFill/>
          <a:ln w="15875">
            <a:solidFill>
              <a:schemeClr val="tx1"/>
            </a:solidFill>
            <a:round/>
            <a:headEnd/>
            <a:tailEnd type="triangle" w="lg" len="lg"/>
          </a:ln>
          <a:effectLst/>
        </p:spPr>
        <p:txBody>
          <a:bodyPr/>
          <a:lstStyle/>
          <a:p>
            <a:endParaRPr lang="en-US"/>
          </a:p>
        </p:txBody>
      </p:sp>
      <p:sp>
        <p:nvSpPr>
          <p:cNvPr id="22551" name="Text Box 23"/>
          <p:cNvSpPr txBox="1">
            <a:spLocks noChangeArrowheads="1"/>
          </p:cNvSpPr>
          <p:nvPr/>
        </p:nvSpPr>
        <p:spPr bwMode="auto">
          <a:xfrm>
            <a:off x="1543050" y="4311650"/>
            <a:ext cx="3181350" cy="336550"/>
          </a:xfrm>
          <a:prstGeom prst="rect">
            <a:avLst/>
          </a:prstGeom>
          <a:noFill/>
          <a:ln w="9525">
            <a:noFill/>
            <a:miter lim="800000"/>
            <a:headEnd/>
            <a:tailEnd/>
          </a:ln>
          <a:effectLst/>
        </p:spPr>
        <p:txBody>
          <a:bodyPr>
            <a:spAutoFit/>
          </a:bodyPr>
          <a:lstStyle/>
          <a:p>
            <a:pPr algn="r">
              <a:spcBef>
                <a:spcPct val="50000"/>
              </a:spcBef>
            </a:pPr>
            <a:r>
              <a:rPr lang="en-US" sz="1600" dirty="0">
                <a:solidFill>
                  <a:schemeClr val="tx1"/>
                </a:solidFill>
              </a:rPr>
              <a:t>Server rec. </a:t>
            </a:r>
            <a:r>
              <a:rPr lang="en-US" sz="1600" dirty="0">
                <a:solidFill>
                  <a:srgbClr val="FF0000"/>
                </a:solidFill>
              </a:rPr>
              <a:t>CGI request</a:t>
            </a:r>
          </a:p>
        </p:txBody>
      </p:sp>
      <p:sp>
        <p:nvSpPr>
          <p:cNvPr id="22552" name="Text Box 24"/>
          <p:cNvSpPr txBox="1">
            <a:spLocks noChangeArrowheads="1"/>
          </p:cNvSpPr>
          <p:nvPr/>
        </p:nvSpPr>
        <p:spPr bwMode="auto">
          <a:xfrm>
            <a:off x="4724400" y="5029200"/>
            <a:ext cx="3657600" cy="581025"/>
          </a:xfrm>
          <a:prstGeom prst="rect">
            <a:avLst/>
          </a:prstGeom>
          <a:noFill/>
          <a:ln w="9525">
            <a:noFill/>
            <a:miter lim="800000"/>
            <a:headEnd/>
            <a:tailEnd/>
          </a:ln>
          <a:effectLst/>
        </p:spPr>
        <p:txBody>
          <a:bodyPr>
            <a:spAutoFit/>
          </a:bodyPr>
          <a:lstStyle/>
          <a:p>
            <a:pPr>
              <a:spcBef>
                <a:spcPct val="50000"/>
              </a:spcBef>
            </a:pPr>
            <a:r>
              <a:rPr lang="en-US" sz="1600">
                <a:solidFill>
                  <a:schemeClr val="tx1"/>
                </a:solidFill>
              </a:rPr>
              <a:t>Program constructs new document or sends specific one that already exists</a:t>
            </a:r>
          </a:p>
        </p:txBody>
      </p:sp>
      <p:sp>
        <p:nvSpPr>
          <p:cNvPr id="22553" name="Rectangle 25"/>
          <p:cNvSpPr>
            <a:spLocks noChangeArrowheads="1"/>
          </p:cNvSpPr>
          <p:nvPr/>
        </p:nvSpPr>
        <p:spPr bwMode="auto">
          <a:xfrm>
            <a:off x="2100263" y="3429000"/>
            <a:ext cx="6553200" cy="2438400"/>
          </a:xfrm>
          <a:prstGeom prst="rect">
            <a:avLst/>
          </a:prstGeom>
          <a:noFill/>
          <a:ln w="9525">
            <a:solidFill>
              <a:schemeClr val="tx1"/>
            </a:solidFill>
            <a:miter lim="800000"/>
            <a:headEnd/>
            <a:tailEnd/>
          </a:ln>
          <a:effectLst/>
        </p:spPr>
        <p:txBody>
          <a:bodyPr wrap="none" anchor="ctr"/>
          <a:lstStyle/>
          <a:p>
            <a:endParaRPr lang="en-US"/>
          </a:p>
        </p:txBody>
      </p:sp>
      <p:sp>
        <p:nvSpPr>
          <p:cNvPr id="22554" name="Oval 26"/>
          <p:cNvSpPr>
            <a:spLocks noChangeArrowheads="1"/>
          </p:cNvSpPr>
          <p:nvPr/>
        </p:nvSpPr>
        <p:spPr bwMode="auto">
          <a:xfrm>
            <a:off x="4800600" y="3352800"/>
            <a:ext cx="228600" cy="152400"/>
          </a:xfrm>
          <a:prstGeom prst="ellipse">
            <a:avLst/>
          </a:prstGeom>
          <a:solidFill>
            <a:schemeClr val="bg1"/>
          </a:solidFill>
          <a:ln w="9525">
            <a:solidFill>
              <a:schemeClr val="bg1"/>
            </a:solidFill>
            <a:round/>
            <a:headEnd/>
            <a:tailEnd/>
          </a:ln>
          <a:effectLst/>
        </p:spPr>
        <p:txBody>
          <a:bodyPr wrap="none" anchor="ctr"/>
          <a:lstStyle/>
          <a:p>
            <a:endParaRPr lang="en-US"/>
          </a:p>
        </p:txBody>
      </p:sp>
      <p:sp>
        <p:nvSpPr>
          <p:cNvPr id="22555" name="Oval 27"/>
          <p:cNvSpPr>
            <a:spLocks noChangeArrowheads="1"/>
          </p:cNvSpPr>
          <p:nvPr/>
        </p:nvSpPr>
        <p:spPr bwMode="auto">
          <a:xfrm>
            <a:off x="5181600" y="3352800"/>
            <a:ext cx="228600" cy="152400"/>
          </a:xfrm>
          <a:prstGeom prst="ellipse">
            <a:avLst/>
          </a:prstGeom>
          <a:solidFill>
            <a:schemeClr val="bg1"/>
          </a:solidFill>
          <a:ln w="9525">
            <a:solidFill>
              <a:schemeClr val="bg1"/>
            </a:solidFill>
            <a:round/>
            <a:headEnd/>
            <a:tailEnd/>
          </a:ln>
          <a:effectLst/>
        </p:spPr>
        <p:txBody>
          <a:bodyPr wrap="none" anchor="ctr"/>
          <a:lstStyle/>
          <a:p>
            <a:endParaRPr lang="en-US"/>
          </a:p>
        </p:txBody>
      </p:sp>
      <p:sp>
        <p:nvSpPr>
          <p:cNvPr id="22556" name="Oval 28"/>
          <p:cNvSpPr>
            <a:spLocks noChangeArrowheads="1"/>
          </p:cNvSpPr>
          <p:nvPr/>
        </p:nvSpPr>
        <p:spPr bwMode="auto">
          <a:xfrm>
            <a:off x="6019800" y="3352800"/>
            <a:ext cx="228600" cy="152400"/>
          </a:xfrm>
          <a:prstGeom prst="ellipse">
            <a:avLst/>
          </a:prstGeom>
          <a:solidFill>
            <a:schemeClr val="bg1"/>
          </a:solidFill>
          <a:ln w="9525">
            <a:solidFill>
              <a:schemeClr val="bg1"/>
            </a:solidFill>
            <a:round/>
            <a:headEnd/>
            <a:tailEnd/>
          </a:ln>
          <a:effectLst/>
        </p:spPr>
        <p:txBody>
          <a:bodyPr wrap="none" anchor="ctr"/>
          <a:lstStyle/>
          <a:p>
            <a:endParaRPr lang="en-US"/>
          </a:p>
        </p:txBody>
      </p:sp>
      <p:sp>
        <p:nvSpPr>
          <p:cNvPr id="22557" name="Oval 29"/>
          <p:cNvSpPr>
            <a:spLocks noChangeArrowheads="1"/>
          </p:cNvSpPr>
          <p:nvPr/>
        </p:nvSpPr>
        <p:spPr bwMode="auto">
          <a:xfrm>
            <a:off x="6270625" y="3352800"/>
            <a:ext cx="228600" cy="152400"/>
          </a:xfrm>
          <a:prstGeom prst="ellipse">
            <a:avLst/>
          </a:prstGeom>
          <a:solidFill>
            <a:schemeClr val="bg1"/>
          </a:solidFill>
          <a:ln w="9525">
            <a:solidFill>
              <a:schemeClr val="bg1"/>
            </a:solidFill>
            <a:round/>
            <a:headEnd/>
            <a:tailEnd/>
          </a:ln>
          <a:effectLst/>
        </p:spPr>
        <p:txBody>
          <a:bodyPr wrap="none" anchor="ct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21" name="Rectangle 13"/>
          <p:cNvSpPr>
            <a:spLocks noGrp="1" noChangeArrowheads="1"/>
          </p:cNvSpPr>
          <p:nvPr>
            <p:ph type="title"/>
          </p:nvPr>
        </p:nvSpPr>
        <p:spPr>
          <a:xfrm>
            <a:off x="283029" y="307069"/>
            <a:ext cx="8686800" cy="762000"/>
          </a:xfrm>
        </p:spPr>
        <p:txBody>
          <a:bodyPr>
            <a:normAutofit fontScale="90000"/>
          </a:bodyPr>
          <a:lstStyle/>
          <a:p>
            <a:pPr>
              <a:tabLst>
                <a:tab pos="1428750" algn="l"/>
              </a:tabLst>
            </a:pPr>
            <a:r>
              <a:rPr lang="en-US" altLang="en-US" sz="3000" dirty="0">
                <a:solidFill>
                  <a:srgbClr val="333399"/>
                </a:solidFill>
              </a:rPr>
              <a:t>Client-Side </a:t>
            </a:r>
            <a:r>
              <a:rPr lang="en-US" altLang="zh-TW" sz="3000" dirty="0">
                <a:solidFill>
                  <a:srgbClr val="333399"/>
                </a:solidFill>
              </a:rPr>
              <a:t>Dynamic Web Pages </a:t>
            </a:r>
            <a:r>
              <a:rPr lang="en-US" altLang="zh-TW" sz="3000" dirty="0" smtClean="0">
                <a:solidFill>
                  <a:srgbClr val="333399"/>
                </a:solidFill>
              </a:rPr>
              <a:t>   Vs</a:t>
            </a:r>
            <a:br>
              <a:rPr lang="en-US" altLang="zh-TW" sz="3000" dirty="0" smtClean="0">
                <a:solidFill>
                  <a:srgbClr val="333399"/>
                </a:solidFill>
              </a:rPr>
            </a:br>
            <a:r>
              <a:rPr lang="en-US" altLang="zh-TW" sz="3000" dirty="0" smtClean="0">
                <a:solidFill>
                  <a:srgbClr val="333399"/>
                </a:solidFill>
              </a:rPr>
              <a:t>                             Server</a:t>
            </a:r>
            <a:r>
              <a:rPr lang="en-US" altLang="en-US" sz="3000" dirty="0" smtClean="0">
                <a:solidFill>
                  <a:srgbClr val="333399"/>
                </a:solidFill>
              </a:rPr>
              <a:t>-Side </a:t>
            </a:r>
            <a:r>
              <a:rPr lang="en-US" altLang="zh-TW" sz="3000" dirty="0">
                <a:solidFill>
                  <a:srgbClr val="333399"/>
                </a:solidFill>
              </a:rPr>
              <a:t>Dynamic Web Pages</a:t>
            </a:r>
          </a:p>
        </p:txBody>
      </p:sp>
      <p:grpSp>
        <p:nvGrpSpPr>
          <p:cNvPr id="2" name="Group 102"/>
          <p:cNvGrpSpPr>
            <a:grpSpLocks/>
          </p:cNvGrpSpPr>
          <p:nvPr/>
        </p:nvGrpSpPr>
        <p:grpSpPr bwMode="auto">
          <a:xfrm>
            <a:off x="420914" y="1233715"/>
            <a:ext cx="8447316" cy="5414362"/>
            <a:chOff x="612" y="1419"/>
            <a:chExt cx="4362" cy="2605"/>
          </a:xfrm>
        </p:grpSpPr>
        <p:pic>
          <p:nvPicPr>
            <p:cNvPr id="43108" name="Picture 100"/>
            <p:cNvPicPr>
              <a:picLocks noChangeAspect="1" noChangeArrowheads="1"/>
            </p:cNvPicPr>
            <p:nvPr/>
          </p:nvPicPr>
          <p:blipFill>
            <a:blip r:embed="rId2"/>
            <a:srcRect l="34961" t="20638" r="9082" b="40082"/>
            <a:stretch>
              <a:fillRect/>
            </a:stretch>
          </p:blipFill>
          <p:spPr bwMode="auto">
            <a:xfrm>
              <a:off x="612" y="1419"/>
              <a:ext cx="4362" cy="2297"/>
            </a:xfrm>
            <a:prstGeom prst="rect">
              <a:avLst/>
            </a:prstGeom>
            <a:noFill/>
            <a:ln w="9525">
              <a:noFill/>
              <a:miter lim="800000"/>
              <a:headEnd/>
              <a:tailEnd/>
            </a:ln>
            <a:effectLst/>
          </p:spPr>
        </p:pic>
        <p:sp>
          <p:nvSpPr>
            <p:cNvPr id="43109" name="Text Box 101"/>
            <p:cNvSpPr txBox="1">
              <a:spLocks noChangeArrowheads="1"/>
            </p:cNvSpPr>
            <p:nvPr/>
          </p:nvSpPr>
          <p:spPr bwMode="auto">
            <a:xfrm>
              <a:off x="1931" y="3683"/>
              <a:ext cx="2946" cy="341"/>
            </a:xfrm>
            <a:prstGeom prst="rect">
              <a:avLst/>
            </a:prstGeom>
            <a:noFill/>
            <a:ln w="9525">
              <a:noFill/>
              <a:miter lim="800000"/>
              <a:headEnd/>
              <a:tailEnd/>
            </a:ln>
            <a:effectLst/>
          </p:spPr>
          <p:txBody>
            <a:bodyPr wrap="square">
              <a:spAutoFit/>
            </a:bodyPr>
            <a:lstStyle/>
            <a:p>
              <a:r>
                <a:rPr lang="en-US" altLang="zh-TW" sz="2000" dirty="0">
                  <a:latin typeface="Arial" charset="0"/>
                  <a:ea typeface="標楷體" pitchFamily="65" charset="-120"/>
                </a:rPr>
                <a:t>Comparison between client-side and server-side </a:t>
              </a:r>
            </a:p>
            <a:p>
              <a:r>
                <a:rPr lang="en-US" altLang="zh-TW" sz="2000" dirty="0">
                  <a:latin typeface="Arial" charset="0"/>
                  <a:ea typeface="標楷體" pitchFamily="65" charset="-120"/>
                </a:rPr>
                <a:t>dynamic web pages</a:t>
              </a:r>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457881" y="1523546"/>
            <a:ext cx="8094662" cy="4557940"/>
          </a:xfrm>
        </p:spPr>
        <p:txBody>
          <a:bodyPr>
            <a:normAutofit/>
          </a:bodyPr>
          <a:lstStyle/>
          <a:p>
            <a:r>
              <a:rPr lang="en-US" altLang="zh-TW" dirty="0" smtClean="0">
                <a:latin typeface="Arial" charset="0"/>
              </a:rPr>
              <a:t>JavaScript</a:t>
            </a:r>
          </a:p>
          <a:p>
            <a:r>
              <a:rPr lang="en-US" altLang="zh-TW" dirty="0" smtClean="0">
                <a:latin typeface="Arial" charset="0"/>
              </a:rPr>
              <a:t>VBScript</a:t>
            </a:r>
          </a:p>
          <a:p>
            <a:r>
              <a:rPr lang="en-US" altLang="zh-TW" dirty="0" smtClean="0">
                <a:latin typeface="Arial" charset="0"/>
              </a:rPr>
              <a:t>Java</a:t>
            </a:r>
          </a:p>
          <a:p>
            <a:r>
              <a:rPr lang="en-US" altLang="zh-TW" dirty="0" smtClean="0">
                <a:latin typeface="Arial" charset="0"/>
              </a:rPr>
              <a:t>Java Applets</a:t>
            </a:r>
          </a:p>
          <a:p>
            <a:r>
              <a:rPr lang="en-US" altLang="zh-TW" dirty="0" smtClean="0">
                <a:latin typeface="Arial" charset="0"/>
              </a:rPr>
              <a:t>Common Gateway Interface (CGI)</a:t>
            </a:r>
          </a:p>
          <a:p>
            <a:r>
              <a:rPr lang="en-US" altLang="zh-TW" dirty="0" smtClean="0">
                <a:latin typeface="Arial" charset="0"/>
              </a:rPr>
              <a:t>Active Server Pages (ASP)</a:t>
            </a:r>
          </a:p>
          <a:p>
            <a:r>
              <a:rPr lang="en-US" altLang="zh-TW" dirty="0" err="1" smtClean="0">
                <a:latin typeface="Arial" charset="0"/>
              </a:rPr>
              <a:t>HyperText</a:t>
            </a:r>
            <a:r>
              <a:rPr lang="en-US" altLang="zh-TW" dirty="0" smtClean="0">
                <a:latin typeface="Arial" charset="0"/>
              </a:rPr>
              <a:t> Preprocessor (PHP)</a:t>
            </a:r>
          </a:p>
          <a:p>
            <a:endParaRPr lang="en-US" altLang="zh-TW" dirty="0" smtClean="0">
              <a:latin typeface="Arial" charset="0"/>
            </a:endParaRPr>
          </a:p>
          <a:p>
            <a:endParaRPr lang="en-US" altLang="zh-TW" dirty="0" smtClean="0">
              <a:latin typeface="Arial" charset="0"/>
            </a:endParaRPr>
          </a:p>
          <a:p>
            <a:endParaRPr lang="en-US" altLang="zh-TW" dirty="0" smtClean="0">
              <a:latin typeface="Arial" charset="0"/>
            </a:endParaRPr>
          </a:p>
          <a:p>
            <a:endParaRPr lang="en-US" altLang="zh-TW" dirty="0" smtClean="0">
              <a:latin typeface="Arial" charset="0"/>
            </a:endParaRPr>
          </a:p>
          <a:p>
            <a:endParaRPr lang="en-US" altLang="zh-TW" dirty="0" smtClean="0">
              <a:latin typeface="Arial" charset="0"/>
            </a:endParaRPr>
          </a:p>
          <a:p>
            <a:endParaRPr lang="en-US" altLang="zh-TW" dirty="0">
              <a:latin typeface="Arial" charset="0"/>
            </a:endParaRPr>
          </a:p>
        </p:txBody>
      </p:sp>
      <p:sp>
        <p:nvSpPr>
          <p:cNvPr id="33794" name="Rectangle 2"/>
          <p:cNvSpPr>
            <a:spLocks noGrp="1" noChangeArrowheads="1"/>
          </p:cNvSpPr>
          <p:nvPr>
            <p:ph type="title"/>
          </p:nvPr>
        </p:nvSpPr>
        <p:spPr>
          <a:xfrm>
            <a:off x="269875" y="501650"/>
            <a:ext cx="8686800" cy="762000"/>
          </a:xfrm>
        </p:spPr>
        <p:txBody>
          <a:bodyPr>
            <a:normAutofit/>
          </a:bodyPr>
          <a:lstStyle/>
          <a:p>
            <a:pPr>
              <a:tabLst>
                <a:tab pos="1241425" algn="l"/>
              </a:tabLst>
            </a:pPr>
            <a:r>
              <a:rPr lang="en-US" altLang="en-US" sz="3000" dirty="0" smtClean="0">
                <a:solidFill>
                  <a:srgbClr val="333399"/>
                </a:solidFill>
              </a:rPr>
              <a:t>Client-Side </a:t>
            </a:r>
            <a:r>
              <a:rPr lang="en-US" altLang="en-US" sz="3000" dirty="0">
                <a:solidFill>
                  <a:srgbClr val="333399"/>
                </a:solidFill>
              </a:rPr>
              <a:t>Processing Technologies</a:t>
            </a:r>
            <a:endParaRPr lang="en-US" altLang="zh-TW" sz="3000" dirty="0">
              <a:solidFill>
                <a:srgbClr val="333399"/>
              </a:solidFill>
            </a:endParaRPr>
          </a:p>
        </p:txBody>
      </p:sp>
    </p:spTree>
  </p:cSld>
  <p:clrMapOvr>
    <a:masterClrMapping/>
  </p:clrMapOvr>
  <p:transition>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905000"/>
            <a:ext cx="8686800" cy="2474687"/>
          </a:xfrm>
        </p:spPr>
        <p:txBody>
          <a:bodyPr>
            <a:normAutofit/>
          </a:bodyPr>
          <a:lstStyle/>
          <a:p>
            <a:pPr algn="ctr"/>
            <a:r>
              <a:rPr lang="en-US" dirty="0" smtClean="0"/>
              <a:t>Collaborative and Syndication</a:t>
            </a:r>
            <a:br>
              <a:rPr lang="en-US" dirty="0" smtClean="0"/>
            </a:br>
            <a:r>
              <a:rPr lang="en-US" dirty="0" smtClean="0"/>
              <a:t>Web sites </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20333"/>
            <a:ext cx="9144000" cy="5637667"/>
          </a:xfrm>
        </p:spPr>
        <p:txBody>
          <a:bodyPr>
            <a:normAutofit fontScale="92500" lnSpcReduction="20000"/>
          </a:bodyPr>
          <a:lstStyle/>
          <a:p>
            <a:r>
              <a:rPr lang="en-US" dirty="0" smtClean="0"/>
              <a:t>A marketing strategy for websites.</a:t>
            </a:r>
          </a:p>
          <a:p>
            <a:r>
              <a:rPr lang="en-US" dirty="0" smtClean="0"/>
              <a:t>A form of syndication in which website material is made available to multiple other sites.</a:t>
            </a:r>
          </a:p>
          <a:p>
            <a:r>
              <a:rPr lang="en-US" dirty="0" smtClean="0"/>
              <a:t>Refers to making web feeds available from a site in order to provide other people with a summary or update of the website's recently added content</a:t>
            </a:r>
          </a:p>
          <a:p>
            <a:pPr>
              <a:buNone/>
            </a:pPr>
            <a:r>
              <a:rPr lang="en-US" dirty="0" smtClean="0"/>
              <a:t>			 </a:t>
            </a:r>
            <a:r>
              <a:rPr lang="en-US" i="1" dirty="0" smtClean="0"/>
              <a:t>E.g. The latest news or forum posts</a:t>
            </a:r>
          </a:p>
          <a:p>
            <a:r>
              <a:rPr lang="en-US" dirty="0" smtClean="0"/>
              <a:t>Web syndication describes an arrangement between two or more Internet companies for one company to provide material to be made available on the other party's site.</a:t>
            </a:r>
          </a:p>
          <a:p>
            <a:r>
              <a:rPr lang="en-US" i="1" dirty="0" smtClean="0"/>
              <a:t>Syndication</a:t>
            </a:r>
            <a:r>
              <a:rPr lang="en-US" dirty="0" smtClean="0"/>
              <a:t> benefits both the websites providing information and the websites displaying it.</a:t>
            </a:r>
          </a:p>
          <a:p>
            <a:endParaRPr lang="en-US" dirty="0"/>
          </a:p>
        </p:txBody>
      </p:sp>
      <p:sp>
        <p:nvSpPr>
          <p:cNvPr id="2" name="Title 1"/>
          <p:cNvSpPr>
            <a:spLocks noGrp="1"/>
          </p:cNvSpPr>
          <p:nvPr>
            <p:ph type="title"/>
          </p:nvPr>
        </p:nvSpPr>
        <p:spPr>
          <a:xfrm>
            <a:off x="457200" y="341085"/>
            <a:ext cx="8686800" cy="838200"/>
          </a:xfrm>
        </p:spPr>
        <p:txBody>
          <a:bodyPr>
            <a:normAutofit/>
          </a:bodyPr>
          <a:lstStyle/>
          <a:p>
            <a:r>
              <a:rPr lang="en-US" dirty="0" smtClean="0">
                <a:solidFill>
                  <a:schemeClr val="tx2">
                    <a:lumMod val="60000"/>
                    <a:lumOff val="40000"/>
                  </a:schemeClr>
                </a:solidFill>
              </a:rPr>
              <a:t>Web syndication</a:t>
            </a:r>
            <a:endParaRPr lang="en-US" dirty="0">
              <a:solidFill>
                <a:schemeClr val="tx2">
                  <a:lumMod val="60000"/>
                  <a:lumOff val="4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457200" y="1226456"/>
            <a:ext cx="8229600" cy="5631543"/>
          </a:xfrm>
        </p:spPr>
        <p:txBody>
          <a:bodyPr>
            <a:normAutofit fontScale="92500" lnSpcReduction="20000"/>
          </a:bodyPr>
          <a:lstStyle/>
          <a:p>
            <a:pPr marL="0" indent="0">
              <a:buFont typeface="Arial" charset="0"/>
              <a:buNone/>
              <a:defRPr/>
            </a:pPr>
            <a:r>
              <a:rPr lang="en-US" sz="3800" dirty="0" smtClean="0"/>
              <a:t>A collaborative Web site comprises the perpetual collective work of many authors. </a:t>
            </a:r>
          </a:p>
          <a:p>
            <a:pPr marL="0" indent="0">
              <a:buFont typeface="Arial" charset="0"/>
              <a:buNone/>
              <a:defRPr/>
            </a:pPr>
            <a:endParaRPr lang="en-US" sz="3800" dirty="0" smtClean="0"/>
          </a:p>
          <a:p>
            <a:pPr marL="0" indent="0">
              <a:buFont typeface="Arial" charset="0"/>
              <a:buNone/>
              <a:defRPr/>
            </a:pPr>
            <a:r>
              <a:rPr lang="en-US" dirty="0" smtClean="0"/>
              <a:t>  </a:t>
            </a:r>
            <a:r>
              <a:rPr lang="en-US" i="1" dirty="0" smtClean="0"/>
              <a:t>E.g.</a:t>
            </a:r>
          </a:p>
          <a:p>
            <a:pPr>
              <a:buFont typeface="Arial" pitchFamily="34" charset="0"/>
              <a:buChar char="•"/>
              <a:defRPr/>
            </a:pPr>
            <a:r>
              <a:rPr lang="en-US" sz="3300" dirty="0" smtClean="0"/>
              <a:t>Similar to a blog in structure and logic</a:t>
            </a:r>
          </a:p>
          <a:p>
            <a:pPr>
              <a:buFont typeface="Arial" pitchFamily="34" charset="0"/>
              <a:buChar char="•"/>
              <a:defRPr/>
            </a:pPr>
            <a:r>
              <a:rPr lang="en-US" sz="3300" dirty="0" smtClean="0"/>
              <a:t>A wiki allows anyone to edit, delete or modify content that has been placed on the Web site using a browser interface, including the work of previous authors.  </a:t>
            </a:r>
          </a:p>
          <a:p>
            <a:pPr lvl="0">
              <a:buFont typeface="Arial" pitchFamily="34" charset="0"/>
              <a:buChar char="•"/>
              <a:defRPr/>
            </a:pPr>
            <a:r>
              <a:rPr lang="en-US" sz="3300" dirty="0" smtClean="0"/>
              <a:t>A blog, typically authored by an individual, does not allow visitors to change the original posted material, only add comments to the original content.</a:t>
            </a:r>
          </a:p>
          <a:p>
            <a:pPr>
              <a:buFont typeface="Arial" pitchFamily="34" charset="0"/>
              <a:buChar char="•"/>
              <a:defRPr/>
            </a:pPr>
            <a:endParaRPr lang="en-US" sz="3300" dirty="0" smtClean="0"/>
          </a:p>
        </p:txBody>
      </p:sp>
      <p:sp>
        <p:nvSpPr>
          <p:cNvPr id="13314" name="Title 1"/>
          <p:cNvSpPr>
            <a:spLocks noGrp="1"/>
          </p:cNvSpPr>
          <p:nvPr>
            <p:ph type="title"/>
          </p:nvPr>
        </p:nvSpPr>
        <p:spPr>
          <a:xfrm>
            <a:off x="261257" y="312057"/>
            <a:ext cx="8686800" cy="838200"/>
          </a:xfrm>
        </p:spPr>
        <p:txBody>
          <a:bodyPr/>
          <a:lstStyle/>
          <a:p>
            <a:r>
              <a:rPr lang="en-US" dirty="0" smtClean="0">
                <a:solidFill>
                  <a:schemeClr val="tx2">
                    <a:lumMod val="60000"/>
                    <a:lumOff val="40000"/>
                  </a:schemeClr>
                </a:solidFill>
              </a:rPr>
              <a:t>Collaborative Web sites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smtClean="0"/>
              <a:t>Allows individuals to create or upload documents to the web where they can be.</a:t>
            </a:r>
          </a:p>
          <a:p>
            <a:endParaRPr lang="en-US" dirty="0" smtClean="0"/>
          </a:p>
          <a:p>
            <a:r>
              <a:rPr lang="en-US" dirty="0" smtClean="0"/>
              <a:t>Users can share their thoughts, projects, links, etc. with others.</a:t>
            </a:r>
          </a:p>
          <a:p>
            <a:endParaRPr lang="en-US" dirty="0" smtClean="0"/>
          </a:p>
          <a:p>
            <a:r>
              <a:rPr lang="en-US" dirty="0" smtClean="0"/>
              <a:t>Users can respond to others ideas.</a:t>
            </a:r>
          </a:p>
          <a:p>
            <a:endParaRPr lang="en-US" dirty="0" smtClean="0"/>
          </a:p>
          <a:p>
            <a:r>
              <a:rPr lang="en-US" dirty="0" smtClean="0"/>
              <a:t>Access can be restricted to selected users.</a:t>
            </a:r>
          </a:p>
          <a:p>
            <a:endParaRPr lang="en-US" dirty="0" smtClean="0"/>
          </a:p>
          <a:p>
            <a:r>
              <a:rPr lang="en-US" dirty="0" smtClean="0"/>
              <a:t>Password protection is available.</a:t>
            </a:r>
          </a:p>
          <a:p>
            <a:endParaRPr lang="en-US" dirty="0"/>
          </a:p>
        </p:txBody>
      </p:sp>
      <p:sp>
        <p:nvSpPr>
          <p:cNvPr id="4" name="Title 1"/>
          <p:cNvSpPr>
            <a:spLocks noGrp="1"/>
          </p:cNvSpPr>
          <p:nvPr>
            <p:ph type="title"/>
          </p:nvPr>
        </p:nvSpPr>
        <p:spPr>
          <a:xfrm>
            <a:off x="261257" y="312057"/>
            <a:ext cx="8686800" cy="838200"/>
          </a:xfrm>
        </p:spPr>
        <p:txBody>
          <a:bodyPr/>
          <a:lstStyle/>
          <a:p>
            <a:r>
              <a:rPr lang="en-US" dirty="0" smtClean="0">
                <a:solidFill>
                  <a:schemeClr val="tx2">
                    <a:lumMod val="60000"/>
                    <a:lumOff val="40000"/>
                  </a:schemeClr>
                </a:solidFill>
              </a:rPr>
              <a:t>Collaborative Web sites…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714" y="1263877"/>
            <a:ext cx="8686800" cy="2088924"/>
          </a:xfrm>
        </p:spPr>
        <p:txBody>
          <a:bodyPr>
            <a:normAutofit fontScale="77500" lnSpcReduction="20000"/>
          </a:bodyPr>
          <a:lstStyle/>
          <a:p>
            <a:r>
              <a:rPr lang="en-US" dirty="0" smtClean="0"/>
              <a:t>A website that allows the easy creation and editing of any number of interlinked Web pages, using  a simplified markup language or a WYSIWYG text editor, within the browser.</a:t>
            </a:r>
          </a:p>
          <a:p>
            <a:r>
              <a:rPr lang="en-US" dirty="0" smtClean="0"/>
              <a:t>Typically powered by wiki software.</a:t>
            </a:r>
          </a:p>
          <a:p>
            <a:r>
              <a:rPr lang="en-US" dirty="0" smtClean="0"/>
              <a:t>Often used to create collaborative web sites, in knowledge management systems etc.</a:t>
            </a:r>
            <a:endParaRPr lang="en-US" dirty="0"/>
          </a:p>
        </p:txBody>
      </p:sp>
      <p:sp>
        <p:nvSpPr>
          <p:cNvPr id="2" name="Title 1"/>
          <p:cNvSpPr>
            <a:spLocks noGrp="1"/>
          </p:cNvSpPr>
          <p:nvPr>
            <p:ph type="title"/>
          </p:nvPr>
        </p:nvSpPr>
        <p:spPr>
          <a:xfrm>
            <a:off x="246743" y="312057"/>
            <a:ext cx="8686800" cy="838200"/>
          </a:xfrm>
        </p:spPr>
        <p:txBody>
          <a:bodyPr>
            <a:normAutofit/>
          </a:bodyPr>
          <a:lstStyle/>
          <a:p>
            <a:r>
              <a:rPr lang="en-US" sz="3200" dirty="0" smtClean="0"/>
              <a:t>Wiki</a:t>
            </a:r>
            <a:endParaRPr lang="en-US" sz="3200" dirty="0"/>
          </a:p>
        </p:txBody>
      </p:sp>
      <p:sp>
        <p:nvSpPr>
          <p:cNvPr id="4" name="Title 1"/>
          <p:cNvSpPr txBox="1">
            <a:spLocks/>
          </p:cNvSpPr>
          <p:nvPr/>
        </p:nvSpPr>
        <p:spPr>
          <a:xfrm>
            <a:off x="239486" y="3396343"/>
            <a:ext cx="8686800" cy="838200"/>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cap="all" dirty="0" smtClean="0">
                <a:solidFill>
                  <a:schemeClr val="tx2"/>
                </a:solidFill>
                <a:effectLst>
                  <a:reflection blurRad="12700" stA="48000" endA="300" endPos="55000" dir="5400000" sy="-90000" algn="bl" rotWithShape="0"/>
                </a:effectLst>
                <a:latin typeface="+mj-lt"/>
                <a:ea typeface="+mj-ea"/>
                <a:cs typeface="+mj-cs"/>
              </a:rPr>
              <a:t>Blog</a:t>
            </a:r>
            <a:endParaRPr kumimoji="0" lang="en-US" sz="32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5" name="Content Placeholder 2"/>
          <p:cNvSpPr txBox="1">
            <a:spLocks/>
          </p:cNvSpPr>
          <p:nvPr/>
        </p:nvSpPr>
        <p:spPr>
          <a:xfrm>
            <a:off x="283027" y="4173990"/>
            <a:ext cx="9064171" cy="2459039"/>
          </a:xfrm>
          <a:prstGeom prst="rect">
            <a:avLst/>
          </a:prstGeom>
        </p:spPr>
        <p:txBody>
          <a:bodyPr vert="horz">
            <a:normAutofit fontScale="77500" lnSpcReduction="20000"/>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A websites where entries are written in chronological order and commonly displayed</a:t>
            </a:r>
            <a:r>
              <a:rPr kumimoji="0" lang="en-US" sz="3200" b="0" i="0" u="none" strike="noStrike" kern="1200" cap="none" spc="0" normalizeH="0" noProof="0" dirty="0" smtClean="0">
                <a:ln>
                  <a:noFill/>
                </a:ln>
                <a:solidFill>
                  <a:schemeClr val="tx2"/>
                </a:solidFill>
                <a:effectLst/>
                <a:uLnTx/>
                <a:uFillTx/>
                <a:latin typeface="+mn-lt"/>
                <a:ea typeface="+mn-ea"/>
                <a:cs typeface="+mn-cs"/>
              </a:rPr>
              <a:t> in reversed chronological order.</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3200" baseline="0" dirty="0" smtClean="0">
                <a:solidFill>
                  <a:schemeClr val="tx2"/>
                </a:solidFill>
                <a:latin typeface="+mn-lt"/>
                <a:ea typeface="+mn-ea"/>
              </a:rPr>
              <a:t>Provide</a:t>
            </a:r>
            <a:r>
              <a:rPr kumimoji="0" lang="en-US" sz="3200" dirty="0" smtClean="0">
                <a:solidFill>
                  <a:schemeClr val="tx2"/>
                </a:solidFill>
                <a:latin typeface="+mn-lt"/>
                <a:ea typeface="+mn-ea"/>
              </a:rPr>
              <a:t> commentary or news on a particular subject.</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A typical blog combines text, images, links to other blogs, web pages, and other media related to its topic.</a:t>
            </a: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a:buChar char=""/>
              <a:tabLst/>
              <a:defRPr/>
            </a:pPr>
            <a:r>
              <a:rPr kumimoji="0" lang="en-US" sz="3200" dirty="0" smtClean="0">
                <a:solidFill>
                  <a:schemeClr val="tx2"/>
                </a:solidFill>
                <a:latin typeface="+mn-lt"/>
                <a:ea typeface="+mn-ea"/>
              </a:rPr>
              <a:t>The ability for readers to leave comments in an interactive format.</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Users create and control collaborative workspaces using standard meeting and team site templates.</a:t>
            </a:r>
          </a:p>
          <a:p>
            <a:r>
              <a:rPr lang="en-US" dirty="0" smtClean="0"/>
              <a:t>Coordinate teamwork with shared calendars, alerts, and notifications.</a:t>
            </a:r>
          </a:p>
          <a:p>
            <a:r>
              <a:rPr lang="en-US" dirty="0" smtClean="0"/>
              <a:t>Capture best practices and expertise using blogs, wikis, Really Simple Syndication (RSS) and surveys.</a:t>
            </a:r>
            <a:endParaRPr lang="en-US" dirty="0"/>
          </a:p>
        </p:txBody>
      </p:sp>
      <p:sp>
        <p:nvSpPr>
          <p:cNvPr id="2" name="Title 1"/>
          <p:cNvSpPr>
            <a:spLocks noGrp="1"/>
          </p:cNvSpPr>
          <p:nvPr>
            <p:ph type="title"/>
          </p:nvPr>
        </p:nvSpPr>
        <p:spPr>
          <a:xfrm>
            <a:off x="457200" y="457200"/>
            <a:ext cx="8686800" cy="838200"/>
          </a:xfrm>
        </p:spPr>
        <p:txBody>
          <a:bodyPr>
            <a:normAutofit/>
          </a:bodyPr>
          <a:lstStyle/>
          <a:p>
            <a:r>
              <a:rPr lang="en-US" dirty="0" smtClean="0">
                <a:solidFill>
                  <a:schemeClr val="tx2">
                    <a:lumMod val="60000"/>
                    <a:lumOff val="40000"/>
                  </a:schemeClr>
                </a:solidFill>
              </a:rPr>
              <a:t>Collaboration and Social Computing</a:t>
            </a:r>
            <a:endParaRPr lang="en-US" dirty="0">
              <a:solidFill>
                <a:schemeClr val="tx2">
                  <a:lumMod val="60000"/>
                  <a:lumOff val="4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p:cNvSpPr>
            <a:spLocks noGrp="1"/>
          </p:cNvSpPr>
          <p:nvPr>
            <p:ph idx="1"/>
          </p:nvPr>
        </p:nvSpPr>
        <p:spPr/>
        <p:txBody>
          <a:bodyPr/>
          <a:lstStyle/>
          <a:p>
            <a:pPr>
              <a:buNone/>
            </a:pPr>
            <a:r>
              <a:rPr lang="en-US" dirty="0" smtClean="0"/>
              <a:t>   Social networking is the grouping of individuals into specific groups, like small rural communities or a neighborhood subdivision, if you will. </a:t>
            </a:r>
          </a:p>
          <a:p>
            <a:pPr>
              <a:buNone/>
            </a:pPr>
            <a:r>
              <a:rPr lang="en-US" dirty="0" smtClean="0"/>
              <a:t>	Although social networking is possible in person, especially in the workplace, universities, and high schools, it is most popular online.</a:t>
            </a:r>
            <a:endParaRPr lang="en-US" dirty="0"/>
          </a:p>
        </p:txBody>
      </p:sp>
      <p:sp>
        <p:nvSpPr>
          <p:cNvPr id="4" name="Title 1"/>
          <p:cNvSpPr>
            <a:spLocks noGrp="1"/>
          </p:cNvSpPr>
          <p:nvPr>
            <p:ph type="title"/>
          </p:nvPr>
        </p:nvSpPr>
        <p:spPr>
          <a:xfrm>
            <a:off x="457200" y="533400"/>
            <a:ext cx="8686800" cy="838200"/>
          </a:xfrm>
        </p:spPr>
        <p:txBody>
          <a:bodyPr/>
          <a:lstStyle/>
          <a:p>
            <a:r>
              <a:rPr lang="en-US" dirty="0" smtClean="0">
                <a:solidFill>
                  <a:schemeClr val="tx2">
                    <a:lumMod val="60000"/>
                    <a:lumOff val="40000"/>
                  </a:schemeClr>
                </a:solidFill>
              </a:rPr>
              <a:t>What is Social Networking?</a:t>
            </a:r>
            <a:endParaRPr lang="en-US"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38400" y="0"/>
            <a:ext cx="8229600" cy="1143000"/>
          </a:xfrm>
        </p:spPr>
        <p:txBody>
          <a:bodyPr/>
          <a:lstStyle/>
          <a:p>
            <a:r>
              <a:rPr lang="en-US" dirty="0" smtClean="0"/>
              <a:t>E.g.</a:t>
            </a:r>
            <a:endParaRPr lang="en-US" dirty="0"/>
          </a:p>
        </p:txBody>
      </p:sp>
      <p:graphicFrame>
        <p:nvGraphicFramePr>
          <p:cNvPr id="4" name="Table 3"/>
          <p:cNvGraphicFramePr>
            <a:graphicFrameLocks noGrp="1"/>
          </p:cNvGraphicFramePr>
          <p:nvPr/>
        </p:nvGraphicFramePr>
        <p:xfrm>
          <a:off x="1981200" y="990600"/>
          <a:ext cx="6516914" cy="5634789"/>
        </p:xfrm>
        <a:graphic>
          <a:graphicData uri="http://schemas.openxmlformats.org/drawingml/2006/table">
            <a:tbl>
              <a:tblPr firstRow="1" bandRow="1">
                <a:tableStyleId>{5940675A-B579-460E-94D1-54222C63F5DA}</a:tableStyleId>
              </a:tblPr>
              <a:tblGrid>
                <a:gridCol w="3258457"/>
                <a:gridCol w="3258457"/>
              </a:tblGrid>
              <a:tr h="422754">
                <a:tc>
                  <a:txBody>
                    <a:bodyPr/>
                    <a:lstStyle/>
                    <a:p>
                      <a:r>
                        <a:rPr lang="en-US" dirty="0" smtClean="0"/>
                        <a:t>Name </a:t>
                      </a:r>
                      <a:endParaRPr lang="en-US" dirty="0"/>
                    </a:p>
                  </a:txBody>
                  <a:tcPr/>
                </a:tc>
                <a:tc>
                  <a:txBody>
                    <a:bodyPr/>
                    <a:lstStyle/>
                    <a:p>
                      <a:r>
                        <a:rPr lang="en-US" dirty="0" smtClean="0"/>
                        <a:t>Description</a:t>
                      </a:r>
                      <a:endParaRPr lang="en-US" dirty="0"/>
                    </a:p>
                  </a:txBody>
                  <a:tcPr/>
                </a:tc>
              </a:tr>
              <a:tr h="729685">
                <a:tc>
                  <a:txBody>
                    <a:bodyPr/>
                    <a:lstStyle/>
                    <a:p>
                      <a:r>
                        <a:rPr lang="en-US" dirty="0" smtClean="0"/>
                        <a:t>Academia.edu</a:t>
                      </a:r>
                      <a:endParaRPr lang="en-US" dirty="0"/>
                    </a:p>
                  </a:txBody>
                  <a:tcPr/>
                </a:tc>
                <a:tc>
                  <a:txBody>
                    <a:bodyPr/>
                    <a:lstStyle/>
                    <a:p>
                      <a:r>
                        <a:rPr lang="en-US" dirty="0" smtClean="0"/>
                        <a:t>Social networking site for academics/researchers</a:t>
                      </a:r>
                      <a:endParaRPr lang="en-US" dirty="0"/>
                    </a:p>
                  </a:txBody>
                  <a:tcPr/>
                </a:tc>
              </a:tr>
              <a:tr h="2293295">
                <a:tc>
                  <a:txBody>
                    <a:bodyPr/>
                    <a:lstStyle/>
                    <a:p>
                      <a:r>
                        <a:rPr lang="en-US" dirty="0" smtClean="0"/>
                        <a:t>My space</a:t>
                      </a:r>
                      <a:endParaRPr lang="en-US" dirty="0"/>
                    </a:p>
                  </a:txBody>
                  <a:tcPr/>
                </a:tc>
                <a:tc>
                  <a:txBody>
                    <a:bodyPr/>
                    <a:lstStyle/>
                    <a:p>
                      <a:r>
                        <a:rPr kumimoji="0" lang="en-US" kern="1200" dirty="0" smtClean="0"/>
                        <a:t>leading social entertainment destination powered by the passion of fans. Music, movies, celebs, TV, and games made social.</a:t>
                      </a:r>
                      <a:endParaRPr lang="en-US" dirty="0"/>
                    </a:p>
                  </a:txBody>
                  <a:tcPr/>
                </a:tc>
              </a:tr>
              <a:tr h="729685">
                <a:tc>
                  <a:txBody>
                    <a:bodyPr/>
                    <a:lstStyle/>
                    <a:p>
                      <a:r>
                        <a:rPr lang="en-US" dirty="0" err="1" smtClean="0"/>
                        <a:t>Facebook</a:t>
                      </a:r>
                      <a:endParaRPr lang="en-US" dirty="0"/>
                    </a:p>
                  </a:txBody>
                  <a:tcPr/>
                </a:tc>
                <a:tc>
                  <a:txBody>
                    <a:bodyPr/>
                    <a:lstStyle/>
                    <a:p>
                      <a:r>
                        <a:rPr lang="en-US" dirty="0" smtClean="0"/>
                        <a:t>Social networking for every one</a:t>
                      </a:r>
                      <a:endParaRPr lang="en-US" dirty="0"/>
                    </a:p>
                  </a:txBody>
                  <a:tcPr/>
                </a:tc>
              </a:tr>
              <a:tr h="729685">
                <a:tc>
                  <a:txBody>
                    <a:bodyPr/>
                    <a:lstStyle/>
                    <a:p>
                      <a:r>
                        <a:rPr lang="en-US" dirty="0" smtClean="0"/>
                        <a:t>Advogato</a:t>
                      </a:r>
                      <a:endParaRPr lang="en-US" dirty="0"/>
                    </a:p>
                  </a:txBody>
                  <a:tcPr/>
                </a:tc>
                <a:tc>
                  <a:txBody>
                    <a:bodyPr/>
                    <a:lstStyle/>
                    <a:p>
                      <a:r>
                        <a:rPr lang="en-US" dirty="0" smtClean="0"/>
                        <a:t>Free and open source software developers</a:t>
                      </a:r>
                      <a:endParaRPr lang="en-US" dirty="0"/>
                    </a:p>
                  </a:txBody>
                  <a:tcPr/>
                </a:tc>
              </a:tr>
              <a:tr h="729685">
                <a:tc gridSpan="2">
                  <a:txBody>
                    <a:bodyPr/>
                    <a:lstStyle/>
                    <a:p>
                      <a:r>
                        <a:rPr lang="en-US" dirty="0" err="1" smtClean="0"/>
                        <a:t>Youtube</a:t>
                      </a:r>
                      <a:r>
                        <a:rPr lang="en-US" dirty="0" smtClean="0"/>
                        <a:t>, Twitter, etc.</a:t>
                      </a:r>
                      <a:endParaRPr lang="en-US" dirty="0"/>
                    </a:p>
                  </a:txBody>
                  <a:tcPr/>
                </a:tc>
                <a:tc hMerge="1">
                  <a:txBody>
                    <a:bodyPr/>
                    <a:lstStyle/>
                    <a:p>
                      <a:endParaRPr lang="en-US"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75696"/>
            <a:ext cx="8686800" cy="2196420"/>
          </a:xfrm>
        </p:spPr>
        <p:txBody>
          <a:bodyPr>
            <a:normAutofit fontScale="70000" lnSpcReduction="20000"/>
          </a:bodyPr>
          <a:lstStyle/>
          <a:p>
            <a:r>
              <a:rPr lang="en-US" dirty="0" smtClean="0"/>
              <a:t>The most cost effective way to keep in touch with your people (friends, classmates, and relatives etc.).</a:t>
            </a:r>
          </a:p>
          <a:p>
            <a:r>
              <a:rPr lang="en-US" dirty="0" smtClean="0"/>
              <a:t>Not bound by any geographical and cultural differences. These sites are a window to different cultures and places.</a:t>
            </a:r>
          </a:p>
          <a:p>
            <a:r>
              <a:rPr lang="en-US" dirty="0" smtClean="0"/>
              <a:t>Allows to send and receive messages, upload photos, and videos. </a:t>
            </a:r>
          </a:p>
          <a:p>
            <a:r>
              <a:rPr lang="en-US" dirty="0" smtClean="0"/>
              <a:t>A tool to promote business, services, products, or websites.	     </a:t>
            </a:r>
            <a:r>
              <a:rPr lang="en-US" b="1" dirty="0" smtClean="0"/>
              <a:t>Etc.</a:t>
            </a:r>
          </a:p>
        </p:txBody>
      </p:sp>
      <p:sp>
        <p:nvSpPr>
          <p:cNvPr id="4" name="Title 1"/>
          <p:cNvSpPr>
            <a:spLocks noGrp="1"/>
          </p:cNvSpPr>
          <p:nvPr>
            <p:ph type="title"/>
          </p:nvPr>
        </p:nvSpPr>
        <p:spPr>
          <a:xfrm>
            <a:off x="457200" y="228600"/>
            <a:ext cx="8686800" cy="838200"/>
          </a:xfrm>
        </p:spPr>
        <p:txBody>
          <a:bodyPr>
            <a:normAutofit/>
          </a:bodyPr>
          <a:lstStyle/>
          <a:p>
            <a:r>
              <a:rPr lang="en-US" sz="3200" dirty="0" smtClean="0">
                <a:solidFill>
                  <a:schemeClr val="tx2">
                    <a:lumMod val="60000"/>
                    <a:lumOff val="40000"/>
                  </a:schemeClr>
                </a:solidFill>
              </a:rPr>
              <a:t>Social Networking… (cont.)</a:t>
            </a:r>
            <a:endParaRPr lang="en-US" sz="3200" dirty="0">
              <a:solidFill>
                <a:schemeClr val="tx2">
                  <a:lumMod val="60000"/>
                  <a:lumOff val="40000"/>
                </a:schemeClr>
              </a:solidFill>
            </a:endParaRPr>
          </a:p>
        </p:txBody>
      </p:sp>
      <p:sp>
        <p:nvSpPr>
          <p:cNvPr id="5" name="Title 1"/>
          <p:cNvSpPr txBox="1">
            <a:spLocks/>
          </p:cNvSpPr>
          <p:nvPr/>
        </p:nvSpPr>
        <p:spPr>
          <a:xfrm>
            <a:off x="239486" y="769257"/>
            <a:ext cx="8686800" cy="838200"/>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rPr>
              <a:t>Advantages</a:t>
            </a:r>
            <a:endParaRPr kumimoji="0" lang="en-US" sz="2800" b="1" i="1" u="none" strike="noStrike" kern="120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endParaRPr>
          </a:p>
        </p:txBody>
      </p:sp>
      <p:sp>
        <p:nvSpPr>
          <p:cNvPr id="6" name="Title 1"/>
          <p:cNvSpPr txBox="1">
            <a:spLocks/>
          </p:cNvSpPr>
          <p:nvPr/>
        </p:nvSpPr>
        <p:spPr>
          <a:xfrm>
            <a:off x="261258" y="3287486"/>
            <a:ext cx="8686800" cy="838200"/>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1" u="none" strike="noStrike" kern="1200" normalizeH="0" baseline="0" noProof="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rPr>
              <a:t>Disadvantages</a:t>
            </a:r>
            <a:endParaRPr kumimoji="0" lang="en-US" sz="2800" b="1" i="1" u="none" strike="noStrike" kern="1200" normalizeH="0" baseline="0" noProof="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uLnTx/>
              <a:uFillTx/>
              <a:latin typeface="+mj-lt"/>
              <a:ea typeface="+mj-ea"/>
              <a:cs typeface="+mj-cs"/>
            </a:endParaRPr>
          </a:p>
        </p:txBody>
      </p:sp>
      <p:sp>
        <p:nvSpPr>
          <p:cNvPr id="7" name="Content Placeholder 2"/>
          <p:cNvSpPr txBox="1">
            <a:spLocks/>
          </p:cNvSpPr>
          <p:nvPr/>
        </p:nvSpPr>
        <p:spPr>
          <a:xfrm>
            <a:off x="457200" y="3972150"/>
            <a:ext cx="8686800" cy="2392363"/>
          </a:xfrm>
          <a:prstGeom prst="rect">
            <a:avLst/>
          </a:prstGeom>
        </p:spPr>
        <p:txBody>
          <a:bodyPr vert="horz">
            <a:noAutofit/>
          </a:bodyPr>
          <a:lstStyle/>
          <a:p>
            <a:pPr marL="342900" indent="-342900" fontAlgn="auto">
              <a:spcBef>
                <a:spcPct val="20000"/>
              </a:spcBef>
              <a:spcAft>
                <a:spcPts val="0"/>
              </a:spcAft>
              <a:buClr>
                <a:schemeClr val="accent1"/>
              </a:buClr>
              <a:buSzPct val="70000"/>
              <a:buFont typeface="Wingdings 2"/>
              <a:buChar char=""/>
            </a:pPr>
            <a:r>
              <a:rPr kumimoji="0" lang="en-US" sz="2200" b="0" i="0" u="none" strike="noStrike" kern="1200" cap="none" spc="0" normalizeH="0" baseline="0" noProof="0" dirty="0" smtClean="0">
                <a:ln>
                  <a:noFill/>
                </a:ln>
                <a:solidFill>
                  <a:schemeClr val="tx2"/>
                </a:solidFill>
                <a:effectLst/>
                <a:uLnTx/>
                <a:uFillTx/>
                <a:latin typeface="+mn-lt"/>
                <a:ea typeface="+mn-ea"/>
                <a:cs typeface="+mn-cs"/>
              </a:rPr>
              <a:t>T</a:t>
            </a:r>
            <a:r>
              <a:rPr lang="en-US" sz="2200" dirty="0" smtClean="0">
                <a:latin typeface="+mn-lt"/>
              </a:rPr>
              <a:t>he risk of identity theft and fraud. </a:t>
            </a:r>
          </a:p>
          <a:p>
            <a:pPr marL="342900" indent="-342900" fontAlgn="auto">
              <a:spcBef>
                <a:spcPct val="20000"/>
              </a:spcBef>
              <a:spcAft>
                <a:spcPts val="0"/>
              </a:spcAft>
              <a:buClr>
                <a:schemeClr val="accent1"/>
              </a:buClr>
              <a:buSzPct val="70000"/>
            </a:pPr>
            <a:r>
              <a:rPr lang="en-US" sz="2200" dirty="0" smtClean="0">
                <a:latin typeface="+mn-lt"/>
              </a:rPr>
              <a:t>		The personal information of users can be used by dubious 	people for illegal activities. Information like the e-mail address,  	name, location, and age can be used to commit online crimes.</a:t>
            </a:r>
          </a:p>
          <a:p>
            <a:pPr marL="342900" indent="-342900" fontAlgn="auto">
              <a:spcBef>
                <a:spcPct val="20000"/>
              </a:spcBef>
              <a:spcAft>
                <a:spcPts val="0"/>
              </a:spcAft>
              <a:buClr>
                <a:schemeClr val="accent1"/>
              </a:buClr>
              <a:buSzPct val="70000"/>
              <a:buFont typeface="Wingdings 2"/>
              <a:buChar char=""/>
            </a:pPr>
            <a:r>
              <a:rPr lang="en-US" sz="2200" dirty="0" smtClean="0">
                <a:latin typeface="+mn-lt"/>
              </a:rPr>
              <a:t>If you do not know the person face to face then it will be 			very hard for you to find the real identity.</a:t>
            </a:r>
          </a:p>
          <a:p>
            <a:pPr marL="342900" indent="-342900" fontAlgn="auto">
              <a:spcBef>
                <a:spcPct val="20000"/>
              </a:spcBef>
              <a:spcAft>
                <a:spcPts val="0"/>
              </a:spcAft>
              <a:buClr>
                <a:schemeClr val="accent1"/>
              </a:buClr>
              <a:buSzPct val="70000"/>
              <a:buFont typeface="Wingdings 2"/>
              <a:buChar char=""/>
            </a:pPr>
            <a:r>
              <a:rPr lang="en-US" sz="2200" dirty="0" smtClean="0">
                <a:latin typeface="+mn-lt"/>
              </a:rPr>
              <a:t>Online harassment and stalking</a:t>
            </a:r>
            <a:endParaRPr kumimoji="0" lang="en-US" sz="22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771" y="2474685"/>
            <a:ext cx="8686800" cy="838200"/>
          </a:xfrm>
        </p:spPr>
        <p:txBody>
          <a:bodyPr>
            <a:normAutofit/>
          </a:bodyPr>
          <a:lstStyle/>
          <a:p>
            <a:pPr algn="ctr"/>
            <a:r>
              <a:rPr lang="en-US" sz="4800" dirty="0" smtClean="0"/>
              <a:t>Web 1.0   </a:t>
            </a:r>
            <a:r>
              <a:rPr lang="en-US" sz="4800" i="1" dirty="0" smtClean="0"/>
              <a:t>Vs.</a:t>
            </a:r>
            <a:r>
              <a:rPr lang="en-US" sz="4800" dirty="0" smtClean="0"/>
              <a:t>   Web 2.0</a:t>
            </a:r>
            <a:endParaRPr lang="en-US" sz="4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101600" y="1365476"/>
            <a:ext cx="9042400" cy="4525963"/>
          </a:xfrm>
        </p:spPr>
        <p:txBody>
          <a:bodyPr>
            <a:normAutofit fontScale="92500" lnSpcReduction="20000"/>
          </a:bodyPr>
          <a:lstStyle/>
          <a:p>
            <a:r>
              <a:rPr lang="en-US" dirty="0" smtClean="0"/>
              <a:t>Sir Tim Berners‐Lee</a:t>
            </a:r>
          </a:p>
          <a:p>
            <a:endParaRPr lang="en-US" dirty="0" smtClean="0"/>
          </a:p>
          <a:p>
            <a:r>
              <a:rPr lang="en-US" dirty="0" smtClean="0"/>
              <a:t>Uniform access to disparate sources of information, without differences between data sources</a:t>
            </a:r>
          </a:p>
          <a:p>
            <a:endParaRPr lang="en-US" dirty="0" smtClean="0"/>
          </a:p>
          <a:p>
            <a:r>
              <a:rPr lang="en-US" dirty="0" smtClean="0"/>
              <a:t>Web 1.0, or web, refers to the first stage of the World Wide Web linking WebPages with hyperlinks.</a:t>
            </a:r>
          </a:p>
          <a:p>
            <a:endParaRPr lang="en-US" dirty="0" smtClean="0"/>
          </a:p>
          <a:p>
            <a:r>
              <a:rPr lang="en-US" dirty="0" smtClean="0"/>
              <a:t>Hyperlinks between WebPages began with the release of the WWW to the public in 1993</a:t>
            </a:r>
          </a:p>
          <a:p>
            <a:endParaRPr lang="en-US" dirty="0" smtClean="0"/>
          </a:p>
        </p:txBody>
      </p:sp>
      <p:sp>
        <p:nvSpPr>
          <p:cNvPr id="15362" name="Title 1"/>
          <p:cNvSpPr>
            <a:spLocks noGrp="1"/>
          </p:cNvSpPr>
          <p:nvPr>
            <p:ph type="title"/>
          </p:nvPr>
        </p:nvSpPr>
        <p:spPr>
          <a:xfrm>
            <a:off x="457200" y="341085"/>
            <a:ext cx="8686800" cy="838200"/>
          </a:xfrm>
        </p:spPr>
        <p:txBody>
          <a:bodyPr/>
          <a:lstStyle/>
          <a:p>
            <a:r>
              <a:rPr lang="en-US" dirty="0" smtClean="0">
                <a:solidFill>
                  <a:schemeClr val="tx2">
                    <a:lumMod val="60000"/>
                    <a:lumOff val="40000"/>
                  </a:schemeClr>
                </a:solidFill>
              </a:rPr>
              <a:t>Web 1.0</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457200" y="1626734"/>
            <a:ext cx="8686800" cy="4861152"/>
          </a:xfrm>
        </p:spPr>
        <p:txBody>
          <a:bodyPr>
            <a:normAutofit fontScale="92500" lnSpcReduction="10000"/>
          </a:bodyPr>
          <a:lstStyle/>
          <a:p>
            <a:pPr>
              <a:buNone/>
            </a:pPr>
            <a:r>
              <a:rPr lang="en-US" dirty="0" smtClean="0"/>
              <a:t>Some design elements of a Web 1.0 site include:</a:t>
            </a:r>
          </a:p>
          <a:p>
            <a:pPr>
              <a:buNone/>
            </a:pPr>
            <a:endParaRPr lang="en-US" dirty="0" smtClean="0"/>
          </a:p>
          <a:p>
            <a:r>
              <a:rPr lang="en-US" dirty="0" smtClean="0"/>
              <a:t>Static pages instead of dynamic user-generated content.</a:t>
            </a:r>
          </a:p>
          <a:p>
            <a:r>
              <a:rPr lang="en-US" dirty="0" smtClean="0"/>
              <a:t>The use of framesets</a:t>
            </a:r>
          </a:p>
          <a:p>
            <a:r>
              <a:rPr lang="en-US" dirty="0" smtClean="0"/>
              <a:t>The use of tables to position and align elements on a page. </a:t>
            </a:r>
          </a:p>
          <a:p>
            <a:pPr>
              <a:buNone/>
            </a:pPr>
            <a:r>
              <a:rPr lang="en-US" dirty="0" smtClean="0"/>
              <a:t>		</a:t>
            </a:r>
            <a:r>
              <a:rPr lang="en-US" sz="2600" dirty="0" smtClean="0"/>
              <a:t>These were often used in combination with "spacer" GIFs 	(1x1 pixel transparent images in the GIF format.</a:t>
            </a:r>
          </a:p>
          <a:p>
            <a:r>
              <a:rPr lang="en-US" dirty="0" smtClean="0"/>
              <a:t> HTML forms sent via email. </a:t>
            </a:r>
          </a:p>
        </p:txBody>
      </p:sp>
      <p:sp>
        <p:nvSpPr>
          <p:cNvPr id="7" name="Title 1"/>
          <p:cNvSpPr>
            <a:spLocks noGrp="1"/>
          </p:cNvSpPr>
          <p:nvPr>
            <p:ph type="title"/>
          </p:nvPr>
        </p:nvSpPr>
        <p:spPr>
          <a:xfrm>
            <a:off x="457200" y="268514"/>
            <a:ext cx="8686800" cy="838200"/>
          </a:xfrm>
        </p:spPr>
        <p:txBody>
          <a:bodyPr/>
          <a:lstStyle/>
          <a:p>
            <a:r>
              <a:rPr lang="en-US" dirty="0" smtClean="0">
                <a:solidFill>
                  <a:schemeClr val="tx2">
                    <a:lumMod val="60000"/>
                    <a:lumOff val="40000"/>
                  </a:schemeClr>
                </a:solidFill>
              </a:rPr>
              <a:t>Web 1.0 … (cont.)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p:txBody>
          <a:bodyPr>
            <a:normAutofit fontScale="92500" lnSpcReduction="20000"/>
          </a:bodyPr>
          <a:lstStyle/>
          <a:p>
            <a:pPr>
              <a:defRPr/>
            </a:pPr>
            <a:r>
              <a:rPr lang="en-US" dirty="0" smtClean="0"/>
              <a:t>The term Web 2.0 is associated with web applications that facilitate participatory information sharing, interoperability,            user-centered design and collaboration on the World Wide Web. </a:t>
            </a:r>
          </a:p>
          <a:p>
            <a:pPr>
              <a:defRPr/>
            </a:pPr>
            <a:endParaRPr lang="en-US" dirty="0" smtClean="0"/>
          </a:p>
          <a:p>
            <a:pPr>
              <a:defRPr/>
            </a:pPr>
            <a:r>
              <a:rPr lang="en-US" dirty="0" smtClean="0"/>
              <a:t>A Web 2.0 site allows users to interact and collaborate with each other in a social media dialogue as creators of user-generated content in a virtual community.</a:t>
            </a:r>
          </a:p>
          <a:p>
            <a:pPr>
              <a:defRPr/>
            </a:pPr>
            <a:endParaRPr lang="en-US" dirty="0" smtClean="0"/>
          </a:p>
          <a:p>
            <a:pPr>
              <a:defRPr/>
            </a:pPr>
            <a:endParaRPr lang="en-US" dirty="0" smtClean="0"/>
          </a:p>
        </p:txBody>
      </p:sp>
      <p:sp>
        <p:nvSpPr>
          <p:cNvPr id="17410" name="Title 1"/>
          <p:cNvSpPr>
            <a:spLocks noGrp="1"/>
          </p:cNvSpPr>
          <p:nvPr>
            <p:ph type="title"/>
          </p:nvPr>
        </p:nvSpPr>
        <p:spPr>
          <a:xfrm>
            <a:off x="457200" y="533400"/>
            <a:ext cx="8686800" cy="838200"/>
          </a:xfrm>
        </p:spPr>
        <p:txBody>
          <a:bodyPr/>
          <a:lstStyle/>
          <a:p>
            <a:r>
              <a:rPr lang="en-US" dirty="0" smtClean="0">
                <a:solidFill>
                  <a:schemeClr val="tx2">
                    <a:lumMod val="60000"/>
                    <a:lumOff val="40000"/>
                  </a:schemeClr>
                </a:solidFill>
              </a:rPr>
              <a:t>Web 2.0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defRPr/>
            </a:pPr>
            <a:r>
              <a:rPr lang="en-US" dirty="0" smtClean="0"/>
              <a:t>E.g.</a:t>
            </a:r>
          </a:p>
          <a:p>
            <a:pPr>
              <a:buFont typeface="Wingdings" pitchFamily="2" charset="2"/>
              <a:buChar char="§"/>
              <a:defRPr/>
            </a:pPr>
            <a:r>
              <a:rPr lang="en-US" dirty="0" smtClean="0"/>
              <a:t>social networking sites</a:t>
            </a:r>
          </a:p>
          <a:p>
            <a:pPr>
              <a:buNone/>
              <a:defRPr/>
            </a:pPr>
            <a:r>
              <a:rPr lang="en-US" dirty="0" smtClean="0"/>
              <a:t>			</a:t>
            </a:r>
            <a:r>
              <a:rPr lang="en-US" dirty="0" err="1" smtClean="0"/>
              <a:t>facebook</a:t>
            </a:r>
            <a:r>
              <a:rPr lang="en-US" dirty="0" smtClean="0"/>
              <a:t>, Twitter, Flicker, MySpace  etc.</a:t>
            </a:r>
          </a:p>
          <a:p>
            <a:pPr>
              <a:buFont typeface="Wingdings" pitchFamily="2" charset="2"/>
              <a:buChar char="§"/>
              <a:defRPr/>
            </a:pPr>
            <a:r>
              <a:rPr lang="en-US" dirty="0" smtClean="0"/>
              <a:t>Blogs</a:t>
            </a:r>
          </a:p>
          <a:p>
            <a:pPr>
              <a:buFont typeface="Wingdings" pitchFamily="2" charset="2"/>
              <a:buChar char="§"/>
              <a:defRPr/>
            </a:pPr>
            <a:r>
              <a:rPr lang="en-US" dirty="0" smtClean="0"/>
              <a:t>Wikis</a:t>
            </a:r>
          </a:p>
          <a:p>
            <a:pPr>
              <a:buFont typeface="Wingdings" pitchFamily="2" charset="2"/>
              <a:buChar char="§"/>
              <a:defRPr/>
            </a:pPr>
            <a:r>
              <a:rPr lang="en-US" dirty="0" smtClean="0"/>
              <a:t>MSN</a:t>
            </a:r>
          </a:p>
          <a:p>
            <a:pPr>
              <a:buFont typeface="Wingdings" pitchFamily="2" charset="2"/>
              <a:buChar char="§"/>
              <a:defRPr/>
            </a:pPr>
            <a:r>
              <a:rPr lang="en-US" dirty="0" smtClean="0"/>
              <a:t>video sharing sites</a:t>
            </a:r>
          </a:p>
          <a:p>
            <a:pPr>
              <a:buNone/>
              <a:defRPr/>
            </a:pPr>
            <a:r>
              <a:rPr lang="en-US" dirty="0" smtClean="0"/>
              <a:t>			YouTube  etc.</a:t>
            </a:r>
          </a:p>
          <a:p>
            <a:pPr>
              <a:buFont typeface="Wingdings" pitchFamily="2" charset="2"/>
              <a:buChar char="§"/>
              <a:defRPr/>
            </a:pPr>
            <a:r>
              <a:rPr lang="en-US" dirty="0" smtClean="0"/>
              <a:t>hosted services</a:t>
            </a:r>
          </a:p>
        </p:txBody>
      </p:sp>
      <p:sp>
        <p:nvSpPr>
          <p:cNvPr id="4" name="Title 1"/>
          <p:cNvSpPr>
            <a:spLocks noGrp="1"/>
          </p:cNvSpPr>
          <p:nvPr>
            <p:ph type="title"/>
          </p:nvPr>
        </p:nvSpPr>
        <p:spPr>
          <a:xfrm>
            <a:off x="457200" y="297543"/>
            <a:ext cx="8686800" cy="838200"/>
          </a:xfrm>
        </p:spPr>
        <p:txBody>
          <a:bodyPr/>
          <a:lstStyle/>
          <a:p>
            <a:r>
              <a:rPr lang="en-US" dirty="0" smtClean="0">
                <a:solidFill>
                  <a:schemeClr val="tx2">
                    <a:lumMod val="60000"/>
                    <a:lumOff val="40000"/>
                  </a:schemeClr>
                </a:solidFill>
              </a:rPr>
              <a:t>Web 2.0 … (cont.)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496456" y="1404257"/>
            <a:ext cx="4648200" cy="1614714"/>
          </a:xfrm>
        </p:spPr>
        <p:txBody>
          <a:bodyPr>
            <a:normAutofit/>
          </a:bodyPr>
          <a:lstStyle/>
          <a:p>
            <a:pPr>
              <a:lnSpc>
                <a:spcPct val="90000"/>
              </a:lnSpc>
            </a:pPr>
            <a:r>
              <a:rPr lang="en-US" sz="2000" dirty="0"/>
              <a:t>Web Services / API’s</a:t>
            </a:r>
          </a:p>
          <a:p>
            <a:pPr>
              <a:lnSpc>
                <a:spcPct val="90000"/>
              </a:lnSpc>
            </a:pPr>
            <a:r>
              <a:rPr lang="en-US" sz="2000" dirty="0"/>
              <a:t>“</a:t>
            </a:r>
            <a:r>
              <a:rPr lang="en-US" sz="2000" dirty="0" err="1"/>
              <a:t>Folksonomies</a:t>
            </a:r>
            <a:r>
              <a:rPr lang="en-US" sz="2000" dirty="0"/>
              <a:t>” / Content tagging</a:t>
            </a:r>
          </a:p>
          <a:p>
            <a:pPr>
              <a:lnSpc>
                <a:spcPct val="90000"/>
              </a:lnSpc>
            </a:pPr>
            <a:r>
              <a:rPr lang="en-US" sz="2000" dirty="0"/>
              <a:t>“AJAX”</a:t>
            </a:r>
          </a:p>
          <a:p>
            <a:pPr>
              <a:lnSpc>
                <a:spcPct val="90000"/>
              </a:lnSpc>
            </a:pPr>
            <a:r>
              <a:rPr lang="en-US" sz="2000" dirty="0"/>
              <a:t>RSS</a:t>
            </a:r>
          </a:p>
          <a:p>
            <a:pPr>
              <a:lnSpc>
                <a:spcPct val="90000"/>
              </a:lnSpc>
            </a:pPr>
            <a:endParaRPr lang="en-US" sz="2000" dirty="0"/>
          </a:p>
        </p:txBody>
      </p:sp>
      <p:sp>
        <p:nvSpPr>
          <p:cNvPr id="19" name="Title 1"/>
          <p:cNvSpPr>
            <a:spLocks noGrp="1"/>
          </p:cNvSpPr>
          <p:nvPr>
            <p:ph type="title"/>
          </p:nvPr>
        </p:nvSpPr>
        <p:spPr>
          <a:xfrm>
            <a:off x="457200" y="297543"/>
            <a:ext cx="8686800" cy="838200"/>
          </a:xfrm>
        </p:spPr>
        <p:txBody>
          <a:bodyPr/>
          <a:lstStyle/>
          <a:p>
            <a:r>
              <a:rPr lang="en-US" dirty="0" smtClean="0"/>
              <a:t>Web 2.0 … (cont.)</a:t>
            </a:r>
          </a:p>
        </p:txBody>
      </p:sp>
      <p:sp>
        <p:nvSpPr>
          <p:cNvPr id="13316" name="Rectangle 4"/>
          <p:cNvSpPr>
            <a:spLocks noChangeArrowheads="1"/>
          </p:cNvSpPr>
          <p:nvPr/>
        </p:nvSpPr>
        <p:spPr bwMode="auto">
          <a:xfrm>
            <a:off x="217714" y="1371600"/>
            <a:ext cx="2177143" cy="9906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endParaRPr lang="en-US" sz="1400">
              <a:solidFill>
                <a:schemeClr val="bg1"/>
              </a:solidFill>
              <a:latin typeface="Arial Black" pitchFamily="34" charset="0"/>
            </a:endParaRPr>
          </a:p>
        </p:txBody>
      </p:sp>
      <p:sp>
        <p:nvSpPr>
          <p:cNvPr id="13317" name="Text Box 5"/>
          <p:cNvSpPr txBox="1">
            <a:spLocks noChangeArrowheads="1"/>
          </p:cNvSpPr>
          <p:nvPr/>
        </p:nvSpPr>
        <p:spPr bwMode="auto">
          <a:xfrm>
            <a:off x="360817" y="1531256"/>
            <a:ext cx="1888898" cy="707886"/>
          </a:xfrm>
          <a:prstGeom prst="rect">
            <a:avLst/>
          </a:prstGeom>
          <a:noFill/>
          <a:ln w="9525">
            <a:noFill/>
            <a:miter lim="800000"/>
            <a:headEnd/>
            <a:tailEnd/>
          </a:ln>
          <a:effectLst/>
        </p:spPr>
        <p:txBody>
          <a:bodyPr wrap="square">
            <a:spAutoFit/>
          </a:bodyPr>
          <a:lstStyle/>
          <a:p>
            <a:pPr algn="l"/>
            <a:r>
              <a:rPr lang="en-US" sz="2000" dirty="0">
                <a:latin typeface="Arial Black" pitchFamily="34" charset="0"/>
              </a:rPr>
              <a:t>Emerging </a:t>
            </a:r>
            <a:r>
              <a:rPr lang="en-US" sz="2000" dirty="0" smtClean="0">
                <a:latin typeface="Arial Black" pitchFamily="34" charset="0"/>
              </a:rPr>
              <a:t>Technology</a:t>
            </a:r>
            <a:endParaRPr lang="en-US" sz="2000" dirty="0">
              <a:latin typeface="Arial Black" pitchFamily="34" charset="0"/>
            </a:endParaRPr>
          </a:p>
        </p:txBody>
      </p:sp>
      <p:sp>
        <p:nvSpPr>
          <p:cNvPr id="13318" name="Rectangle 6"/>
          <p:cNvSpPr>
            <a:spLocks noChangeArrowheads="1"/>
          </p:cNvSpPr>
          <p:nvPr/>
        </p:nvSpPr>
        <p:spPr bwMode="auto">
          <a:xfrm>
            <a:off x="282574" y="3240314"/>
            <a:ext cx="2213883" cy="9906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endParaRPr lang="en-US" sz="1400">
              <a:solidFill>
                <a:schemeClr val="bg1"/>
              </a:solidFill>
              <a:latin typeface="Arial Black" pitchFamily="34" charset="0"/>
            </a:endParaRPr>
          </a:p>
        </p:txBody>
      </p:sp>
      <p:sp>
        <p:nvSpPr>
          <p:cNvPr id="13319" name="Text Box 7"/>
          <p:cNvSpPr txBox="1">
            <a:spLocks noChangeArrowheads="1"/>
          </p:cNvSpPr>
          <p:nvPr/>
        </p:nvSpPr>
        <p:spPr bwMode="auto">
          <a:xfrm>
            <a:off x="263298" y="3269343"/>
            <a:ext cx="2204131" cy="1015663"/>
          </a:xfrm>
          <a:prstGeom prst="rect">
            <a:avLst/>
          </a:prstGeom>
          <a:noFill/>
          <a:ln w="9525">
            <a:noFill/>
            <a:miter lim="800000"/>
            <a:headEnd/>
            <a:tailEnd/>
          </a:ln>
          <a:effectLst/>
        </p:spPr>
        <p:txBody>
          <a:bodyPr wrap="square">
            <a:spAutoFit/>
          </a:bodyPr>
          <a:lstStyle/>
          <a:p>
            <a:pPr algn="l"/>
            <a:r>
              <a:rPr lang="en-US" sz="2000" dirty="0" smtClean="0">
                <a:latin typeface="Arial Black" pitchFamily="34" charset="0"/>
              </a:rPr>
              <a:t>Applications </a:t>
            </a:r>
            <a:r>
              <a:rPr lang="en-US" sz="2000" dirty="0">
                <a:latin typeface="Arial Black" pitchFamily="34" charset="0"/>
              </a:rPr>
              <a:t>You</a:t>
            </a:r>
          </a:p>
          <a:p>
            <a:pPr algn="l"/>
            <a:r>
              <a:rPr lang="en-US" sz="2000" dirty="0">
                <a:latin typeface="Arial Black" pitchFamily="34" charset="0"/>
              </a:rPr>
              <a:t>Know…</a:t>
            </a:r>
          </a:p>
        </p:txBody>
      </p:sp>
      <p:sp>
        <p:nvSpPr>
          <p:cNvPr id="13320" name="Rectangle 8"/>
          <p:cNvSpPr>
            <a:spLocks noChangeArrowheads="1"/>
          </p:cNvSpPr>
          <p:nvPr/>
        </p:nvSpPr>
        <p:spPr bwMode="auto">
          <a:xfrm>
            <a:off x="2598057" y="3211285"/>
            <a:ext cx="4648200" cy="1346201"/>
          </a:xfrm>
          <a:prstGeom prst="rect">
            <a:avLst/>
          </a:prstGeom>
          <a:noFill/>
          <a:ln w="9525">
            <a:noFill/>
            <a:miter lim="800000"/>
            <a:headEnd/>
            <a:tailEnd/>
          </a:ln>
          <a:effectLst/>
        </p:spPr>
        <p:txBody>
          <a:bodyPr/>
          <a:lstStyle/>
          <a:p>
            <a:pPr marL="222250" indent="-222250" algn="l">
              <a:lnSpc>
                <a:spcPct val="90000"/>
              </a:lnSpc>
              <a:spcBef>
                <a:spcPct val="20000"/>
              </a:spcBef>
              <a:buFontTx/>
              <a:buChar char="•"/>
            </a:pPr>
            <a:r>
              <a:rPr lang="en-US" sz="2000" dirty="0" smtClean="0"/>
              <a:t>Flicker</a:t>
            </a:r>
            <a:endParaRPr lang="en-US" sz="2000" dirty="0"/>
          </a:p>
          <a:p>
            <a:pPr marL="222250" indent="-222250" algn="l">
              <a:lnSpc>
                <a:spcPct val="90000"/>
              </a:lnSpc>
              <a:spcBef>
                <a:spcPct val="20000"/>
              </a:spcBef>
              <a:buFontTx/>
              <a:buChar char="•"/>
            </a:pPr>
            <a:r>
              <a:rPr lang="en-US" sz="2000" dirty="0"/>
              <a:t>Google Maps</a:t>
            </a:r>
          </a:p>
          <a:p>
            <a:pPr marL="222250" indent="-222250" algn="l">
              <a:lnSpc>
                <a:spcPct val="90000"/>
              </a:lnSpc>
              <a:spcBef>
                <a:spcPct val="20000"/>
              </a:spcBef>
              <a:buFontTx/>
              <a:buChar char="•"/>
            </a:pPr>
            <a:r>
              <a:rPr lang="en-US" sz="2000" dirty="0"/>
              <a:t>Blogging &amp; Content Syndication</a:t>
            </a:r>
          </a:p>
          <a:p>
            <a:pPr marL="222250" indent="-222250" algn="l">
              <a:lnSpc>
                <a:spcPct val="90000"/>
              </a:lnSpc>
              <a:spcBef>
                <a:spcPct val="20000"/>
              </a:spcBef>
            </a:pPr>
            <a:endParaRPr lang="en-US" sz="2000" dirty="0"/>
          </a:p>
          <a:p>
            <a:pPr marL="222250" indent="-222250" algn="l">
              <a:lnSpc>
                <a:spcPct val="90000"/>
              </a:lnSpc>
              <a:spcBef>
                <a:spcPct val="20000"/>
              </a:spcBef>
              <a:buFontTx/>
              <a:buChar char="•"/>
            </a:pPr>
            <a:endParaRPr lang="en-US" sz="2000" dirty="0"/>
          </a:p>
        </p:txBody>
      </p:sp>
      <p:sp>
        <p:nvSpPr>
          <p:cNvPr id="13324" name="Rectangle 12"/>
          <p:cNvSpPr>
            <a:spLocks noChangeArrowheads="1"/>
          </p:cNvSpPr>
          <p:nvPr/>
        </p:nvSpPr>
        <p:spPr bwMode="auto">
          <a:xfrm>
            <a:off x="311601" y="5003800"/>
            <a:ext cx="2184855" cy="1092199"/>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endParaRPr lang="en-US" sz="1400">
              <a:solidFill>
                <a:schemeClr val="bg1"/>
              </a:solidFill>
              <a:latin typeface="Arial Black" pitchFamily="34" charset="0"/>
            </a:endParaRPr>
          </a:p>
        </p:txBody>
      </p:sp>
      <p:sp>
        <p:nvSpPr>
          <p:cNvPr id="13325" name="Text Box 13"/>
          <p:cNvSpPr txBox="1">
            <a:spLocks noChangeArrowheads="1"/>
          </p:cNvSpPr>
          <p:nvPr/>
        </p:nvSpPr>
        <p:spPr bwMode="auto">
          <a:xfrm>
            <a:off x="399143" y="5134429"/>
            <a:ext cx="2053771" cy="707886"/>
          </a:xfrm>
          <a:prstGeom prst="rect">
            <a:avLst/>
          </a:prstGeom>
          <a:noFill/>
          <a:ln w="9525">
            <a:noFill/>
            <a:miter lim="800000"/>
            <a:headEnd/>
            <a:tailEnd/>
          </a:ln>
          <a:effectLst/>
        </p:spPr>
        <p:txBody>
          <a:bodyPr wrap="square">
            <a:spAutoFit/>
          </a:bodyPr>
          <a:lstStyle/>
          <a:p>
            <a:pPr algn="l"/>
            <a:r>
              <a:rPr lang="en-US" sz="2000" dirty="0">
                <a:latin typeface="Arial Black" pitchFamily="34" charset="0"/>
              </a:rPr>
              <a:t>Major Retailers</a:t>
            </a:r>
          </a:p>
        </p:txBody>
      </p:sp>
      <p:sp>
        <p:nvSpPr>
          <p:cNvPr id="13326" name="Rectangle 14"/>
          <p:cNvSpPr>
            <a:spLocks noChangeArrowheads="1"/>
          </p:cNvSpPr>
          <p:nvPr/>
        </p:nvSpPr>
        <p:spPr bwMode="auto">
          <a:xfrm>
            <a:off x="2685142" y="4858657"/>
            <a:ext cx="4648200" cy="1687286"/>
          </a:xfrm>
          <a:prstGeom prst="rect">
            <a:avLst/>
          </a:prstGeom>
          <a:noFill/>
          <a:ln w="9525">
            <a:noFill/>
            <a:miter lim="800000"/>
            <a:headEnd/>
            <a:tailEnd/>
          </a:ln>
          <a:effectLst/>
        </p:spPr>
        <p:txBody>
          <a:bodyPr/>
          <a:lstStyle/>
          <a:p>
            <a:pPr marL="222250" indent="-222250" algn="l">
              <a:lnSpc>
                <a:spcPct val="90000"/>
              </a:lnSpc>
              <a:spcBef>
                <a:spcPct val="20000"/>
              </a:spcBef>
              <a:buFontTx/>
              <a:buChar char="•"/>
            </a:pPr>
            <a:r>
              <a:rPr lang="en-US" sz="2000" dirty="0"/>
              <a:t>Amazon API’s</a:t>
            </a:r>
          </a:p>
          <a:p>
            <a:pPr marL="222250" indent="-222250" algn="l">
              <a:lnSpc>
                <a:spcPct val="90000"/>
              </a:lnSpc>
              <a:spcBef>
                <a:spcPct val="20000"/>
              </a:spcBef>
              <a:buFontTx/>
              <a:buChar char="•"/>
            </a:pPr>
            <a:r>
              <a:rPr lang="en-US" sz="2000" dirty="0"/>
              <a:t>Google </a:t>
            </a:r>
            <a:r>
              <a:rPr lang="en-US" sz="2000" dirty="0" err="1"/>
              <a:t>Adsense</a:t>
            </a:r>
            <a:r>
              <a:rPr lang="en-US" sz="2000" dirty="0"/>
              <a:t> API</a:t>
            </a:r>
          </a:p>
          <a:p>
            <a:pPr marL="222250" indent="-222250" algn="l">
              <a:lnSpc>
                <a:spcPct val="90000"/>
              </a:lnSpc>
              <a:spcBef>
                <a:spcPct val="20000"/>
              </a:spcBef>
              <a:buFontTx/>
              <a:buChar char="•"/>
            </a:pPr>
            <a:r>
              <a:rPr lang="en-US" sz="2000" dirty="0"/>
              <a:t>Yahoo API</a:t>
            </a:r>
          </a:p>
          <a:p>
            <a:pPr marL="222250" indent="-222250" algn="l">
              <a:lnSpc>
                <a:spcPct val="90000"/>
              </a:lnSpc>
              <a:spcBef>
                <a:spcPct val="20000"/>
              </a:spcBef>
              <a:buFontTx/>
              <a:buChar char="•"/>
            </a:pPr>
            <a:r>
              <a:rPr lang="en-US" sz="2000" dirty="0" err="1"/>
              <a:t>Ebay</a:t>
            </a:r>
            <a:r>
              <a:rPr lang="en-US" sz="2000" dirty="0"/>
              <a:t> API</a:t>
            </a:r>
          </a:p>
          <a:p>
            <a:pPr marL="222250" indent="-222250" algn="l">
              <a:lnSpc>
                <a:spcPct val="90000"/>
              </a:lnSpc>
              <a:spcBef>
                <a:spcPct val="20000"/>
              </a:spcBef>
              <a:buFontTx/>
              <a:buChar char="•"/>
            </a:pPr>
            <a:endParaRPr lang="en-US" sz="2000" dirty="0"/>
          </a:p>
          <a:p>
            <a:pPr marL="222250" indent="-222250" algn="l">
              <a:lnSpc>
                <a:spcPct val="90000"/>
              </a:lnSpc>
              <a:spcBef>
                <a:spcPct val="20000"/>
              </a:spcBef>
              <a:buFontTx/>
              <a:buChar char="•"/>
            </a:pPr>
            <a:endParaRPr lang="en-US" sz="2000" dirty="0"/>
          </a:p>
          <a:p>
            <a:pPr marL="222250" indent="-222250" algn="l">
              <a:lnSpc>
                <a:spcPct val="90000"/>
              </a:lnSpc>
              <a:spcBef>
                <a:spcPct val="20000"/>
              </a:spcBef>
              <a:buFontTx/>
              <a:buChar char="•"/>
            </a:pP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8" name="Picture 4" descr="web1_0-vs-web2_0"/>
          <p:cNvPicPr>
            <a:picLocks noChangeAspect="1" noChangeArrowheads="1"/>
          </p:cNvPicPr>
          <p:nvPr/>
        </p:nvPicPr>
        <p:blipFill>
          <a:blip r:embed="rId3"/>
          <a:srcRect/>
          <a:stretch>
            <a:fillRect/>
          </a:stretch>
        </p:blipFill>
        <p:spPr bwMode="auto">
          <a:xfrm>
            <a:off x="508000" y="76200"/>
            <a:ext cx="8316686" cy="6781800"/>
          </a:xfrm>
          <a:prstGeom prst="rect">
            <a:avLst/>
          </a:prstGeom>
          <a:noFill/>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333829" y="275771"/>
            <a:ext cx="8606971" cy="638629"/>
          </a:xfrm>
        </p:spPr>
        <p:txBody>
          <a:bodyPr>
            <a:noAutofit/>
          </a:bodyPr>
          <a:lstStyle/>
          <a:p>
            <a:r>
              <a:rPr lang="en-US" sz="2500" dirty="0"/>
              <a:t>Web 2.0: Evolution Towards a Read/Write Platform</a:t>
            </a:r>
          </a:p>
        </p:txBody>
      </p:sp>
      <p:graphicFrame>
        <p:nvGraphicFramePr>
          <p:cNvPr id="1167" name="Group 143"/>
          <p:cNvGraphicFramePr>
            <a:graphicFrameLocks noGrp="1"/>
          </p:cNvGraphicFramePr>
          <p:nvPr>
            <p:ph type="tbl" idx="1"/>
          </p:nvPr>
        </p:nvGraphicFramePr>
        <p:xfrm>
          <a:off x="217714" y="1204686"/>
          <a:ext cx="8926286" cy="5604119"/>
        </p:xfrm>
        <a:graphic>
          <a:graphicData uri="http://schemas.openxmlformats.org/drawingml/2006/table">
            <a:tbl>
              <a:tblPr>
                <a:tableStyleId>{5940675A-B579-460E-94D1-54222C63F5DA}</a:tableStyleId>
              </a:tblPr>
              <a:tblGrid>
                <a:gridCol w="3060325"/>
                <a:gridCol w="2550945"/>
                <a:gridCol w="3315016"/>
              </a:tblGrid>
              <a:tr h="150948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smtClean="0">
                          <a:ln>
                            <a:noFill/>
                          </a:ln>
                          <a:effectLst/>
                        </a:rPr>
                        <a:t>Web 1.0</a:t>
                      </a:r>
                      <a:br>
                        <a:rPr kumimoji="0" lang="en-US" sz="2000" u="none" strike="noStrike" cap="none" normalizeH="0" baseline="0" dirty="0" smtClean="0">
                          <a:ln>
                            <a:noFill/>
                          </a:ln>
                          <a:effectLst/>
                        </a:rPr>
                      </a:br>
                      <a:r>
                        <a:rPr kumimoji="0" lang="en-US" sz="1600" u="none" strike="noStrike" cap="none" normalizeH="0" baseline="0" dirty="0" smtClean="0">
                          <a:ln>
                            <a:noFill/>
                          </a:ln>
                          <a:effectLst/>
                        </a:rPr>
                        <a:t>(1993-2003)</a:t>
                      </a:r>
                      <a:r>
                        <a:rPr kumimoji="0" lang="en-US" sz="900" u="none" strike="noStrike" cap="none" normalizeH="0" baseline="0" dirty="0" smtClean="0">
                          <a:ln>
                            <a:noFill/>
                          </a:ln>
                          <a:effectLst/>
                        </a:rPr>
                        <a:t/>
                      </a:r>
                      <a:br>
                        <a:rPr kumimoji="0" lang="en-US" sz="900" u="none" strike="noStrike" cap="none" normalizeH="0" baseline="0" dirty="0" smtClean="0">
                          <a:ln>
                            <a:noFill/>
                          </a:ln>
                          <a:effectLst/>
                        </a:rPr>
                      </a:br>
                      <a:endParaRPr kumimoji="0" lang="en-US" sz="900" u="none" strike="noStrike" cap="none" normalizeH="0" baseline="0" dirty="0" smtClean="0">
                        <a:ln>
                          <a:noFill/>
                        </a:ln>
                        <a:effectLst/>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smtClean="0">
                          <a:ln>
                            <a:noFill/>
                          </a:ln>
                          <a:effectLst/>
                        </a:rPr>
                        <a:t>Pretty much HTML pages viewed through a browser</a:t>
                      </a:r>
                      <a:endParaRPr kumimoji="0" lang="en-US" sz="1600" b="0" i="0" u="none" strike="noStrike" cap="none" normalizeH="0" baseline="0" dirty="0" smtClean="0">
                        <a:ln>
                          <a:noFill/>
                        </a:ln>
                        <a:solidFill>
                          <a:schemeClr val="tx1"/>
                        </a:solidFill>
                        <a:effectLst/>
                        <a:latin typeface="Arial Narrow"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Times New Roman"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smtClean="0">
                          <a:ln>
                            <a:noFill/>
                          </a:ln>
                          <a:effectLst/>
                        </a:rPr>
                        <a:t>Web 2.0</a:t>
                      </a:r>
                      <a:br>
                        <a:rPr kumimoji="0" lang="en-US" sz="2000" u="none" strike="noStrike" cap="none" normalizeH="0" baseline="0" dirty="0" smtClean="0">
                          <a:ln>
                            <a:noFill/>
                          </a:ln>
                          <a:effectLst/>
                        </a:rPr>
                      </a:br>
                      <a:r>
                        <a:rPr kumimoji="0" lang="en-US" sz="1600" u="none" strike="noStrike" cap="none" normalizeH="0" baseline="0" dirty="0" smtClean="0">
                          <a:ln>
                            <a:noFill/>
                          </a:ln>
                          <a:effectLst/>
                        </a:rPr>
                        <a:t>(2003- beyond)</a:t>
                      </a:r>
                      <a:r>
                        <a:rPr kumimoji="0" lang="en-US" sz="900" u="none" strike="noStrike" cap="none" normalizeH="0" baseline="0" dirty="0" smtClean="0">
                          <a:ln>
                            <a:noFill/>
                          </a:ln>
                          <a:effectLst/>
                        </a:rPr>
                        <a:t/>
                      </a:r>
                      <a:br>
                        <a:rPr kumimoji="0" lang="en-US" sz="900" u="none" strike="noStrike" cap="none" normalizeH="0" baseline="0" dirty="0" smtClean="0">
                          <a:ln>
                            <a:noFill/>
                          </a:ln>
                          <a:effectLst/>
                        </a:rPr>
                      </a:br>
                      <a:r>
                        <a:rPr kumimoji="0" lang="en-US" sz="900" u="none" strike="noStrike" cap="none" normalizeH="0" baseline="0" dirty="0" smtClean="0">
                          <a:ln>
                            <a:noFill/>
                          </a:ln>
                          <a:effectLst/>
                        </a:rPr>
                        <a:t/>
                      </a:r>
                      <a:br>
                        <a:rPr kumimoji="0" lang="en-US" sz="900" u="none" strike="noStrike" cap="none" normalizeH="0" baseline="0" dirty="0" smtClean="0">
                          <a:ln>
                            <a:noFill/>
                          </a:ln>
                          <a:effectLst/>
                        </a:rPr>
                      </a:br>
                      <a:r>
                        <a:rPr kumimoji="0" lang="en-US" sz="1400" u="none" strike="noStrike" cap="none" normalizeH="0" baseline="0" dirty="0" smtClean="0">
                          <a:ln>
                            <a:noFill/>
                          </a:ln>
                          <a:effectLst/>
                        </a:rPr>
                        <a:t>Web pages, plus a lot of other “content” shared over the web, with more interactivity; more like an application than a “page”</a:t>
                      </a:r>
                      <a:endParaRPr kumimoji="0" lang="en-US" sz="1400" b="0" i="0" u="none" strike="noStrike" cap="none" normalizeH="0" baseline="0" dirty="0" smtClean="0">
                        <a:ln>
                          <a:noFill/>
                        </a:ln>
                        <a:solidFill>
                          <a:schemeClr val="tx1"/>
                        </a:solidFill>
                        <a:effectLst/>
                        <a:latin typeface="Arial Narrow" pitchFamily="34" charset="0"/>
                      </a:endParaRPr>
                    </a:p>
                  </a:txBody>
                  <a:tcPr horzOverflow="overflow"/>
                </a:tc>
              </a:tr>
              <a:tr h="6136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“Read”</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1" u="none" strike="noStrike" cap="none" normalizeH="0" baseline="0" dirty="0" smtClean="0">
                          <a:ln>
                            <a:noFill/>
                          </a:ln>
                          <a:effectLst/>
                        </a:rPr>
                        <a:t>Mode</a:t>
                      </a:r>
                      <a:endParaRPr kumimoji="0" lang="en-US" sz="1800" b="1" i="1"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“Write” &amp; Contribute</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r>
              <a:tr h="8044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“Page”</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1" u="none" strike="noStrike" cap="none" normalizeH="0" baseline="0" dirty="0" smtClean="0">
                          <a:ln>
                            <a:noFill/>
                          </a:ln>
                          <a:effectLst/>
                        </a:rPr>
                        <a:t>Primary Unit of content</a:t>
                      </a:r>
                      <a:endParaRPr kumimoji="0" lang="en-US" sz="1800" b="1" i="1"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“Post / record”</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r>
              <a:tr h="47320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“static”</a:t>
                      </a:r>
                      <a:endParaRPr kumimoji="0" lang="en-US" sz="1800" b="0" i="0" u="none" strike="noStrike" cap="none" normalizeH="0" baseline="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1" u="none" strike="noStrike" cap="none" normalizeH="0" baseline="0" dirty="0" smtClean="0">
                          <a:ln>
                            <a:noFill/>
                          </a:ln>
                          <a:effectLst/>
                        </a:rPr>
                        <a:t>State</a:t>
                      </a:r>
                      <a:endParaRPr kumimoji="0" lang="en-US" sz="1800" b="1" i="1"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“dynamic”</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r>
              <a:tr h="8044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Web browser</a:t>
                      </a:r>
                      <a:endParaRPr kumimoji="0" lang="en-US" sz="1800" b="0" i="0" u="none" strike="noStrike" cap="none" normalizeH="0" baseline="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1" u="none" strike="noStrike" cap="none" normalizeH="0" baseline="0" dirty="0" smtClean="0">
                          <a:ln>
                            <a:noFill/>
                          </a:ln>
                          <a:effectLst/>
                        </a:rPr>
                        <a:t>Viewed through…</a:t>
                      </a:r>
                      <a:endParaRPr kumimoji="0" lang="en-US" sz="1800" b="1" i="1"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Browsers, RSS Readers, anything</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r>
              <a:tr h="47320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“Client Server”</a:t>
                      </a:r>
                      <a:endParaRPr kumimoji="0" lang="en-US" sz="1800" b="0" i="0" u="none" strike="noStrike" cap="none" normalizeH="0" baseline="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1" u="none" strike="noStrike" cap="none" normalizeH="0" baseline="0" dirty="0" smtClean="0">
                          <a:ln>
                            <a:noFill/>
                          </a:ln>
                          <a:effectLst/>
                        </a:rPr>
                        <a:t>Architecture</a:t>
                      </a:r>
                      <a:endParaRPr kumimoji="0" lang="en-US" sz="1800" b="1" i="1"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“Web Services”</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r>
              <a:tr h="8044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Web Coders</a:t>
                      </a:r>
                      <a:endParaRPr kumimoji="0" lang="en-US" sz="1800" b="0" i="0" u="none" strike="noStrike" cap="none" normalizeH="0" baseline="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1" u="none" strike="noStrike" cap="none" normalizeH="0" baseline="0" dirty="0" smtClean="0">
                          <a:ln>
                            <a:noFill/>
                          </a:ln>
                          <a:effectLst/>
                        </a:rPr>
                        <a:t>Content Created by…</a:t>
                      </a:r>
                      <a:endParaRPr kumimoji="0" lang="en-US" sz="1800" b="1" i="1" u="none" strike="noStrike" cap="none" normalizeH="0" baseline="0" dirty="0" smtClean="0">
                        <a:ln>
                          <a:noFill/>
                        </a:ln>
                        <a:solidFill>
                          <a:schemeClr val="tx1"/>
                        </a:solidFill>
                        <a:effectLst/>
                        <a:latin typeface="Arial Black"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Everyone</a:t>
                      </a:r>
                      <a:endParaRPr kumimoji="0" lang="en-US" sz="1800" b="0" i="0" u="none" strike="noStrike" cap="none" normalizeH="0" baseline="0" dirty="0" smtClean="0">
                        <a:ln>
                          <a:noFill/>
                        </a:ln>
                        <a:solidFill>
                          <a:schemeClr val="tx1"/>
                        </a:solidFill>
                        <a:effectLst/>
                        <a:latin typeface="Arial Black" pitchFamily="34" charset="0"/>
                      </a:endParaRPr>
                    </a:p>
                  </a:txBody>
                  <a:tcPr horzOverflow="overflow"/>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772400" cy="381000"/>
          </a:xfrm>
        </p:spPr>
        <p:txBody>
          <a:bodyPr>
            <a:normAutofit fontScale="90000"/>
          </a:bodyPr>
          <a:lstStyle/>
          <a:p>
            <a:r>
              <a:rPr lang="en-US" dirty="0" smtClean="0"/>
              <a:t>WEB 1.0    </a:t>
            </a:r>
            <a:r>
              <a:rPr lang="en-US" i="1" dirty="0" smtClean="0"/>
              <a:t>Vs.</a:t>
            </a:r>
            <a:r>
              <a:rPr lang="en-US" dirty="0" smtClean="0"/>
              <a:t>    Web 2.0</a:t>
            </a:r>
            <a:endParaRPr lang="en-US" dirty="0"/>
          </a:p>
        </p:txBody>
      </p:sp>
      <p:graphicFrame>
        <p:nvGraphicFramePr>
          <p:cNvPr id="5" name="Table Placeholder 4"/>
          <p:cNvGraphicFramePr>
            <a:graphicFrameLocks noGrp="1"/>
          </p:cNvGraphicFramePr>
          <p:nvPr>
            <p:ph type="tbl" idx="1"/>
          </p:nvPr>
        </p:nvGraphicFramePr>
        <p:xfrm>
          <a:off x="304800" y="1066800"/>
          <a:ext cx="8621486" cy="5575295"/>
        </p:xfrm>
        <a:graphic>
          <a:graphicData uri="http://schemas.openxmlformats.org/drawingml/2006/table">
            <a:tbl>
              <a:tblPr firstRow="1" bandRow="1">
                <a:tableStyleId>{5C22544A-7EE6-4342-B048-85BDC9FD1C3A}</a:tableStyleId>
              </a:tblPr>
              <a:tblGrid>
                <a:gridCol w="4310743"/>
                <a:gridCol w="4310743"/>
              </a:tblGrid>
              <a:tr h="505276">
                <a:tc>
                  <a:txBody>
                    <a:bodyPr/>
                    <a:lstStyle/>
                    <a:p>
                      <a:pPr algn="ctr"/>
                      <a:r>
                        <a:rPr lang="en-US" sz="2400" dirty="0" smtClean="0">
                          <a:solidFill>
                            <a:schemeClr val="tx1"/>
                          </a:solidFill>
                        </a:rPr>
                        <a:t>WEB 1.0</a:t>
                      </a:r>
                      <a:endParaRPr lang="en-US" sz="2400" dirty="0">
                        <a:solidFill>
                          <a:schemeClr val="tx1"/>
                        </a:solidFill>
                      </a:endParaRPr>
                    </a:p>
                  </a:txBody>
                  <a:tcPr/>
                </a:tc>
                <a:tc>
                  <a:txBody>
                    <a:bodyPr/>
                    <a:lstStyle/>
                    <a:p>
                      <a:pPr algn="ctr"/>
                      <a:r>
                        <a:rPr lang="en-US" sz="2400" dirty="0" smtClean="0">
                          <a:solidFill>
                            <a:schemeClr val="tx1"/>
                          </a:solidFill>
                        </a:rPr>
                        <a:t>WEB 2.0</a:t>
                      </a:r>
                      <a:endParaRPr lang="en-US" sz="2400" dirty="0">
                        <a:solidFill>
                          <a:schemeClr val="tx1"/>
                        </a:solidFill>
                      </a:endParaRPr>
                    </a:p>
                  </a:txBody>
                  <a:tcPr/>
                </a:tc>
              </a:tr>
              <a:tr h="419439">
                <a:tc>
                  <a:txBody>
                    <a:bodyPr/>
                    <a:lstStyle/>
                    <a:p>
                      <a:r>
                        <a:rPr lang="en-US" sz="1800" b="0" dirty="0" smtClean="0">
                          <a:solidFill>
                            <a:schemeClr val="tx1"/>
                          </a:solidFill>
                          <a:latin typeface="+mn-lt"/>
                        </a:rPr>
                        <a:t>“the mostly read only web”</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“the wildly read-write web”</a:t>
                      </a:r>
                      <a:endParaRPr lang="en-US" sz="1800" b="0" dirty="0">
                        <a:solidFill>
                          <a:schemeClr val="tx1"/>
                        </a:solidFill>
                        <a:latin typeface="+mn-lt"/>
                      </a:endParaRPr>
                    </a:p>
                  </a:txBody>
                  <a:tcPr/>
                </a:tc>
              </a:tr>
              <a:tr h="391885">
                <a:tc>
                  <a:txBody>
                    <a:bodyPr/>
                    <a:lstStyle/>
                    <a:p>
                      <a:r>
                        <a:rPr lang="en-US" sz="1800" b="0" dirty="0" smtClean="0">
                          <a:solidFill>
                            <a:schemeClr val="tx1"/>
                          </a:solidFill>
                          <a:latin typeface="+mn-lt"/>
                        </a:rPr>
                        <a:t>focused on companies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smtClean="0">
                          <a:ln>
                            <a:noFill/>
                          </a:ln>
                          <a:solidFill>
                            <a:schemeClr val="tx1"/>
                          </a:solidFill>
                          <a:effectLst/>
                          <a:latin typeface="+mn-lt"/>
                        </a:rPr>
                        <a:t>    e.g.   Dot com, Bubble</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focused on communities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smtClean="0">
                          <a:ln>
                            <a:noFill/>
                          </a:ln>
                          <a:solidFill>
                            <a:schemeClr val="tx1"/>
                          </a:solidFill>
                          <a:effectLst/>
                          <a:latin typeface="+mn-lt"/>
                        </a:rPr>
                        <a:t>     e.g.  MySpace,  </a:t>
                      </a:r>
                      <a:r>
                        <a:rPr kumimoji="0" lang="en-US" sz="1800" b="0" i="1" u="none" strike="noStrike" cap="none" normalizeH="0" baseline="0" dirty="0" err="1" smtClean="0">
                          <a:ln>
                            <a:noFill/>
                          </a:ln>
                          <a:solidFill>
                            <a:schemeClr val="tx1"/>
                          </a:solidFill>
                          <a:effectLst/>
                          <a:latin typeface="+mn-lt"/>
                        </a:rPr>
                        <a:t>Facebook</a:t>
                      </a:r>
                      <a:endParaRPr kumimoji="0" lang="en-US" sz="1800" b="0" i="1" u="none" strike="noStrike" cap="none" normalizeH="0" baseline="0" dirty="0" smtClean="0">
                        <a:ln>
                          <a:noFill/>
                        </a:ln>
                        <a:solidFill>
                          <a:schemeClr val="tx1"/>
                        </a:solidFill>
                        <a:effectLst/>
                        <a:latin typeface="+mn-lt"/>
                      </a:endParaRPr>
                    </a:p>
                  </a:txBody>
                  <a:tcPr/>
                </a:tc>
              </a:tr>
              <a:tr h="420915">
                <a:tc>
                  <a:txBody>
                    <a:bodyPr/>
                    <a:lstStyle/>
                    <a:p>
                      <a:r>
                        <a:rPr lang="en-US" sz="1800" b="0" dirty="0" smtClean="0">
                          <a:solidFill>
                            <a:schemeClr val="tx1"/>
                          </a:solidFill>
                          <a:latin typeface="+mn-lt"/>
                        </a:rPr>
                        <a:t>home pages</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blogs </a:t>
                      </a:r>
                      <a:endParaRPr lang="en-US" sz="1800" b="0" dirty="0">
                        <a:solidFill>
                          <a:schemeClr val="tx1"/>
                        </a:solidFill>
                        <a:latin typeface="+mn-lt"/>
                      </a:endParaRPr>
                    </a:p>
                  </a:txBody>
                  <a:tcPr/>
                </a:tc>
              </a:tr>
              <a:tr h="406400">
                <a:tc>
                  <a:txBody>
                    <a:bodyPr/>
                    <a:lstStyle/>
                    <a:p>
                      <a:r>
                        <a:rPr lang="en-US" sz="1800" b="0" dirty="0" smtClean="0">
                          <a:solidFill>
                            <a:schemeClr val="tx1"/>
                          </a:solidFill>
                          <a:latin typeface="+mn-lt"/>
                        </a:rPr>
                        <a:t>owning content</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sharing content</a:t>
                      </a:r>
                      <a:endParaRPr lang="en-US" sz="1800" b="0" dirty="0">
                        <a:solidFill>
                          <a:schemeClr val="tx1"/>
                        </a:solidFill>
                        <a:latin typeface="+mn-lt"/>
                      </a:endParaRPr>
                    </a:p>
                  </a:txBody>
                  <a:tcPr/>
                </a:tc>
              </a:tr>
              <a:tr h="420914">
                <a:tc>
                  <a:txBody>
                    <a:bodyPr/>
                    <a:lstStyle/>
                    <a:p>
                      <a:r>
                        <a:rPr lang="en-US" sz="1800" b="0" dirty="0" smtClean="0">
                          <a:solidFill>
                            <a:schemeClr val="tx1"/>
                          </a:solidFill>
                          <a:latin typeface="+mn-lt"/>
                        </a:rPr>
                        <a:t>HTML, portals</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XML, RSS</a:t>
                      </a:r>
                      <a:endParaRPr lang="en-US" sz="1800" b="0" dirty="0">
                        <a:solidFill>
                          <a:schemeClr val="tx1"/>
                        </a:solidFill>
                        <a:latin typeface="+mn-lt"/>
                      </a:endParaRPr>
                    </a:p>
                  </a:txBody>
                  <a:tcPr/>
                </a:tc>
              </a:tr>
              <a:tr h="406400">
                <a:tc>
                  <a:txBody>
                    <a:bodyPr/>
                    <a:lstStyle/>
                    <a:p>
                      <a:r>
                        <a:rPr lang="en-US" sz="1800" b="0" dirty="0" smtClean="0">
                          <a:solidFill>
                            <a:schemeClr val="tx1"/>
                          </a:solidFill>
                          <a:latin typeface="+mn-lt"/>
                        </a:rPr>
                        <a:t>web forms</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web applications </a:t>
                      </a:r>
                      <a:endParaRPr lang="en-US" sz="1800" b="0" dirty="0">
                        <a:solidFill>
                          <a:schemeClr val="tx1"/>
                        </a:solidFill>
                        <a:latin typeface="+mn-lt"/>
                      </a:endParaRPr>
                    </a:p>
                  </a:txBody>
                  <a:tcPr/>
                </a:tc>
              </a:tr>
              <a:tr h="406400">
                <a:tc>
                  <a:txBody>
                    <a:bodyPr/>
                    <a:lstStyle/>
                    <a:p>
                      <a:r>
                        <a:rPr lang="en-US" sz="1800" b="0" dirty="0" smtClean="0">
                          <a:solidFill>
                            <a:schemeClr val="tx1"/>
                          </a:solidFill>
                          <a:latin typeface="+mn-lt"/>
                        </a:rPr>
                        <a:t>directories (taxonomy)</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tagging ("</a:t>
                      </a:r>
                      <a:r>
                        <a:rPr lang="en-US" sz="1800" b="0" dirty="0" err="1" smtClean="0">
                          <a:solidFill>
                            <a:schemeClr val="tx1"/>
                          </a:solidFill>
                          <a:latin typeface="+mn-lt"/>
                        </a:rPr>
                        <a:t>folksonomy</a:t>
                      </a:r>
                      <a:r>
                        <a:rPr lang="en-US" sz="1800" b="0" dirty="0" smtClean="0">
                          <a:solidFill>
                            <a:schemeClr val="tx1"/>
                          </a:solidFill>
                          <a:latin typeface="+mn-lt"/>
                        </a:rPr>
                        <a:t>") </a:t>
                      </a:r>
                      <a:endParaRPr lang="en-US" sz="1800" b="0" dirty="0">
                        <a:solidFill>
                          <a:schemeClr val="tx1"/>
                        </a:solidFill>
                        <a:latin typeface="+mn-lt"/>
                      </a:endParaRPr>
                    </a:p>
                  </a:txBody>
                  <a:tcPr/>
                </a:tc>
              </a:tr>
              <a:tr h="448491">
                <a:tc>
                  <a:txBody>
                    <a:bodyPr/>
                    <a:lstStyle/>
                    <a:p>
                      <a:r>
                        <a:rPr kumimoji="0" lang="en-US" sz="1800" b="0" i="1" u="none" strike="noStrike" cap="none" normalizeH="0" baseline="0" dirty="0" smtClean="0">
                          <a:ln>
                            <a:noFill/>
                          </a:ln>
                          <a:solidFill>
                            <a:schemeClr val="tx1"/>
                          </a:solidFill>
                          <a:effectLst/>
                          <a:latin typeface="+mn-lt"/>
                        </a:rPr>
                        <a:t>about wires</a:t>
                      </a:r>
                      <a:endParaRPr lang="en-US" sz="1800" b="0" dirty="0">
                        <a:solidFill>
                          <a:schemeClr val="tx1"/>
                        </a:solidFill>
                        <a:latin typeface="+mn-lt"/>
                      </a:endParaRPr>
                    </a:p>
                  </a:txBody>
                  <a:tcPr/>
                </a:tc>
                <a:tc>
                  <a:txBody>
                    <a:bodyPr/>
                    <a:lstStyle/>
                    <a:p>
                      <a:r>
                        <a:rPr kumimoji="0" lang="en-US" sz="1800" b="0" i="1" u="none" strike="noStrike" cap="none" normalizeH="0" baseline="0" dirty="0" smtClean="0">
                          <a:ln>
                            <a:noFill/>
                          </a:ln>
                          <a:solidFill>
                            <a:schemeClr val="tx1"/>
                          </a:solidFill>
                          <a:effectLst/>
                          <a:latin typeface="+mn-lt"/>
                        </a:rPr>
                        <a:t>about wireless.</a:t>
                      </a:r>
                      <a:endParaRPr lang="en-US" sz="1800" b="0" dirty="0">
                        <a:solidFill>
                          <a:schemeClr val="tx1"/>
                        </a:solidFill>
                        <a:latin typeface="+mn-lt"/>
                      </a:endParaRPr>
                    </a:p>
                  </a:txBody>
                  <a:tcPr/>
                </a:tc>
              </a:tr>
              <a:tr h="464457">
                <a:tc>
                  <a:txBody>
                    <a:bodyPr/>
                    <a:lstStyle/>
                    <a:p>
                      <a:r>
                        <a:rPr lang="en-US" sz="1800" b="0" dirty="0" smtClean="0">
                          <a:solidFill>
                            <a:schemeClr val="tx1"/>
                          </a:solidFill>
                          <a:latin typeface="+mn-lt"/>
                        </a:rPr>
                        <a:t>Netscape</a:t>
                      </a:r>
                      <a:endParaRPr lang="en-US" sz="1800" b="0" dirty="0">
                        <a:solidFill>
                          <a:schemeClr val="tx1"/>
                        </a:solidFill>
                        <a:latin typeface="+mn-lt"/>
                      </a:endParaRPr>
                    </a:p>
                  </a:txBody>
                  <a:tcPr/>
                </a:tc>
                <a:tc>
                  <a:txBody>
                    <a:bodyPr/>
                    <a:lstStyle/>
                    <a:p>
                      <a:r>
                        <a:rPr lang="en-US" sz="1800" b="0" dirty="0" smtClean="0">
                          <a:solidFill>
                            <a:schemeClr val="tx1"/>
                          </a:solidFill>
                          <a:latin typeface="+mn-lt"/>
                        </a:rPr>
                        <a:t>Google</a:t>
                      </a:r>
                      <a:endParaRPr lang="en-US" sz="1800" b="0" dirty="0">
                        <a:solidFill>
                          <a:schemeClr val="tx1"/>
                        </a:solidFill>
                        <a:latin typeface="+mn-lt"/>
                      </a:endParaRPr>
                    </a:p>
                  </a:txBody>
                  <a:tcPr/>
                </a:tc>
              </a:tr>
              <a:tr h="3918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smtClean="0">
                          <a:ln>
                            <a:noFill/>
                          </a:ln>
                          <a:solidFill>
                            <a:schemeClr val="tx1"/>
                          </a:solidFill>
                          <a:effectLst/>
                          <a:latin typeface="+mn-lt"/>
                        </a:rPr>
                        <a:t>dial up</a:t>
                      </a:r>
                      <a:endParaRPr lang="en-US" sz="1800" b="0" dirty="0">
                        <a:solidFill>
                          <a:schemeClr val="tx1"/>
                        </a:solidFill>
                        <a:latin typeface="+mn-lt"/>
                      </a:endParaRPr>
                    </a:p>
                  </a:txBody>
                  <a:tcPr/>
                </a:tc>
                <a:tc>
                  <a:txBody>
                    <a:bodyPr/>
                    <a:lstStyle/>
                    <a:p>
                      <a:r>
                        <a:rPr kumimoji="0" lang="en-US" sz="1800" b="0" i="1" u="none" strike="noStrike" cap="none" normalizeH="0" baseline="0" dirty="0" smtClean="0">
                          <a:ln>
                            <a:noFill/>
                          </a:ln>
                          <a:solidFill>
                            <a:schemeClr val="tx1"/>
                          </a:solidFill>
                          <a:effectLst/>
                          <a:latin typeface="+mn-lt"/>
                        </a:rPr>
                        <a:t>broadband</a:t>
                      </a:r>
                      <a:endParaRPr lang="en-US" sz="1800" b="0" dirty="0">
                        <a:solidFill>
                          <a:schemeClr val="tx1"/>
                        </a:solidFill>
                        <a:latin typeface="+mn-lt"/>
                      </a:endParaRPr>
                    </a:p>
                  </a:txBody>
                  <a:tcPr/>
                </a:tc>
              </a:tr>
              <a:tr h="644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smtClean="0">
                          <a:ln>
                            <a:noFill/>
                          </a:ln>
                          <a:solidFill>
                            <a:schemeClr val="tx1"/>
                          </a:solidFill>
                          <a:effectLst/>
                          <a:latin typeface="+mn-lt"/>
                        </a:rPr>
                        <a:t>Yahoo mail 1998 with 2 MB of storage.</a:t>
                      </a:r>
                    </a:p>
                    <a:p>
                      <a:endParaRPr lang="en-US" sz="1800" b="0" dirty="0">
                        <a:solidFill>
                          <a:schemeClr val="tx1"/>
                        </a:solidFill>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cap="none" normalizeH="0" baseline="0" dirty="0" smtClean="0">
                          <a:ln>
                            <a:noFill/>
                          </a:ln>
                          <a:solidFill>
                            <a:schemeClr val="tx1"/>
                          </a:solidFill>
                          <a:effectLst/>
                          <a:latin typeface="+mn-lt"/>
                        </a:rPr>
                        <a:t>Google Mail (Gmail) with 2GB of storage.</a:t>
                      </a:r>
                    </a:p>
                    <a:p>
                      <a:endParaRPr lang="en-US" sz="1800" b="0" dirty="0">
                        <a:solidFill>
                          <a:schemeClr val="tx1"/>
                        </a:solidFill>
                        <a:latin typeface="+mn-lt"/>
                      </a:endParaRPr>
                    </a:p>
                  </a:txBody>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p:cNvSpPr txBox="1">
            <a:spLocks noChangeArrowheads="1"/>
          </p:cNvSpPr>
          <p:nvPr/>
        </p:nvSpPr>
        <p:spPr bwMode="auto">
          <a:xfrm>
            <a:off x="0" y="381000"/>
            <a:ext cx="9144000" cy="584775"/>
          </a:xfrm>
          <a:prstGeom prst="rect">
            <a:avLst/>
          </a:prstGeom>
          <a:noFill/>
          <a:ln w="9525">
            <a:noFill/>
            <a:miter lim="800000"/>
            <a:headEnd/>
            <a:tailEnd/>
          </a:ln>
          <a:effectLst/>
        </p:spPr>
        <p:txBody>
          <a:bodyPr>
            <a:spAutoFit/>
          </a:bodyPr>
          <a:lstStyle/>
          <a:p>
            <a:pPr marL="855663">
              <a:spcBef>
                <a:spcPct val="50000"/>
              </a:spcBef>
            </a:pPr>
            <a:r>
              <a:rPr lang="en-US" altLang="zh-TW" sz="3200" b="1" dirty="0" smtClean="0">
                <a:solidFill>
                  <a:schemeClr val="accent2">
                    <a:lumMod val="50000"/>
                  </a:schemeClr>
                </a:solidFill>
                <a:latin typeface="+mj-lt"/>
                <a:ea typeface="新細明體" pitchFamily="18" charset="-120"/>
              </a:rPr>
              <a:t>lesson </a:t>
            </a:r>
            <a:r>
              <a:rPr lang="en-US" altLang="zh-TW" sz="3200" b="1" dirty="0">
                <a:solidFill>
                  <a:schemeClr val="accent2">
                    <a:lumMod val="50000"/>
                  </a:schemeClr>
                </a:solidFill>
                <a:latin typeface="+mj-lt"/>
                <a:ea typeface="新細明體" pitchFamily="18" charset="-120"/>
              </a:rPr>
              <a:t>review</a:t>
            </a:r>
            <a:r>
              <a:rPr lang="en-US" altLang="zh-TW" sz="3200" dirty="0">
                <a:solidFill>
                  <a:schemeClr val="accent2">
                    <a:lumMod val="50000"/>
                  </a:schemeClr>
                </a:solidFill>
                <a:latin typeface="+mj-lt"/>
                <a:ea typeface="新細明體" pitchFamily="18" charset="-120"/>
              </a:rPr>
              <a:t> </a:t>
            </a:r>
          </a:p>
        </p:txBody>
      </p:sp>
      <p:sp>
        <p:nvSpPr>
          <p:cNvPr id="6" name="Content Placeholder 2"/>
          <p:cNvSpPr txBox="1">
            <a:spLocks/>
          </p:cNvSpPr>
          <p:nvPr/>
        </p:nvSpPr>
        <p:spPr>
          <a:xfrm>
            <a:off x="457200" y="1295400"/>
            <a:ext cx="8686800" cy="5180465"/>
          </a:xfrm>
          <a:prstGeom prst="rect">
            <a:avLst/>
          </a:prstGeom>
        </p:spPr>
        <p:txBody>
          <a:bodyPr vert="horz">
            <a:normAutofit lnSpcReduction="100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US" sz="27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t>Differentiate Static and Dynamic web sites.</a:t>
            </a:r>
          </a:p>
          <a:p>
            <a:pPr marL="365760" marR="0" lvl="0" indent="-256032" algn="l" defTabSz="914400" rtl="0" eaLnBrk="1" fontAlgn="auto" latinLnBrk="0" hangingPunct="1">
              <a:lnSpc>
                <a:spcPct val="100000"/>
              </a:lnSpc>
              <a:spcBef>
                <a:spcPts val="400"/>
              </a:spcBef>
              <a:spcAft>
                <a:spcPts val="0"/>
              </a:spcAft>
              <a:buClr>
                <a:schemeClr val="accent1"/>
              </a:buClr>
              <a:buSzPct val="68000"/>
              <a:tabLst/>
              <a:defRPr/>
            </a:pPr>
            <a:endParaRPr kumimoji="0" lang="en-US" sz="27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US" sz="27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t>Differentiate collaborative and Syndication web sites.</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endParaRPr kumimoji="0" lang="en-US" sz="27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a:p>
            <a:pPr marL="365760" lvl="0" indent="-256032" fontAlgn="auto">
              <a:spcBef>
                <a:spcPts val="400"/>
              </a:spcBef>
              <a:spcAft>
                <a:spcPts val="0"/>
              </a:spcAft>
              <a:buClr>
                <a:schemeClr val="accent1"/>
              </a:buClr>
              <a:buSzPct val="68000"/>
              <a:buFont typeface="Wingdings 3"/>
              <a:buChar char=""/>
            </a:pPr>
            <a:r>
              <a:rPr kumimoji="0" lang="en-US" sz="2700" dirty="0" smtClean="0">
                <a:latin typeface="Arial" pitchFamily="34" charset="0"/>
                <a:cs typeface="Arial" pitchFamily="34" charset="0"/>
              </a:rPr>
              <a:t>Differentiate Web 1.0 Vs. Web 2.0.</a:t>
            </a:r>
          </a:p>
          <a:p>
            <a:pPr marL="365760" lvl="0" indent="-256032" fontAlgn="auto">
              <a:spcBef>
                <a:spcPts val="400"/>
              </a:spcBef>
              <a:spcAft>
                <a:spcPts val="0"/>
              </a:spcAft>
              <a:buClr>
                <a:schemeClr val="accent1"/>
              </a:buClr>
              <a:buSzPct val="68000"/>
              <a:buFont typeface="Wingdings 3"/>
              <a:buChar char=""/>
            </a:pPr>
            <a:r>
              <a:rPr kumimoji="0" lang="en-US" sz="27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rPr>
              <a:t>Describe</a:t>
            </a:r>
            <a:r>
              <a:rPr kumimoji="0" lang="en-US" sz="2700" b="0" i="0" u="none" strike="noStrike" kern="1200" cap="none" spc="0" normalizeH="0" noProof="0" dirty="0" smtClean="0">
                <a:ln>
                  <a:noFill/>
                </a:ln>
                <a:solidFill>
                  <a:schemeClr val="tx1"/>
                </a:solidFill>
                <a:effectLst/>
                <a:uLnTx/>
                <a:uFillTx/>
                <a:latin typeface="Arial" pitchFamily="34" charset="0"/>
                <a:ea typeface="+mn-ea"/>
                <a:cs typeface="Arial" pitchFamily="34" charset="0"/>
              </a:rPr>
              <a:t> how to migrate contents from Web 1.0 to Web 2.0.</a:t>
            </a:r>
          </a:p>
          <a:p>
            <a:pPr marL="365760" lvl="0" indent="-256032" fontAlgn="auto">
              <a:spcBef>
                <a:spcPts val="400"/>
              </a:spcBef>
              <a:spcAft>
                <a:spcPts val="0"/>
              </a:spcAft>
              <a:buClr>
                <a:schemeClr val="accent1"/>
              </a:buClr>
              <a:buSzPct val="68000"/>
              <a:buFont typeface="Wingdings 3"/>
              <a:buChar char=""/>
            </a:pPr>
            <a:endParaRPr kumimoji="0" lang="en-US" sz="2700" b="0" i="0" u="none" strike="noStrike" kern="1200" cap="none" spc="0" normalizeH="0" noProof="0" dirty="0" smtClean="0">
              <a:ln>
                <a:noFill/>
              </a:ln>
              <a:solidFill>
                <a:schemeClr val="tx1"/>
              </a:solidFill>
              <a:effectLst/>
              <a:uLnTx/>
              <a:uFillTx/>
              <a:latin typeface="Arial" pitchFamily="34" charset="0"/>
              <a:ea typeface="+mn-ea"/>
              <a:cs typeface="Arial" pitchFamily="34" charset="0"/>
            </a:endParaRPr>
          </a:p>
          <a:p>
            <a:pPr marL="365760" lvl="0" indent="-256032" fontAlgn="auto">
              <a:spcBef>
                <a:spcPts val="400"/>
              </a:spcBef>
              <a:spcAft>
                <a:spcPts val="0"/>
              </a:spcAft>
              <a:buClr>
                <a:schemeClr val="accent1"/>
              </a:buClr>
              <a:buSzPct val="68000"/>
              <a:buFont typeface="Wingdings 3"/>
              <a:buChar char=""/>
            </a:pPr>
            <a:r>
              <a:rPr kumimoji="0" lang="en-US" sz="2700" baseline="0" dirty="0" smtClean="0">
                <a:latin typeface="Arial" pitchFamily="34" charset="0"/>
                <a:ea typeface="+mn-ea"/>
                <a:cs typeface="Arial" pitchFamily="34" charset="0"/>
              </a:rPr>
              <a:t>Identify</a:t>
            </a:r>
            <a:r>
              <a:rPr kumimoji="0" lang="en-US" sz="2700" dirty="0" smtClean="0">
                <a:latin typeface="Arial" pitchFamily="34" charset="0"/>
                <a:ea typeface="+mn-ea"/>
                <a:cs typeface="Arial" pitchFamily="34" charset="0"/>
              </a:rPr>
              <a:t> web sites under following categories</a:t>
            </a:r>
          </a:p>
          <a:p>
            <a:pPr marL="2194560" lvl="4" indent="-256032" fontAlgn="auto">
              <a:spcBef>
                <a:spcPts val="400"/>
              </a:spcBef>
              <a:spcAft>
                <a:spcPts val="0"/>
              </a:spcAft>
              <a:buClr>
                <a:schemeClr val="accent1"/>
              </a:buClr>
              <a:buSzPct val="68000"/>
              <a:buFont typeface="Wingdings" pitchFamily="2" charset="2"/>
              <a:buChar char="§"/>
            </a:pPr>
            <a:r>
              <a:rPr kumimoji="0" lang="en-US" sz="2700" dirty="0" smtClean="0">
                <a:latin typeface="Arial" pitchFamily="34" charset="0"/>
                <a:cs typeface="Arial" pitchFamily="34" charset="0"/>
              </a:rPr>
              <a:t>Static and Dynamic</a:t>
            </a:r>
          </a:p>
          <a:p>
            <a:pPr marL="2194560" lvl="4" indent="-256032" fontAlgn="auto">
              <a:spcBef>
                <a:spcPts val="400"/>
              </a:spcBef>
              <a:spcAft>
                <a:spcPts val="0"/>
              </a:spcAft>
              <a:buClr>
                <a:schemeClr val="accent1"/>
              </a:buClr>
              <a:buSzPct val="68000"/>
              <a:buFont typeface="Wingdings" pitchFamily="2" charset="2"/>
              <a:buChar char="§"/>
            </a:pPr>
            <a:r>
              <a:rPr kumimoji="0" lang="en-US" sz="2700" dirty="0" smtClean="0">
                <a:latin typeface="Arial" pitchFamily="34" charset="0"/>
                <a:cs typeface="Arial" pitchFamily="34" charset="0"/>
              </a:rPr>
              <a:t>Collaborative and Syndication</a:t>
            </a:r>
            <a:endParaRPr kumimoji="0" lang="en-US" sz="2700" dirty="0" smtClean="0">
              <a:latin typeface="Arial" pitchFamily="34" charset="0"/>
              <a:ea typeface="+mn-ea"/>
              <a:cs typeface="Arial" pitchFamily="34" charset="0"/>
            </a:endParaRPr>
          </a:p>
          <a:p>
            <a:pPr marL="2194560" lvl="4" indent="-256032" fontAlgn="auto">
              <a:spcBef>
                <a:spcPts val="400"/>
              </a:spcBef>
              <a:spcAft>
                <a:spcPts val="0"/>
              </a:spcAft>
              <a:buClr>
                <a:schemeClr val="accent1"/>
              </a:buClr>
              <a:buSzPct val="68000"/>
              <a:buFont typeface="Wingdings" pitchFamily="2" charset="2"/>
              <a:buChar char="§"/>
            </a:pPr>
            <a:r>
              <a:rPr kumimoji="0" lang="en-US" sz="2700" dirty="0" smtClean="0">
                <a:latin typeface="Arial" pitchFamily="34" charset="0"/>
                <a:ea typeface="+mn-ea"/>
                <a:cs typeface="Arial" pitchFamily="34" charset="0"/>
              </a:rPr>
              <a:t>Web 1.0 and Web 2.0</a:t>
            </a:r>
            <a:endParaRPr kumimoji="0" lang="en-US" sz="27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38</TotalTime>
  <Words>1902</Words>
  <Application>Microsoft Office PowerPoint</Application>
  <PresentationFormat>On-screen Show (4:3)</PresentationFormat>
  <Paragraphs>321</Paragraphs>
  <Slides>41</Slides>
  <Notes>4</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HNDIT</vt:lpstr>
      <vt:lpstr>HNDIT11062 –  Web Development</vt:lpstr>
      <vt:lpstr>Course Content</vt:lpstr>
      <vt:lpstr>Website</vt:lpstr>
      <vt:lpstr>Static and Dynamic  web sites</vt:lpstr>
      <vt:lpstr>Static web Sites</vt:lpstr>
      <vt:lpstr>Static web Sites…(cont.)</vt:lpstr>
      <vt:lpstr>Slide 7</vt:lpstr>
      <vt:lpstr>Static web Sites…(cont.)</vt:lpstr>
      <vt:lpstr>Static web Sites…(cont.)</vt:lpstr>
      <vt:lpstr>Advantages</vt:lpstr>
      <vt:lpstr>Dynamic web Sites</vt:lpstr>
      <vt:lpstr>Dynamic web Sites… (cont.)</vt:lpstr>
      <vt:lpstr>Dynamic web Sites… (cont.)</vt:lpstr>
      <vt:lpstr>Advantages</vt:lpstr>
      <vt:lpstr>E.g.  Static vs. dynamic web pages</vt:lpstr>
      <vt:lpstr>Slide 16</vt:lpstr>
      <vt:lpstr>Slide 17</vt:lpstr>
      <vt:lpstr>Client-Side Dynamic Web Pages   Vs                               Server-Side Dynamic Web Pages</vt:lpstr>
      <vt:lpstr>Client-Side Dynamic Web Pages      Vs                               Server-Side Dynamic Web Pages</vt:lpstr>
      <vt:lpstr>Slide 20</vt:lpstr>
      <vt:lpstr>Client-Side Dynamic Web Pages    Vs                              Server-Side Dynamic Web Pages</vt:lpstr>
      <vt:lpstr>Client-Side Processing Technologies</vt:lpstr>
      <vt:lpstr>Collaborative and Syndication Web sites </vt:lpstr>
      <vt:lpstr>Web syndication</vt:lpstr>
      <vt:lpstr>Collaborative Web sites </vt:lpstr>
      <vt:lpstr>Collaborative Web sites…</vt:lpstr>
      <vt:lpstr>Wiki</vt:lpstr>
      <vt:lpstr>Collaboration and Social Computing</vt:lpstr>
      <vt:lpstr>What is Social Networking?</vt:lpstr>
      <vt:lpstr>E.g.</vt:lpstr>
      <vt:lpstr>Social Networking… (cont.)</vt:lpstr>
      <vt:lpstr>Web 1.0   Vs.   Web 2.0</vt:lpstr>
      <vt:lpstr>Web 1.0</vt:lpstr>
      <vt:lpstr>Web 1.0 … (cont.)</vt:lpstr>
      <vt:lpstr>Web 2.0</vt:lpstr>
      <vt:lpstr>Web 2.0 … (cont.)</vt:lpstr>
      <vt:lpstr>Web 2.0 … (cont.)</vt:lpstr>
      <vt:lpstr>Slide 38</vt:lpstr>
      <vt:lpstr>Web 2.0: Evolution Towards a Read/Write Platform</vt:lpstr>
      <vt:lpstr>WEB 1.0    Vs.    Web 2.0</vt:lpstr>
      <vt:lpstr>Slide 41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wathsala</cp:lastModifiedBy>
  <cp:revision>6</cp:revision>
  <dcterms:created xsi:type="dcterms:W3CDTF">2013-10-16T01:16:09Z</dcterms:created>
  <dcterms:modified xsi:type="dcterms:W3CDTF">2014-03-12T08:31:37Z</dcterms:modified>
</cp:coreProperties>
</file>