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5" r:id="rId3"/>
    <p:sldId id="260" r:id="rId4"/>
    <p:sldId id="261" r:id="rId5"/>
    <p:sldId id="262" r:id="rId6"/>
    <p:sldId id="263" r:id="rId7"/>
    <p:sldId id="264" r:id="rId8"/>
    <p:sldId id="265"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3/17/2014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xmlns=""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3/17/2014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AA71DD-D0EC-4926-8ED6-19B5D40D3F29}" type="datetimeFigureOut">
              <a:rPr lang="en-US" smtClean="0"/>
              <a:pPr/>
              <a:t>3/17/2014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AA71DD-D0EC-4926-8ED6-19B5D40D3F29}" type="datetimeFigureOut">
              <a:rPr lang="en-US" smtClean="0"/>
              <a:pPr/>
              <a:t>3/17/2014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A71DD-D0EC-4926-8ED6-19B5D40D3F29}" type="datetimeFigureOut">
              <a:rPr lang="en-US" smtClean="0"/>
              <a:pPr/>
              <a:t>3/17/2014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3/17/2014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3/17/2014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3/17/2014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3/17/2014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1: Introduction</a:t>
            </a:r>
            <a:endParaRPr lang="en-US" dirty="0"/>
          </a:p>
        </p:txBody>
      </p:sp>
      <p:sp>
        <p:nvSpPr>
          <p:cNvPr id="2"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Tree>
    <p:extLst>
      <p:ext uri="{BB962C8B-B14F-4D97-AF65-F5344CB8AC3E}">
        <p14:creationId xmlns:p14="http://schemas.microsoft.com/office/powerpoint/2010/main" xmlns=""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685800" y="1066800"/>
          <a:ext cx="8001000" cy="4800601"/>
        </p:xfrm>
        <a:graphic>
          <a:graphicData uri="http://schemas.openxmlformats.org/drawingml/2006/table">
            <a:tbl>
              <a:tblPr firstRow="1" bandRow="1">
                <a:tableStyleId>{00A15C55-8517-42AA-B614-E9B94910E393}</a:tableStyleId>
              </a:tblPr>
              <a:tblGrid>
                <a:gridCol w="1447800"/>
                <a:gridCol w="152400"/>
                <a:gridCol w="1752600"/>
                <a:gridCol w="1447800"/>
                <a:gridCol w="1880647"/>
                <a:gridCol w="1319753"/>
              </a:tblGrid>
              <a:tr h="1169294">
                <a:tc>
                  <a:txBody>
                    <a:bodyPr/>
                    <a:lstStyle/>
                    <a:p>
                      <a:r>
                        <a:rPr lang="en-US" sz="2400" dirty="0" smtClean="0"/>
                        <a:t>Module Code</a:t>
                      </a:r>
                      <a:endParaRPr lang="en-US" sz="2400" dirty="0">
                        <a:solidFill>
                          <a:schemeClr val="tx1"/>
                        </a:solidFill>
                      </a:endParaRPr>
                    </a:p>
                  </a:txBody>
                  <a:tcPr/>
                </a:tc>
                <a:tc gridSpan="2">
                  <a:txBody>
                    <a:bodyPr/>
                    <a:lstStyle/>
                    <a:p>
                      <a:r>
                        <a:rPr lang="en-US" sz="2400" dirty="0" smtClean="0"/>
                        <a:t>HNDIT11062</a:t>
                      </a:r>
                      <a:endParaRPr lang="en-US" sz="2400" dirty="0">
                        <a:solidFill>
                          <a:schemeClr val="tx1"/>
                        </a:solidFill>
                      </a:endParaRPr>
                    </a:p>
                  </a:txBody>
                  <a:tcPr/>
                </a:tc>
                <a:tc hMerge="1">
                  <a:txBody>
                    <a:bodyPr/>
                    <a:lstStyle/>
                    <a:p>
                      <a:endParaRPr lang="en-US" sz="2400" dirty="0">
                        <a:solidFill>
                          <a:schemeClr val="tx1"/>
                        </a:solidFill>
                      </a:endParaRPr>
                    </a:p>
                  </a:txBody>
                  <a:tcPr/>
                </a:tc>
                <a:tc>
                  <a:txBody>
                    <a:bodyPr/>
                    <a:lstStyle/>
                    <a:p>
                      <a:r>
                        <a:rPr lang="en-US" sz="2400" dirty="0" smtClean="0"/>
                        <a:t>Module Title</a:t>
                      </a:r>
                      <a:endParaRPr lang="en-US" sz="2400" dirty="0">
                        <a:solidFill>
                          <a:schemeClr val="tx1"/>
                        </a:solidFill>
                      </a:endParaRPr>
                    </a:p>
                  </a:txBody>
                  <a:tcPr/>
                </a:tc>
                <a:tc gridSpan="2">
                  <a:txBody>
                    <a:bodyPr/>
                    <a:lstStyle/>
                    <a:p>
                      <a:r>
                        <a:rPr lang="en-US" sz="2400" dirty="0" smtClean="0"/>
                        <a:t>Web Development</a:t>
                      </a:r>
                      <a:endParaRPr lang="en-US" sz="2400" dirty="0">
                        <a:solidFill>
                          <a:schemeClr val="tx1"/>
                        </a:solidFill>
                      </a:endParaRPr>
                    </a:p>
                  </a:txBody>
                  <a:tcPr/>
                </a:tc>
                <a:tc hMerge="1">
                  <a:txBody>
                    <a:bodyPr/>
                    <a:lstStyle/>
                    <a:p>
                      <a:endParaRPr lang="en-US"/>
                    </a:p>
                  </a:txBody>
                  <a:tcPr/>
                </a:tc>
              </a:tr>
              <a:tr h="818505">
                <a:tc>
                  <a:txBody>
                    <a:bodyPr/>
                    <a:lstStyle/>
                    <a:p>
                      <a:r>
                        <a:rPr lang="en-US" sz="2400" dirty="0" smtClean="0"/>
                        <a:t>Credits</a:t>
                      </a:r>
                      <a:endParaRPr lang="en-US" sz="2400" dirty="0">
                        <a:solidFill>
                          <a:schemeClr val="tx1"/>
                        </a:solidFill>
                      </a:endParaRPr>
                    </a:p>
                  </a:txBody>
                  <a:tcPr/>
                </a:tc>
                <a:tc gridSpan="2">
                  <a:txBody>
                    <a:bodyPr/>
                    <a:lstStyle/>
                    <a:p>
                      <a:r>
                        <a:rPr lang="en-US" sz="2400" dirty="0" smtClean="0"/>
                        <a:t>2</a:t>
                      </a:r>
                      <a:endParaRPr lang="en-US" sz="2400" b="1" dirty="0">
                        <a:solidFill>
                          <a:schemeClr val="tx1"/>
                        </a:solidFill>
                      </a:endParaRPr>
                    </a:p>
                  </a:txBody>
                  <a:tcPr/>
                </a:tc>
                <a:tc hMerge="1">
                  <a:txBody>
                    <a:bodyPr/>
                    <a:lstStyle/>
                    <a:p>
                      <a:endParaRPr lang="en-US" sz="2400" b="1" dirty="0">
                        <a:solidFill>
                          <a:schemeClr val="tx1"/>
                        </a:solidFill>
                      </a:endParaRPr>
                    </a:p>
                  </a:txBody>
                  <a:tcPr/>
                </a:tc>
                <a:tc>
                  <a:txBody>
                    <a:bodyPr/>
                    <a:lstStyle/>
                    <a:p>
                      <a:endParaRPr lang="en-US" sz="2400" dirty="0">
                        <a:solidFill>
                          <a:schemeClr val="tx1"/>
                        </a:solidFill>
                      </a:endParaRPr>
                    </a:p>
                  </a:txBody>
                  <a:tcPr/>
                </a:tc>
                <a:tc>
                  <a:txBody>
                    <a:bodyPr/>
                    <a:lstStyle/>
                    <a:p>
                      <a:r>
                        <a:rPr lang="en-US" sz="2400" dirty="0" smtClean="0"/>
                        <a:t>Lectures</a:t>
                      </a:r>
                      <a:endParaRPr lang="en-US" sz="2400" dirty="0">
                        <a:solidFill>
                          <a:schemeClr val="tx1"/>
                        </a:solidFill>
                      </a:endParaRPr>
                    </a:p>
                  </a:txBody>
                  <a:tcPr/>
                </a:tc>
                <a:tc>
                  <a:txBody>
                    <a:bodyPr/>
                    <a:lstStyle/>
                    <a:p>
                      <a:r>
                        <a:rPr lang="en-US" sz="2400" dirty="0" smtClean="0"/>
                        <a:t>01</a:t>
                      </a:r>
                      <a:endParaRPr lang="en-US" sz="2400" b="1" dirty="0">
                        <a:solidFill>
                          <a:schemeClr val="tx1"/>
                        </a:solidFill>
                      </a:endParaRPr>
                    </a:p>
                  </a:txBody>
                  <a:tcPr/>
                </a:tc>
              </a:tr>
              <a:tr h="474214">
                <a:tc gridSpan="3">
                  <a:txBody>
                    <a:bodyPr/>
                    <a:lstStyle/>
                    <a:p>
                      <a:endParaRPr lang="en-US" sz="2400" dirty="0">
                        <a:solidFill>
                          <a:schemeClr val="tx1"/>
                        </a:solidFill>
                      </a:endParaRPr>
                    </a:p>
                  </a:txBody>
                  <a:tcPr/>
                </a:tc>
                <a:tc hMerge="1">
                  <a:txBody>
                    <a:bodyPr/>
                    <a:lstStyle/>
                    <a:p>
                      <a:endParaRPr lang="en-US"/>
                    </a:p>
                  </a:txBody>
                  <a:tcPr/>
                </a:tc>
                <a:tc hMerge="1">
                  <a:txBody>
                    <a:bodyPr/>
                    <a:lstStyle/>
                    <a:p>
                      <a:endParaRPr lang="en-US" dirty="0"/>
                    </a:p>
                  </a:txBody>
                  <a:tcPr/>
                </a:tc>
                <a:tc>
                  <a:txBody>
                    <a:bodyPr/>
                    <a:lstStyle/>
                    <a:p>
                      <a:r>
                        <a:rPr lang="en-US" sz="2400" dirty="0" smtClean="0"/>
                        <a:t>Hours</a:t>
                      </a:r>
                      <a:endParaRPr lang="en-US" sz="2400" dirty="0">
                        <a:solidFill>
                          <a:schemeClr val="tx1"/>
                        </a:solidFill>
                      </a:endParaRPr>
                    </a:p>
                  </a:txBody>
                  <a:tcPr/>
                </a:tc>
                <a:tc gridSpan="2">
                  <a:txBody>
                    <a:bodyPr/>
                    <a:lstStyle/>
                    <a:p>
                      <a:endParaRPr lang="en-US" sz="2400" dirty="0">
                        <a:solidFill>
                          <a:schemeClr val="tx1"/>
                        </a:solidFill>
                      </a:endParaRPr>
                    </a:p>
                  </a:txBody>
                  <a:tcPr/>
                </a:tc>
                <a:tc hMerge="1">
                  <a:txBody>
                    <a:bodyPr/>
                    <a:lstStyle/>
                    <a:p>
                      <a:endParaRPr lang="en-US"/>
                    </a:p>
                  </a:txBody>
                  <a:tcPr/>
                </a:tc>
              </a:tr>
              <a:tr h="1169294">
                <a:tc gridSpan="2">
                  <a:txBody>
                    <a:bodyPr/>
                    <a:lstStyle/>
                    <a:p>
                      <a:r>
                        <a:rPr lang="en-US" sz="2400" dirty="0" smtClean="0"/>
                        <a:t>GPA/NGPA</a:t>
                      </a:r>
                      <a:endParaRPr lang="en-US" sz="2400" dirty="0">
                        <a:solidFill>
                          <a:schemeClr val="tx1"/>
                        </a:solidFill>
                      </a:endParaRPr>
                    </a:p>
                  </a:txBody>
                  <a:tcPr/>
                </a:tc>
                <a:tc hMerge="1">
                  <a:txBody>
                    <a:bodyPr/>
                    <a:lstStyle/>
                    <a:p>
                      <a:endParaRPr lang="en-US"/>
                    </a:p>
                  </a:txBody>
                  <a:tcPr/>
                </a:tc>
                <a:tc>
                  <a:txBody>
                    <a:bodyPr/>
                    <a:lstStyle/>
                    <a:p>
                      <a:r>
                        <a:rPr lang="en-US" sz="2400" dirty="0" smtClean="0"/>
                        <a:t>GPA</a:t>
                      </a:r>
                      <a:endParaRPr lang="en-US" sz="2400" b="1" dirty="0">
                        <a:solidFill>
                          <a:schemeClr val="tx1"/>
                        </a:solidFill>
                      </a:endParaRPr>
                    </a:p>
                  </a:txBody>
                  <a:tcPr/>
                </a:tc>
                <a:tc>
                  <a:txBody>
                    <a:bodyPr/>
                    <a:lstStyle/>
                    <a:p>
                      <a:endParaRPr lang="en-US" sz="24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Lab/Tutorial</a:t>
                      </a:r>
                    </a:p>
                    <a:p>
                      <a:endParaRPr lang="en-US" sz="2400" dirty="0">
                        <a:solidFill>
                          <a:schemeClr val="tx1"/>
                        </a:solidFill>
                      </a:endParaRPr>
                    </a:p>
                  </a:txBody>
                  <a:tcPr/>
                </a:tc>
                <a:tc>
                  <a:txBody>
                    <a:bodyPr/>
                    <a:lstStyle/>
                    <a:p>
                      <a:r>
                        <a:rPr lang="en-US" sz="2400" dirty="0" smtClean="0"/>
                        <a:t>03</a:t>
                      </a:r>
                      <a:endParaRPr lang="en-US" sz="2400" b="1" dirty="0">
                        <a:solidFill>
                          <a:schemeClr val="tx1"/>
                        </a:solidFill>
                      </a:endParaRPr>
                    </a:p>
                  </a:txBody>
                  <a:tcPr/>
                </a:tc>
              </a:tr>
              <a:tr h="1169294">
                <a:tc gridSpan="2">
                  <a:txBody>
                    <a:bodyPr/>
                    <a:lstStyle/>
                    <a:p>
                      <a:r>
                        <a:rPr lang="en-US" sz="2400" dirty="0" smtClean="0"/>
                        <a:t>Semester</a:t>
                      </a:r>
                      <a:endParaRPr lang="en-US" sz="2400" dirty="0">
                        <a:solidFill>
                          <a:schemeClr val="tx1"/>
                        </a:solidFill>
                      </a:endParaRPr>
                    </a:p>
                  </a:txBody>
                  <a:tcPr/>
                </a:tc>
                <a:tc hMerge="1">
                  <a:txBody>
                    <a:bodyPr/>
                    <a:lstStyle/>
                    <a:p>
                      <a:endParaRPr lang="en-US"/>
                    </a:p>
                  </a:txBody>
                  <a:tcPr/>
                </a:tc>
                <a:tc>
                  <a:txBody>
                    <a:bodyPr/>
                    <a:lstStyle/>
                    <a:p>
                      <a:r>
                        <a:rPr lang="en-US" sz="2400" dirty="0" smtClean="0"/>
                        <a:t>S1</a:t>
                      </a:r>
                      <a:endParaRPr lang="en-US" sz="2400" b="1" dirty="0">
                        <a:solidFill>
                          <a:schemeClr val="tx1"/>
                        </a:solidFill>
                      </a:endParaRPr>
                    </a:p>
                  </a:txBody>
                  <a:tcPr/>
                </a:tc>
                <a:tc>
                  <a:txBody>
                    <a:bodyPr/>
                    <a:lstStyle/>
                    <a:p>
                      <a:r>
                        <a:rPr lang="en-US" sz="2400" dirty="0" smtClean="0"/>
                        <a:t>Module Type</a:t>
                      </a:r>
                      <a:endParaRPr lang="en-US" sz="2400" dirty="0">
                        <a:solidFill>
                          <a:schemeClr val="tx1"/>
                        </a:solidFill>
                      </a:endParaRPr>
                    </a:p>
                  </a:txBody>
                  <a:tcPr/>
                </a:tc>
                <a:tc gridSpan="2">
                  <a:txBody>
                    <a:bodyPr/>
                    <a:lstStyle/>
                    <a:p>
                      <a:r>
                        <a:rPr lang="en-US" sz="2400" dirty="0" smtClean="0"/>
                        <a:t>Core compulsory</a:t>
                      </a:r>
                      <a:endParaRPr lang="en-US" sz="2400" b="1" dirty="0">
                        <a:solidFill>
                          <a:schemeClr val="tx1"/>
                        </a:solidFill>
                      </a:endParaRPr>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457200"/>
            <a:ext cx="8229600" cy="1143000"/>
          </a:xfrm>
        </p:spPr>
        <p:txBody>
          <a:bodyPr/>
          <a:lstStyle/>
          <a:p>
            <a:pPr marL="484632" indent="0" fontAlgn="auto">
              <a:spcAft>
                <a:spcPts val="0"/>
              </a:spcAft>
              <a:defRPr/>
            </a:pPr>
            <a:r>
              <a:rPr lang="en-US" dirty="0">
                <a:solidFill>
                  <a:schemeClr val="accent1"/>
                </a:solidFill>
              </a:rPr>
              <a:t>Module Objective</a:t>
            </a:r>
          </a:p>
        </p:txBody>
      </p:sp>
      <p:sp>
        <p:nvSpPr>
          <p:cNvPr id="11267" name="Rectangle 3"/>
          <p:cNvSpPr>
            <a:spLocks noGrp="1" noChangeArrowheads="1"/>
          </p:cNvSpPr>
          <p:nvPr>
            <p:ph idx="1"/>
          </p:nvPr>
        </p:nvSpPr>
        <p:spPr>
          <a:xfrm>
            <a:off x="914400" y="1828800"/>
            <a:ext cx="8229600" cy="4572000"/>
          </a:xfrm>
        </p:spPr>
        <p:txBody>
          <a:bodyPr/>
          <a:lstStyle/>
          <a:p>
            <a:r>
              <a:rPr lang="en-US" dirty="0" smtClean="0">
                <a:solidFill>
                  <a:schemeClr val="accent1"/>
                </a:solidFill>
              </a:rPr>
              <a:t>To develop skills required for using Internet and software tools associated with the Internet for information search, retrieval, and networking for improving productivity at work</a:t>
            </a:r>
          </a:p>
          <a:p>
            <a:r>
              <a:rPr lang="en-US" dirty="0" smtClean="0">
                <a:solidFill>
                  <a:schemeClr val="accent1"/>
                </a:solidFill>
              </a:rPr>
              <a:t>To develop skills and knowledge required for development and deployment of simple websites with static content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304800"/>
            <a:ext cx="8229600" cy="868362"/>
          </a:xfrm>
        </p:spPr>
        <p:txBody>
          <a:bodyPr/>
          <a:lstStyle/>
          <a:p>
            <a:pPr marL="484632" indent="0" fontAlgn="auto">
              <a:spcAft>
                <a:spcPts val="0"/>
              </a:spcAft>
              <a:defRPr/>
            </a:pPr>
            <a:r>
              <a:rPr lang="en-US" dirty="0">
                <a:solidFill>
                  <a:schemeClr val="accent1"/>
                </a:solidFill>
              </a:rPr>
              <a:t>Learning Outcomes</a:t>
            </a:r>
          </a:p>
        </p:txBody>
      </p:sp>
      <p:sp>
        <p:nvSpPr>
          <p:cNvPr id="12291" name="Rectangle 3"/>
          <p:cNvSpPr>
            <a:spLocks noGrp="1" noChangeArrowheads="1"/>
          </p:cNvSpPr>
          <p:nvPr>
            <p:ph idx="1"/>
          </p:nvPr>
        </p:nvSpPr>
        <p:spPr>
          <a:xfrm>
            <a:off x="228600" y="1447800"/>
            <a:ext cx="8915400" cy="4754563"/>
          </a:xfrm>
        </p:spPr>
        <p:txBody>
          <a:bodyPr>
            <a:noAutofit/>
          </a:bodyPr>
          <a:lstStyle/>
          <a:p>
            <a:pPr>
              <a:lnSpc>
                <a:spcPct val="80000"/>
              </a:lnSpc>
            </a:pPr>
            <a:r>
              <a:rPr lang="en-US" sz="2000" i="1" dirty="0" smtClean="0">
                <a:solidFill>
                  <a:schemeClr val="accent1"/>
                </a:solidFill>
              </a:rPr>
              <a:t>At the end of the module the student will be able to</a:t>
            </a:r>
          </a:p>
          <a:p>
            <a:pPr>
              <a:lnSpc>
                <a:spcPct val="80000"/>
              </a:lnSpc>
              <a:buFont typeface="Wingdings 2" pitchFamily="18" charset="2"/>
              <a:buNone/>
            </a:pPr>
            <a:endParaRPr lang="en-US" sz="2000" dirty="0" smtClean="0">
              <a:solidFill>
                <a:schemeClr val="accent1"/>
              </a:solidFill>
            </a:endParaRPr>
          </a:p>
          <a:p>
            <a:pPr lvl="1">
              <a:lnSpc>
                <a:spcPct val="80000"/>
              </a:lnSpc>
            </a:pPr>
            <a:r>
              <a:rPr lang="en-US" sz="2000" b="1" dirty="0" smtClean="0">
                <a:solidFill>
                  <a:schemeClr val="accent1"/>
                </a:solidFill>
                <a:latin typeface="Arial" charset="0"/>
                <a:cs typeface="Arial" charset="0"/>
              </a:rPr>
              <a:t>Describe the history and the development of the Internet</a:t>
            </a:r>
          </a:p>
          <a:p>
            <a:pPr lvl="1">
              <a:lnSpc>
                <a:spcPct val="80000"/>
              </a:lnSpc>
            </a:pPr>
            <a:r>
              <a:rPr lang="en-US" sz="2000" b="1" dirty="0" smtClean="0">
                <a:solidFill>
                  <a:schemeClr val="accent1"/>
                </a:solidFill>
                <a:latin typeface="Arial" charset="0"/>
                <a:cs typeface="Arial" charset="0"/>
              </a:rPr>
              <a:t>Describe operation and governance in the Internet</a:t>
            </a:r>
          </a:p>
          <a:p>
            <a:pPr lvl="1">
              <a:lnSpc>
                <a:spcPct val="80000"/>
              </a:lnSpc>
            </a:pPr>
            <a:r>
              <a:rPr lang="en-US" sz="2000" b="1" dirty="0" smtClean="0">
                <a:solidFill>
                  <a:schemeClr val="accent1"/>
                </a:solidFill>
                <a:latin typeface="Arial" charset="0"/>
                <a:cs typeface="Arial" charset="0"/>
              </a:rPr>
              <a:t>Connect a computer to the Internet using different connection options</a:t>
            </a:r>
          </a:p>
          <a:p>
            <a:pPr lvl="1">
              <a:lnSpc>
                <a:spcPct val="80000"/>
              </a:lnSpc>
            </a:pPr>
            <a:r>
              <a:rPr lang="en-US" sz="2000" b="1" dirty="0" smtClean="0">
                <a:solidFill>
                  <a:schemeClr val="accent1"/>
                </a:solidFill>
                <a:latin typeface="Arial" charset="0"/>
                <a:cs typeface="Arial" charset="0"/>
              </a:rPr>
              <a:t>Use common Internet based applications such as WWW, email, FTP etc.</a:t>
            </a:r>
          </a:p>
          <a:p>
            <a:pPr lvl="1">
              <a:lnSpc>
                <a:spcPct val="80000"/>
              </a:lnSpc>
            </a:pPr>
            <a:r>
              <a:rPr lang="en-US" sz="2000" b="1" dirty="0" smtClean="0">
                <a:solidFill>
                  <a:schemeClr val="accent1"/>
                </a:solidFill>
                <a:latin typeface="Arial" charset="0"/>
                <a:cs typeface="Arial" charset="0"/>
              </a:rPr>
              <a:t>Describe and use emerging applications and social networking tools (Face Book, YouTube, Twitter etc.)</a:t>
            </a:r>
          </a:p>
          <a:p>
            <a:pPr lvl="1">
              <a:lnSpc>
                <a:spcPct val="80000"/>
              </a:lnSpc>
            </a:pPr>
            <a:r>
              <a:rPr lang="en-US" sz="2000" b="1" dirty="0" smtClean="0">
                <a:solidFill>
                  <a:schemeClr val="accent1"/>
                </a:solidFill>
                <a:latin typeface="Arial" charset="0"/>
                <a:cs typeface="Arial" charset="0"/>
              </a:rPr>
              <a:t>Apply necessary security measures for transaction over the Internet</a:t>
            </a:r>
          </a:p>
          <a:p>
            <a:pPr lvl="1"/>
            <a:r>
              <a:rPr lang="en-US" sz="2000" b="1" dirty="0" smtClean="0">
                <a:solidFill>
                  <a:schemeClr val="accent1"/>
                </a:solidFill>
                <a:latin typeface="Arial" pitchFamily="34" charset="0"/>
                <a:cs typeface="Arial" pitchFamily="34" charset="0"/>
              </a:rPr>
              <a:t>Understand and describe the concepts of web design, basic HTML and related web technologies</a:t>
            </a:r>
          </a:p>
          <a:p>
            <a:pPr lvl="1"/>
            <a:r>
              <a:rPr lang="en-US" sz="2000" b="1" dirty="0" smtClean="0">
                <a:solidFill>
                  <a:schemeClr val="accent1"/>
                </a:solidFill>
                <a:latin typeface="Arial" pitchFamily="34" charset="0"/>
                <a:cs typeface="Arial" pitchFamily="34" charset="0"/>
              </a:rPr>
              <a:t>Use a website development software applications to design and develop simple websites with static content</a:t>
            </a:r>
          </a:p>
          <a:p>
            <a:pPr lvl="1"/>
            <a:r>
              <a:rPr lang="en-US" sz="2000" b="1" dirty="0" smtClean="0">
                <a:solidFill>
                  <a:schemeClr val="accent1"/>
                </a:solidFill>
                <a:latin typeface="Arial" pitchFamily="34" charset="0"/>
                <a:cs typeface="Arial" pitchFamily="34" charset="0"/>
              </a:rPr>
              <a:t>Deploy simple websites on server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4638"/>
            <a:ext cx="8229600" cy="792162"/>
          </a:xfrm>
        </p:spPr>
        <p:txBody>
          <a:bodyPr/>
          <a:lstStyle/>
          <a:p>
            <a:pPr marL="484632" indent="0" fontAlgn="auto">
              <a:spcAft>
                <a:spcPts val="0"/>
              </a:spcAft>
              <a:defRPr/>
            </a:pPr>
            <a:r>
              <a:rPr lang="en-US" dirty="0">
                <a:solidFill>
                  <a:schemeClr val="accent1"/>
                </a:solidFill>
              </a:rPr>
              <a:t>Outline Syllabus</a:t>
            </a:r>
          </a:p>
        </p:txBody>
      </p:sp>
      <p:sp>
        <p:nvSpPr>
          <p:cNvPr id="13315" name="Rectangle 3"/>
          <p:cNvSpPr>
            <a:spLocks noGrp="1" noChangeArrowheads="1"/>
          </p:cNvSpPr>
          <p:nvPr>
            <p:ph idx="1"/>
          </p:nvPr>
        </p:nvSpPr>
        <p:spPr>
          <a:xfrm>
            <a:off x="685800" y="1371600"/>
            <a:ext cx="8458200" cy="5181600"/>
          </a:xfrm>
        </p:spPr>
        <p:txBody>
          <a:bodyPr/>
          <a:lstStyle/>
          <a:p>
            <a:pPr>
              <a:lnSpc>
                <a:spcPct val="80000"/>
              </a:lnSpc>
            </a:pPr>
            <a:r>
              <a:rPr lang="en-US" sz="2400" dirty="0" smtClean="0">
                <a:solidFill>
                  <a:schemeClr val="accent1"/>
                </a:solidFill>
              </a:rPr>
              <a:t>History and development of the Internet</a:t>
            </a:r>
          </a:p>
          <a:p>
            <a:pPr>
              <a:lnSpc>
                <a:spcPct val="80000"/>
              </a:lnSpc>
            </a:pPr>
            <a:r>
              <a:rPr lang="en-US" sz="2400" dirty="0" smtClean="0">
                <a:solidFill>
                  <a:schemeClr val="accent1"/>
                </a:solidFill>
              </a:rPr>
              <a:t>How Internet operates and Internet governance</a:t>
            </a:r>
          </a:p>
          <a:p>
            <a:pPr>
              <a:lnSpc>
                <a:spcPct val="80000"/>
              </a:lnSpc>
            </a:pPr>
            <a:r>
              <a:rPr lang="en-US" sz="2400" dirty="0" smtClean="0">
                <a:solidFill>
                  <a:schemeClr val="accent1"/>
                </a:solidFill>
              </a:rPr>
              <a:t>Different ways of connecting to the Internet</a:t>
            </a:r>
          </a:p>
          <a:p>
            <a:pPr>
              <a:lnSpc>
                <a:spcPct val="80000"/>
              </a:lnSpc>
            </a:pPr>
            <a:r>
              <a:rPr lang="en-US" sz="2400" dirty="0" smtClean="0">
                <a:solidFill>
                  <a:schemeClr val="accent1"/>
                </a:solidFill>
              </a:rPr>
              <a:t>Common Internet based applications (WWW, email, FTP etc.)</a:t>
            </a:r>
          </a:p>
          <a:p>
            <a:pPr>
              <a:lnSpc>
                <a:spcPct val="80000"/>
              </a:lnSpc>
            </a:pPr>
            <a:r>
              <a:rPr lang="en-US" sz="2400" dirty="0" smtClean="0">
                <a:solidFill>
                  <a:schemeClr val="accent1"/>
                </a:solidFill>
              </a:rPr>
              <a:t>Types of web-sites (Static, Dynamic, Collaborative and Syndication etc.)</a:t>
            </a:r>
          </a:p>
          <a:p>
            <a:pPr>
              <a:lnSpc>
                <a:spcPct val="80000"/>
              </a:lnSpc>
            </a:pPr>
            <a:r>
              <a:rPr lang="en-US" sz="2400" dirty="0" smtClean="0">
                <a:solidFill>
                  <a:schemeClr val="accent1"/>
                </a:solidFill>
              </a:rPr>
              <a:t>Migration from Web 1.0 to Web 2.0 and the differences between them</a:t>
            </a:r>
          </a:p>
          <a:p>
            <a:pPr>
              <a:lnSpc>
                <a:spcPct val="80000"/>
              </a:lnSpc>
            </a:pPr>
            <a:r>
              <a:rPr lang="en-US" sz="2400" dirty="0" smtClean="0">
                <a:solidFill>
                  <a:schemeClr val="accent1"/>
                </a:solidFill>
              </a:rPr>
              <a:t>Modern Web applications (Social Networking, e-Commerce, e-Governance)</a:t>
            </a:r>
          </a:p>
          <a:p>
            <a:pPr>
              <a:lnSpc>
                <a:spcPct val="80000"/>
              </a:lnSpc>
            </a:pPr>
            <a:r>
              <a:rPr lang="en-US" sz="2400" dirty="0" smtClean="0">
                <a:solidFill>
                  <a:schemeClr val="accent1"/>
                </a:solidFill>
              </a:rPr>
              <a:t>Data security issues in Internet (Viruses, Adware &amp; Spyware, Trojan programs etc.)</a:t>
            </a:r>
          </a:p>
          <a:p>
            <a:pPr>
              <a:lnSpc>
                <a:spcPct val="80000"/>
              </a:lnSpc>
            </a:pPr>
            <a:r>
              <a:rPr lang="en-US" sz="2400" dirty="0" smtClean="0">
                <a:solidFill>
                  <a:schemeClr val="accent1"/>
                </a:solidFill>
              </a:rPr>
              <a:t>Protecting data in the Internet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228600"/>
            <a:ext cx="8229600" cy="1143000"/>
          </a:xfrm>
        </p:spPr>
        <p:txBody>
          <a:bodyPr/>
          <a:lstStyle/>
          <a:p>
            <a:pPr marL="484632" indent="0" fontAlgn="auto">
              <a:spcAft>
                <a:spcPts val="0"/>
              </a:spcAft>
              <a:defRPr/>
            </a:pPr>
            <a:r>
              <a:rPr lang="en-US" dirty="0">
                <a:solidFill>
                  <a:schemeClr val="accent1"/>
                </a:solidFill>
              </a:rPr>
              <a:t>Outline </a:t>
            </a:r>
            <a:r>
              <a:rPr lang="en-US" dirty="0" smtClean="0">
                <a:solidFill>
                  <a:schemeClr val="accent1"/>
                </a:solidFill>
              </a:rPr>
              <a:t>Syllabus (Cont.)</a:t>
            </a:r>
            <a:endParaRPr lang="en-US" dirty="0">
              <a:solidFill>
                <a:schemeClr val="accent1"/>
              </a:solidFill>
            </a:endParaRPr>
          </a:p>
        </p:txBody>
      </p:sp>
      <p:sp>
        <p:nvSpPr>
          <p:cNvPr id="5" name="Rectangle 2"/>
          <p:cNvSpPr>
            <a:spLocks noGrp="1" noChangeArrowheads="1"/>
          </p:cNvSpPr>
          <p:nvPr>
            <p:ph idx="1"/>
          </p:nvPr>
        </p:nvSpPr>
        <p:spPr>
          <a:xfrm>
            <a:off x="914400" y="1828800"/>
            <a:ext cx="8229600" cy="4572000"/>
          </a:xfrm>
        </p:spPr>
        <p:txBody>
          <a:bodyPr/>
          <a:lstStyle/>
          <a:p>
            <a:r>
              <a:rPr lang="en-US" dirty="0" smtClean="0">
                <a:solidFill>
                  <a:schemeClr val="accent1"/>
                </a:solidFill>
              </a:rPr>
              <a:t>Introduction to World Wide Web and web technologies</a:t>
            </a:r>
          </a:p>
          <a:p>
            <a:r>
              <a:rPr lang="en-US" dirty="0" smtClean="0">
                <a:solidFill>
                  <a:schemeClr val="accent1"/>
                </a:solidFill>
              </a:rPr>
              <a:t>Markup languages – HTML basics</a:t>
            </a:r>
          </a:p>
          <a:p>
            <a:r>
              <a:rPr lang="en-US" dirty="0" smtClean="0">
                <a:solidFill>
                  <a:schemeClr val="accent1"/>
                </a:solidFill>
              </a:rPr>
              <a:t>Use of styles and frames</a:t>
            </a:r>
          </a:p>
          <a:p>
            <a:r>
              <a:rPr lang="en-US" dirty="0" smtClean="0">
                <a:solidFill>
                  <a:schemeClr val="accent1"/>
                </a:solidFill>
              </a:rPr>
              <a:t>Website development using a design tool</a:t>
            </a:r>
          </a:p>
          <a:p>
            <a:r>
              <a:rPr lang="en-US" dirty="0" smtClean="0">
                <a:solidFill>
                  <a:schemeClr val="accent1"/>
                </a:solidFill>
              </a:rPr>
              <a:t>Deploying websites</a:t>
            </a:r>
            <a:endParaRPr lang="en-US" dirty="0">
              <a:solidFill>
                <a:schemeClr val="accent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533400"/>
            <a:ext cx="8229600" cy="1143000"/>
          </a:xfrm>
        </p:spPr>
        <p:txBody>
          <a:bodyPr/>
          <a:lstStyle/>
          <a:p>
            <a:pPr marL="484632" indent="0" fontAlgn="auto">
              <a:spcAft>
                <a:spcPts val="0"/>
              </a:spcAft>
              <a:defRPr/>
            </a:pPr>
            <a:r>
              <a:rPr lang="en-US" b="1" dirty="0">
                <a:solidFill>
                  <a:schemeClr val="accent1">
                    <a:tint val="83000"/>
                    <a:satMod val="150000"/>
                  </a:schemeClr>
                </a:solidFill>
              </a:rPr>
              <a:t>Assessment and Weighting</a:t>
            </a:r>
          </a:p>
        </p:txBody>
      </p:sp>
      <p:sp>
        <p:nvSpPr>
          <p:cNvPr id="14339" name="Rectangle 3"/>
          <p:cNvSpPr>
            <a:spLocks noGrp="1" noChangeArrowheads="1"/>
          </p:cNvSpPr>
          <p:nvPr>
            <p:ph idx="1"/>
          </p:nvPr>
        </p:nvSpPr>
        <p:spPr>
          <a:xfrm>
            <a:off x="533400" y="2133600"/>
            <a:ext cx="8610600" cy="4525963"/>
          </a:xfrm>
        </p:spPr>
        <p:txBody>
          <a:bodyPr/>
          <a:lstStyle/>
          <a:p>
            <a:r>
              <a:rPr lang="en-US" dirty="0" smtClean="0">
                <a:solidFill>
                  <a:schemeClr val="accent1"/>
                </a:solidFill>
              </a:rPr>
              <a:t>Assignments </a:t>
            </a:r>
            <a:r>
              <a:rPr lang="en-US" dirty="0" smtClean="0">
                <a:solidFill>
                  <a:schemeClr val="accent1"/>
                </a:solidFill>
              </a:rPr>
              <a:t>and tutorials </a:t>
            </a:r>
            <a:r>
              <a:rPr lang="en-US" dirty="0" smtClean="0">
                <a:solidFill>
                  <a:schemeClr val="accent1"/>
                </a:solidFill>
              </a:rPr>
              <a:t>50</a:t>
            </a:r>
            <a:r>
              <a:rPr lang="en-US" dirty="0" smtClean="0">
                <a:solidFill>
                  <a:schemeClr val="accent1"/>
                </a:solidFill>
              </a:rPr>
              <a:t>%</a:t>
            </a:r>
          </a:p>
          <a:p>
            <a:r>
              <a:rPr lang="en-US" dirty="0" smtClean="0">
                <a:solidFill>
                  <a:schemeClr val="accent1"/>
                </a:solidFill>
              </a:rPr>
              <a:t>Structured Paper	</a:t>
            </a:r>
            <a:r>
              <a:rPr lang="en-US" dirty="0" smtClean="0">
                <a:solidFill>
                  <a:schemeClr val="accent1"/>
                </a:solidFill>
              </a:rPr>
              <a:t>50</a:t>
            </a:r>
            <a:r>
              <a:rPr lang="en-US" dirty="0" smtClean="0">
                <a:solidFill>
                  <a:schemeClr val="accent1"/>
                </a:solidFill>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609600" y="3962400"/>
            <a:ext cx="8229600" cy="1600200"/>
          </a:xfrm>
        </p:spPr>
        <p:txBody>
          <a:bodyPr/>
          <a:lstStyle/>
          <a:p>
            <a:pPr algn="ctr">
              <a:buFont typeface="Wingdings 2" pitchFamily="18" charset="2"/>
              <a:buNone/>
            </a:pPr>
            <a:r>
              <a:rPr lang="en-US" sz="5400" dirty="0" smtClean="0">
                <a:solidFill>
                  <a:schemeClr val="accent1"/>
                </a:solidFill>
              </a:rPr>
              <a:t>Introduction</a:t>
            </a:r>
          </a:p>
        </p:txBody>
      </p:sp>
      <p:pic>
        <p:nvPicPr>
          <p:cNvPr id="15364" name="Picture 4" descr="Y:\slater\Internet-related_pics\INTERNET_ADDITION.JPG"/>
          <p:cNvPicPr>
            <a:picLocks noChangeAspect="1" noChangeArrowheads="1"/>
          </p:cNvPicPr>
          <p:nvPr/>
        </p:nvPicPr>
        <p:blipFill>
          <a:blip r:embed="rId2"/>
          <a:srcRect/>
          <a:stretch>
            <a:fillRect/>
          </a:stretch>
        </p:blipFill>
        <p:spPr bwMode="auto">
          <a:xfrm>
            <a:off x="2286000" y="762000"/>
            <a:ext cx="4876800" cy="2960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 y="304800"/>
            <a:ext cx="8915400" cy="1143000"/>
          </a:xfrm>
        </p:spPr>
        <p:txBody>
          <a:bodyPr>
            <a:normAutofit fontScale="90000"/>
          </a:bodyPr>
          <a:lstStyle/>
          <a:p>
            <a:pPr marL="484632" indent="0" fontAlgn="auto">
              <a:spcAft>
                <a:spcPts val="0"/>
              </a:spcAft>
              <a:defRPr/>
            </a:pPr>
            <a:r>
              <a:rPr lang="en-US" dirty="0">
                <a:solidFill>
                  <a:schemeClr val="accent1">
                    <a:tint val="83000"/>
                    <a:satMod val="150000"/>
                  </a:schemeClr>
                </a:solidFill>
              </a:rPr>
              <a:t>We all use the Internet, but what is it?</a:t>
            </a:r>
          </a:p>
        </p:txBody>
      </p:sp>
      <p:sp>
        <p:nvSpPr>
          <p:cNvPr id="17411" name="Rectangle 3"/>
          <p:cNvSpPr>
            <a:spLocks noGrp="1" noChangeArrowheads="1"/>
          </p:cNvSpPr>
          <p:nvPr>
            <p:ph idx="1"/>
          </p:nvPr>
        </p:nvSpPr>
        <p:spPr>
          <a:xfrm>
            <a:off x="685800" y="1905000"/>
            <a:ext cx="8229600" cy="4572000"/>
          </a:xfrm>
        </p:spPr>
        <p:txBody>
          <a:bodyPr/>
          <a:lstStyle/>
          <a:p>
            <a:pPr>
              <a:lnSpc>
                <a:spcPct val="90000"/>
              </a:lnSpc>
            </a:pPr>
            <a:r>
              <a:rPr lang="en-US" sz="2800" dirty="0" smtClean="0">
                <a:solidFill>
                  <a:schemeClr val="accent1"/>
                </a:solidFill>
              </a:rPr>
              <a:t>A network of computer networks</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A descendent of Cold War defense technology</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The most powerful distribution system in the history of civilization</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A medium that melds text, audio and video through digitalization.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762000" y="1295400"/>
            <a:ext cx="8229600" cy="5105400"/>
          </a:xfrm>
        </p:spPr>
        <p:txBody>
          <a:bodyPr>
            <a:normAutofit lnSpcReduction="10000"/>
          </a:bodyPr>
          <a:lstStyle/>
          <a:p>
            <a:r>
              <a:rPr lang="en-US" sz="3000" dirty="0">
                <a:solidFill>
                  <a:schemeClr val="accent1"/>
                </a:solidFill>
              </a:rPr>
              <a:t>The </a:t>
            </a:r>
            <a:r>
              <a:rPr lang="en-US" sz="3000" dirty="0">
                <a:solidFill>
                  <a:srgbClr val="C00000"/>
                </a:solidFill>
              </a:rPr>
              <a:t>Internet</a:t>
            </a:r>
            <a:r>
              <a:rPr lang="en-US" sz="3000" dirty="0">
                <a:solidFill>
                  <a:schemeClr val="accent1"/>
                </a:solidFill>
              </a:rPr>
              <a:t> is a group of computer networks interconnected around the world. </a:t>
            </a:r>
            <a:endParaRPr lang="en-US" sz="3000" dirty="0" smtClean="0">
              <a:solidFill>
                <a:schemeClr val="accent1"/>
              </a:solidFill>
            </a:endParaRPr>
          </a:p>
          <a:p>
            <a:pPr>
              <a:buNone/>
            </a:pPr>
            <a:endParaRPr lang="en-US" sz="1800" dirty="0" smtClean="0">
              <a:solidFill>
                <a:schemeClr val="accent1"/>
              </a:solidFill>
            </a:endParaRPr>
          </a:p>
          <a:p>
            <a:r>
              <a:rPr lang="en-US" sz="2800" dirty="0" smtClean="0">
                <a:solidFill>
                  <a:schemeClr val="accent1"/>
                </a:solidFill>
              </a:rPr>
              <a:t>It </a:t>
            </a:r>
            <a:r>
              <a:rPr lang="en-US" sz="2800" dirty="0">
                <a:solidFill>
                  <a:schemeClr val="accent1"/>
                </a:solidFill>
              </a:rPr>
              <a:t>is the largest communication network ever conceived. </a:t>
            </a:r>
            <a:endParaRPr lang="en-US" sz="2800" dirty="0" smtClean="0">
              <a:solidFill>
                <a:schemeClr val="accent1"/>
              </a:solidFill>
            </a:endParaRPr>
          </a:p>
          <a:p>
            <a:r>
              <a:rPr lang="en-US" sz="2800" dirty="0" smtClean="0">
                <a:solidFill>
                  <a:schemeClr val="accent1"/>
                </a:solidFill>
              </a:rPr>
              <a:t>The </a:t>
            </a:r>
            <a:r>
              <a:rPr lang="en-US" sz="2800" dirty="0">
                <a:solidFill>
                  <a:schemeClr val="accent1"/>
                </a:solidFill>
              </a:rPr>
              <a:t>connected networks are comprised of educational, commercial and government sites</a:t>
            </a:r>
            <a:r>
              <a:rPr lang="en-US" sz="2800" dirty="0" smtClean="0">
                <a:solidFill>
                  <a:schemeClr val="accent1"/>
                </a:solidFill>
              </a:rPr>
              <a:t>.</a:t>
            </a:r>
          </a:p>
          <a:p>
            <a:r>
              <a:rPr lang="en-US" sz="2800" dirty="0" smtClean="0">
                <a:solidFill>
                  <a:schemeClr val="accent1"/>
                </a:solidFill>
              </a:rPr>
              <a:t> </a:t>
            </a:r>
            <a:r>
              <a:rPr lang="en-US" sz="2800" dirty="0">
                <a:solidFill>
                  <a:schemeClr val="accent1"/>
                </a:solidFill>
              </a:rPr>
              <a:t>The interconnected networks may be made up of any number of computers from two to infinity</a:t>
            </a:r>
            <a:r>
              <a:rPr lang="en-US" sz="2800" dirty="0" smtClean="0">
                <a:solidFill>
                  <a:schemeClr val="accent1"/>
                </a:solidFill>
              </a:rPr>
              <a:t>.</a:t>
            </a:r>
          </a:p>
          <a:p>
            <a:r>
              <a:rPr lang="en-US" sz="2800" dirty="0" smtClean="0">
                <a:solidFill>
                  <a:schemeClr val="accent1"/>
                </a:solidFill>
              </a:rPr>
              <a:t> </a:t>
            </a:r>
            <a:r>
              <a:rPr lang="en-US" sz="2800" dirty="0">
                <a:solidFill>
                  <a:schemeClr val="accent1"/>
                </a:solidFill>
              </a:rPr>
              <a:t>The collection of sites residing on the Internet form one of the largest repositories of information in history. </a:t>
            </a:r>
          </a:p>
        </p:txBody>
      </p:sp>
      <p:sp>
        <p:nvSpPr>
          <p:cNvPr id="10242" name="Rectangle 2"/>
          <p:cNvSpPr>
            <a:spLocks noGrp="1" noChangeArrowheads="1"/>
          </p:cNvSpPr>
          <p:nvPr>
            <p:ph type="title"/>
          </p:nvPr>
        </p:nvSpPr>
        <p:spPr>
          <a:xfrm>
            <a:off x="609600" y="0"/>
            <a:ext cx="8229600" cy="1399032"/>
          </a:xfrm>
        </p:spPr>
        <p:txBody>
          <a:bodyPr/>
          <a:lstStyle/>
          <a:p>
            <a:pPr algn="ctr"/>
            <a:r>
              <a:rPr lang="en-US" dirty="0" smtClean="0">
                <a:solidFill>
                  <a:schemeClr val="accent1"/>
                </a:solidFill>
              </a:rPr>
              <a:t>Internet</a:t>
            </a:r>
            <a:endParaRPr lang="en-US" dirty="0">
              <a:solidFill>
                <a:schemeClr val="accent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685800" y="1752600"/>
            <a:ext cx="8229600" cy="4572000"/>
          </a:xfrm>
        </p:spPr>
        <p:txBody>
          <a:bodyPr/>
          <a:lstStyle/>
          <a:p>
            <a:r>
              <a:rPr lang="en-US" dirty="0">
                <a:solidFill>
                  <a:schemeClr val="accent1"/>
                </a:solidFill>
              </a:rPr>
              <a:t>A </a:t>
            </a:r>
            <a:r>
              <a:rPr lang="en-US" b="1" dirty="0">
                <a:solidFill>
                  <a:schemeClr val="accent1"/>
                </a:solidFill>
              </a:rPr>
              <a:t>computer network</a:t>
            </a:r>
            <a:r>
              <a:rPr lang="en-US" dirty="0">
                <a:solidFill>
                  <a:schemeClr val="accent1"/>
                </a:solidFill>
              </a:rPr>
              <a:t>, often simply referred to as a network, is a collection of computers and devices interconnected by communications channels that facilitate communications among users and allows users to share resources. </a:t>
            </a:r>
          </a:p>
        </p:txBody>
      </p:sp>
      <p:sp>
        <p:nvSpPr>
          <p:cNvPr id="11266" name="Rectangle 2"/>
          <p:cNvSpPr>
            <a:spLocks noGrp="1" noChangeArrowheads="1"/>
          </p:cNvSpPr>
          <p:nvPr>
            <p:ph type="title"/>
          </p:nvPr>
        </p:nvSpPr>
        <p:spPr>
          <a:xfrm>
            <a:off x="914400" y="228600"/>
            <a:ext cx="8229600" cy="1399032"/>
          </a:xfrm>
        </p:spPr>
        <p:txBody>
          <a:bodyPr/>
          <a:lstStyle/>
          <a:p>
            <a:r>
              <a:rPr lang="en-US" dirty="0">
                <a:solidFill>
                  <a:schemeClr val="accent1"/>
                </a:solidFill>
              </a:rPr>
              <a:t>Computer Network</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0"/>
            <a:ext cx="8229600" cy="1398587"/>
          </a:xfrm>
        </p:spPr>
        <p:txBody>
          <a:bodyPr/>
          <a:lstStyle/>
          <a:p>
            <a:pPr marL="484632" indent="0" fontAlgn="auto">
              <a:spcAft>
                <a:spcPts val="0"/>
              </a:spcAft>
              <a:defRPr/>
            </a:pPr>
            <a:r>
              <a:rPr lang="en-US" dirty="0">
                <a:solidFill>
                  <a:schemeClr val="accent1">
                    <a:tint val="83000"/>
                    <a:satMod val="150000"/>
                  </a:schemeClr>
                </a:solidFill>
              </a:rPr>
              <a:t>How it works</a:t>
            </a:r>
          </a:p>
        </p:txBody>
      </p:sp>
      <p:sp>
        <p:nvSpPr>
          <p:cNvPr id="18435" name="Text Box 3"/>
          <p:cNvSpPr txBox="1">
            <a:spLocks noChangeArrowheads="1"/>
          </p:cNvSpPr>
          <p:nvPr/>
        </p:nvSpPr>
        <p:spPr bwMode="auto">
          <a:xfrm>
            <a:off x="2209800" y="2667000"/>
            <a:ext cx="3048000" cy="457200"/>
          </a:xfrm>
          <a:prstGeom prst="rect">
            <a:avLst/>
          </a:prstGeom>
          <a:noFill/>
          <a:ln w="9525">
            <a:noFill/>
            <a:miter lim="800000"/>
            <a:headEnd/>
            <a:tailEnd/>
          </a:ln>
        </p:spPr>
        <p:txBody>
          <a:bodyPr>
            <a:spAutoFit/>
          </a:bodyPr>
          <a:lstStyle/>
          <a:p>
            <a:pPr>
              <a:spcBef>
                <a:spcPct val="50000"/>
              </a:spcBef>
            </a:pPr>
            <a:endParaRPr lang="en-US"/>
          </a:p>
        </p:txBody>
      </p:sp>
      <p:pic>
        <p:nvPicPr>
          <p:cNvPr id="18436" name="Picture 4" descr="C:\America Online 5.0\download\webserver-basic-sm.bmp"/>
          <p:cNvPicPr>
            <a:picLocks noChangeAspect="1" noChangeArrowheads="1"/>
          </p:cNvPicPr>
          <p:nvPr/>
        </p:nvPicPr>
        <p:blipFill>
          <a:blip r:embed="rId2"/>
          <a:srcRect/>
          <a:stretch>
            <a:fillRect/>
          </a:stretch>
        </p:blipFill>
        <p:spPr bwMode="auto">
          <a:xfrm>
            <a:off x="914400" y="1447800"/>
            <a:ext cx="7848600" cy="531284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srcRect/>
          <a:stretch>
            <a:fillRect/>
          </a:stretch>
        </p:blipFill>
        <p:spPr bwMode="auto">
          <a:xfrm>
            <a:off x="1219200" y="1066800"/>
            <a:ext cx="7543800" cy="5782904"/>
          </a:xfrm>
          <a:prstGeom prst="rect">
            <a:avLst/>
          </a:prstGeom>
          <a:noFill/>
          <a:ln w="9525">
            <a:noFill/>
            <a:miter lim="800000"/>
            <a:headEnd/>
            <a:tailEnd/>
          </a:ln>
          <a:effectLst/>
        </p:spPr>
      </p:pic>
      <p:sp>
        <p:nvSpPr>
          <p:cNvPr id="3077" name="Rectangle 5"/>
          <p:cNvSpPr>
            <a:spLocks noGrp="1" noChangeArrowheads="1"/>
          </p:cNvSpPr>
          <p:nvPr>
            <p:ph type="title"/>
          </p:nvPr>
        </p:nvSpPr>
        <p:spPr>
          <a:xfrm>
            <a:off x="304800" y="381000"/>
            <a:ext cx="8229600" cy="563562"/>
          </a:xfrm>
        </p:spPr>
        <p:txBody>
          <a:bodyPr>
            <a:normAutofit fontScale="90000"/>
          </a:bodyPr>
          <a:lstStyle/>
          <a:p>
            <a:r>
              <a:rPr lang="en-US" sz="4000" dirty="0">
                <a:solidFill>
                  <a:schemeClr val="accent1"/>
                </a:solidFill>
              </a:rPr>
              <a:t>How Internet structured</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09600" y="152400"/>
            <a:ext cx="7772400" cy="1143000"/>
          </a:xfrm>
        </p:spPr>
        <p:txBody>
          <a:bodyPr>
            <a:normAutofit/>
          </a:bodyPr>
          <a:lstStyle/>
          <a:p>
            <a:pPr marL="484632" indent="0" fontAlgn="auto">
              <a:spcAft>
                <a:spcPts val="0"/>
              </a:spcAft>
              <a:defRPr/>
            </a:pPr>
            <a:r>
              <a:rPr lang="en-US" dirty="0">
                <a:solidFill>
                  <a:schemeClr val="accent1">
                    <a:tint val="83000"/>
                    <a:satMod val="150000"/>
                  </a:schemeClr>
                </a:solidFill>
              </a:rPr>
              <a:t>World Internet Presence, 1991</a:t>
            </a:r>
          </a:p>
        </p:txBody>
      </p:sp>
      <p:sp>
        <p:nvSpPr>
          <p:cNvPr id="20483" name="Text Box 3"/>
          <p:cNvSpPr txBox="1">
            <a:spLocks noChangeArrowheads="1"/>
          </p:cNvSpPr>
          <p:nvPr/>
        </p:nvSpPr>
        <p:spPr bwMode="auto">
          <a:xfrm>
            <a:off x="1981200" y="2895600"/>
            <a:ext cx="4495800" cy="457200"/>
          </a:xfrm>
          <a:prstGeom prst="rect">
            <a:avLst/>
          </a:prstGeom>
          <a:noFill/>
          <a:ln w="9525">
            <a:noFill/>
            <a:miter lim="800000"/>
            <a:headEnd/>
            <a:tailEnd/>
          </a:ln>
        </p:spPr>
        <p:txBody>
          <a:bodyPr>
            <a:spAutoFit/>
          </a:bodyPr>
          <a:lstStyle/>
          <a:p>
            <a:pPr>
              <a:spcBef>
                <a:spcPct val="50000"/>
              </a:spcBef>
            </a:pPr>
            <a:endParaRPr lang="en-US"/>
          </a:p>
        </p:txBody>
      </p:sp>
      <p:pic>
        <p:nvPicPr>
          <p:cNvPr id="20484" name="Picture 4" descr="C:\America Online 5.0\download\Internet Map 1.bmp"/>
          <p:cNvPicPr>
            <a:picLocks noChangeAspect="1" noChangeArrowheads="1"/>
          </p:cNvPicPr>
          <p:nvPr/>
        </p:nvPicPr>
        <p:blipFill>
          <a:blip r:embed="rId2"/>
          <a:srcRect/>
          <a:stretch>
            <a:fillRect/>
          </a:stretch>
        </p:blipFill>
        <p:spPr bwMode="auto">
          <a:xfrm>
            <a:off x="685800" y="1209675"/>
            <a:ext cx="7772400" cy="5449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09600" y="0"/>
            <a:ext cx="7772400" cy="1143000"/>
          </a:xfrm>
        </p:spPr>
        <p:txBody>
          <a:bodyPr>
            <a:normAutofit/>
          </a:bodyPr>
          <a:lstStyle/>
          <a:p>
            <a:pPr marL="484632" indent="0" fontAlgn="auto">
              <a:spcAft>
                <a:spcPts val="0"/>
              </a:spcAft>
              <a:defRPr/>
            </a:pPr>
            <a:r>
              <a:rPr lang="en-US" dirty="0">
                <a:solidFill>
                  <a:schemeClr val="accent1">
                    <a:tint val="83000"/>
                    <a:satMod val="150000"/>
                  </a:schemeClr>
                </a:solidFill>
              </a:rPr>
              <a:t>World Internet Presence, 1997</a:t>
            </a:r>
          </a:p>
        </p:txBody>
      </p:sp>
      <p:sp>
        <p:nvSpPr>
          <p:cNvPr id="21507" name="Text Box 3"/>
          <p:cNvSpPr txBox="1">
            <a:spLocks noChangeArrowheads="1"/>
          </p:cNvSpPr>
          <p:nvPr/>
        </p:nvSpPr>
        <p:spPr bwMode="auto">
          <a:xfrm>
            <a:off x="1371600" y="2590800"/>
            <a:ext cx="5181600" cy="457200"/>
          </a:xfrm>
          <a:prstGeom prst="rect">
            <a:avLst/>
          </a:prstGeom>
          <a:noFill/>
          <a:ln w="9525">
            <a:noFill/>
            <a:miter lim="800000"/>
            <a:headEnd/>
            <a:tailEnd/>
          </a:ln>
        </p:spPr>
        <p:txBody>
          <a:bodyPr>
            <a:spAutoFit/>
          </a:bodyPr>
          <a:lstStyle/>
          <a:p>
            <a:pPr>
              <a:spcBef>
                <a:spcPct val="50000"/>
              </a:spcBef>
            </a:pPr>
            <a:endParaRPr lang="en-US"/>
          </a:p>
        </p:txBody>
      </p:sp>
      <p:pic>
        <p:nvPicPr>
          <p:cNvPr id="21508" name="Picture 4" descr="C:\America Online 5.0\download\Internet Map 2.bmp"/>
          <p:cNvPicPr>
            <a:picLocks noChangeAspect="1" noChangeArrowheads="1"/>
          </p:cNvPicPr>
          <p:nvPr/>
        </p:nvPicPr>
        <p:blipFill>
          <a:blip r:embed="rId2"/>
          <a:srcRect/>
          <a:stretch>
            <a:fillRect/>
          </a:stretch>
        </p:blipFill>
        <p:spPr bwMode="auto">
          <a:xfrm>
            <a:off x="533400" y="1089025"/>
            <a:ext cx="8229600" cy="5768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304800" y="304800"/>
            <a:ext cx="8686800" cy="1398587"/>
          </a:xfrm>
        </p:spPr>
        <p:txBody>
          <a:bodyPr>
            <a:normAutofit fontScale="90000"/>
          </a:bodyPr>
          <a:lstStyle/>
          <a:p>
            <a:pPr marL="484632" indent="0" fontAlgn="auto">
              <a:spcAft>
                <a:spcPts val="0"/>
              </a:spcAft>
              <a:defRPr/>
            </a:pPr>
            <a:r>
              <a:rPr lang="en-US" dirty="0">
                <a:solidFill>
                  <a:schemeClr val="accent1">
                    <a:tint val="83000"/>
                    <a:satMod val="150000"/>
                  </a:schemeClr>
                </a:solidFill>
              </a:rPr>
              <a:t>Global cyberspace connections are made by satellites…</a:t>
            </a:r>
          </a:p>
        </p:txBody>
      </p:sp>
      <p:sp>
        <p:nvSpPr>
          <p:cNvPr id="22531" name="Text Box 3"/>
          <p:cNvSpPr txBox="1">
            <a:spLocks noChangeArrowheads="1"/>
          </p:cNvSpPr>
          <p:nvPr/>
        </p:nvSpPr>
        <p:spPr bwMode="auto">
          <a:xfrm>
            <a:off x="1676400" y="2743200"/>
            <a:ext cx="5562600" cy="457200"/>
          </a:xfrm>
          <a:prstGeom prst="rect">
            <a:avLst/>
          </a:prstGeom>
          <a:noFill/>
          <a:ln w="9525">
            <a:noFill/>
            <a:miter lim="800000"/>
            <a:headEnd/>
            <a:tailEnd/>
          </a:ln>
        </p:spPr>
        <p:txBody>
          <a:bodyPr>
            <a:spAutoFit/>
          </a:bodyPr>
          <a:lstStyle/>
          <a:p>
            <a:pPr>
              <a:spcBef>
                <a:spcPct val="50000"/>
              </a:spcBef>
            </a:pPr>
            <a:endParaRPr lang="en-US"/>
          </a:p>
        </p:txBody>
      </p:sp>
      <p:pic>
        <p:nvPicPr>
          <p:cNvPr id="22532" name="Picture 4" descr="C:\America Online 5.0\download\globalstar1_small.bmp"/>
          <p:cNvPicPr>
            <a:picLocks noChangeAspect="1" noChangeArrowheads="1"/>
          </p:cNvPicPr>
          <p:nvPr/>
        </p:nvPicPr>
        <p:blipFill>
          <a:blip r:embed="rId2"/>
          <a:srcRect/>
          <a:stretch>
            <a:fillRect/>
          </a:stretch>
        </p:blipFill>
        <p:spPr bwMode="auto">
          <a:xfrm>
            <a:off x="2286000" y="1600200"/>
            <a:ext cx="5181600" cy="50907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381000"/>
            <a:ext cx="8229600" cy="1143000"/>
          </a:xfrm>
        </p:spPr>
        <p:txBody>
          <a:bodyPr/>
          <a:lstStyle/>
          <a:p>
            <a:pPr marL="484632" indent="0" fontAlgn="auto">
              <a:spcAft>
                <a:spcPts val="0"/>
              </a:spcAft>
              <a:defRPr/>
            </a:pPr>
            <a:r>
              <a:rPr lang="en-US" dirty="0">
                <a:solidFill>
                  <a:schemeClr val="accent1">
                    <a:tint val="83000"/>
                    <a:satMod val="150000"/>
                  </a:schemeClr>
                </a:solidFill>
              </a:rPr>
              <a:t>Or undersea cables…</a:t>
            </a:r>
          </a:p>
        </p:txBody>
      </p:sp>
      <p:sp>
        <p:nvSpPr>
          <p:cNvPr id="23555" name="Text Box 3"/>
          <p:cNvSpPr txBox="1">
            <a:spLocks noChangeArrowheads="1"/>
          </p:cNvSpPr>
          <p:nvPr/>
        </p:nvSpPr>
        <p:spPr bwMode="auto">
          <a:xfrm>
            <a:off x="1981200" y="2514600"/>
            <a:ext cx="4648200" cy="457200"/>
          </a:xfrm>
          <a:prstGeom prst="rect">
            <a:avLst/>
          </a:prstGeom>
          <a:noFill/>
          <a:ln w="9525">
            <a:noFill/>
            <a:miter lim="800000"/>
            <a:headEnd/>
            <a:tailEnd/>
          </a:ln>
        </p:spPr>
        <p:txBody>
          <a:bodyPr>
            <a:spAutoFit/>
          </a:bodyPr>
          <a:lstStyle/>
          <a:p>
            <a:pPr>
              <a:spcBef>
                <a:spcPct val="50000"/>
              </a:spcBef>
            </a:pPr>
            <a:endParaRPr lang="en-US"/>
          </a:p>
        </p:txBody>
      </p:sp>
      <p:pic>
        <p:nvPicPr>
          <p:cNvPr id="23556" name="Picture 4" descr="C:\America Online 5.0\download\submarine cables.bmp"/>
          <p:cNvPicPr>
            <a:picLocks noChangeAspect="1" noChangeArrowheads="1"/>
          </p:cNvPicPr>
          <p:nvPr/>
        </p:nvPicPr>
        <p:blipFill>
          <a:blip r:embed="rId2"/>
          <a:srcRect/>
          <a:stretch>
            <a:fillRect/>
          </a:stretch>
        </p:blipFill>
        <p:spPr bwMode="auto">
          <a:xfrm>
            <a:off x="1295400" y="1676400"/>
            <a:ext cx="7315200" cy="51360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04800" y="228600"/>
            <a:ext cx="8229600" cy="1399032"/>
          </a:xfrm>
        </p:spPr>
        <p:txBody>
          <a:bodyPr/>
          <a:lstStyle/>
          <a:p>
            <a:pPr marL="484632" indent="0" fontAlgn="auto">
              <a:spcAft>
                <a:spcPts val="0"/>
              </a:spcAft>
              <a:defRPr/>
            </a:pPr>
            <a:r>
              <a:rPr lang="en-US" dirty="0">
                <a:solidFill>
                  <a:schemeClr val="accent1"/>
                </a:solidFill>
              </a:rPr>
              <a:t>Evolution of the Internet</a:t>
            </a:r>
          </a:p>
        </p:txBody>
      </p:sp>
      <p:sp>
        <p:nvSpPr>
          <p:cNvPr id="29699" name="Rectangle 3"/>
          <p:cNvSpPr>
            <a:spLocks noGrp="1" noChangeArrowheads="1"/>
          </p:cNvSpPr>
          <p:nvPr>
            <p:ph idx="1"/>
          </p:nvPr>
        </p:nvSpPr>
        <p:spPr>
          <a:xfrm>
            <a:off x="685800" y="1828800"/>
            <a:ext cx="8229600" cy="4572000"/>
          </a:xfrm>
        </p:spPr>
        <p:txBody>
          <a:bodyPr>
            <a:normAutofit/>
          </a:bodyPr>
          <a:lstStyle/>
          <a:p>
            <a:pPr marL="448056" indent="-384048" fontAlgn="auto">
              <a:lnSpc>
                <a:spcPct val="90000"/>
              </a:lnSpc>
              <a:spcAft>
                <a:spcPts val="0"/>
              </a:spcAft>
              <a:buFont typeface="Wingdings 2"/>
              <a:buChar char=""/>
              <a:defRPr/>
            </a:pPr>
            <a:r>
              <a:rPr lang="en-US" sz="2800" dirty="0">
                <a:solidFill>
                  <a:schemeClr val="accent1"/>
                </a:solidFill>
              </a:rPr>
              <a:t>1820s—First experiments in building calculating “engines” done by Charles Babbage.</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1890—Herman Hollerith develops digital processing machine to compile U.S. Census.</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1944—IBM builds electromechanical calculator to help calculate trajectories for weaponry and to break German and Japanese codes.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685800" y="685800"/>
            <a:ext cx="7772400" cy="4114800"/>
          </a:xfrm>
        </p:spPr>
        <p:txBody>
          <a:bodyPr>
            <a:normAutofit fontScale="92500" lnSpcReduction="10000"/>
          </a:bodyPr>
          <a:lstStyle/>
          <a:p>
            <a:pPr marL="448056" indent="-384048" fontAlgn="auto">
              <a:lnSpc>
                <a:spcPct val="90000"/>
              </a:lnSpc>
              <a:spcAft>
                <a:spcPts val="0"/>
              </a:spcAft>
              <a:buFont typeface="Wingdings 2"/>
              <a:buChar char=""/>
              <a:defRPr/>
            </a:pPr>
            <a:r>
              <a:rPr lang="en-US" sz="2800" dirty="0">
                <a:solidFill>
                  <a:schemeClr val="accent1"/>
                </a:solidFill>
              </a:rPr>
              <a:t>1957—Soviet Union ratchets up Cold War by launching first orbiting man-made satellite, </a:t>
            </a:r>
            <a:r>
              <a:rPr lang="en-US" sz="2800" i="1" dirty="0">
                <a:solidFill>
                  <a:schemeClr val="accent1"/>
                </a:solidFill>
              </a:rPr>
              <a:t>Sputnik.</a:t>
            </a:r>
            <a:r>
              <a:rPr lang="en-US" sz="2800" dirty="0">
                <a:solidFill>
                  <a:schemeClr val="accent1"/>
                </a:solidFill>
              </a:rPr>
              <a:t> U.S.</a:t>
            </a:r>
          </a:p>
          <a:p>
            <a:pPr marL="448056" indent="-384048" fontAlgn="auto">
              <a:lnSpc>
                <a:spcPct val="90000"/>
              </a:lnSpc>
              <a:spcAft>
                <a:spcPts val="0"/>
              </a:spcAft>
              <a:buFont typeface="Wingdings 2"/>
              <a:buChar char=""/>
              <a:defRPr/>
            </a:pPr>
            <a:endParaRPr lang="en-US" sz="2800" i="1"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Defense Department creates ARPA (Advanced Research Projects Agency) to apply technology to Cold War defense.</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1961—IBM designs computer system that allows separate terminals to access same hardware, effectively inventing “remote access.”</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p:txBody>
      </p:sp>
      <p:sp>
        <p:nvSpPr>
          <p:cNvPr id="25603" name="Text Box 4"/>
          <p:cNvSpPr txBox="1">
            <a:spLocks noChangeArrowheads="1"/>
          </p:cNvSpPr>
          <p:nvPr/>
        </p:nvSpPr>
        <p:spPr bwMode="auto">
          <a:xfrm>
            <a:off x="6629400" y="381000"/>
            <a:ext cx="762000" cy="457200"/>
          </a:xfrm>
          <a:prstGeom prst="rect">
            <a:avLst/>
          </a:prstGeom>
          <a:noFill/>
          <a:ln w="9525">
            <a:noFill/>
            <a:miter lim="800000"/>
            <a:headEnd/>
            <a:tailEnd/>
          </a:ln>
        </p:spPr>
        <p:txBody>
          <a:bodyPr>
            <a:spAutoFit/>
          </a:bodyPr>
          <a:lstStyle/>
          <a:p>
            <a:pPr>
              <a:spcBef>
                <a:spcPct val="50000"/>
              </a:spcBef>
            </a:pPr>
            <a:endParaRPr lang="en-US"/>
          </a:p>
        </p:txBody>
      </p:sp>
      <p:pic>
        <p:nvPicPr>
          <p:cNvPr id="25604" name="Picture 5" descr="C:\America Online 5.0\download\computer monitor.bmp"/>
          <p:cNvPicPr>
            <a:picLocks noChangeAspect="1" noChangeArrowheads="1"/>
          </p:cNvPicPr>
          <p:nvPr/>
        </p:nvPicPr>
        <p:blipFill>
          <a:blip r:embed="rId2"/>
          <a:srcRect/>
          <a:stretch>
            <a:fillRect/>
          </a:stretch>
        </p:blipFill>
        <p:spPr bwMode="auto">
          <a:xfrm>
            <a:off x="6248400" y="4669440"/>
            <a:ext cx="2590800" cy="19282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marL="484632" indent="0" fontAlgn="auto">
              <a:spcAft>
                <a:spcPts val="0"/>
              </a:spcAft>
              <a:defRPr/>
            </a:pPr>
            <a:endParaRPr lang="en-US">
              <a:solidFill>
                <a:schemeClr val="accent1">
                  <a:tint val="83000"/>
                  <a:satMod val="150000"/>
                </a:schemeClr>
              </a:solidFill>
            </a:endParaRPr>
          </a:p>
        </p:txBody>
      </p:sp>
      <p:sp>
        <p:nvSpPr>
          <p:cNvPr id="26627" name="Rectangle 3"/>
          <p:cNvSpPr>
            <a:spLocks noGrp="1" noChangeArrowheads="1"/>
          </p:cNvSpPr>
          <p:nvPr>
            <p:ph idx="1"/>
          </p:nvPr>
        </p:nvSpPr>
        <p:spPr>
          <a:xfrm>
            <a:off x="685800" y="1828800"/>
            <a:ext cx="8229600" cy="4572000"/>
          </a:xfrm>
        </p:spPr>
        <p:txBody>
          <a:bodyPr/>
          <a:lstStyle/>
          <a:p>
            <a:r>
              <a:rPr lang="en-US" dirty="0" smtClean="0">
                <a:solidFill>
                  <a:schemeClr val="accent1"/>
                </a:solidFill>
              </a:rPr>
              <a:t>1969—ARPANET computer network started. The network makes use of a packet-switching concept that would send messages in pieces and assemble them at their destination. Thus, no one path destroyed by nuclear attack could disable a message.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685800" y="990600"/>
            <a:ext cx="8229600" cy="4572000"/>
          </a:xfrm>
        </p:spPr>
        <p:txBody>
          <a:bodyPr/>
          <a:lstStyle/>
          <a:p>
            <a:r>
              <a:rPr lang="en-US" dirty="0" smtClean="0">
                <a:solidFill>
                  <a:schemeClr val="accent1"/>
                </a:solidFill>
              </a:rPr>
              <a:t>1972—At the First International Conference on Computers and Communication, ARPA scientists demonstrated their network, linking computers between 40 different locations.</a:t>
            </a:r>
          </a:p>
          <a:p>
            <a:endParaRPr lang="en-US" dirty="0" smtClean="0">
              <a:solidFill>
                <a:schemeClr val="accent1"/>
              </a:solidFill>
            </a:endParaRPr>
          </a:p>
          <a:p>
            <a:r>
              <a:rPr lang="en-US" dirty="0" smtClean="0">
                <a:solidFill>
                  <a:schemeClr val="accent1"/>
                </a:solidFill>
              </a:rPr>
              <a:t>First email sent between research facilities.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914400" y="1219200"/>
            <a:ext cx="8229600" cy="4572000"/>
          </a:xfrm>
        </p:spPr>
        <p:txBody>
          <a:bodyPr/>
          <a:lstStyle/>
          <a:p>
            <a:r>
              <a:rPr lang="en-US" sz="2800" dirty="0" smtClean="0">
                <a:solidFill>
                  <a:schemeClr val="accent1"/>
                </a:solidFill>
              </a:rPr>
              <a:t>1974—Scientists at ARPA create a common language that allows different networks to communicate. It’s called </a:t>
            </a:r>
            <a:r>
              <a:rPr lang="en-US" sz="2800" i="1" dirty="0" smtClean="0">
                <a:solidFill>
                  <a:schemeClr val="accent1"/>
                </a:solidFill>
              </a:rPr>
              <a:t>transmission control protocol/internet protocol </a:t>
            </a:r>
            <a:r>
              <a:rPr lang="en-US" sz="2800" dirty="0" smtClean="0">
                <a:solidFill>
                  <a:schemeClr val="accent1"/>
                </a:solidFill>
              </a:rPr>
              <a:t>(TCP/IP).</a:t>
            </a:r>
          </a:p>
          <a:p>
            <a:endParaRPr lang="en-US" sz="2800" dirty="0" smtClean="0">
              <a:solidFill>
                <a:schemeClr val="accent1"/>
              </a:solidFill>
            </a:endParaRPr>
          </a:p>
          <a:p>
            <a:r>
              <a:rPr lang="en-US" sz="2800" dirty="0" smtClean="0">
                <a:solidFill>
                  <a:schemeClr val="accent1"/>
                </a:solidFill>
              </a:rPr>
              <a:t>Other computer networks are devised:</a:t>
            </a:r>
          </a:p>
          <a:p>
            <a:pPr lvl="2"/>
            <a:r>
              <a:rPr lang="en-US" sz="2000" dirty="0" err="1" smtClean="0">
                <a:solidFill>
                  <a:schemeClr val="accent1"/>
                </a:solidFill>
              </a:rPr>
              <a:t>Telenet</a:t>
            </a:r>
            <a:r>
              <a:rPr lang="en-US" sz="2000" dirty="0" smtClean="0">
                <a:solidFill>
                  <a:schemeClr val="accent1"/>
                </a:solidFill>
              </a:rPr>
              <a:t> (1974—commercial version of ARPANET)</a:t>
            </a:r>
          </a:p>
          <a:p>
            <a:pPr lvl="2"/>
            <a:r>
              <a:rPr lang="en-US" sz="2000" dirty="0" smtClean="0">
                <a:solidFill>
                  <a:schemeClr val="accent1"/>
                </a:solidFill>
              </a:rPr>
              <a:t>Usenet (1979—focusing on email and newsgroups)</a:t>
            </a:r>
          </a:p>
          <a:p>
            <a:pPr lvl="2"/>
            <a:r>
              <a:rPr lang="en-US" sz="2000" dirty="0" smtClean="0">
                <a:solidFill>
                  <a:schemeClr val="accent1"/>
                </a:solidFill>
              </a:rPr>
              <a:t>Bitnet (1981—links scientists across disciplines)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685800" y="762000"/>
            <a:ext cx="7772400" cy="5334000"/>
          </a:xfrm>
        </p:spPr>
        <p:txBody>
          <a:bodyPr>
            <a:normAutofit lnSpcReduction="10000"/>
          </a:bodyPr>
          <a:lstStyle/>
          <a:p>
            <a:r>
              <a:rPr lang="en-US" dirty="0" smtClean="0">
                <a:solidFill>
                  <a:schemeClr val="accent1"/>
                </a:solidFill>
              </a:rPr>
              <a:t>1976—Queen Elizabeth sends an email from Buckingham Palace. </a:t>
            </a: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r>
              <a:rPr lang="en-US" dirty="0" smtClean="0">
                <a:solidFill>
                  <a:schemeClr val="accent1"/>
                </a:solidFill>
              </a:rPr>
              <a:t>1983—ARPANET abandoned by government for military research functions.</a:t>
            </a: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a:p>
            <a:endParaRPr lang="en-US" dirty="0" smtClean="0">
              <a:solidFill>
                <a:schemeClr val="accent1"/>
              </a:solidFill>
            </a:endParaRPr>
          </a:p>
        </p:txBody>
      </p:sp>
      <p:sp>
        <p:nvSpPr>
          <p:cNvPr id="29699" name="Text Box 4"/>
          <p:cNvSpPr txBox="1">
            <a:spLocks noChangeArrowheads="1"/>
          </p:cNvSpPr>
          <p:nvPr/>
        </p:nvSpPr>
        <p:spPr bwMode="auto">
          <a:xfrm>
            <a:off x="6858000" y="2667000"/>
            <a:ext cx="1219200" cy="457200"/>
          </a:xfrm>
          <a:prstGeom prst="rect">
            <a:avLst/>
          </a:prstGeom>
          <a:noFill/>
          <a:ln w="9525">
            <a:noFill/>
            <a:miter lim="800000"/>
            <a:headEnd/>
            <a:tailEnd/>
          </a:ln>
        </p:spPr>
        <p:txBody>
          <a:bodyPr>
            <a:spAutoFit/>
          </a:bodyPr>
          <a:lstStyle/>
          <a:p>
            <a:pPr>
              <a:spcBef>
                <a:spcPct val="50000"/>
              </a:spcBef>
            </a:pPr>
            <a:endParaRPr lang="en-US"/>
          </a:p>
        </p:txBody>
      </p:sp>
      <p:pic>
        <p:nvPicPr>
          <p:cNvPr id="29700" name="Picture 5" descr="C:\Program Files\MSWorks\Clipart\BS00107_.wmf"/>
          <p:cNvPicPr>
            <a:picLocks noChangeAspect="1" noChangeArrowheads="1"/>
          </p:cNvPicPr>
          <p:nvPr/>
        </p:nvPicPr>
        <p:blipFill>
          <a:blip r:embed="rId2"/>
          <a:srcRect/>
          <a:stretch>
            <a:fillRect/>
          </a:stretch>
        </p:blipFill>
        <p:spPr bwMode="auto">
          <a:xfrm>
            <a:off x="5562600" y="1371600"/>
            <a:ext cx="3181350" cy="3468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1027"/>
          <p:cNvSpPr>
            <a:spLocks noGrp="1" noChangeArrowheads="1"/>
          </p:cNvSpPr>
          <p:nvPr>
            <p:ph idx="1"/>
          </p:nvPr>
        </p:nvSpPr>
        <p:spPr>
          <a:xfrm>
            <a:off x="914400" y="1524000"/>
            <a:ext cx="8229600" cy="4572000"/>
          </a:xfrm>
        </p:spPr>
        <p:txBody>
          <a:bodyPr/>
          <a:lstStyle/>
          <a:p>
            <a:r>
              <a:rPr lang="en-US" dirty="0" smtClean="0">
                <a:solidFill>
                  <a:schemeClr val="accent1"/>
                </a:solidFill>
              </a:rPr>
              <a:t>1984—William Gibson, a novelist, coins term “cyberspace,” using it in his sci-fi book </a:t>
            </a:r>
            <a:r>
              <a:rPr lang="en-US" i="1" dirty="0" err="1" smtClean="0">
                <a:solidFill>
                  <a:schemeClr val="accent1"/>
                </a:solidFill>
              </a:rPr>
              <a:t>Neuromancer</a:t>
            </a:r>
            <a:r>
              <a:rPr lang="en-US" dirty="0" smtClean="0">
                <a:solidFill>
                  <a:schemeClr val="accent1"/>
                </a:solidFill>
              </a:rPr>
              <a:t>.</a:t>
            </a:r>
          </a:p>
          <a:p>
            <a:endParaRPr lang="en-US" dirty="0" smtClean="0">
              <a:solidFill>
                <a:schemeClr val="accent1"/>
              </a:solidFill>
            </a:endParaRPr>
          </a:p>
          <a:p>
            <a:pPr>
              <a:buFontTx/>
              <a:buNone/>
            </a:pPr>
            <a:endParaRPr lang="en-US" dirty="0" smtClean="0">
              <a:solidFill>
                <a:schemeClr val="accent1"/>
              </a:solidFill>
            </a:endParaRPr>
          </a:p>
        </p:txBody>
      </p:sp>
      <p:sp>
        <p:nvSpPr>
          <p:cNvPr id="30724" name="Text Box 1028"/>
          <p:cNvSpPr txBox="1">
            <a:spLocks noChangeArrowheads="1"/>
          </p:cNvSpPr>
          <p:nvPr/>
        </p:nvSpPr>
        <p:spPr bwMode="auto">
          <a:xfrm>
            <a:off x="5410200" y="3581400"/>
            <a:ext cx="1981200" cy="457200"/>
          </a:xfrm>
          <a:prstGeom prst="rect">
            <a:avLst/>
          </a:prstGeom>
          <a:noFill/>
          <a:ln w="9525">
            <a:noFill/>
            <a:miter lim="800000"/>
            <a:headEnd/>
            <a:tailEnd/>
          </a:ln>
        </p:spPr>
        <p:txBody>
          <a:bodyPr>
            <a:spAutoFit/>
          </a:bodyPr>
          <a:lstStyle/>
          <a:p>
            <a:pPr>
              <a:spcBef>
                <a:spcPct val="50000"/>
              </a:spcBef>
            </a:pPr>
            <a:endParaRPr lang="en-US"/>
          </a:p>
        </p:txBody>
      </p:sp>
      <p:pic>
        <p:nvPicPr>
          <p:cNvPr id="30725" name="Picture 1029" descr="C:\America Online 5.0\download\hackers_small.bmp"/>
          <p:cNvPicPr>
            <a:picLocks noChangeAspect="1" noChangeArrowheads="1"/>
          </p:cNvPicPr>
          <p:nvPr/>
        </p:nvPicPr>
        <p:blipFill>
          <a:blip r:embed="rId2"/>
          <a:srcRect/>
          <a:stretch>
            <a:fillRect/>
          </a:stretch>
        </p:blipFill>
        <p:spPr bwMode="auto">
          <a:xfrm>
            <a:off x="4572000" y="3200400"/>
            <a:ext cx="4572000" cy="33607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685800" y="838200"/>
            <a:ext cx="7772400" cy="5486400"/>
          </a:xfrm>
        </p:spPr>
        <p:txBody>
          <a:bodyPr>
            <a:normAutofit/>
          </a:bodyPr>
          <a:lstStyle/>
          <a:p>
            <a:pPr marL="448056" indent="-384048" fontAlgn="auto">
              <a:lnSpc>
                <a:spcPct val="90000"/>
              </a:lnSpc>
              <a:spcAft>
                <a:spcPts val="0"/>
              </a:spcAft>
              <a:buFont typeface="Wingdings 2"/>
              <a:buChar char=""/>
              <a:defRPr/>
            </a:pPr>
            <a:r>
              <a:rPr lang="en-US" sz="2800" dirty="0">
                <a:solidFill>
                  <a:schemeClr val="accent1"/>
                </a:solidFill>
              </a:rPr>
              <a:t>1984—Domain name servers introduced (.com, .</a:t>
            </a:r>
            <a:r>
              <a:rPr lang="en-US" sz="2800" dirty="0" err="1">
                <a:solidFill>
                  <a:schemeClr val="accent1"/>
                </a:solidFill>
              </a:rPr>
              <a:t>gov</a:t>
            </a:r>
            <a:r>
              <a:rPr lang="en-US" sz="2800" dirty="0">
                <a:solidFill>
                  <a:schemeClr val="accent1"/>
                </a:solidFill>
              </a:rPr>
              <a:t>, .org, .</a:t>
            </a:r>
            <a:r>
              <a:rPr lang="en-US" sz="2800" dirty="0" err="1">
                <a:solidFill>
                  <a:schemeClr val="accent1"/>
                </a:solidFill>
              </a:rPr>
              <a:t>edu</a:t>
            </a:r>
            <a:r>
              <a:rPr lang="en-US" sz="2800" dirty="0">
                <a:solidFill>
                  <a:schemeClr val="accent1"/>
                </a:solidFill>
              </a:rPr>
              <a:t>), making Internet addresses easier to remember.</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smtClean="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1985—NSFNet founded, which creates the Internet “backbone” (massive high-speed network pathways)</a:t>
            </a:r>
          </a:p>
        </p:txBody>
      </p:sp>
      <p:sp>
        <p:nvSpPr>
          <p:cNvPr id="31747" name="Text Box 4"/>
          <p:cNvSpPr txBox="1">
            <a:spLocks noChangeArrowheads="1"/>
          </p:cNvSpPr>
          <p:nvPr/>
        </p:nvSpPr>
        <p:spPr bwMode="auto">
          <a:xfrm>
            <a:off x="7086600" y="5486400"/>
            <a:ext cx="914400" cy="457200"/>
          </a:xfrm>
          <a:prstGeom prst="rect">
            <a:avLst/>
          </a:prstGeom>
          <a:noFill/>
          <a:ln w="9525">
            <a:noFill/>
            <a:miter lim="800000"/>
            <a:headEnd/>
            <a:tailEnd/>
          </a:ln>
        </p:spPr>
        <p:txBody>
          <a:bodyPr>
            <a:spAutoFit/>
          </a:bodyPr>
          <a:lstStyle/>
          <a:p>
            <a:pPr>
              <a:spcBef>
                <a:spcPct val="50000"/>
              </a:spcBef>
            </a:pPr>
            <a:endParaRPr lang="en-US"/>
          </a:p>
        </p:txBody>
      </p:sp>
      <p:pic>
        <p:nvPicPr>
          <p:cNvPr id="31748" name="Picture 5" descr="C:\America Online 5.0\download\computer monitor 2.bmp"/>
          <p:cNvPicPr>
            <a:picLocks noChangeAspect="1" noChangeArrowheads="1"/>
          </p:cNvPicPr>
          <p:nvPr/>
        </p:nvPicPr>
        <p:blipFill>
          <a:blip r:embed="rId2"/>
          <a:srcRect/>
          <a:stretch>
            <a:fillRect/>
          </a:stretch>
        </p:blipFill>
        <p:spPr bwMode="auto">
          <a:xfrm>
            <a:off x="6172200" y="2133600"/>
            <a:ext cx="2514600"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914400" y="1219200"/>
            <a:ext cx="8229600" cy="4572000"/>
          </a:xfrm>
        </p:spPr>
        <p:txBody>
          <a:bodyPr/>
          <a:lstStyle/>
          <a:p>
            <a:r>
              <a:rPr lang="en-US" dirty="0" smtClean="0">
                <a:solidFill>
                  <a:schemeClr val="accent1"/>
                </a:solidFill>
              </a:rPr>
              <a:t>1985—San Francisco network the WELL (Whole Earth ‘</a:t>
            </a:r>
            <a:r>
              <a:rPr lang="en-US" dirty="0" err="1" smtClean="0">
                <a:solidFill>
                  <a:schemeClr val="accent1"/>
                </a:solidFill>
              </a:rPr>
              <a:t>Lectronic</a:t>
            </a:r>
            <a:r>
              <a:rPr lang="en-US" dirty="0" smtClean="0">
                <a:solidFill>
                  <a:schemeClr val="accent1"/>
                </a:solidFill>
              </a:rPr>
              <a:t> Link) starts up as  one of the first bulletin boards and chat sites.</a:t>
            </a:r>
          </a:p>
        </p:txBody>
      </p:sp>
      <p:sp>
        <p:nvSpPr>
          <p:cNvPr id="32772" name="Text Box 4"/>
          <p:cNvSpPr txBox="1">
            <a:spLocks noChangeArrowheads="1"/>
          </p:cNvSpPr>
          <p:nvPr/>
        </p:nvSpPr>
        <p:spPr bwMode="auto">
          <a:xfrm>
            <a:off x="4495800" y="4191000"/>
            <a:ext cx="3124200" cy="457200"/>
          </a:xfrm>
          <a:prstGeom prst="rect">
            <a:avLst/>
          </a:prstGeom>
          <a:noFill/>
          <a:ln w="9525">
            <a:noFill/>
            <a:miter lim="800000"/>
            <a:headEnd/>
            <a:tailEnd/>
          </a:ln>
        </p:spPr>
        <p:txBody>
          <a:bodyPr>
            <a:spAutoFit/>
          </a:bodyPr>
          <a:lstStyle/>
          <a:p>
            <a:pPr>
              <a:spcBef>
                <a:spcPct val="50000"/>
              </a:spcBef>
            </a:pPr>
            <a:endParaRPr lang="en-US"/>
          </a:p>
        </p:txBody>
      </p:sp>
      <p:pic>
        <p:nvPicPr>
          <p:cNvPr id="32773" name="Picture 5" descr="C:\America Online 5.0\download\kids and computer.bmp"/>
          <p:cNvPicPr>
            <a:picLocks noChangeAspect="1" noChangeArrowheads="1"/>
          </p:cNvPicPr>
          <p:nvPr/>
        </p:nvPicPr>
        <p:blipFill>
          <a:blip r:embed="rId2"/>
          <a:srcRect/>
          <a:stretch>
            <a:fillRect/>
          </a:stretch>
        </p:blipFill>
        <p:spPr bwMode="auto">
          <a:xfrm>
            <a:off x="4495800" y="3657600"/>
            <a:ext cx="3733800" cy="26876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33400" y="0"/>
            <a:ext cx="8229600" cy="1399032"/>
          </a:xfrm>
        </p:spPr>
        <p:txBody>
          <a:bodyPr/>
          <a:lstStyle/>
          <a:p>
            <a:pPr marL="484632" indent="0" fontAlgn="auto">
              <a:spcAft>
                <a:spcPts val="0"/>
              </a:spcAft>
              <a:defRPr/>
            </a:pPr>
            <a:r>
              <a:rPr lang="en-US" dirty="0">
                <a:solidFill>
                  <a:schemeClr val="accent1">
                    <a:tint val="83000"/>
                    <a:satMod val="150000"/>
                  </a:schemeClr>
                </a:solidFill>
              </a:rPr>
              <a:t>Effects of </a:t>
            </a:r>
            <a:r>
              <a:rPr lang="en-US" dirty="0" err="1">
                <a:solidFill>
                  <a:schemeClr val="accent1">
                    <a:tint val="83000"/>
                    <a:satMod val="150000"/>
                  </a:schemeClr>
                </a:solidFill>
              </a:rPr>
              <a:t>NSFNet</a:t>
            </a:r>
            <a:endParaRPr lang="en-US" dirty="0">
              <a:solidFill>
                <a:schemeClr val="accent1">
                  <a:tint val="83000"/>
                  <a:satMod val="150000"/>
                </a:schemeClr>
              </a:solidFill>
            </a:endParaRPr>
          </a:p>
        </p:txBody>
      </p:sp>
      <p:sp>
        <p:nvSpPr>
          <p:cNvPr id="33795" name="Rectangle 3"/>
          <p:cNvSpPr>
            <a:spLocks noGrp="1" noChangeArrowheads="1"/>
          </p:cNvSpPr>
          <p:nvPr>
            <p:ph idx="1"/>
          </p:nvPr>
        </p:nvSpPr>
        <p:spPr>
          <a:xfrm>
            <a:off x="914400" y="1905000"/>
            <a:ext cx="8229600" cy="4572000"/>
          </a:xfrm>
        </p:spPr>
        <p:txBody>
          <a:bodyPr/>
          <a:lstStyle/>
          <a:p>
            <a:pPr>
              <a:lnSpc>
                <a:spcPct val="90000"/>
              </a:lnSpc>
            </a:pPr>
            <a:r>
              <a:rPr lang="en-US" sz="2800" dirty="0" smtClean="0">
                <a:solidFill>
                  <a:schemeClr val="accent1"/>
                </a:solidFill>
              </a:rPr>
              <a:t>Allowed increased Internet capacity.</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Encouraged surge in Internet use. (By 1986, host computers numbered 5,000. In 1987, there were 28,000 hosts.)</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Encouraged private Internet providers because commercial enterprises were excluded from </a:t>
            </a:r>
            <a:r>
              <a:rPr lang="en-US" sz="2800" dirty="0" err="1" smtClean="0">
                <a:solidFill>
                  <a:schemeClr val="accent1"/>
                </a:solidFill>
              </a:rPr>
              <a:t>NSFNet</a:t>
            </a:r>
            <a:r>
              <a:rPr lang="en-US" sz="2800" dirty="0" smtClean="0">
                <a:solidFill>
                  <a:schemeClr val="accent1"/>
                </a:solidFill>
              </a:rPr>
              <a:t>.</a:t>
            </a:r>
          </a:p>
          <a:p>
            <a:pPr>
              <a:lnSpc>
                <a:spcPct val="90000"/>
              </a:lnSpc>
            </a:pPr>
            <a:endParaRPr lang="en-US" sz="2800" dirty="0" smtClean="0">
              <a:solidFill>
                <a:schemeClr val="accent1"/>
              </a:solidFill>
            </a:endParaRPr>
          </a:p>
          <a:p>
            <a:pPr>
              <a:lnSpc>
                <a:spcPct val="90000"/>
              </a:lnSpc>
            </a:pPr>
            <a:endParaRPr lang="en-US" sz="2800" dirty="0" smtClean="0">
              <a:solidFill>
                <a:schemeClr val="accent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685800" y="609600"/>
            <a:ext cx="7772400" cy="5943600"/>
          </a:xfrm>
        </p:spPr>
        <p:txBody>
          <a:bodyPr>
            <a:normAutofit lnSpcReduction="10000"/>
          </a:bodyPr>
          <a:lstStyle/>
          <a:p>
            <a:pPr marL="448056" indent="-384048" fontAlgn="auto">
              <a:lnSpc>
                <a:spcPct val="90000"/>
              </a:lnSpc>
              <a:spcAft>
                <a:spcPts val="0"/>
              </a:spcAft>
              <a:buFont typeface="Wingdings 2"/>
              <a:buChar char=""/>
              <a:defRPr/>
            </a:pPr>
            <a:r>
              <a:rPr lang="en-US" sz="2800" dirty="0">
                <a:solidFill>
                  <a:schemeClr val="accent1"/>
                </a:solidFill>
              </a:rPr>
              <a:t>1989—CERN scientist Tim Berners-Lee designs World Wide Web as a way to share and retrieve research. He designs first browser and HTML.</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1990—Internet hosts number </a:t>
            </a:r>
            <a:r>
              <a:rPr lang="en-US" sz="2800" dirty="0" smtClean="0">
                <a:solidFill>
                  <a:schemeClr val="accent1"/>
                </a:solidFill>
              </a:rPr>
              <a:t>                 			300,000</a:t>
            </a:r>
            <a:r>
              <a:rPr lang="en-US" sz="2800" dirty="0">
                <a:solidFill>
                  <a:schemeClr val="accent1"/>
                </a:solidFill>
              </a:rPr>
              <a:t>.</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First “search engine,” called Archie, </a:t>
            </a:r>
          </a:p>
          <a:p>
            <a:pPr marL="448056" indent="-384048" fontAlgn="auto">
              <a:lnSpc>
                <a:spcPct val="90000"/>
              </a:lnSpc>
              <a:spcAft>
                <a:spcPts val="0"/>
              </a:spcAft>
              <a:buNone/>
              <a:defRPr/>
            </a:pPr>
            <a:r>
              <a:rPr lang="en-US" sz="2800" dirty="0" smtClean="0">
                <a:solidFill>
                  <a:schemeClr val="accent1"/>
                </a:solidFill>
              </a:rPr>
              <a:t>    developed </a:t>
            </a:r>
            <a:r>
              <a:rPr lang="en-US" sz="2800" dirty="0">
                <a:solidFill>
                  <a:schemeClr val="accent1"/>
                </a:solidFill>
              </a:rPr>
              <a:t>at McGill University, Montreal.</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1991—NSF removes its restriction on private access to its backbone computers, a result of the end of the Cold War.</a:t>
            </a:r>
          </a:p>
        </p:txBody>
      </p:sp>
      <p:sp>
        <p:nvSpPr>
          <p:cNvPr id="34819" name="Text Box 4"/>
          <p:cNvSpPr txBox="1">
            <a:spLocks noChangeArrowheads="1"/>
          </p:cNvSpPr>
          <p:nvPr/>
        </p:nvSpPr>
        <p:spPr bwMode="auto">
          <a:xfrm>
            <a:off x="7391400" y="2057400"/>
            <a:ext cx="1143000" cy="457200"/>
          </a:xfrm>
          <a:prstGeom prst="rect">
            <a:avLst/>
          </a:prstGeom>
          <a:noFill/>
          <a:ln w="9525">
            <a:noFill/>
            <a:miter lim="800000"/>
            <a:headEnd/>
            <a:tailEnd/>
          </a:ln>
        </p:spPr>
        <p:txBody>
          <a:bodyPr>
            <a:spAutoFit/>
          </a:bodyPr>
          <a:lstStyle/>
          <a:p>
            <a:pPr>
              <a:spcBef>
                <a:spcPct val="50000"/>
              </a:spcBef>
            </a:pPr>
            <a:endParaRPr lang="en-US"/>
          </a:p>
        </p:txBody>
      </p:sp>
      <p:pic>
        <p:nvPicPr>
          <p:cNvPr id="34820" name="Picture 5" descr="C:\America Online 5.0\download\bernerslee.bmp"/>
          <p:cNvPicPr>
            <a:picLocks noChangeAspect="1" noChangeArrowheads="1"/>
          </p:cNvPicPr>
          <p:nvPr/>
        </p:nvPicPr>
        <p:blipFill>
          <a:blip r:embed="rId2"/>
          <a:srcRect/>
          <a:stretch>
            <a:fillRect/>
          </a:stretch>
        </p:blipFill>
        <p:spPr bwMode="auto">
          <a:xfrm>
            <a:off x="6477000" y="1600200"/>
            <a:ext cx="2667000" cy="22489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685800" y="914400"/>
            <a:ext cx="8229600" cy="5410200"/>
          </a:xfrm>
        </p:spPr>
        <p:txBody>
          <a:bodyPr>
            <a:normAutofit/>
          </a:bodyPr>
          <a:lstStyle/>
          <a:p>
            <a:pPr marL="448056" indent="-384048" fontAlgn="auto">
              <a:lnSpc>
                <a:spcPct val="90000"/>
              </a:lnSpc>
              <a:spcAft>
                <a:spcPts val="0"/>
              </a:spcAft>
              <a:buFont typeface="Wingdings 2"/>
              <a:buChar char=""/>
              <a:defRPr/>
            </a:pPr>
            <a:r>
              <a:rPr lang="en-US" sz="2800" dirty="0">
                <a:solidFill>
                  <a:schemeClr val="accent1"/>
                </a:solidFill>
              </a:rPr>
              <a:t>1991—Sen. Al Gore sponsors </a:t>
            </a:r>
            <a:r>
              <a:rPr lang="en-US" sz="2800" i="1" dirty="0">
                <a:solidFill>
                  <a:schemeClr val="accent1"/>
                </a:solidFill>
              </a:rPr>
              <a:t>High Performance Computing Act</a:t>
            </a:r>
            <a:r>
              <a:rPr lang="en-US" sz="2800" dirty="0">
                <a:solidFill>
                  <a:schemeClr val="accent1"/>
                </a:solidFill>
              </a:rPr>
              <a:t>, which funds research into improving the Internet infrastructure.</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1992—Only 50 Websites exist in the world.</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r>
              <a:rPr lang="en-US" sz="2800" dirty="0">
                <a:solidFill>
                  <a:schemeClr val="accent1"/>
                </a:solidFill>
              </a:rPr>
              <a:t>1993—Mark </a:t>
            </a:r>
            <a:r>
              <a:rPr lang="en-US" sz="2800" dirty="0" smtClean="0">
                <a:solidFill>
                  <a:schemeClr val="accent1"/>
                </a:solidFill>
              </a:rPr>
              <a:t>Andreessen </a:t>
            </a:r>
            <a:r>
              <a:rPr lang="en-US" sz="2800" dirty="0">
                <a:solidFill>
                  <a:schemeClr val="accent1"/>
                </a:solidFill>
              </a:rPr>
              <a:t>invents Mosaic browser, which would lead to his company Netscape. His browser allows easier “surfing” of the Web.</a:t>
            </a:r>
          </a:p>
          <a:p>
            <a:pPr marL="448056" indent="-384048" fontAlgn="auto">
              <a:lnSpc>
                <a:spcPct val="90000"/>
              </a:lnSpc>
              <a:spcAft>
                <a:spcPts val="0"/>
              </a:spcAft>
              <a:buFont typeface="Wingdings 2"/>
              <a:buChar char=""/>
              <a:defRPr/>
            </a:pPr>
            <a:endParaRPr lang="en-US" sz="2800" dirty="0">
              <a:solidFill>
                <a:schemeClr val="accent1"/>
              </a:solidFill>
            </a:endParaRPr>
          </a:p>
          <a:p>
            <a:pPr marL="448056" indent="-384048" fontAlgn="auto">
              <a:lnSpc>
                <a:spcPct val="90000"/>
              </a:lnSpc>
              <a:spcAft>
                <a:spcPts val="0"/>
              </a:spcAft>
              <a:buFont typeface="Wingdings 2"/>
              <a:buChar char=""/>
              <a:defRPr/>
            </a:pPr>
            <a:endParaRPr lang="en-US" sz="2800" dirty="0">
              <a:solidFill>
                <a:schemeClr val="accent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685800" y="838200"/>
            <a:ext cx="8229600" cy="4572000"/>
          </a:xfrm>
        </p:spPr>
        <p:txBody>
          <a:bodyPr/>
          <a:lstStyle/>
          <a:p>
            <a:pPr>
              <a:lnSpc>
                <a:spcPct val="90000"/>
              </a:lnSpc>
            </a:pPr>
            <a:r>
              <a:rPr lang="en-US" sz="2800" dirty="0" smtClean="0">
                <a:solidFill>
                  <a:schemeClr val="accent1"/>
                </a:solidFill>
              </a:rPr>
              <a:t>1994—Proprietary computer services, such as Prodigy, </a:t>
            </a:r>
            <a:r>
              <a:rPr lang="en-US" sz="2800" dirty="0" err="1" smtClean="0">
                <a:solidFill>
                  <a:schemeClr val="accent1"/>
                </a:solidFill>
              </a:rPr>
              <a:t>Compuserve</a:t>
            </a:r>
            <a:r>
              <a:rPr lang="en-US" sz="2800" dirty="0" smtClean="0">
                <a:solidFill>
                  <a:schemeClr val="accent1"/>
                </a:solidFill>
              </a:rPr>
              <a:t> and AOL, provide Internet “gateways” for their subscribers.</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1995—25,000 Web sites exist.</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1996—More than 250,000 Web sites exist.</a:t>
            </a:r>
          </a:p>
          <a:p>
            <a:pPr>
              <a:lnSpc>
                <a:spcPct val="90000"/>
              </a:lnSpc>
            </a:pPr>
            <a:endParaRPr lang="en-US" sz="2800" dirty="0" smtClean="0">
              <a:solidFill>
                <a:schemeClr val="accent1"/>
              </a:solidFill>
            </a:endParaRPr>
          </a:p>
          <a:p>
            <a:pPr>
              <a:lnSpc>
                <a:spcPct val="90000"/>
              </a:lnSpc>
            </a:pPr>
            <a:r>
              <a:rPr lang="en-US" sz="2800" dirty="0" smtClean="0">
                <a:solidFill>
                  <a:schemeClr val="accent1"/>
                </a:solidFill>
              </a:rPr>
              <a:t>1997—E-Commerce gets underway and the start of .com retailers, such as Amazon.com.</a:t>
            </a:r>
          </a:p>
          <a:p>
            <a:pPr>
              <a:lnSpc>
                <a:spcPct val="90000"/>
              </a:lnSpc>
            </a:pPr>
            <a:endParaRPr lang="en-US" sz="2800" dirty="0" smtClean="0">
              <a:solidFill>
                <a:schemeClr val="accent1"/>
              </a:solidFill>
            </a:endParaRPr>
          </a:p>
          <a:p>
            <a:pPr>
              <a:lnSpc>
                <a:spcPct val="90000"/>
              </a:lnSpc>
            </a:pPr>
            <a:endParaRPr lang="en-US" sz="2800" dirty="0" smtClean="0">
              <a:solidFill>
                <a:schemeClr val="accent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685800" y="1066800"/>
            <a:ext cx="8229600" cy="4572000"/>
          </a:xfrm>
        </p:spPr>
        <p:txBody>
          <a:bodyPr/>
          <a:lstStyle/>
          <a:p>
            <a:r>
              <a:rPr lang="en-US" dirty="0" smtClean="0">
                <a:solidFill>
                  <a:schemeClr val="accent1"/>
                </a:solidFill>
              </a:rPr>
              <a:t>2005—Google.com can search more than 8 billion Web pages. </a:t>
            </a:r>
          </a:p>
        </p:txBody>
      </p:sp>
      <p:sp>
        <p:nvSpPr>
          <p:cNvPr id="37892" name="Text Box 4"/>
          <p:cNvSpPr txBox="1">
            <a:spLocks noChangeArrowheads="1"/>
          </p:cNvSpPr>
          <p:nvPr/>
        </p:nvSpPr>
        <p:spPr bwMode="auto">
          <a:xfrm>
            <a:off x="4648200" y="3657600"/>
            <a:ext cx="2895600" cy="457200"/>
          </a:xfrm>
          <a:prstGeom prst="rect">
            <a:avLst/>
          </a:prstGeom>
          <a:noFill/>
          <a:ln w="9525">
            <a:noFill/>
            <a:miter lim="800000"/>
            <a:headEnd/>
            <a:tailEnd/>
          </a:ln>
        </p:spPr>
        <p:txBody>
          <a:bodyPr>
            <a:spAutoFit/>
          </a:bodyPr>
          <a:lstStyle/>
          <a:p>
            <a:pPr>
              <a:spcBef>
                <a:spcPct val="50000"/>
              </a:spcBef>
            </a:pPr>
            <a:endParaRPr lang="en-US"/>
          </a:p>
        </p:txBody>
      </p:sp>
      <p:pic>
        <p:nvPicPr>
          <p:cNvPr id="37893" name="Picture 6" descr="C:\Documents and Settings\gchristenson\My Documents\My Pictures\urlbar.gif"/>
          <p:cNvPicPr>
            <a:picLocks noChangeAspect="1" noChangeArrowheads="1"/>
          </p:cNvPicPr>
          <p:nvPr/>
        </p:nvPicPr>
        <p:blipFill>
          <a:blip r:embed="rId2"/>
          <a:srcRect/>
          <a:stretch>
            <a:fillRect/>
          </a:stretch>
        </p:blipFill>
        <p:spPr bwMode="auto">
          <a:xfrm>
            <a:off x="1219200" y="3124200"/>
            <a:ext cx="7121431" cy="2470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Documents and Settings\gchristenson\Desktop\internet stats.gif"/>
          <p:cNvPicPr>
            <a:picLocks noChangeAspect="1" noChangeArrowheads="1"/>
          </p:cNvPicPr>
          <p:nvPr/>
        </p:nvPicPr>
        <p:blipFill>
          <a:blip r:embed="rId2"/>
          <a:srcRect/>
          <a:stretch>
            <a:fillRect/>
          </a:stretch>
        </p:blipFill>
        <p:spPr bwMode="auto">
          <a:xfrm>
            <a:off x="228601" y="228601"/>
            <a:ext cx="5562600" cy="3765662"/>
          </a:xfrm>
          <a:prstGeom prst="rect">
            <a:avLst/>
          </a:prstGeom>
          <a:noFill/>
          <a:ln w="9525">
            <a:noFill/>
            <a:miter lim="800000"/>
            <a:headEnd/>
            <a:tailEnd/>
          </a:ln>
        </p:spPr>
      </p:pic>
      <p:pic>
        <p:nvPicPr>
          <p:cNvPr id="3" name="Picture 2" descr="C:\Documents and Settings\gchristenson\Desktop\ed&amp;web.gif"/>
          <p:cNvPicPr>
            <a:picLocks noChangeAspect="1" noChangeArrowheads="1"/>
          </p:cNvPicPr>
          <p:nvPr/>
        </p:nvPicPr>
        <p:blipFill>
          <a:blip r:embed="rId3"/>
          <a:srcRect/>
          <a:stretch>
            <a:fillRect/>
          </a:stretch>
        </p:blipFill>
        <p:spPr bwMode="auto">
          <a:xfrm>
            <a:off x="4078792" y="3962400"/>
            <a:ext cx="4836607"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762000"/>
            <a:ext cx="7086600" cy="914400"/>
          </a:xfrm>
        </p:spPr>
        <p:txBody>
          <a:bodyPr>
            <a:noAutofit/>
          </a:bodyPr>
          <a:lstStyle/>
          <a:p>
            <a:pPr marL="484632" indent="0" fontAlgn="auto">
              <a:spcAft>
                <a:spcPts val="0"/>
              </a:spcAft>
              <a:defRPr/>
            </a:pPr>
            <a:r>
              <a:rPr lang="en-US" sz="3600" dirty="0">
                <a:solidFill>
                  <a:schemeClr val="accent1"/>
                </a:solidFill>
              </a:rPr>
              <a:t>Where will the Internet take us?</a:t>
            </a:r>
            <a:br>
              <a:rPr lang="en-US" sz="3600" dirty="0">
                <a:solidFill>
                  <a:schemeClr val="accent1"/>
                </a:solidFill>
              </a:rPr>
            </a:br>
            <a:endParaRPr lang="en-US" sz="3600" dirty="0">
              <a:solidFill>
                <a:schemeClr val="accent1"/>
              </a:solidFill>
            </a:endParaRPr>
          </a:p>
        </p:txBody>
      </p:sp>
      <p:sp>
        <p:nvSpPr>
          <p:cNvPr id="40963" name="Rectangle 3"/>
          <p:cNvSpPr>
            <a:spLocks noGrp="1" noChangeArrowheads="1"/>
          </p:cNvSpPr>
          <p:nvPr>
            <p:ph idx="1"/>
          </p:nvPr>
        </p:nvSpPr>
        <p:spPr>
          <a:xfrm>
            <a:off x="304800" y="1524000"/>
            <a:ext cx="8458200" cy="4572000"/>
          </a:xfrm>
        </p:spPr>
        <p:txBody>
          <a:bodyPr>
            <a:noAutofit/>
          </a:bodyPr>
          <a:lstStyle/>
          <a:p>
            <a:pPr marL="448056" indent="-384048" algn="just" fontAlgn="auto">
              <a:spcAft>
                <a:spcPts val="0"/>
              </a:spcAft>
              <a:buFont typeface="Wingdings 2"/>
              <a:buChar char=""/>
              <a:defRPr/>
            </a:pPr>
            <a:endParaRPr lang="en-US" sz="2200" dirty="0">
              <a:solidFill>
                <a:schemeClr val="accent1"/>
              </a:solidFill>
            </a:endParaRPr>
          </a:p>
          <a:p>
            <a:pPr marL="448056" indent="-384048" algn="just" fontAlgn="auto">
              <a:spcAft>
                <a:spcPts val="0"/>
              </a:spcAft>
              <a:buFont typeface="Wingdings 2"/>
              <a:buChar char=""/>
              <a:defRPr/>
            </a:pPr>
            <a:r>
              <a:rPr lang="en-US" sz="2200" dirty="0">
                <a:solidFill>
                  <a:schemeClr val="accent1"/>
                </a:solidFill>
              </a:rPr>
              <a:t>All traditional media will use the Web </a:t>
            </a:r>
            <a:r>
              <a:rPr lang="en-US" sz="2200" dirty="0" smtClean="0">
                <a:solidFill>
                  <a:schemeClr val="accent1"/>
                </a:solidFill>
              </a:rPr>
              <a:t>for distribution</a:t>
            </a:r>
            <a:r>
              <a:rPr lang="en-US" sz="2200" dirty="0">
                <a:solidFill>
                  <a:schemeClr val="accent1"/>
                </a:solidFill>
              </a:rPr>
              <a:t>. Some mainstream media, such as newspapers, may end up moving totally to </a:t>
            </a:r>
            <a:r>
              <a:rPr lang="en-US" sz="2200" dirty="0" smtClean="0">
                <a:solidFill>
                  <a:schemeClr val="accent1"/>
                </a:solidFill>
              </a:rPr>
              <a:t>Cyberspace</a:t>
            </a:r>
            <a:r>
              <a:rPr lang="en-US" sz="2200" dirty="0">
                <a:solidFill>
                  <a:schemeClr val="accent1"/>
                </a:solidFill>
              </a:rPr>
              <a:t>.”</a:t>
            </a:r>
          </a:p>
          <a:p>
            <a:pPr marL="448056" indent="-384048" algn="just" fontAlgn="auto">
              <a:spcAft>
                <a:spcPts val="0"/>
              </a:spcAft>
              <a:buFont typeface="Wingdings 2"/>
              <a:buChar char=""/>
              <a:defRPr/>
            </a:pPr>
            <a:endParaRPr lang="en-US" sz="2200" dirty="0">
              <a:solidFill>
                <a:schemeClr val="accent1"/>
              </a:solidFill>
            </a:endParaRPr>
          </a:p>
          <a:p>
            <a:pPr marL="448056" indent="-384048" algn="just" fontAlgn="auto">
              <a:spcAft>
                <a:spcPts val="0"/>
              </a:spcAft>
              <a:buFont typeface="Wingdings 2"/>
              <a:buChar char=""/>
              <a:defRPr/>
            </a:pPr>
            <a:r>
              <a:rPr lang="en-US" sz="2200" dirty="0">
                <a:solidFill>
                  <a:schemeClr val="accent1"/>
                </a:solidFill>
              </a:rPr>
              <a:t>Movies, books, music, TV will be increasingly downloadable from the Internet onto storage media, such as today’s DVDs.</a:t>
            </a:r>
          </a:p>
          <a:p>
            <a:pPr marL="448056" indent="-384048" algn="just" fontAlgn="auto">
              <a:spcAft>
                <a:spcPts val="0"/>
              </a:spcAft>
              <a:buFont typeface="Wingdings 2"/>
              <a:buChar char=""/>
              <a:defRPr/>
            </a:pPr>
            <a:endParaRPr lang="en-US" sz="2200" dirty="0">
              <a:solidFill>
                <a:schemeClr val="accent1"/>
              </a:solidFill>
            </a:endParaRPr>
          </a:p>
          <a:p>
            <a:pPr marL="448056" indent="-384048" algn="just" fontAlgn="auto">
              <a:spcAft>
                <a:spcPts val="0"/>
              </a:spcAft>
              <a:buFont typeface="Wingdings 2"/>
              <a:buChar char=""/>
              <a:defRPr/>
            </a:pPr>
            <a:r>
              <a:rPr lang="en-US" sz="2200" dirty="0">
                <a:solidFill>
                  <a:schemeClr val="accent1"/>
                </a:solidFill>
              </a:rPr>
              <a:t>The Internet will likely be as accessible as our phone network, as we use it from our cars, from pocket devices and from devices yet to be imagined. (Instead of taking our cars in for recall repairs, might patches downloadable from the Internet fix electronic components or monitor maintenance?)</a:t>
            </a:r>
          </a:p>
          <a:p>
            <a:pPr marL="448056" indent="-384048" algn="just" fontAlgn="auto">
              <a:spcAft>
                <a:spcPts val="0"/>
              </a:spcAft>
              <a:buFont typeface="Wingdings 2"/>
              <a:buChar char=""/>
              <a:defRPr/>
            </a:pPr>
            <a:endParaRPr lang="en-US" sz="2200" dirty="0">
              <a:solidFill>
                <a:schemeClr val="accent1"/>
              </a:solidFill>
            </a:endParaRPr>
          </a:p>
          <a:p>
            <a:pPr marL="448056" indent="-384048" algn="just" fontAlgn="auto">
              <a:spcAft>
                <a:spcPts val="0"/>
              </a:spcAft>
              <a:buFont typeface="Wingdings 2"/>
              <a:buChar char=""/>
              <a:defRPr/>
            </a:pPr>
            <a:endParaRPr lang="en-US" sz="2200" dirty="0">
              <a:solidFill>
                <a:schemeClr val="accent1"/>
              </a:solidFill>
            </a:endParaRPr>
          </a:p>
        </p:txBody>
      </p:sp>
      <p:sp>
        <p:nvSpPr>
          <p:cNvPr id="43012" name="Text Box 4"/>
          <p:cNvSpPr txBox="1">
            <a:spLocks noChangeArrowheads="1"/>
          </p:cNvSpPr>
          <p:nvPr/>
        </p:nvSpPr>
        <p:spPr bwMode="auto">
          <a:xfrm>
            <a:off x="7086600" y="304800"/>
            <a:ext cx="1295400" cy="457200"/>
          </a:xfrm>
          <a:prstGeom prst="rect">
            <a:avLst/>
          </a:prstGeom>
          <a:noFill/>
          <a:ln w="9525">
            <a:noFill/>
            <a:miter lim="800000"/>
            <a:headEnd/>
            <a:tailEnd/>
          </a:ln>
        </p:spPr>
        <p:txBody>
          <a:bodyPr>
            <a:spAutoFit/>
          </a:bodyPr>
          <a:lstStyle/>
          <a:p>
            <a:pPr>
              <a:spcBef>
                <a:spcPct val="50000"/>
              </a:spcBef>
            </a:pPr>
            <a:endParaRPr lang="en-US"/>
          </a:p>
        </p:txBody>
      </p:sp>
      <p:pic>
        <p:nvPicPr>
          <p:cNvPr id="43013" name="Picture 5" descr="C:\America Online 5.0\download\information superhighway.bmp"/>
          <p:cNvPicPr>
            <a:picLocks noChangeAspect="1" noChangeArrowheads="1"/>
          </p:cNvPicPr>
          <p:nvPr/>
        </p:nvPicPr>
        <p:blipFill>
          <a:blip r:embed="rId2"/>
          <a:srcRect/>
          <a:stretch>
            <a:fillRect/>
          </a:stretch>
        </p:blipFill>
        <p:spPr bwMode="auto">
          <a:xfrm>
            <a:off x="7086600" y="0"/>
            <a:ext cx="2057400" cy="17446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idx="1"/>
          </p:nvPr>
        </p:nvSpPr>
        <p:spPr>
          <a:xfrm>
            <a:off x="457200" y="685800"/>
            <a:ext cx="8153400" cy="5562600"/>
          </a:xfrm>
        </p:spPr>
        <p:txBody>
          <a:bodyPr>
            <a:normAutofit/>
          </a:bodyPr>
          <a:lstStyle/>
          <a:p>
            <a:r>
              <a:rPr lang="en-US" sz="2400" dirty="0" smtClean="0">
                <a:solidFill>
                  <a:schemeClr val="accent1"/>
                </a:solidFill>
              </a:rPr>
              <a:t>As more bandwidth becomes available, graphics and video will be the norm and text will take a backseat in presentation of content.</a:t>
            </a:r>
          </a:p>
          <a:p>
            <a:endParaRPr lang="en-US" sz="2400" dirty="0" smtClean="0">
              <a:solidFill>
                <a:schemeClr val="accent1"/>
              </a:solidFill>
            </a:endParaRPr>
          </a:p>
          <a:p>
            <a:r>
              <a:rPr lang="en-US" sz="2400" dirty="0" smtClean="0">
                <a:solidFill>
                  <a:schemeClr val="accent1"/>
                </a:solidFill>
              </a:rPr>
              <a:t>The voice of the individual among the world’s billions of human beings will be discernable.</a:t>
            </a:r>
          </a:p>
          <a:p>
            <a:endParaRPr lang="en-US" sz="2400" dirty="0" smtClean="0">
              <a:solidFill>
                <a:schemeClr val="accent1"/>
              </a:solidFill>
            </a:endParaRPr>
          </a:p>
          <a:p>
            <a:r>
              <a:rPr lang="en-US" sz="2400" dirty="0" smtClean="0">
                <a:solidFill>
                  <a:schemeClr val="accent1"/>
                </a:solidFill>
              </a:rPr>
              <a:t>Global, instantaneous distribution of information and culture will further “shrink” and homogenize the planet, making us a true “Global Village.”</a:t>
            </a:r>
          </a:p>
          <a:p>
            <a:endParaRPr lang="en-US" sz="2400" dirty="0" smtClean="0">
              <a:solidFill>
                <a:schemeClr val="accent1"/>
              </a:solidFill>
            </a:endParaRPr>
          </a:p>
          <a:p>
            <a:r>
              <a:rPr lang="en-US" sz="2400" dirty="0" smtClean="0">
                <a:solidFill>
                  <a:schemeClr val="accent1"/>
                </a:solidFill>
              </a:rPr>
              <a:t>The Internet will be ubiquitous, available everywhere wirelessly, like cell phone service.</a:t>
            </a:r>
          </a:p>
        </p:txBody>
      </p:sp>
      <p:sp>
        <p:nvSpPr>
          <p:cNvPr id="44035" name="Text Box 4"/>
          <p:cNvSpPr txBox="1">
            <a:spLocks noChangeArrowheads="1"/>
          </p:cNvSpPr>
          <p:nvPr/>
        </p:nvSpPr>
        <p:spPr bwMode="auto">
          <a:xfrm>
            <a:off x="7543800" y="2743200"/>
            <a:ext cx="838200" cy="457200"/>
          </a:xfrm>
          <a:prstGeom prst="rect">
            <a:avLst/>
          </a:prstGeom>
          <a:noFill/>
          <a:ln w="9525">
            <a:noFill/>
            <a:miter lim="800000"/>
            <a:headEnd/>
            <a:tailEnd/>
          </a:ln>
        </p:spPr>
        <p:txBody>
          <a:bodyPr>
            <a:spAutoFit/>
          </a:bodyPr>
          <a:lstStyle/>
          <a:p>
            <a:pPr>
              <a:spcBef>
                <a:spcPct val="50000"/>
              </a:spcBef>
            </a:pPr>
            <a:endParaRPr lang="en-US"/>
          </a:p>
        </p:txBody>
      </p:sp>
      <p:sp>
        <p:nvSpPr>
          <p:cNvPr id="44036" name="Text Box 6"/>
          <p:cNvSpPr txBox="1">
            <a:spLocks noChangeArrowheads="1"/>
          </p:cNvSpPr>
          <p:nvPr/>
        </p:nvSpPr>
        <p:spPr bwMode="auto">
          <a:xfrm>
            <a:off x="7010400" y="2438400"/>
            <a:ext cx="1524000" cy="457200"/>
          </a:xfrm>
          <a:prstGeom prst="rect">
            <a:avLst/>
          </a:prstGeom>
          <a:noFill/>
          <a:ln w="9525">
            <a:noFill/>
            <a:miter lim="800000"/>
            <a:headEnd/>
            <a:tailEnd/>
          </a:ln>
        </p:spPr>
        <p:txBody>
          <a:bodyPr>
            <a:spAutoFit/>
          </a:bodyPr>
          <a:lstStyle/>
          <a:p>
            <a:pPr>
              <a:spcBef>
                <a:spcPct val="50000"/>
              </a:spcBef>
            </a:pPr>
            <a:endParaRPr lang="en-US"/>
          </a:p>
        </p:txBody>
      </p:sp>
      <p:pic>
        <p:nvPicPr>
          <p:cNvPr id="44037" name="Picture 7" descr="C:\America Online 5.0\download\WWW.bmp"/>
          <p:cNvPicPr>
            <a:picLocks noChangeAspect="1" noChangeArrowheads="1"/>
          </p:cNvPicPr>
          <p:nvPr/>
        </p:nvPicPr>
        <p:blipFill>
          <a:blip r:embed="rId2"/>
          <a:srcRect/>
          <a:stretch>
            <a:fillRect/>
          </a:stretch>
        </p:blipFill>
        <p:spPr bwMode="auto">
          <a:xfrm>
            <a:off x="6477000" y="5084762"/>
            <a:ext cx="2667000" cy="1773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55</TotalTime>
  <Words>1130</Words>
  <Application>Microsoft Office PowerPoint</Application>
  <PresentationFormat>On-screen Show (4:3)</PresentationFormat>
  <Paragraphs>162</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HNDIT</vt:lpstr>
      <vt:lpstr>HNDIT11062 –  Web Development</vt:lpstr>
      <vt:lpstr>Slide 2</vt:lpstr>
      <vt:lpstr>Module Objective</vt:lpstr>
      <vt:lpstr>Learning Outcomes</vt:lpstr>
      <vt:lpstr>Outline Syllabus</vt:lpstr>
      <vt:lpstr>Outline Syllabus (Cont.)</vt:lpstr>
      <vt:lpstr>Assessment and Weighting</vt:lpstr>
      <vt:lpstr>Slide 8</vt:lpstr>
      <vt:lpstr>We all use the Internet, but what is it?</vt:lpstr>
      <vt:lpstr>Internet</vt:lpstr>
      <vt:lpstr>Computer Network</vt:lpstr>
      <vt:lpstr>How it works</vt:lpstr>
      <vt:lpstr>How Internet structured</vt:lpstr>
      <vt:lpstr>World Internet Presence, 1991</vt:lpstr>
      <vt:lpstr>World Internet Presence, 1997</vt:lpstr>
      <vt:lpstr>Global cyberspace connections are made by satellites…</vt:lpstr>
      <vt:lpstr>Or undersea cables…</vt:lpstr>
      <vt:lpstr>Evolution of the Internet</vt:lpstr>
      <vt:lpstr>Slide 19</vt:lpstr>
      <vt:lpstr>Slide 20</vt:lpstr>
      <vt:lpstr>Slide 21</vt:lpstr>
      <vt:lpstr>Slide 22</vt:lpstr>
      <vt:lpstr>Slide 23</vt:lpstr>
      <vt:lpstr>Slide 24</vt:lpstr>
      <vt:lpstr>Slide 25</vt:lpstr>
      <vt:lpstr>Slide 26</vt:lpstr>
      <vt:lpstr>Effects of NSFNet</vt:lpstr>
      <vt:lpstr>Slide 28</vt:lpstr>
      <vt:lpstr>Slide 29</vt:lpstr>
      <vt:lpstr>Slide 30</vt:lpstr>
      <vt:lpstr>Slide 31</vt:lpstr>
      <vt:lpstr>Slide 32</vt:lpstr>
      <vt:lpstr>Where will the Internet take us? </vt:lpstr>
      <vt:lpstr>Slide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wathsala</cp:lastModifiedBy>
  <cp:revision>8</cp:revision>
  <dcterms:created xsi:type="dcterms:W3CDTF">2013-10-16T01:16:09Z</dcterms:created>
  <dcterms:modified xsi:type="dcterms:W3CDTF">2014-03-17T18:05:53Z</dcterms:modified>
</cp:coreProperties>
</file>