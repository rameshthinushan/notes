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bin" ContentType="application/vnd.openxmlformats-officedocument.oleObject"/>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9" r:id="rId3"/>
    <p:sldId id="260" r:id="rId4"/>
    <p:sldId id="262" r:id="rId5"/>
    <p:sldId id="263" r:id="rId6"/>
    <p:sldId id="261" r:id="rId7"/>
    <p:sldId id="264" r:id="rId8"/>
    <p:sldId id="265" r:id="rId9"/>
    <p:sldId id="266" r:id="rId10"/>
    <p:sldId id="267" r:id="rId11"/>
    <p:sldId id="268" r:id="rId12"/>
    <p:sldId id="269"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2B654F5-93A3-4049-AE05-C1CEBBE5030E}" type="datetimeFigureOut">
              <a:rPr lang="en-US" smtClean="0"/>
              <a:pPr/>
              <a:t>9/17/2018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5D0D24B-A2B2-4980-A32C-F966A250AD4F}" type="slidenum">
              <a:rPr lang="en-US" smtClean="0"/>
              <a:pPr/>
              <a:t>‹#›</a:t>
            </a:fld>
            <a:endParaRPr lang="en-US"/>
          </a:p>
        </p:txBody>
      </p:sp>
    </p:spTree>
    <p:extLst>
      <p:ext uri="{BB962C8B-B14F-4D97-AF65-F5344CB8AC3E}">
        <p14:creationId xmlns:p14="http://schemas.microsoft.com/office/powerpoint/2010/main" xmlns="" val="2994472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D0D24B-A2B2-4980-A32C-F966A250AD4F}" type="slidenum">
              <a:rPr lang="en-US" smtClean="0"/>
              <a:pPr/>
              <a:t>1</a:t>
            </a:fld>
            <a:endParaRPr lang="en-US"/>
          </a:p>
        </p:txBody>
      </p:sp>
    </p:spTree>
    <p:extLst>
      <p:ext uri="{BB962C8B-B14F-4D97-AF65-F5344CB8AC3E}">
        <p14:creationId xmlns:p14="http://schemas.microsoft.com/office/powerpoint/2010/main" xmlns="" val="20134339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9B7A05D-E61D-4A96-B8BD-B772E9C17D7C}" type="datetime1">
              <a:rPr lang="en-US" smtClean="0"/>
              <a:pPr/>
              <a:t>9/17/2018</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xmlns="">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xmlns=""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7AA7E8B-4053-4FA9-9361-ADDBDE1522F3}" type="datetime1">
              <a:rPr lang="en-US" smtClean="0"/>
              <a:pPr/>
              <a:t>9/17/2018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0489CCE-99CC-406B-B985-193FA67F6A1A}" type="datetime1">
              <a:rPr lang="en-US" smtClean="0"/>
              <a:pPr/>
              <a:t>9/17/2018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xmlns=""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EA6EEE1-0FD7-4E8C-9BEE-3B6B7C2CC75F}" type="datetime1">
              <a:rPr lang="en-US" smtClean="0"/>
              <a:pPr/>
              <a:t>9/17/2018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xmlns=""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E788D93-469F-428B-A3A1-2A9DF0DB9753}" type="datetime1">
              <a:rPr lang="en-US" smtClean="0"/>
              <a:pPr/>
              <a:t>9/17/2018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xmlns=""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52B9356-58E6-4663-8565-B62F21170DFA}" type="datetime1">
              <a:rPr lang="en-US" smtClean="0"/>
              <a:pPr/>
              <a:t>9/17/2018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xmlns=""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27AC54-0758-489B-9F0D-B9B707C5062F}" type="datetime1">
              <a:rPr lang="en-US" smtClean="0"/>
              <a:pPr/>
              <a:t>9/17/2018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xmlns=""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BB0C62-2BD7-4EE4-9028-1D1833675453}" type="datetime1">
              <a:rPr lang="en-US" smtClean="0"/>
              <a:pPr/>
              <a:t>9/17/2018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xmlns=""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30C07DB-AEEF-4134-9F11-E77990ABE499}" type="datetime1">
              <a:rPr lang="en-US" smtClean="0"/>
              <a:pPr/>
              <a:t>9/17/2018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xmlns=""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9F9838-A887-49AA-AEDE-EABB4EE753B6}" type="datetime1">
              <a:rPr lang="en-US" smtClean="0"/>
              <a:pPr/>
              <a:t>9/17/2018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xmlns=""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BDE438-85C1-4DEB-B60B-CFCFFEEB4ACA}" type="datetime1">
              <a:rPr lang="en-US" smtClean="0"/>
              <a:pPr/>
              <a:t>9/17/2018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xmlns="" val="228613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C4E134-BA40-4D06-B8B4-52E68E9B5ABE}" type="datetime1">
              <a:rPr lang="en-US" smtClean="0"/>
              <a:pPr/>
              <a:t>9/17/2018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D34B05-3558-49CA-9E94-A70F1820A0B2}" type="slidenum">
              <a:rPr lang="en-US" smtClean="0"/>
              <a:pPr/>
              <a:t>‹#›</a:t>
            </a:fld>
            <a:endParaRPr lang="en-US"/>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xmlns=""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r>
              <a:rPr lang="en-US" dirty="0" smtClean="0"/>
              <a:t>Chapter6: E-Commerce </a:t>
            </a:r>
            <a:r>
              <a:rPr lang="en-US" dirty="0"/>
              <a:t>Web Sites</a:t>
            </a:r>
          </a:p>
        </p:txBody>
      </p:sp>
      <p:sp>
        <p:nvSpPr>
          <p:cNvPr id="6" name="Title 1"/>
          <p:cNvSpPr>
            <a:spLocks noGrp="1"/>
          </p:cNvSpPr>
          <p:nvPr>
            <p:ph type="ctrTitle"/>
          </p:nvPr>
        </p:nvSpPr>
        <p:spPr>
          <a:xfrm>
            <a:off x="228600" y="2247901"/>
            <a:ext cx="4267200" cy="1981199"/>
          </a:xfrm>
        </p:spPr>
        <p:txBody>
          <a:bodyPr>
            <a:normAutofit fontScale="90000"/>
          </a:bodyPr>
          <a:lstStyle/>
          <a:p>
            <a:pPr algn="l"/>
            <a:r>
              <a:rPr lang="en-US" dirty="0" smtClean="0"/>
              <a:t>HNDIT11062 –  Web Development</a:t>
            </a:r>
            <a:endParaRPr lang="en-US" dirty="0"/>
          </a:p>
        </p:txBody>
      </p:sp>
      <p:sp>
        <p:nvSpPr>
          <p:cNvPr id="2" name="Slide Number Placeholder 1"/>
          <p:cNvSpPr>
            <a:spLocks noGrp="1"/>
          </p:cNvSpPr>
          <p:nvPr>
            <p:ph type="sldNum" sz="quarter" idx="12"/>
          </p:nvPr>
        </p:nvSpPr>
        <p:spPr/>
        <p:txBody>
          <a:bodyPr/>
          <a:lstStyle/>
          <a:p>
            <a:fld id="{00D34B05-3558-49CA-9E94-A70F1820A0B2}" type="slidenum">
              <a:rPr lang="en-US" smtClean="0"/>
              <a:pPr/>
              <a:t>1</a:t>
            </a:fld>
            <a:endParaRPr lang="en-US"/>
          </a:p>
        </p:txBody>
      </p:sp>
    </p:spTree>
    <p:extLst>
      <p:ext uri="{BB962C8B-B14F-4D97-AF65-F5344CB8AC3E}">
        <p14:creationId xmlns:p14="http://schemas.microsoft.com/office/powerpoint/2010/main" xmlns="" val="17269637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smtClean="0"/>
              <a:t>E-Commerce</a:t>
            </a:r>
            <a:endParaRPr lang="en-US" dirty="0"/>
          </a:p>
        </p:txBody>
      </p:sp>
      <p:sp>
        <p:nvSpPr>
          <p:cNvPr id="3" name="Content Placeholder 2"/>
          <p:cNvSpPr>
            <a:spLocks noGrp="1"/>
          </p:cNvSpPr>
          <p:nvPr>
            <p:ph idx="1"/>
          </p:nvPr>
        </p:nvSpPr>
        <p:spPr>
          <a:xfrm>
            <a:off x="762000" y="1752600"/>
            <a:ext cx="8382000" cy="4800600"/>
          </a:xfrm>
        </p:spPr>
        <p:txBody>
          <a:bodyPr/>
          <a:lstStyle/>
          <a:p>
            <a:pPr>
              <a:buNone/>
            </a:pPr>
            <a:r>
              <a:rPr lang="en-US" b="1" dirty="0" smtClean="0"/>
              <a:t>  Electronic </a:t>
            </a:r>
            <a:r>
              <a:rPr lang="en-US" b="1" dirty="0"/>
              <a:t>Commerce</a:t>
            </a:r>
            <a:r>
              <a:rPr lang="en-US" dirty="0"/>
              <a:t>, commonly known as (electronic marketing) </a:t>
            </a:r>
            <a:r>
              <a:rPr lang="en-US" b="1" dirty="0"/>
              <a:t>e-commerce</a:t>
            </a:r>
            <a:r>
              <a:rPr lang="en-US" dirty="0"/>
              <a:t> or </a:t>
            </a:r>
            <a:r>
              <a:rPr lang="en-US" b="1" dirty="0" err="1"/>
              <a:t>eCommerce</a:t>
            </a:r>
            <a:r>
              <a:rPr lang="en-US" dirty="0"/>
              <a:t>, consists of the buying and selling of products or services over electronic systems such as the Internet and other computer networks</a:t>
            </a:r>
            <a:r>
              <a:rPr lang="en-US" dirty="0" smtClean="0"/>
              <a:t>.</a:t>
            </a:r>
          </a:p>
          <a:p>
            <a:pPr>
              <a:buNone/>
            </a:pPr>
            <a:r>
              <a:rPr lang="en-US" dirty="0" smtClean="0"/>
              <a:t>   Simply, e-commerce means doing business   online.</a:t>
            </a:r>
            <a:endParaRPr lang="en-US" dirty="0"/>
          </a:p>
        </p:txBody>
      </p:sp>
    </p:spTree>
    <p:extLst>
      <p:ext uri="{BB962C8B-B14F-4D97-AF65-F5344CB8AC3E}">
        <p14:creationId xmlns:p14="http://schemas.microsoft.com/office/powerpoint/2010/main" xmlns="" val="4151679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e_commerce_man.jpg"/>
          <p:cNvPicPr>
            <a:picLocks noChangeAspect="1"/>
          </p:cNvPicPr>
          <p:nvPr/>
        </p:nvPicPr>
        <p:blipFill>
          <a:blip r:embed="rId2"/>
          <a:stretch>
            <a:fillRect/>
          </a:stretch>
        </p:blipFill>
        <p:spPr>
          <a:xfrm>
            <a:off x="6781801" y="3366052"/>
            <a:ext cx="2362200" cy="3491947"/>
          </a:xfrm>
          <a:prstGeom prst="rect">
            <a:avLst/>
          </a:prstGeom>
        </p:spPr>
      </p:pic>
      <p:sp>
        <p:nvSpPr>
          <p:cNvPr id="3" name="Content Placeholder 2"/>
          <p:cNvSpPr>
            <a:spLocks noGrp="1"/>
          </p:cNvSpPr>
          <p:nvPr>
            <p:ph idx="1"/>
          </p:nvPr>
        </p:nvSpPr>
        <p:spPr>
          <a:xfrm>
            <a:off x="1143000" y="990600"/>
            <a:ext cx="8229600" cy="5715000"/>
          </a:xfrm>
        </p:spPr>
        <p:txBody>
          <a:bodyPr>
            <a:normAutofit fontScale="85000" lnSpcReduction="20000"/>
          </a:bodyPr>
          <a:lstStyle/>
          <a:p>
            <a:pPr>
              <a:buNone/>
            </a:pPr>
            <a:r>
              <a:rPr lang="en-US" dirty="0" smtClean="0"/>
              <a:t>   “ The activity of buying and selling products and services on the web”</a:t>
            </a:r>
          </a:p>
          <a:p>
            <a:pPr>
              <a:buNone/>
            </a:pPr>
            <a:endParaRPr lang="en-US" dirty="0" smtClean="0"/>
          </a:p>
          <a:p>
            <a:pPr>
              <a:buNone/>
            </a:pPr>
            <a:r>
              <a:rPr lang="en-US" sz="5400" dirty="0" smtClean="0">
                <a:solidFill>
                  <a:srgbClr val="00B050"/>
                </a:solidFill>
                <a:latin typeface="Trebuchet MS" pitchFamily="34" charset="0"/>
              </a:rPr>
              <a:t>            </a:t>
            </a:r>
            <a:r>
              <a:rPr lang="en-US" sz="4000" dirty="0" smtClean="0">
                <a:solidFill>
                  <a:srgbClr val="00B050"/>
                </a:solidFill>
                <a:latin typeface="Trebuchet MS" pitchFamily="34" charset="0"/>
              </a:rPr>
              <a:t>                                                          </a:t>
            </a:r>
          </a:p>
          <a:p>
            <a:pPr>
              <a:buNone/>
            </a:pPr>
            <a:r>
              <a:rPr lang="en-US" dirty="0" smtClean="0">
                <a:solidFill>
                  <a:srgbClr val="00B050"/>
                </a:solidFill>
              </a:rPr>
              <a:t>  </a:t>
            </a:r>
            <a:r>
              <a:rPr lang="en-US" dirty="0" smtClean="0"/>
              <a:t> “Using internet technologies to perform any business process”</a:t>
            </a:r>
          </a:p>
          <a:p>
            <a:pPr>
              <a:buNone/>
            </a:pPr>
            <a:endParaRPr lang="en-US" dirty="0" smtClean="0"/>
          </a:p>
          <a:p>
            <a:pPr>
              <a:buNone/>
            </a:pPr>
            <a:r>
              <a:rPr lang="en-US" dirty="0" smtClean="0"/>
              <a:t>E.g. </a:t>
            </a:r>
          </a:p>
          <a:p>
            <a:pPr lvl="1"/>
            <a:r>
              <a:rPr lang="en-US" dirty="0" smtClean="0"/>
              <a:t>Selling goods and services</a:t>
            </a:r>
          </a:p>
          <a:p>
            <a:pPr lvl="1"/>
            <a:r>
              <a:rPr lang="en-US" dirty="0" smtClean="0"/>
              <a:t>Collecting payments</a:t>
            </a:r>
          </a:p>
          <a:p>
            <a:pPr lvl="1"/>
            <a:r>
              <a:rPr lang="en-US" dirty="0" smtClean="0"/>
              <a:t>Ordering materials and supplies</a:t>
            </a:r>
          </a:p>
          <a:p>
            <a:pPr lvl="1"/>
            <a:r>
              <a:rPr lang="en-US" dirty="0" smtClean="0"/>
              <a:t>Hiring personal</a:t>
            </a:r>
          </a:p>
          <a:p>
            <a:pPr lvl="1"/>
            <a:r>
              <a:rPr lang="en-US" dirty="0" smtClean="0"/>
              <a:t>Shipping finished goods to customers</a:t>
            </a:r>
          </a:p>
          <a:p>
            <a:pPr>
              <a:buNone/>
            </a:pPr>
            <a:endParaRPr lang="en-US" dirty="0" smtClean="0"/>
          </a:p>
          <a:p>
            <a:pPr>
              <a:buNone/>
            </a:pPr>
            <a:endParaRPr lang="en-US" sz="4000" dirty="0" smtClean="0">
              <a:latin typeface="Trebuchet MS" pitchFamily="34" charset="0"/>
            </a:endParaRPr>
          </a:p>
          <a:p>
            <a:pPr>
              <a:buNone/>
            </a:pPr>
            <a:endParaRPr lang="en-US" dirty="0" smtClean="0"/>
          </a:p>
          <a:p>
            <a:pPr>
              <a:buNone/>
            </a:pPr>
            <a:endParaRPr lang="en-US" dirty="0" smtClean="0"/>
          </a:p>
          <a:p>
            <a:pPr>
              <a:buNone/>
            </a:pPr>
            <a:endParaRPr lang="en-US" dirty="0"/>
          </a:p>
        </p:txBody>
      </p:sp>
      <p:sp>
        <p:nvSpPr>
          <p:cNvPr id="2" name="Title 1"/>
          <p:cNvSpPr>
            <a:spLocks noGrp="1"/>
          </p:cNvSpPr>
          <p:nvPr>
            <p:ph type="title"/>
          </p:nvPr>
        </p:nvSpPr>
        <p:spPr>
          <a:xfrm>
            <a:off x="1219200" y="0"/>
            <a:ext cx="7498080" cy="1143000"/>
          </a:xfrm>
        </p:spPr>
        <p:txBody>
          <a:bodyPr>
            <a:normAutofit/>
          </a:bodyPr>
          <a:lstStyle/>
          <a:p>
            <a:r>
              <a:rPr lang="en-US" sz="4000" dirty="0" smtClean="0">
                <a:solidFill>
                  <a:schemeClr val="accent3">
                    <a:lumMod val="75000"/>
                  </a:schemeClr>
                </a:solidFill>
                <a:effectLst/>
              </a:rPr>
              <a:t> Narrow definition </a:t>
            </a:r>
            <a:endParaRPr lang="en-US" sz="4000" dirty="0">
              <a:solidFill>
                <a:schemeClr val="accent3">
                  <a:lumMod val="75000"/>
                </a:schemeClr>
              </a:solidFill>
              <a:effectLst/>
            </a:endParaRPr>
          </a:p>
        </p:txBody>
      </p:sp>
      <p:sp>
        <p:nvSpPr>
          <p:cNvPr id="7" name="Rectangle 6"/>
          <p:cNvSpPr/>
          <p:nvPr/>
        </p:nvSpPr>
        <p:spPr>
          <a:xfrm>
            <a:off x="1371600" y="1981200"/>
            <a:ext cx="4076757" cy="646331"/>
          </a:xfrm>
          <a:prstGeom prst="rect">
            <a:avLst/>
          </a:prstGeom>
          <a:noFill/>
        </p:spPr>
        <p:txBody>
          <a:bodyPr wrap="none" lIns="91440" tIns="45720" rIns="91440" bIns="45720">
            <a:spAutoFit/>
          </a:bodyPr>
          <a:lstStyle/>
          <a:p>
            <a:pPr algn="ctr"/>
            <a:r>
              <a:rPr lang="en-US" sz="3600" dirty="0" smtClean="0">
                <a:solidFill>
                  <a:schemeClr val="accent3">
                    <a:lumMod val="75000"/>
                  </a:schemeClr>
                </a:solidFill>
                <a:latin typeface="Trebuchet MS" pitchFamily="34" charset="0"/>
              </a:rPr>
              <a:t>Broad definition    </a:t>
            </a:r>
            <a:endParaRPr lang="en-US" sz="3600" dirty="0">
              <a:solidFill>
                <a:schemeClr val="accent3">
                  <a:lumMod val="75000"/>
                </a:schemeClr>
              </a:solidFill>
            </a:endParaRPr>
          </a:p>
        </p:txBody>
      </p:sp>
    </p:spTree>
    <p:extLst>
      <p:ext uri="{BB962C8B-B14F-4D97-AF65-F5344CB8AC3E}">
        <p14:creationId xmlns:p14="http://schemas.microsoft.com/office/powerpoint/2010/main" xmlns="" val="2922332402"/>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10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1"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1"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checkerboard(across)">
                                      <p:cBhvr>
                                        <p:cTn id="27" dur="1000"/>
                                        <p:tgtEl>
                                          <p:spTgt spid="3">
                                            <p:txEl>
                                              <p:pRg st="5" end="5"/>
                                            </p:txEl>
                                          </p:spTgt>
                                        </p:tgtEl>
                                      </p:cBhvr>
                                    </p:animEffect>
                                  </p:childTnLst>
                                </p:cTn>
                              </p:par>
                              <p:par>
                                <p:cTn id="28" presetID="5" presetClass="entr" presetSubtype="10" fill="hold" grpId="1" nodeType="with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checkerboard(across)">
                                      <p:cBhvr>
                                        <p:cTn id="30" dur="1000"/>
                                        <p:tgtEl>
                                          <p:spTgt spid="3">
                                            <p:txEl>
                                              <p:pRg st="6" end="6"/>
                                            </p:txEl>
                                          </p:spTgt>
                                        </p:tgtEl>
                                      </p:cBhvr>
                                    </p:animEffect>
                                  </p:childTnLst>
                                </p:cTn>
                              </p:par>
                              <p:par>
                                <p:cTn id="31" presetID="5" presetClass="entr" presetSubtype="10" fill="hold" grpId="1"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checkerboard(across)">
                                      <p:cBhvr>
                                        <p:cTn id="33" dur="1000"/>
                                        <p:tgtEl>
                                          <p:spTgt spid="3">
                                            <p:txEl>
                                              <p:pRg st="7" end="7"/>
                                            </p:txEl>
                                          </p:spTgt>
                                        </p:tgtEl>
                                      </p:cBhvr>
                                    </p:animEffect>
                                  </p:childTnLst>
                                </p:cTn>
                              </p:par>
                              <p:par>
                                <p:cTn id="34" presetID="5" presetClass="entr" presetSubtype="10" fill="hold" grpId="1" nodeType="with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checkerboard(across)">
                                      <p:cBhvr>
                                        <p:cTn id="36" dur="1000"/>
                                        <p:tgtEl>
                                          <p:spTgt spid="3">
                                            <p:txEl>
                                              <p:pRg st="8" end="8"/>
                                            </p:txEl>
                                          </p:spTgt>
                                        </p:tgtEl>
                                      </p:cBhvr>
                                    </p:animEffect>
                                  </p:childTnLst>
                                </p:cTn>
                              </p:par>
                              <p:par>
                                <p:cTn id="37" presetID="5" presetClass="entr" presetSubtype="10" fill="hold" grpId="1"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checkerboard(across)">
                                      <p:cBhvr>
                                        <p:cTn id="39" dur="1000"/>
                                        <p:tgtEl>
                                          <p:spTgt spid="3">
                                            <p:txEl>
                                              <p:pRg st="9" end="9"/>
                                            </p:txEl>
                                          </p:spTgt>
                                        </p:tgtEl>
                                      </p:cBhvr>
                                    </p:animEffect>
                                  </p:childTnLst>
                                </p:cTn>
                              </p:par>
                              <p:par>
                                <p:cTn id="40" presetID="5" presetClass="entr" presetSubtype="10" fill="hold" grpId="1" nodeType="with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checkerboard(across)">
                                      <p:cBhvr>
                                        <p:cTn id="42" dur="1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2"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3"/>
          <p:cNvSpPr>
            <a:spLocks noGrp="1"/>
          </p:cNvSpPr>
          <p:nvPr>
            <p:ph type="sldNum" sz="quarter" idx="12"/>
          </p:nvPr>
        </p:nvSpPr>
        <p:spPr/>
        <p:txBody>
          <a:bodyPr/>
          <a:lstStyle/>
          <a:p>
            <a:fld id="{0078B174-76D0-49D9-8E46-6D20CC67EA90}" type="slidenum">
              <a:rPr lang="en-US"/>
              <a:pPr/>
              <a:t>4</a:t>
            </a:fld>
            <a:endParaRPr lang="en-US"/>
          </a:p>
        </p:txBody>
      </p:sp>
      <p:sp>
        <p:nvSpPr>
          <p:cNvPr id="732168" name="Rectangle 8"/>
          <p:cNvSpPr>
            <a:spLocks noGrp="1" noChangeArrowheads="1"/>
          </p:cNvSpPr>
          <p:nvPr>
            <p:ph type="title" idx="4294967295"/>
          </p:nvPr>
        </p:nvSpPr>
        <p:spPr>
          <a:xfrm>
            <a:off x="990600" y="304800"/>
            <a:ext cx="7772400" cy="1143000"/>
          </a:xfrm>
        </p:spPr>
        <p:txBody>
          <a:bodyPr/>
          <a:lstStyle/>
          <a:p>
            <a:r>
              <a:rPr lang="en-US" dirty="0"/>
              <a:t>Electronic commerce</a:t>
            </a:r>
          </a:p>
        </p:txBody>
      </p:sp>
      <p:sp>
        <p:nvSpPr>
          <p:cNvPr id="732162" name="Rectangle 2"/>
          <p:cNvSpPr>
            <a:spLocks noChangeArrowheads="1"/>
          </p:cNvSpPr>
          <p:nvPr/>
        </p:nvSpPr>
        <p:spPr bwMode="auto">
          <a:xfrm>
            <a:off x="762000" y="1447800"/>
            <a:ext cx="7391400" cy="76200"/>
          </a:xfrm>
          <a:prstGeom prst="rect">
            <a:avLst/>
          </a:prstGeom>
          <a:solidFill>
            <a:schemeClr val="accent2"/>
          </a:solidFill>
          <a:ln w="9525">
            <a:noFill/>
            <a:miter lim="800000"/>
            <a:headEnd/>
            <a:tailEnd/>
          </a:ln>
          <a:effectLst/>
        </p:spPr>
        <p:txBody>
          <a:bodyPr wrap="none" anchor="ctr"/>
          <a:lstStyle/>
          <a:p>
            <a:endParaRPr lang="en-US"/>
          </a:p>
        </p:txBody>
      </p:sp>
      <p:sp>
        <p:nvSpPr>
          <p:cNvPr id="732163" name="Rectangle 3"/>
          <p:cNvSpPr>
            <a:spLocks noChangeArrowheads="1"/>
          </p:cNvSpPr>
          <p:nvPr/>
        </p:nvSpPr>
        <p:spPr bwMode="auto">
          <a:xfrm>
            <a:off x="685800" y="609600"/>
            <a:ext cx="7772400" cy="1143000"/>
          </a:xfrm>
          <a:prstGeom prst="rect">
            <a:avLst/>
          </a:prstGeom>
          <a:noFill/>
          <a:ln w="9525">
            <a:noFill/>
            <a:miter lim="800000"/>
            <a:headEnd/>
            <a:tailEnd/>
          </a:ln>
          <a:effectLst/>
        </p:spPr>
        <p:txBody>
          <a:bodyPr anchor="ctr"/>
          <a:lstStyle/>
          <a:p>
            <a:pPr algn="ctr"/>
            <a:endParaRPr lang="en-US" sz="4400">
              <a:solidFill>
                <a:schemeClr val="tx2"/>
              </a:solidFill>
            </a:endParaRPr>
          </a:p>
        </p:txBody>
      </p:sp>
      <p:sp>
        <p:nvSpPr>
          <p:cNvPr id="732164" name="Rectangle 4"/>
          <p:cNvSpPr>
            <a:spLocks noChangeArrowheads="1"/>
          </p:cNvSpPr>
          <p:nvPr/>
        </p:nvSpPr>
        <p:spPr bwMode="auto">
          <a:xfrm>
            <a:off x="685800" y="609600"/>
            <a:ext cx="7772400" cy="1143000"/>
          </a:xfrm>
          <a:prstGeom prst="rect">
            <a:avLst/>
          </a:prstGeom>
          <a:noFill/>
          <a:ln w="9525">
            <a:noFill/>
            <a:miter lim="800000"/>
            <a:headEnd/>
            <a:tailEnd/>
          </a:ln>
          <a:effectLst/>
        </p:spPr>
        <p:txBody>
          <a:bodyPr anchor="ctr"/>
          <a:lstStyle/>
          <a:p>
            <a:pPr algn="ctr"/>
            <a:endParaRPr lang="en-US" sz="4400">
              <a:solidFill>
                <a:schemeClr val="tx2"/>
              </a:solidFill>
            </a:endParaRPr>
          </a:p>
        </p:txBody>
      </p:sp>
      <p:sp>
        <p:nvSpPr>
          <p:cNvPr id="732165" name="Rectangle 5"/>
          <p:cNvSpPr>
            <a:spLocks noChangeArrowheads="1"/>
          </p:cNvSpPr>
          <p:nvPr/>
        </p:nvSpPr>
        <p:spPr bwMode="auto">
          <a:xfrm>
            <a:off x="685800" y="609600"/>
            <a:ext cx="7772400" cy="1143000"/>
          </a:xfrm>
          <a:prstGeom prst="rect">
            <a:avLst/>
          </a:prstGeom>
          <a:noFill/>
          <a:ln w="9525">
            <a:noFill/>
            <a:miter lim="800000"/>
            <a:headEnd/>
            <a:tailEnd/>
          </a:ln>
          <a:effectLst/>
        </p:spPr>
        <p:txBody>
          <a:bodyPr anchor="ctr"/>
          <a:lstStyle/>
          <a:p>
            <a:pPr algn="ctr"/>
            <a:endParaRPr lang="en-US" sz="4400">
              <a:solidFill>
                <a:schemeClr val="tx2"/>
              </a:solidFill>
            </a:endParaRPr>
          </a:p>
        </p:txBody>
      </p:sp>
      <p:sp>
        <p:nvSpPr>
          <p:cNvPr id="732166" name="Rectangle 6"/>
          <p:cNvSpPr>
            <a:spLocks noChangeArrowheads="1"/>
          </p:cNvSpPr>
          <p:nvPr/>
        </p:nvSpPr>
        <p:spPr bwMode="auto">
          <a:xfrm>
            <a:off x="685800" y="609600"/>
            <a:ext cx="7772400" cy="1143000"/>
          </a:xfrm>
          <a:prstGeom prst="rect">
            <a:avLst/>
          </a:prstGeom>
          <a:noFill/>
          <a:ln w="9525">
            <a:noFill/>
            <a:miter lim="800000"/>
            <a:headEnd/>
            <a:tailEnd/>
          </a:ln>
          <a:effectLst/>
        </p:spPr>
        <p:txBody>
          <a:bodyPr anchor="ctr"/>
          <a:lstStyle/>
          <a:p>
            <a:pPr algn="ctr"/>
            <a:endParaRPr lang="en-US" sz="4400">
              <a:solidFill>
                <a:schemeClr val="tx2"/>
              </a:solidFill>
            </a:endParaRPr>
          </a:p>
        </p:txBody>
      </p:sp>
      <p:sp>
        <p:nvSpPr>
          <p:cNvPr id="732167" name="Text Box 7"/>
          <p:cNvSpPr txBox="1">
            <a:spLocks noChangeArrowheads="1"/>
          </p:cNvSpPr>
          <p:nvPr/>
        </p:nvSpPr>
        <p:spPr bwMode="auto">
          <a:xfrm>
            <a:off x="822325" y="1524000"/>
            <a:ext cx="307975" cy="519113"/>
          </a:xfrm>
          <a:prstGeom prst="rect">
            <a:avLst/>
          </a:prstGeom>
          <a:noFill/>
          <a:ln w="38100">
            <a:noFill/>
            <a:miter lim="800000"/>
            <a:headEnd/>
            <a:tailEnd/>
          </a:ln>
          <a:effectLst/>
        </p:spPr>
        <p:txBody>
          <a:bodyPr wrap="none">
            <a:spAutoFit/>
          </a:bodyPr>
          <a:lstStyle/>
          <a:p>
            <a:pPr eaLnBrk="0" hangingPunct="0">
              <a:buFontTx/>
              <a:buChar char="•"/>
            </a:pPr>
            <a:endParaRPr lang="en-US" sz="2800"/>
          </a:p>
        </p:txBody>
      </p:sp>
      <p:sp>
        <p:nvSpPr>
          <p:cNvPr id="732169" name="Text Box 9"/>
          <p:cNvSpPr txBox="1">
            <a:spLocks noChangeArrowheads="1"/>
          </p:cNvSpPr>
          <p:nvPr/>
        </p:nvSpPr>
        <p:spPr bwMode="auto">
          <a:xfrm>
            <a:off x="685800" y="1600200"/>
            <a:ext cx="8458200" cy="6124754"/>
          </a:xfrm>
          <a:prstGeom prst="rect">
            <a:avLst/>
          </a:prstGeom>
          <a:noFill/>
          <a:ln w="38100">
            <a:noFill/>
            <a:miter lim="800000"/>
            <a:headEnd/>
            <a:tailEnd/>
          </a:ln>
          <a:effectLst/>
        </p:spPr>
        <p:txBody>
          <a:bodyPr wrap="square">
            <a:spAutoFit/>
          </a:bodyPr>
          <a:lstStyle/>
          <a:p>
            <a:pPr eaLnBrk="0" hangingPunct="0">
              <a:buFontTx/>
              <a:buChar char="•"/>
            </a:pPr>
            <a:r>
              <a:rPr lang="en-US" sz="2800" dirty="0"/>
              <a:t> An Web server handles Web pages whereas an </a:t>
            </a:r>
          </a:p>
          <a:p>
            <a:pPr lvl="1" eaLnBrk="0" hangingPunct="0"/>
            <a:r>
              <a:rPr lang="en-US" sz="2800" dirty="0"/>
              <a:t>e-commerce server deals with the buying and</a:t>
            </a:r>
          </a:p>
          <a:p>
            <a:pPr lvl="1" eaLnBrk="0" hangingPunct="0"/>
            <a:r>
              <a:rPr lang="en-US" sz="2800" dirty="0"/>
              <a:t>selling of goods and services.</a:t>
            </a:r>
          </a:p>
          <a:p>
            <a:pPr eaLnBrk="0" hangingPunct="0">
              <a:buFontTx/>
              <a:buChar char="•"/>
            </a:pPr>
            <a:r>
              <a:rPr lang="en-US" sz="2800" dirty="0"/>
              <a:t> A Web server should handle e-commerce software</a:t>
            </a:r>
          </a:p>
          <a:p>
            <a:pPr lvl="1" eaLnBrk="0" hangingPunct="0"/>
            <a:r>
              <a:rPr lang="en-US" sz="2800" dirty="0"/>
              <a:t>since this simplifies adding e-commerce features</a:t>
            </a:r>
          </a:p>
          <a:p>
            <a:pPr lvl="1" eaLnBrk="0" hangingPunct="0"/>
            <a:r>
              <a:rPr lang="en-US" sz="2800" dirty="0"/>
              <a:t>to existing sites</a:t>
            </a:r>
            <a:r>
              <a:rPr lang="en-US" sz="2800" dirty="0" smtClean="0"/>
              <a:t>.</a:t>
            </a:r>
          </a:p>
          <a:p>
            <a:pPr lvl="1" eaLnBrk="0" hangingPunct="0"/>
            <a:endParaRPr lang="en-US" sz="2800" dirty="0"/>
          </a:p>
          <a:p>
            <a:pPr lvl="1" eaLnBrk="0" hangingPunct="0"/>
            <a:r>
              <a:rPr lang="en-US" sz="2800" dirty="0" smtClean="0"/>
              <a:t>E.g. </a:t>
            </a:r>
          </a:p>
          <a:p>
            <a:pPr lvl="3">
              <a:buFont typeface="Arial" pitchFamily="34" charset="0"/>
              <a:buChar char="•"/>
            </a:pPr>
            <a:r>
              <a:rPr lang="en-US" sz="2800" dirty="0" smtClean="0"/>
              <a:t>Amazon.com</a:t>
            </a:r>
          </a:p>
          <a:p>
            <a:pPr lvl="3">
              <a:buFont typeface="Arial" pitchFamily="34" charset="0"/>
              <a:buChar char="•"/>
            </a:pPr>
            <a:r>
              <a:rPr lang="en-US" sz="2800" dirty="0" smtClean="0"/>
              <a:t>Business.com</a:t>
            </a:r>
          </a:p>
          <a:p>
            <a:pPr lvl="3">
              <a:buFont typeface="Arial" pitchFamily="34" charset="0"/>
              <a:buChar char="•"/>
            </a:pPr>
            <a:r>
              <a:rPr lang="en-US" sz="2800" dirty="0" smtClean="0"/>
              <a:t>seibei.com</a:t>
            </a:r>
          </a:p>
          <a:p>
            <a:pPr lvl="3">
              <a:buFont typeface="Arial" pitchFamily="34" charset="0"/>
              <a:buChar char="•"/>
            </a:pPr>
            <a:r>
              <a:rPr lang="en-US" sz="2800" dirty="0" smtClean="0"/>
              <a:t>ebay.com</a:t>
            </a:r>
            <a:r>
              <a:rPr lang="en-US" sz="2800" i="1" dirty="0" smtClean="0"/>
              <a:t>		etc.</a:t>
            </a:r>
            <a:endParaRPr lang="en-US" sz="2800" dirty="0" smtClean="0"/>
          </a:p>
          <a:p>
            <a:pPr lvl="1" eaLnBrk="0" hangingPunct="0"/>
            <a:endParaRPr lang="en-US" sz="2800" dirty="0" smtClean="0"/>
          </a:p>
          <a:p>
            <a:pPr lvl="1" eaLnBrk="0" hangingPunct="0"/>
            <a:endParaRPr lang="en-US" sz="2800" dirty="0" smtClean="0"/>
          </a:p>
        </p:txBody>
      </p:sp>
    </p:spTree>
    <p:extLst>
      <p:ext uri="{BB962C8B-B14F-4D97-AF65-F5344CB8AC3E}">
        <p14:creationId xmlns:p14="http://schemas.microsoft.com/office/powerpoint/2010/main" xmlns="" val="4060254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9"/>
          <p:cNvSpPr txBox="1">
            <a:spLocks noChangeArrowheads="1"/>
          </p:cNvSpPr>
          <p:nvPr/>
        </p:nvSpPr>
        <p:spPr bwMode="auto">
          <a:xfrm>
            <a:off x="914400" y="609600"/>
            <a:ext cx="8458200" cy="6124754"/>
          </a:xfrm>
          <a:prstGeom prst="rect">
            <a:avLst/>
          </a:prstGeom>
          <a:noFill/>
          <a:ln w="38100">
            <a:noFill/>
            <a:miter lim="800000"/>
            <a:headEnd/>
            <a:tailEnd/>
          </a:ln>
          <a:effectLst/>
        </p:spPr>
        <p:txBody>
          <a:bodyPr wrap="square">
            <a:spAutoFit/>
          </a:bodyPr>
          <a:lstStyle/>
          <a:p>
            <a:pPr lvl="1" eaLnBrk="0" hangingPunct="0"/>
            <a:endParaRPr lang="en-US" sz="2800" dirty="0"/>
          </a:p>
          <a:p>
            <a:pPr lvl="1" eaLnBrk="0" hangingPunct="0">
              <a:buFontTx/>
              <a:buChar char="•"/>
            </a:pPr>
            <a:r>
              <a:rPr lang="en-US" sz="2800" dirty="0"/>
              <a:t> </a:t>
            </a:r>
            <a:r>
              <a:rPr lang="en-US" sz="2800" dirty="0" smtClean="0"/>
              <a:t>  Creation of graphics</a:t>
            </a:r>
          </a:p>
          <a:p>
            <a:pPr lvl="1" eaLnBrk="0" hangingPunct="0">
              <a:buFontTx/>
              <a:buChar char="•"/>
            </a:pPr>
            <a:r>
              <a:rPr lang="en-US" sz="2800" dirty="0"/>
              <a:t> </a:t>
            </a:r>
            <a:r>
              <a:rPr lang="en-US" sz="2800" dirty="0" smtClean="0"/>
              <a:t>  Product information</a:t>
            </a:r>
          </a:p>
          <a:p>
            <a:pPr lvl="1" eaLnBrk="0" hangingPunct="0">
              <a:buFontTx/>
              <a:buChar char="•"/>
            </a:pPr>
            <a:r>
              <a:rPr lang="en-US" sz="2800" dirty="0"/>
              <a:t> </a:t>
            </a:r>
            <a:r>
              <a:rPr lang="en-US" sz="2800" dirty="0" smtClean="0"/>
              <a:t>  </a:t>
            </a:r>
            <a:r>
              <a:rPr lang="en-US" sz="2800" dirty="0"/>
              <a:t>A</a:t>
            </a:r>
            <a:r>
              <a:rPr lang="en-US" sz="2800" dirty="0" smtClean="0"/>
              <a:t>ddition of new products</a:t>
            </a:r>
          </a:p>
          <a:p>
            <a:pPr lvl="1" eaLnBrk="0" hangingPunct="0">
              <a:buFontTx/>
              <a:buChar char="•"/>
            </a:pPr>
            <a:r>
              <a:rPr lang="en-US" sz="2800" dirty="0"/>
              <a:t> </a:t>
            </a:r>
            <a:r>
              <a:rPr lang="en-US" sz="2800" dirty="0" smtClean="0"/>
              <a:t>  Shopping carts</a:t>
            </a:r>
          </a:p>
          <a:p>
            <a:pPr lvl="1" eaLnBrk="0" hangingPunct="0">
              <a:buFontTx/>
              <a:buChar char="•"/>
            </a:pPr>
            <a:r>
              <a:rPr lang="en-US" sz="2800" dirty="0"/>
              <a:t> </a:t>
            </a:r>
            <a:r>
              <a:rPr lang="en-US" sz="2800" dirty="0" smtClean="0"/>
              <a:t>  Credit card processing</a:t>
            </a:r>
          </a:p>
          <a:p>
            <a:pPr lvl="1" eaLnBrk="0" hangingPunct="0">
              <a:buFontTx/>
              <a:buChar char="•"/>
            </a:pPr>
            <a:r>
              <a:rPr lang="en-US" sz="2800" dirty="0"/>
              <a:t> </a:t>
            </a:r>
            <a:r>
              <a:rPr lang="en-US" sz="2800" dirty="0" smtClean="0"/>
              <a:t>  Sales report generation</a:t>
            </a:r>
          </a:p>
          <a:p>
            <a:pPr lvl="1" eaLnBrk="0" hangingPunct="0">
              <a:buFontTx/>
              <a:buChar char="•"/>
            </a:pPr>
            <a:r>
              <a:rPr lang="en-US" sz="2800" dirty="0" smtClean="0"/>
              <a:t>   Rich User Accounts </a:t>
            </a:r>
          </a:p>
          <a:p>
            <a:pPr lvl="1" eaLnBrk="0" hangingPunct="0">
              <a:buFontTx/>
              <a:buChar char="•"/>
            </a:pPr>
            <a:r>
              <a:rPr lang="en-US" sz="2800" dirty="0"/>
              <a:t> </a:t>
            </a:r>
            <a:r>
              <a:rPr lang="en-US" sz="2800" dirty="0" smtClean="0"/>
              <a:t>  Product Comparison</a:t>
            </a:r>
          </a:p>
          <a:p>
            <a:pPr lvl="1" eaLnBrk="0" hangingPunct="0">
              <a:buFontTx/>
              <a:buChar char="•"/>
            </a:pPr>
            <a:r>
              <a:rPr lang="en-US" sz="2800" dirty="0"/>
              <a:t> </a:t>
            </a:r>
            <a:r>
              <a:rPr lang="en-US" sz="2800" dirty="0" smtClean="0"/>
              <a:t>  Product Image Zoom-in Capability</a:t>
            </a:r>
          </a:p>
          <a:p>
            <a:pPr lvl="1" eaLnBrk="0" hangingPunct="0">
              <a:buFontTx/>
              <a:buChar char="•"/>
            </a:pPr>
            <a:r>
              <a:rPr lang="en-US" sz="2800" dirty="0"/>
              <a:t> </a:t>
            </a:r>
            <a:r>
              <a:rPr lang="en-US" sz="2800" dirty="0" smtClean="0"/>
              <a:t>   Versatile Shipping Options</a:t>
            </a:r>
          </a:p>
          <a:p>
            <a:pPr lvl="1" eaLnBrk="0" hangingPunct="0">
              <a:buFontTx/>
              <a:buChar char="•"/>
            </a:pPr>
            <a:r>
              <a:rPr lang="en-US" sz="2800" dirty="0"/>
              <a:t> </a:t>
            </a:r>
            <a:r>
              <a:rPr lang="en-US" sz="2800" dirty="0" smtClean="0"/>
              <a:t>   Advanced Marketing and Promotions Tools</a:t>
            </a:r>
          </a:p>
          <a:p>
            <a:pPr lvl="1">
              <a:buFont typeface="Arial" pitchFamily="34" charset="0"/>
              <a:buChar char="•"/>
            </a:pPr>
            <a:r>
              <a:rPr lang="en-US" sz="2800" dirty="0" smtClean="0"/>
              <a:t>    Analytics and Reporting</a:t>
            </a:r>
          </a:p>
          <a:p>
            <a:pPr lvl="1">
              <a:buFont typeface="Arial" pitchFamily="34" charset="0"/>
              <a:buChar char="•"/>
            </a:pPr>
            <a:r>
              <a:rPr lang="en-US" sz="2800" dirty="0" smtClean="0"/>
              <a:t>    Multiple Images Per Product</a:t>
            </a:r>
          </a:p>
        </p:txBody>
      </p:sp>
      <p:sp>
        <p:nvSpPr>
          <p:cNvPr id="3" name="Title 1"/>
          <p:cNvSpPr txBox="1">
            <a:spLocks/>
          </p:cNvSpPr>
          <p:nvPr/>
        </p:nvSpPr>
        <p:spPr>
          <a:xfrm>
            <a:off x="1219200" y="228600"/>
            <a:ext cx="7924800" cy="1143000"/>
          </a:xfrm>
          <a:prstGeom prst="rect">
            <a:avLst/>
          </a:prstGeom>
        </p:spPr>
        <p:txBody>
          <a:bodyPr/>
          <a:lstStyle/>
          <a:p>
            <a:pPr>
              <a:spcBef>
                <a:spcPct val="0"/>
              </a:spcBef>
            </a:pPr>
            <a:r>
              <a:rPr lang="en-US" sz="4000" b="1" i="1" dirty="0" smtClean="0">
                <a:solidFill>
                  <a:schemeClr val="accent3">
                    <a:lumMod val="75000"/>
                  </a:schemeClr>
                </a:solidFill>
              </a:rPr>
              <a:t>Features </a:t>
            </a:r>
            <a:r>
              <a:rPr lang="en-US" sz="4000" dirty="0">
                <a:solidFill>
                  <a:schemeClr val="accent3">
                    <a:lumMod val="75000"/>
                  </a:schemeClr>
                </a:solidFill>
                <a:effectLst>
                  <a:outerShdw blurRad="50000" dist="30000" dir="5400000" algn="tl" rotWithShape="0">
                    <a:srgbClr val="000000">
                      <a:alpha val="30000"/>
                    </a:srgbClr>
                  </a:outerShdw>
                </a:effectLst>
              </a:rPr>
              <a:t>of Ecommerce Web Sites</a:t>
            </a:r>
          </a:p>
          <a:p>
            <a:pPr lvl="0">
              <a:spcBef>
                <a:spcPct val="0"/>
              </a:spcBef>
            </a:pPr>
            <a:endParaRPr kumimoji="0" lang="en-US" sz="4300" b="0" i="0" u="none" strike="noStrike" kern="1200" cap="none" spc="0" normalizeH="0" baseline="0" noProof="0" dirty="0">
              <a:ln>
                <a:noFill/>
              </a:ln>
              <a:solidFill>
                <a:schemeClr val="accent3">
                  <a:lumMod val="75000"/>
                </a:schemeClr>
              </a:solidFill>
              <a:effectLst>
                <a:outerShdw blurRad="50000" dist="30000" dir="5400000" algn="tl" rotWithShape="0">
                  <a:srgbClr val="000000">
                    <a:alpha val="30000"/>
                  </a:srgbClr>
                </a:outerShdw>
              </a:effectLst>
              <a:uLnTx/>
              <a:uFillTx/>
              <a:latin typeface="+mj-lt"/>
              <a:ea typeface="+mj-ea"/>
              <a:cs typeface="+mj-cs"/>
            </a:endParaRPr>
          </a:p>
        </p:txBody>
      </p:sp>
    </p:spTree>
    <p:extLst>
      <p:ext uri="{BB962C8B-B14F-4D97-AF65-F5344CB8AC3E}">
        <p14:creationId xmlns:p14="http://schemas.microsoft.com/office/powerpoint/2010/main" xmlns="" val="1323152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ecommerce_process.jpg"/>
          <p:cNvPicPr>
            <a:picLocks noGrp="1" noChangeAspect="1"/>
          </p:cNvPicPr>
          <p:nvPr>
            <p:ph idx="1"/>
          </p:nvPr>
        </p:nvPicPr>
        <p:blipFill>
          <a:blip r:embed="rId2"/>
          <a:stretch>
            <a:fillRect/>
          </a:stretch>
        </p:blipFill>
        <p:spPr>
          <a:xfrm>
            <a:off x="10732" y="1219200"/>
            <a:ext cx="9133268" cy="5638800"/>
          </a:xfrm>
        </p:spPr>
      </p:pic>
      <p:sp>
        <p:nvSpPr>
          <p:cNvPr id="3" name="Title 2"/>
          <p:cNvSpPr>
            <a:spLocks noGrp="1"/>
          </p:cNvSpPr>
          <p:nvPr>
            <p:ph type="title"/>
          </p:nvPr>
        </p:nvSpPr>
        <p:spPr>
          <a:xfrm>
            <a:off x="914400" y="80749"/>
            <a:ext cx="8019288" cy="1143000"/>
          </a:xfrm>
        </p:spPr>
        <p:txBody>
          <a:bodyPr>
            <a:normAutofit/>
          </a:bodyPr>
          <a:lstStyle/>
          <a:p>
            <a:pPr algn="ctr"/>
            <a:r>
              <a:rPr lang="en-US" sz="6000" dirty="0" smtClean="0">
                <a:solidFill>
                  <a:schemeClr val="tx1"/>
                </a:solidFill>
                <a:effectLst/>
                <a:latin typeface="Calibri" pitchFamily="34" charset="0"/>
                <a:cs typeface="Calibri" pitchFamily="34" charset="0"/>
              </a:rPr>
              <a:t>E-Commerce Process</a:t>
            </a:r>
            <a:endParaRPr lang="en-US" sz="6000" dirty="0">
              <a:solidFill>
                <a:schemeClr val="tx1"/>
              </a:solidFill>
              <a:effectLst/>
              <a:latin typeface="Calibri" pitchFamily="34" charset="0"/>
              <a:cs typeface="Calibri" pitchFamily="34" charset="0"/>
            </a:endParaRPr>
          </a:p>
        </p:txBody>
      </p:sp>
    </p:spTree>
    <p:extLst>
      <p:ext uri="{BB962C8B-B14F-4D97-AF65-F5344CB8AC3E}">
        <p14:creationId xmlns:p14="http://schemas.microsoft.com/office/powerpoint/2010/main" xmlns="" val="2035613793"/>
      </p:ext>
    </p:extLst>
  </p:cSld>
  <p:clrMapOvr>
    <a:masterClrMapping/>
  </p:clrMapOvr>
  <p:transition>
    <p:wipe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0"/>
            <a:ext cx="7498080" cy="1143000"/>
          </a:xfrm>
        </p:spPr>
        <p:txBody>
          <a:bodyPr>
            <a:normAutofit/>
          </a:bodyPr>
          <a:lstStyle/>
          <a:p>
            <a:r>
              <a:rPr lang="en-US" b="1" dirty="0" smtClean="0"/>
              <a:t>Business applications</a:t>
            </a:r>
            <a:endParaRPr lang="en-US" dirty="0"/>
          </a:p>
        </p:txBody>
      </p:sp>
      <p:sp>
        <p:nvSpPr>
          <p:cNvPr id="3" name="Content Placeholder 2"/>
          <p:cNvSpPr>
            <a:spLocks noGrp="1"/>
          </p:cNvSpPr>
          <p:nvPr>
            <p:ph idx="1"/>
          </p:nvPr>
        </p:nvSpPr>
        <p:spPr>
          <a:xfrm>
            <a:off x="1066800" y="1143000"/>
            <a:ext cx="8077200" cy="5334000"/>
          </a:xfrm>
        </p:spPr>
        <p:txBody>
          <a:bodyPr>
            <a:normAutofit fontScale="92500" lnSpcReduction="10000"/>
          </a:bodyPr>
          <a:lstStyle/>
          <a:p>
            <a:pPr>
              <a:buNone/>
            </a:pPr>
            <a:r>
              <a:rPr lang="en-US" dirty="0" smtClean="0"/>
              <a:t>Some </a:t>
            </a:r>
            <a:r>
              <a:rPr lang="en-US" dirty="0"/>
              <a:t>common applications related to electronic </a:t>
            </a:r>
            <a:r>
              <a:rPr lang="en-US" dirty="0" smtClean="0"/>
              <a:t>commerce are :</a:t>
            </a:r>
            <a:endParaRPr lang="en-US" dirty="0"/>
          </a:p>
          <a:p>
            <a:pPr lvl="2"/>
            <a:r>
              <a:rPr lang="en-US" dirty="0" smtClean="0"/>
              <a:t>Email</a:t>
            </a:r>
            <a:endParaRPr lang="en-US" dirty="0"/>
          </a:p>
          <a:p>
            <a:pPr lvl="2"/>
            <a:r>
              <a:rPr lang="en-US" dirty="0"/>
              <a:t>Enterprise content management</a:t>
            </a:r>
          </a:p>
          <a:p>
            <a:pPr lvl="2"/>
            <a:r>
              <a:rPr lang="en-US" dirty="0"/>
              <a:t>Instant messaging</a:t>
            </a:r>
          </a:p>
          <a:p>
            <a:pPr lvl="2"/>
            <a:r>
              <a:rPr lang="en-US" dirty="0"/>
              <a:t>Newsgroups</a:t>
            </a:r>
          </a:p>
          <a:p>
            <a:pPr lvl="2"/>
            <a:r>
              <a:rPr lang="en-US" dirty="0"/>
              <a:t>Online shopping </a:t>
            </a:r>
            <a:r>
              <a:rPr lang="en-US" dirty="0" smtClean="0"/>
              <a:t> and </a:t>
            </a:r>
            <a:r>
              <a:rPr lang="en-US" dirty="0"/>
              <a:t>order tracking</a:t>
            </a:r>
          </a:p>
          <a:p>
            <a:pPr lvl="2"/>
            <a:r>
              <a:rPr lang="en-US" dirty="0"/>
              <a:t>Online banking</a:t>
            </a:r>
          </a:p>
          <a:p>
            <a:pPr lvl="2"/>
            <a:r>
              <a:rPr lang="en-US" dirty="0"/>
              <a:t>Online office suites</a:t>
            </a:r>
          </a:p>
          <a:p>
            <a:pPr lvl="2"/>
            <a:r>
              <a:rPr lang="en-US" dirty="0"/>
              <a:t>Domestic and international payment systems</a:t>
            </a:r>
          </a:p>
          <a:p>
            <a:pPr lvl="2"/>
            <a:r>
              <a:rPr lang="en-US" dirty="0"/>
              <a:t>Shopping cart software</a:t>
            </a:r>
          </a:p>
          <a:p>
            <a:pPr lvl="2"/>
            <a:r>
              <a:rPr lang="en-US" dirty="0"/>
              <a:t>Teleconferencing</a:t>
            </a:r>
          </a:p>
          <a:p>
            <a:pPr lvl="2"/>
            <a:r>
              <a:rPr lang="en-US" dirty="0"/>
              <a:t>Electronic tickets</a:t>
            </a:r>
          </a:p>
        </p:txBody>
      </p:sp>
    </p:spTree>
    <p:extLst>
      <p:ext uri="{BB962C8B-B14F-4D97-AF65-F5344CB8AC3E}">
        <p14:creationId xmlns:p14="http://schemas.microsoft.com/office/powerpoint/2010/main" xmlns="" val="2419731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fontScale="90000"/>
          </a:bodyPr>
          <a:lstStyle/>
          <a:p>
            <a:r>
              <a:rPr lang="en-GB" b="1" dirty="0" smtClean="0">
                <a:solidFill>
                  <a:schemeClr val="accent5">
                    <a:lumMod val="75000"/>
                  </a:schemeClr>
                </a:solidFill>
              </a:rPr>
              <a:t>Internet commerce</a:t>
            </a:r>
            <a:r>
              <a:rPr lang="en-US" dirty="0" smtClean="0">
                <a:solidFill>
                  <a:schemeClr val="accent5">
                    <a:lumMod val="75000"/>
                  </a:schemeClr>
                </a:solidFill>
              </a:rPr>
              <a:t/>
            </a:r>
            <a:br>
              <a:rPr lang="en-US" dirty="0" smtClean="0">
                <a:solidFill>
                  <a:schemeClr val="accent5">
                    <a:lumMod val="75000"/>
                  </a:schemeClr>
                </a:solidFill>
              </a:rPr>
            </a:br>
            <a:endParaRPr lang="en-US" dirty="0">
              <a:solidFill>
                <a:schemeClr val="accent5">
                  <a:lumMod val="75000"/>
                </a:schemeClr>
              </a:solidFill>
            </a:endParaRPr>
          </a:p>
        </p:txBody>
      </p:sp>
      <p:sp>
        <p:nvSpPr>
          <p:cNvPr id="3" name="Content Placeholder 2"/>
          <p:cNvSpPr>
            <a:spLocks noGrp="1"/>
          </p:cNvSpPr>
          <p:nvPr>
            <p:ph idx="1"/>
          </p:nvPr>
        </p:nvSpPr>
        <p:spPr>
          <a:xfrm>
            <a:off x="304800" y="1066800"/>
            <a:ext cx="8229600" cy="5486400"/>
          </a:xfrm>
        </p:spPr>
        <p:txBody>
          <a:bodyPr>
            <a:normAutofit fontScale="70000" lnSpcReduction="20000"/>
          </a:bodyPr>
          <a:lstStyle/>
          <a:p>
            <a:pPr lvl="0"/>
            <a:r>
              <a:rPr lang="en-GB" dirty="0" smtClean="0"/>
              <a:t>Information </a:t>
            </a:r>
            <a:r>
              <a:rPr lang="en-GB" dirty="0"/>
              <a:t>and communications technologies can also be used to advertise and make once-off sales of a wide range of goods and services.</a:t>
            </a:r>
            <a:endParaRPr lang="en-US" dirty="0"/>
          </a:p>
          <a:p>
            <a:pPr lvl="0"/>
            <a:r>
              <a:rPr lang="en-GB" dirty="0"/>
              <a:t>This type of e-Commerce is typified by the commercial use of the Internet.  The Internet can, for example, be used for the purchase of books that are then delivered by post or the booking of tickets that can be picked up by the clients when they arrive at the event.</a:t>
            </a:r>
            <a:endParaRPr lang="en-US" dirty="0"/>
          </a:p>
          <a:p>
            <a:pPr lvl="0"/>
            <a:r>
              <a:rPr lang="en-GB" dirty="0"/>
              <a:t>It is to be noted that the Internet is not the only technology used for this type of service and this is not the only use of the Internet in e-Commerce.</a:t>
            </a:r>
            <a:endParaRPr lang="en-US" dirty="0"/>
          </a:p>
          <a:p>
            <a:pPr lvl="0"/>
            <a:r>
              <a:rPr lang="en-GB" dirty="0" smtClean="0">
                <a:ea typeface="+mn-ea"/>
              </a:rPr>
              <a:t>The basic Internet elements used</a:t>
            </a:r>
          </a:p>
          <a:p>
            <a:pPr lvl="0">
              <a:buNone/>
            </a:pPr>
            <a:r>
              <a:rPr lang="en-GB" dirty="0" smtClean="0"/>
              <a:t>    </a:t>
            </a:r>
            <a:r>
              <a:rPr lang="en-GB" dirty="0" smtClean="0">
                <a:ea typeface="+mn-ea"/>
              </a:rPr>
              <a:t> for e-Commerce are:</a:t>
            </a:r>
            <a:r>
              <a:rPr lang="en-US" dirty="0" smtClean="0"/>
              <a:t> </a:t>
            </a:r>
          </a:p>
          <a:p>
            <a:pPr lvl="1">
              <a:buFont typeface="Wingdings" pitchFamily="2" charset="2"/>
              <a:buChar char="Ø"/>
            </a:pPr>
            <a:r>
              <a:rPr lang="en-GB" dirty="0" smtClean="0"/>
              <a:t>The </a:t>
            </a:r>
            <a:r>
              <a:rPr lang="en-GB" dirty="0"/>
              <a:t>client system using a </a:t>
            </a:r>
            <a:r>
              <a:rPr lang="en-GB" dirty="0" smtClean="0"/>
              <a:t>browser</a:t>
            </a:r>
            <a:endParaRPr lang="en-US" dirty="0"/>
          </a:p>
          <a:p>
            <a:pPr lvl="1">
              <a:buFont typeface="Wingdings" pitchFamily="2" charset="2"/>
              <a:buChar char="Ø"/>
            </a:pPr>
            <a:r>
              <a:rPr lang="en-GB" dirty="0"/>
              <a:t>The server holding </a:t>
            </a:r>
            <a:r>
              <a:rPr lang="en-GB" dirty="0" smtClean="0"/>
              <a:t>the</a:t>
            </a:r>
          </a:p>
          <a:p>
            <a:pPr lvl="1">
              <a:buNone/>
            </a:pPr>
            <a:r>
              <a:rPr lang="en-GB" dirty="0" smtClean="0"/>
              <a:t>      e-Commerce application</a:t>
            </a:r>
            <a:endParaRPr lang="en-US" dirty="0"/>
          </a:p>
          <a:p>
            <a:pPr lvl="1">
              <a:buFont typeface="Wingdings" pitchFamily="2" charset="2"/>
              <a:buChar char="Ø"/>
            </a:pPr>
            <a:r>
              <a:rPr lang="en-GB" dirty="0"/>
              <a:t>Links from the Internet </a:t>
            </a:r>
            <a:r>
              <a:rPr lang="en-GB" dirty="0" smtClean="0"/>
              <a:t>application</a:t>
            </a:r>
          </a:p>
          <a:p>
            <a:pPr lvl="1">
              <a:buNone/>
            </a:pPr>
            <a:r>
              <a:rPr lang="en-GB" dirty="0" smtClean="0"/>
              <a:t>      to </a:t>
            </a:r>
            <a:r>
              <a:rPr lang="en-GB" dirty="0"/>
              <a:t>back office systems.</a:t>
            </a:r>
            <a:endParaRPr lang="en-US" dirty="0"/>
          </a:p>
          <a:p>
            <a:pPr>
              <a:buNone/>
            </a:pPr>
            <a:endParaRPr lang="en-US" dirty="0"/>
          </a:p>
          <a:p>
            <a:endParaRPr lang="en-US" dirty="0"/>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25" name="Object 1"/>
          <p:cNvGraphicFramePr>
            <a:graphicFrameLocks noChangeAspect="1"/>
          </p:cNvGraphicFramePr>
          <p:nvPr/>
        </p:nvGraphicFramePr>
        <p:xfrm>
          <a:off x="4876800" y="3886199"/>
          <a:ext cx="4114800" cy="2666075"/>
        </p:xfrm>
        <a:graphic>
          <a:graphicData uri="http://schemas.openxmlformats.org/presentationml/2006/ole">
            <p:oleObj spid="_x0000_s1028" name="Picture" r:id="rId3" imgW="4585513" imgH="2302337" progId="Word.Picture.8">
              <p:embed/>
            </p:oleObj>
          </a:graphicData>
        </a:graphic>
      </p:graphicFrame>
    </p:spTree>
    <p:extLst>
      <p:ext uri="{BB962C8B-B14F-4D97-AF65-F5344CB8AC3E}">
        <p14:creationId xmlns:p14="http://schemas.microsoft.com/office/powerpoint/2010/main" xmlns="" val="518932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e-anu\E-commerce-Payment-Processing.jpg"/>
          <p:cNvPicPr>
            <a:picLocks noChangeAspect="1" noChangeArrowheads="1"/>
          </p:cNvPicPr>
          <p:nvPr/>
        </p:nvPicPr>
        <p:blipFill>
          <a:blip r:embed="rId2"/>
          <a:srcRect/>
          <a:stretch>
            <a:fillRect/>
          </a:stretch>
        </p:blipFill>
        <p:spPr bwMode="auto">
          <a:xfrm>
            <a:off x="4191000" y="0"/>
            <a:ext cx="4953000" cy="6477000"/>
          </a:xfrm>
          <a:prstGeom prst="rect">
            <a:avLst/>
          </a:prstGeom>
          <a:noFill/>
        </p:spPr>
      </p:pic>
      <p:sp>
        <p:nvSpPr>
          <p:cNvPr id="2" name="Content Placeholder 1"/>
          <p:cNvSpPr>
            <a:spLocks noGrp="1"/>
          </p:cNvSpPr>
          <p:nvPr>
            <p:ph idx="1"/>
          </p:nvPr>
        </p:nvSpPr>
        <p:spPr>
          <a:xfrm>
            <a:off x="1066800" y="1447800"/>
            <a:ext cx="7498080" cy="4800600"/>
          </a:xfrm>
        </p:spPr>
        <p:txBody>
          <a:bodyPr/>
          <a:lstStyle/>
          <a:p>
            <a:pPr>
              <a:buFont typeface="Wingdings" pitchFamily="2" charset="2"/>
              <a:buChar char="§"/>
            </a:pPr>
            <a:r>
              <a:rPr lang="en-US" dirty="0" smtClean="0">
                <a:latin typeface="Calibri" pitchFamily="34" charset="0"/>
                <a:cs typeface="Calibri" pitchFamily="34" charset="0"/>
              </a:rPr>
              <a:t>PayPal</a:t>
            </a:r>
          </a:p>
          <a:p>
            <a:pPr>
              <a:buFont typeface="Wingdings" pitchFamily="2" charset="2"/>
              <a:buChar char="§"/>
            </a:pPr>
            <a:r>
              <a:rPr lang="en-US" dirty="0" smtClean="0">
                <a:latin typeface="Calibri" pitchFamily="34" charset="0"/>
                <a:cs typeface="Calibri" pitchFamily="34" charset="0"/>
              </a:rPr>
              <a:t>Google checkout</a:t>
            </a:r>
          </a:p>
          <a:p>
            <a:pPr>
              <a:buFont typeface="Wingdings" pitchFamily="2" charset="2"/>
              <a:buChar char="§"/>
            </a:pPr>
            <a:r>
              <a:rPr lang="en-US" dirty="0" err="1" smtClean="0">
                <a:latin typeface="Calibri" pitchFamily="34" charset="0"/>
                <a:cs typeface="Calibri" pitchFamily="34" charset="0"/>
              </a:rPr>
              <a:t>iKobo</a:t>
            </a:r>
            <a:r>
              <a:rPr lang="en-US" dirty="0" smtClean="0">
                <a:latin typeface="Calibri" pitchFamily="34" charset="0"/>
                <a:cs typeface="Calibri" pitchFamily="34" charset="0"/>
              </a:rPr>
              <a:t>     etc.</a:t>
            </a:r>
          </a:p>
          <a:p>
            <a:pPr>
              <a:buFont typeface="Wingdings" pitchFamily="2" charset="2"/>
              <a:buChar char="§"/>
            </a:pPr>
            <a:endParaRPr lang="en-US" dirty="0">
              <a:latin typeface="Calibri" pitchFamily="34" charset="0"/>
              <a:cs typeface="Calibri" pitchFamily="34" charset="0"/>
            </a:endParaRPr>
          </a:p>
        </p:txBody>
      </p:sp>
      <p:sp>
        <p:nvSpPr>
          <p:cNvPr id="3" name="Title 2"/>
          <p:cNvSpPr>
            <a:spLocks noGrp="1"/>
          </p:cNvSpPr>
          <p:nvPr>
            <p:ph type="title"/>
          </p:nvPr>
        </p:nvSpPr>
        <p:spPr>
          <a:xfrm>
            <a:off x="457200" y="86436"/>
            <a:ext cx="8991600" cy="1143000"/>
          </a:xfrm>
        </p:spPr>
        <p:txBody>
          <a:bodyPr>
            <a:normAutofit/>
          </a:bodyPr>
          <a:lstStyle/>
          <a:p>
            <a:r>
              <a:rPr lang="en-US" dirty="0" smtClean="0">
                <a:solidFill>
                  <a:schemeClr val="accent5"/>
                </a:solidFill>
                <a:effectLst/>
                <a:latin typeface="Calibri" pitchFamily="34" charset="0"/>
                <a:cs typeface="Calibri" pitchFamily="34" charset="0"/>
              </a:rPr>
              <a:t>E- commerce payment methods</a:t>
            </a:r>
            <a:endParaRPr lang="en-US" dirty="0">
              <a:solidFill>
                <a:schemeClr val="accent5"/>
              </a:solidFill>
              <a:effectLst/>
              <a:latin typeface="Calibri" pitchFamily="34" charset="0"/>
              <a:cs typeface="Calibri" pitchFamily="34" charset="0"/>
            </a:endParaRPr>
          </a:p>
        </p:txBody>
      </p:sp>
    </p:spTree>
    <p:extLst>
      <p:ext uri="{BB962C8B-B14F-4D97-AF65-F5344CB8AC3E}">
        <p14:creationId xmlns:p14="http://schemas.microsoft.com/office/powerpoint/2010/main" xmlns="" val="11752327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838200" y="228600"/>
            <a:ext cx="7498080" cy="1143000"/>
          </a:xfrm>
          <a:prstGeom prst="rect">
            <a:avLst/>
          </a:prstGeom>
        </p:spPr>
        <p:txBody>
          <a:bodyPr>
            <a:normAutofit/>
          </a:bodyPr>
          <a:lstStyle/>
          <a:p>
            <a:pPr lvl="0" algn="ctr" fontAlgn="base">
              <a:spcBef>
                <a:spcPct val="0"/>
              </a:spcBef>
              <a:spcAft>
                <a:spcPct val="0"/>
              </a:spcAft>
              <a:tabLst>
                <a:tab pos="171450" algn="l"/>
              </a:tabLst>
            </a:pPr>
            <a:r>
              <a:rPr kumimoji="0" lang="en-GB" sz="4400" b="1" i="0" u="none" strike="noStrike" cap="none" normalizeH="0" baseline="0" dirty="0" smtClean="0">
                <a:ln>
                  <a:noFill/>
                </a:ln>
                <a:solidFill>
                  <a:schemeClr val="accent5">
                    <a:lumMod val="75000"/>
                  </a:schemeClr>
                </a:solidFill>
                <a:effectLst/>
                <a:latin typeface="Times New Roman" pitchFamily="18" charset="0"/>
                <a:ea typeface="Calibri" pitchFamily="34" charset="0"/>
                <a:cs typeface="Times New Roman" pitchFamily="18" charset="0"/>
              </a:rPr>
              <a:t>Benefits of e-Commerce</a:t>
            </a:r>
            <a:endParaRPr kumimoji="0" lang="en-US" sz="2000" b="0" i="0" u="none" strike="noStrike" cap="none" normalizeH="0" baseline="0" dirty="0" smtClean="0">
              <a:ln>
                <a:noFill/>
              </a:ln>
              <a:solidFill>
                <a:schemeClr val="accent5">
                  <a:lumMod val="75000"/>
                </a:schemeClr>
              </a:solidFill>
              <a:effectLst/>
              <a:latin typeface="Arial" pitchFamily="34" charset="0"/>
              <a:cs typeface="Arial" pitchFamily="34" charset="0"/>
            </a:endParaRPr>
          </a:p>
        </p:txBody>
      </p:sp>
      <p:sp>
        <p:nvSpPr>
          <p:cNvPr id="5" name="Content Placeholder 2"/>
          <p:cNvSpPr txBox="1">
            <a:spLocks/>
          </p:cNvSpPr>
          <p:nvPr/>
        </p:nvSpPr>
        <p:spPr>
          <a:xfrm>
            <a:off x="701040" y="990600"/>
            <a:ext cx="8077200" cy="6019800"/>
          </a:xfrm>
          <a:prstGeom prst="rect">
            <a:avLst/>
          </a:prstGeom>
        </p:spPr>
        <p:txBody>
          <a:bodyPr>
            <a:normAutofit fontScale="85000" lnSpcReduction="20000"/>
          </a:bodyPr>
          <a:lstStyle/>
          <a:p>
            <a:pPr lvl="0" eaLnBrk="0" fontAlgn="base" hangingPunct="0">
              <a:spcBef>
                <a:spcPct val="0"/>
              </a:spcBef>
              <a:spcAft>
                <a:spcPct val="0"/>
              </a:spcAft>
              <a:tabLst>
                <a:tab pos="171450" algn="l"/>
              </a:tabLst>
            </a:pPr>
            <a:r>
              <a:rPr kumimoji="0" lang="en-GB" sz="2800" b="1"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Benefits to Organizations</a:t>
            </a:r>
            <a:endParaRPr kumimoji="0" lang="en-GB" sz="28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lvl="0" eaLnBrk="0" fontAlgn="base" hangingPunct="0">
              <a:spcBef>
                <a:spcPct val="0"/>
              </a:spcBef>
              <a:spcAft>
                <a:spcPct val="0"/>
              </a:spcAft>
              <a:tabLst>
                <a:tab pos="171450" algn="l"/>
              </a:tabLst>
            </a:pPr>
            <a:r>
              <a:rPr kumimoji="0" lang="en-GB"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r>
            <a:br>
              <a:rPr kumimoji="0" lang="en-GB"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b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tabLst>
                <a:tab pos="171450" algn="l"/>
              </a:tabLst>
            </a:pPr>
            <a:r>
              <a:rPr kumimoji="0" lang="en-GB"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Global reach</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tabLst>
                <a:tab pos="171450" algn="l"/>
              </a:tabLst>
            </a:pPr>
            <a:r>
              <a:rPr kumimoji="0" lang="en-GB"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Cost reduction</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tabLst>
                <a:tab pos="171450" algn="l"/>
              </a:tabLst>
            </a:pPr>
            <a:r>
              <a:rPr kumimoji="0" lang="en-GB"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Supply chain improvements</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tabLst>
                <a:tab pos="171450" algn="l"/>
              </a:tabLst>
            </a:pPr>
            <a:r>
              <a:rPr kumimoji="0" lang="en-GB"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Extended hours:24*7*365</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tabLst>
                <a:tab pos="171450" algn="l"/>
              </a:tabLst>
            </a:pPr>
            <a:r>
              <a:rPr kumimoji="0" lang="en-GB"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Customization</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tabLst>
                <a:tab pos="171450" algn="l"/>
              </a:tabLst>
            </a:pPr>
            <a:r>
              <a:rPr kumimoji="0" lang="en-GB"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New business models</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tabLst>
                <a:tab pos="171450" algn="l"/>
              </a:tabLst>
            </a:pPr>
            <a:r>
              <a:rPr kumimoji="0" lang="en-GB"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Lower communication cost</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tabLst>
                <a:tab pos="171450" algn="l"/>
              </a:tabLst>
            </a:pPr>
            <a:r>
              <a:rPr kumimoji="0" lang="en-GB"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Improved Customer relationships</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tabLst>
                <a:tab pos="171450" algn="l"/>
              </a:tabLst>
            </a:pPr>
            <a:r>
              <a:rPr kumimoji="0" lang="en-GB"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No city business permits and fees</a:t>
            </a:r>
            <a:endParaRPr kumimoji="0" lang="en-GB" sz="2800" b="1" i="0" u="none" strike="noStrike" cap="none" normalizeH="0" baseline="0" dirty="0" smtClean="0">
              <a:ln>
                <a:noFill/>
              </a:ln>
              <a:solidFill>
                <a:schemeClr val="tx1"/>
              </a:solidFill>
              <a:effectLst/>
              <a:latin typeface="Arial" pitchFamily="34" charset="0"/>
              <a:ea typeface="Calibri" pitchFamily="34" charset="0"/>
              <a:cs typeface="Times New Roman" pitchFamily="18" charset="0"/>
            </a:endParaRPr>
          </a:p>
          <a:p>
            <a:pPr lvl="0" eaLnBrk="0" fontAlgn="base" hangingPunct="0">
              <a:spcBef>
                <a:spcPct val="0"/>
              </a:spcBef>
              <a:spcAft>
                <a:spcPct val="0"/>
              </a:spcAft>
              <a:tabLst>
                <a:tab pos="171450" algn="l"/>
              </a:tabLst>
            </a:pPr>
            <a:r>
              <a:rPr kumimoji="0" lang="en-GB" sz="2800" b="1"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
            </a:r>
            <a:br>
              <a:rPr kumimoji="0" lang="en-GB" sz="2800" b="1"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b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lvl="0" eaLnBrk="0" fontAlgn="base" hangingPunct="0">
              <a:spcBef>
                <a:spcPct val="0"/>
              </a:spcBef>
              <a:spcAft>
                <a:spcPct val="0"/>
              </a:spcAft>
              <a:tabLst>
                <a:tab pos="171450" algn="l"/>
              </a:tabLst>
            </a:pPr>
            <a:r>
              <a:rPr kumimoji="0" lang="en-GB" sz="2800" b="1"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Benefits to Consumers</a:t>
            </a:r>
            <a:endParaRPr kumimoji="0" lang="en-GB" sz="2800" b="0" i="1"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lvl="0" eaLnBrk="0" fontAlgn="base" hangingPunct="0">
              <a:spcBef>
                <a:spcPct val="0"/>
              </a:spcBef>
              <a:spcAft>
                <a:spcPct val="0"/>
              </a:spcAft>
              <a:tabLst>
                <a:tab pos="171450" algn="l"/>
              </a:tabLst>
            </a:pPr>
            <a:r>
              <a:rPr kumimoji="0" lang="en-GB"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r>
            <a:br>
              <a:rPr kumimoji="0" lang="en-GB"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b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tabLst>
                <a:tab pos="171450" algn="l"/>
              </a:tabLst>
            </a:pPr>
            <a:r>
              <a:rPr kumimoji="0" lang="en-GB"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More products and services</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tabLst>
                <a:tab pos="171450" algn="l"/>
              </a:tabLst>
            </a:pPr>
            <a:r>
              <a:rPr kumimoji="0" lang="en-GB"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Information availability</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tabLst>
                <a:tab pos="171450" algn="l"/>
              </a:tabLst>
            </a:pPr>
            <a:r>
              <a:rPr kumimoji="0" lang="en-GB"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Cheaper products and services</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tabLst>
                <a:tab pos="171450" algn="l"/>
              </a:tabLst>
            </a:pPr>
            <a:r>
              <a:rPr kumimoji="0" lang="en-GB"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Instant delivery</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tabLst>
                <a:tab pos="171450" algn="l"/>
              </a:tabLst>
            </a:pPr>
            <a:r>
              <a:rPr kumimoji="0" lang="en-GB"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Participation in auctions</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tabLst>
                <a:tab pos="171450" algn="l"/>
              </a:tabLst>
            </a:pPr>
            <a:r>
              <a:rPr kumimoji="0" lang="en-GB"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Electronic communities</a:t>
            </a:r>
            <a:endParaRPr kumimoji="0" lang="en-GB" sz="44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2637835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047466" y="266700"/>
            <a:ext cx="7498080" cy="1143000"/>
          </a:xfrm>
          <a:prstGeom prst="rect">
            <a:avLst/>
          </a:prstGeom>
        </p:spPr>
        <p:txBody>
          <a:bodyPr>
            <a:normAutofit/>
          </a:bodyPr>
          <a:lstStyle/>
          <a:p>
            <a:pPr lvl="0" algn="ctr" fontAlgn="base">
              <a:spcBef>
                <a:spcPct val="0"/>
              </a:spcBef>
              <a:spcAft>
                <a:spcPct val="0"/>
              </a:spcAft>
            </a:pPr>
            <a:r>
              <a:rPr kumimoji="0" lang="en-GB" sz="4400" b="1" i="0" u="none" strike="noStrike" cap="none" normalizeH="0" baseline="0" dirty="0" smtClean="0">
                <a:ln>
                  <a:noFill/>
                </a:ln>
                <a:solidFill>
                  <a:schemeClr val="accent3">
                    <a:lumMod val="75000"/>
                  </a:schemeClr>
                </a:solidFill>
                <a:effectLst/>
                <a:latin typeface="Times New Roman" pitchFamily="18" charset="0"/>
                <a:ea typeface="Calibri" pitchFamily="34" charset="0"/>
                <a:cs typeface="Times New Roman" pitchFamily="18" charset="0"/>
              </a:rPr>
              <a:t>Limitations of e-Commerce</a:t>
            </a:r>
            <a:endParaRPr kumimoji="0" lang="en-US" sz="2000" b="0" i="0" u="none" strike="noStrike" cap="none" normalizeH="0" baseline="0" dirty="0" smtClean="0">
              <a:ln>
                <a:noFill/>
              </a:ln>
              <a:solidFill>
                <a:schemeClr val="accent3">
                  <a:lumMod val="75000"/>
                </a:schemeClr>
              </a:solidFill>
              <a:effectLst/>
              <a:latin typeface="Arial" pitchFamily="34" charset="0"/>
              <a:cs typeface="Arial" pitchFamily="34" charset="0"/>
            </a:endParaRPr>
          </a:p>
        </p:txBody>
      </p:sp>
      <p:sp>
        <p:nvSpPr>
          <p:cNvPr id="5" name="Content Placeholder 2"/>
          <p:cNvSpPr txBox="1">
            <a:spLocks/>
          </p:cNvSpPr>
          <p:nvPr/>
        </p:nvSpPr>
        <p:spPr>
          <a:xfrm>
            <a:off x="1066800" y="838200"/>
            <a:ext cx="8077200" cy="6019800"/>
          </a:xfrm>
          <a:prstGeom prst="rect">
            <a:avLst/>
          </a:prstGeom>
        </p:spPr>
        <p:txBody>
          <a:bodyPr>
            <a:normAutofit lnSpcReduction="10000"/>
          </a:bodyPr>
          <a:lstStyle/>
          <a:p>
            <a:pPr lvl="0" eaLnBrk="0" fontAlgn="base" hangingPunct="0">
              <a:spcBef>
                <a:spcPct val="0"/>
              </a:spcBef>
              <a:spcAft>
                <a:spcPct val="0"/>
              </a:spcAft>
            </a:pPr>
            <a:r>
              <a:rPr kumimoji="0" lang="en-GB" sz="2400" b="1"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Technological Limitations</a:t>
            </a:r>
            <a:endParaRPr kumimoji="0" lang="en-US" sz="2400" b="0" i="1"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Lack of universally accepted standards for quality, security, and    </a:t>
            </a:r>
            <a:r>
              <a:rPr kumimoji="0" lang="en-GB" sz="2000" b="0" i="0" u="none" strike="noStrike" cap="none" normalizeH="0" dirty="0" smtClean="0">
                <a:ln>
                  <a:noFill/>
                </a:ln>
                <a:solidFill>
                  <a:schemeClr val="tx1"/>
                </a:solidFill>
                <a:effectLst/>
                <a:latin typeface="Arial" pitchFamily="34" charset="0"/>
                <a:ea typeface="Times New Roman" pitchFamily="18" charset="0"/>
                <a:cs typeface="Arial" pitchFamily="34" charset="0"/>
              </a:rPr>
              <a:t>    </a:t>
            </a: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reliability.</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Insufficient telecommunication bandwidth</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Software development tools are still evolving.</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Special web servers are needed in addition to the network servers.</a:t>
            </a:r>
          </a:p>
          <a:p>
            <a:pPr lvl="1" eaLnBrk="0" fontAlgn="base" hangingPunct="0">
              <a:spcBef>
                <a:spcPct val="0"/>
              </a:spcBef>
              <a:spcAft>
                <a:spcPct val="0"/>
              </a:spcAft>
            </a:pP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lvl="0" eaLnBrk="0" fontAlgn="base" hangingPunct="0">
              <a:spcBef>
                <a:spcPct val="0"/>
              </a:spcBef>
              <a:spcAft>
                <a:spcPct val="0"/>
              </a:spcAft>
            </a:pPr>
            <a:r>
              <a:rPr kumimoji="0" lang="en-GB" sz="2400" b="1"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Non Technological Limitations</a:t>
            </a:r>
            <a:endParaRPr kumimoji="0" lang="en-US" sz="2400" b="0" i="1"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Lack of trust</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Varying international government rules</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Some customers like to feel and touch products.</a:t>
            </a:r>
          </a:p>
          <a:p>
            <a:pPr lvl="0" eaLnBrk="0" fontAlgn="base" hangingPunct="0">
              <a:spcBef>
                <a:spcPct val="0"/>
              </a:spcBef>
              <a:spcAft>
                <a:spcPct val="0"/>
              </a:spcAft>
            </a:pPr>
            <a:endPar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lvl="0" algn="ctr" fontAlgn="base">
              <a:spcBef>
                <a:spcPct val="0"/>
              </a:spcBef>
              <a:spcAft>
                <a:spcPct val="0"/>
              </a:spcAft>
            </a:pPr>
            <a:r>
              <a:rPr kumimoji="0" lang="en-GB" sz="3200" b="1" i="0" u="none" strike="noStrike" cap="none" normalizeH="0" baseline="0" dirty="0" smtClean="0">
                <a:ln>
                  <a:noFill/>
                </a:ln>
                <a:solidFill>
                  <a:schemeClr val="accent3">
                    <a:lumMod val="75000"/>
                  </a:schemeClr>
                </a:solidFill>
                <a:effectLst/>
                <a:latin typeface="Times New Roman" pitchFamily="18" charset="0"/>
                <a:ea typeface="Calibri" pitchFamily="34" charset="0"/>
                <a:cs typeface="Times New Roman" pitchFamily="18" charset="0"/>
              </a:rPr>
              <a:t>Barriers of e-Commerce</a:t>
            </a:r>
            <a:endParaRPr kumimoji="0" lang="en-GB" sz="3200" b="1" i="0" u="none" strike="noStrike" cap="none" normalizeH="0" baseline="0" dirty="0" smtClean="0">
              <a:ln>
                <a:noFill/>
              </a:ln>
              <a:solidFill>
                <a:schemeClr val="accent3">
                  <a:lumMod val="75000"/>
                </a:schemeClr>
              </a:solidFill>
              <a:effectLst/>
              <a:latin typeface="Arial" pitchFamily="34" charset="0"/>
              <a:ea typeface="Times New Roman" pitchFamily="18" charset="0"/>
              <a:cs typeface="Arial" pitchFamily="34" charset="0"/>
            </a:endParaRPr>
          </a:p>
          <a:p>
            <a:pPr lvl="1"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Security</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Trust and risk</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Lack of qualified personal</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Organizational culture</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Fraud</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lvl="1" eaLnBrk="0" fontAlgn="base" hangingPunct="0">
              <a:spcBef>
                <a:spcPct val="0"/>
              </a:spcBef>
              <a:spcAft>
                <a:spcPct val="0"/>
              </a:spcAft>
              <a:buFontTx/>
              <a:buChar char="•"/>
            </a:pPr>
            <a:r>
              <a:rPr kumimoji="0" lang="en-GB"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Legal issues</a:t>
            </a: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a:p>
            <a:pPr lvl="0" eaLnBrk="0" fontAlgn="base" hangingPunct="0">
              <a:spcBef>
                <a:spcPct val="0"/>
              </a:spcBef>
              <a:spcAft>
                <a:spcPct val="0"/>
              </a:spcAft>
            </a:pPr>
            <a:endParaRPr kumimoji="0" lang="en-GB" sz="20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4099888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4000" dirty="0" smtClean="0"/>
              <a:t>Chapter Review</a:t>
            </a:r>
            <a:endParaRPr lang="en-US" sz="4000" dirty="0"/>
          </a:p>
        </p:txBody>
      </p:sp>
      <p:sp>
        <p:nvSpPr>
          <p:cNvPr id="3" name="Content Placeholder 2"/>
          <p:cNvSpPr>
            <a:spLocks noGrp="1"/>
          </p:cNvSpPr>
          <p:nvPr>
            <p:ph idx="1"/>
          </p:nvPr>
        </p:nvSpPr>
        <p:spPr>
          <a:xfrm>
            <a:off x="1447800" y="1676400"/>
            <a:ext cx="7498080" cy="4800600"/>
          </a:xfrm>
        </p:spPr>
        <p:txBody>
          <a:bodyPr/>
          <a:lstStyle/>
          <a:p>
            <a:r>
              <a:rPr lang="en-US" dirty="0" smtClean="0"/>
              <a:t>What is e-commerce?</a:t>
            </a:r>
          </a:p>
          <a:p>
            <a:pPr>
              <a:buNone/>
            </a:pPr>
            <a:r>
              <a:rPr lang="en-US" dirty="0" smtClean="0"/>
              <a:t>   Give examples.</a:t>
            </a:r>
          </a:p>
          <a:p>
            <a:pPr>
              <a:buNone/>
            </a:pPr>
            <a:endParaRPr lang="en-US" dirty="0" smtClean="0"/>
          </a:p>
          <a:p>
            <a:r>
              <a:rPr lang="en-US" dirty="0" smtClean="0"/>
              <a:t>What is the meaning of e-governance? Briefly explain.</a:t>
            </a:r>
            <a:endParaRPr lang="en-US" dirty="0"/>
          </a:p>
        </p:txBody>
      </p:sp>
    </p:spTree>
    <p:extLst>
      <p:ext uri="{BB962C8B-B14F-4D97-AF65-F5344CB8AC3E}">
        <p14:creationId xmlns:p14="http://schemas.microsoft.com/office/powerpoint/2010/main" xmlns="" val="2034352597"/>
      </p:ext>
    </p:extLst>
  </p:cSld>
  <p:clrMapOvr>
    <a:masterClrMapping/>
  </p:clrMapOvr>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47</TotalTime>
  <Words>514</Words>
  <Application>Microsoft Office PowerPoint</Application>
  <PresentationFormat>On-screen Show (4:3)</PresentationFormat>
  <Paragraphs>126</Paragraphs>
  <Slides>12</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4" baseType="lpstr">
      <vt:lpstr>HNDIT</vt:lpstr>
      <vt:lpstr>Picture</vt:lpstr>
      <vt:lpstr>HNDIT11062 –  Web Development</vt:lpstr>
      <vt:lpstr>E-Commerce</vt:lpstr>
      <vt:lpstr> Narrow definition </vt:lpstr>
      <vt:lpstr>Electronic commerce</vt:lpstr>
      <vt:lpstr>Slide 5</vt:lpstr>
      <vt:lpstr>E-Commerce Process</vt:lpstr>
      <vt:lpstr>Business applications</vt:lpstr>
      <vt:lpstr>Internet commerce </vt:lpstr>
      <vt:lpstr>E- commerce payment methods</vt:lpstr>
      <vt:lpstr>Slide 10</vt:lpstr>
      <vt:lpstr>Slide 11</vt:lpstr>
      <vt:lpstr>Chapter Review</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2002 – Graphics &amp; Multimedia</dc:title>
  <dc:creator>Dell PC</dc:creator>
  <cp:lastModifiedBy>Jemi</cp:lastModifiedBy>
  <cp:revision>11</cp:revision>
  <dcterms:created xsi:type="dcterms:W3CDTF">2013-10-16T01:16:09Z</dcterms:created>
  <dcterms:modified xsi:type="dcterms:W3CDTF">2018-09-17T16:05:22Z</dcterms:modified>
</cp:coreProperties>
</file>