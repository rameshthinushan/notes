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4" r:id="rId41"/>
    <p:sldId id="325" r:id="rId42"/>
    <p:sldId id="326" r:id="rId43"/>
    <p:sldId id="327" r:id="rId44"/>
    <p:sldId id="328" r:id="rId45"/>
    <p:sldId id="329" r:id="rId46"/>
    <p:sldId id="330" r:id="rId47"/>
    <p:sldId id="33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77" autoAdjust="0"/>
  </p:normalViewPr>
  <p:slideViewPr>
    <p:cSldViewPr>
      <p:cViewPr varScale="1">
        <p:scale>
          <a:sx n="68" d="100"/>
          <a:sy n="68" d="100"/>
        </p:scale>
        <p:origin x="1446"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678ED4-C883-4623-9BAF-54C3A8C49825}" type="datetimeFigureOut">
              <a:rPr lang="en-US" smtClean="0"/>
              <a:pPr/>
              <a:t>5/26/2014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F0E9B7-1E52-4CC5-BF37-E4ACEE5572D9}" type="slidenum">
              <a:rPr lang="en-US" smtClean="0"/>
              <a:pPr/>
              <a:t>‹#›</a:t>
            </a:fld>
            <a:endParaRPr lang="en-US"/>
          </a:p>
        </p:txBody>
      </p:sp>
    </p:spTree>
    <p:extLst>
      <p:ext uri="{BB962C8B-B14F-4D97-AF65-F5344CB8AC3E}">
        <p14:creationId xmlns:p14="http://schemas.microsoft.com/office/powerpoint/2010/main" val="1308850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5/26/2014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5/26/2014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5/26/2014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AA71DD-D0EC-4926-8ED6-19B5D40D3F29}" type="datetimeFigureOut">
              <a:rPr lang="en-US" smtClean="0"/>
              <a:pPr/>
              <a:t>5/26/2014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AA71DD-D0EC-4926-8ED6-19B5D40D3F29}" type="datetimeFigureOut">
              <a:rPr lang="en-US" smtClean="0"/>
              <a:pPr/>
              <a:t>5/26/2014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A71DD-D0EC-4926-8ED6-19B5D40D3F29}" type="datetimeFigureOut">
              <a:rPr lang="en-US" smtClean="0"/>
              <a:pPr/>
              <a:t>5/26/2014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5/26/2014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5/26/2014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5/26/2014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5/26/2014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5/26/2014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61AA0F5F-A1BF-428B-B8D8-22C6C6B1C590}" type="slidenum">
              <a:rPr lang="ar-SA"/>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457200" y="1600200"/>
            <a:ext cx="4038600" cy="4525963"/>
          </a:xfrm>
        </p:spPr>
        <p:txBody>
          <a:bodyPr/>
          <a:lstStyle/>
          <a:p>
            <a:endParaRPr lang="en-US"/>
          </a:p>
        </p:txBody>
      </p:sp>
      <p:sp>
        <p:nvSpPr>
          <p:cNvPr id="4" name="Text Placeholder 3"/>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F66150DC-C7EE-4335-B222-349C1A4B2EC5}" type="slidenum">
              <a:rPr lang="ar-SA"/>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5/26/2014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9: HTML Tables and Frames </a:t>
            </a:r>
            <a:endParaRPr lang="en-US" dirty="0"/>
          </a:p>
        </p:txBody>
      </p:sp>
      <p:sp>
        <p:nvSpPr>
          <p:cNvPr id="2"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Tree>
    <p:extLst>
      <p:ext uri="{BB962C8B-B14F-4D97-AF65-F5344CB8AC3E}">
        <p14:creationId xmlns:p14="http://schemas.microsoft.com/office/powerpoint/2010/main"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24F3063-352D-48BD-B6BF-784545C6FAEB}" type="slidenum">
              <a:rPr lang="ar-SA"/>
              <a:pPr/>
              <a:t>2</a:t>
            </a:fld>
            <a:endParaRPr lang="en-US"/>
          </a:p>
        </p:txBody>
      </p:sp>
      <p:sp>
        <p:nvSpPr>
          <p:cNvPr id="70658" name="Rectangle 2"/>
          <p:cNvSpPr>
            <a:spLocks noGrp="1" noChangeArrowheads="1"/>
          </p:cNvSpPr>
          <p:nvPr>
            <p:ph type="title"/>
          </p:nvPr>
        </p:nvSpPr>
        <p:spPr>
          <a:xfrm>
            <a:off x="460375" y="274638"/>
            <a:ext cx="7929563" cy="1143000"/>
          </a:xfrm>
          <a:noFill/>
        </p:spPr>
        <p:txBody>
          <a:bodyPr>
            <a:flatTx/>
          </a:bodyPr>
          <a:lstStyle/>
          <a:p>
            <a:r>
              <a:rPr lang="en-US" dirty="0">
                <a:solidFill>
                  <a:srgbClr val="C00000"/>
                </a:solidFill>
              </a:rPr>
              <a:t>T</a:t>
            </a:r>
            <a:r>
              <a:rPr lang="en-US" b="1" dirty="0">
                <a:solidFill>
                  <a:srgbClr val="C00000"/>
                </a:solidFill>
              </a:rPr>
              <a:t>ables</a:t>
            </a:r>
          </a:p>
        </p:txBody>
      </p:sp>
      <p:sp>
        <p:nvSpPr>
          <p:cNvPr id="70659" name="Rectangle 3"/>
          <p:cNvSpPr>
            <a:spLocks noGrp="1" noChangeArrowheads="1"/>
          </p:cNvSpPr>
          <p:nvPr>
            <p:ph type="body" idx="1"/>
          </p:nvPr>
        </p:nvSpPr>
        <p:spPr>
          <a:xfrm>
            <a:off x="533400" y="1676400"/>
            <a:ext cx="8229600" cy="4953000"/>
          </a:xfrm>
          <a:noFill/>
        </p:spPr>
        <p:txBody>
          <a:bodyPr>
            <a:noAutofit/>
          </a:bodyPr>
          <a:lstStyle/>
          <a:p>
            <a:pPr marL="609600" indent="-609600">
              <a:buFontTx/>
              <a:buNone/>
            </a:pPr>
            <a:r>
              <a:rPr lang="en-US" sz="2800" dirty="0"/>
              <a:t>In this chapter you will learn that tables have many uses in </a:t>
            </a:r>
            <a:r>
              <a:rPr lang="en-US" sz="2800" dirty="0" smtClean="0"/>
              <a:t> HTML</a:t>
            </a:r>
            <a:r>
              <a:rPr lang="en-US" sz="2800" dirty="0"/>
              <a:t>. </a:t>
            </a:r>
            <a:endParaRPr lang="en-US" sz="2800" dirty="0" smtClean="0"/>
          </a:p>
          <a:p>
            <a:pPr marL="609600" indent="-609600">
              <a:buFontTx/>
              <a:buNone/>
            </a:pPr>
            <a:endParaRPr lang="en-US" sz="2800" dirty="0"/>
          </a:p>
          <a:p>
            <a:pPr marL="609600" indent="-609600">
              <a:buFontTx/>
              <a:buNone/>
            </a:pPr>
            <a:r>
              <a:rPr lang="en-US" sz="2800" dirty="0"/>
              <a:t>Objectives:</a:t>
            </a:r>
          </a:p>
          <a:p>
            <a:pPr marL="609600" indent="-609600">
              <a:buFontTx/>
              <a:buNone/>
            </a:pPr>
            <a:r>
              <a:rPr lang="en-US" sz="2800" dirty="0"/>
              <a:t>Upon completing this section, you should be able to:</a:t>
            </a:r>
          </a:p>
          <a:p>
            <a:pPr marL="609600" indent="-609600">
              <a:buClr>
                <a:schemeClr val="bg1"/>
              </a:buClr>
              <a:buFont typeface="Monotype Sorts" pitchFamily="2" charset="2"/>
              <a:buAutoNum type="arabicPeriod"/>
            </a:pPr>
            <a:r>
              <a:rPr lang="en-US" sz="2800" dirty="0"/>
              <a:t>Insert a table.</a:t>
            </a:r>
          </a:p>
          <a:p>
            <a:pPr marL="609600" indent="-609600">
              <a:buClr>
                <a:schemeClr val="bg1"/>
              </a:buClr>
              <a:buFont typeface="Monotype Sorts" pitchFamily="2" charset="2"/>
              <a:buAutoNum type="arabicPeriod"/>
            </a:pPr>
            <a:r>
              <a:rPr lang="en-US" sz="2800" dirty="0"/>
              <a:t>Explain a table’s attributes.</a:t>
            </a:r>
          </a:p>
          <a:p>
            <a:pPr marL="609600" indent="-609600">
              <a:buClr>
                <a:schemeClr val="bg1"/>
              </a:buClr>
              <a:buFont typeface="Monotype Sorts" pitchFamily="2" charset="2"/>
              <a:buAutoNum type="arabicPeriod"/>
            </a:pPr>
            <a:r>
              <a:rPr lang="en-US" sz="2800" dirty="0"/>
              <a:t>Edit a table.</a:t>
            </a:r>
          </a:p>
          <a:p>
            <a:pPr marL="609600" indent="-609600">
              <a:buClr>
                <a:schemeClr val="bg1"/>
              </a:buClr>
              <a:buFont typeface="Monotype Sorts" pitchFamily="2" charset="2"/>
              <a:buAutoNum type="arabicPeriod"/>
            </a:pPr>
            <a:r>
              <a:rPr lang="en-US" sz="2800" dirty="0"/>
              <a:t>Add a table header.</a:t>
            </a:r>
          </a:p>
          <a:p>
            <a:pPr marL="609600" indent="-609600">
              <a:buFontTx/>
              <a:buNone/>
            </a:pP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F7A1A30-2AED-4539-BA44-05933BFA8E04}" type="slidenum">
              <a:rPr lang="ar-SA"/>
              <a:pPr/>
              <a:t>3</a:t>
            </a:fld>
            <a:endParaRPr lang="en-US"/>
          </a:p>
        </p:txBody>
      </p:sp>
      <p:sp>
        <p:nvSpPr>
          <p:cNvPr id="71682" name="Rectangle 2"/>
          <p:cNvSpPr>
            <a:spLocks noGrp="1" noChangeArrowheads="1"/>
          </p:cNvSpPr>
          <p:nvPr>
            <p:ph type="title"/>
          </p:nvPr>
        </p:nvSpPr>
        <p:spPr>
          <a:xfrm>
            <a:off x="457200" y="274638"/>
            <a:ext cx="8229600" cy="944562"/>
          </a:xfrm>
          <a:noFill/>
        </p:spPr>
        <p:txBody>
          <a:bodyPr>
            <a:flatTx/>
          </a:bodyPr>
          <a:lstStyle/>
          <a:p>
            <a:pPr>
              <a:buClr>
                <a:schemeClr val="tx1"/>
              </a:buClr>
            </a:pPr>
            <a:r>
              <a:rPr lang="en-US" dirty="0" smtClean="0">
                <a:solidFill>
                  <a:srgbClr val="C00000"/>
                </a:solidFill>
              </a:rPr>
              <a:t>Tables </a:t>
            </a:r>
            <a:endParaRPr lang="en-US" dirty="0">
              <a:solidFill>
                <a:srgbClr val="C00000"/>
              </a:solidFill>
            </a:endParaRPr>
          </a:p>
        </p:txBody>
      </p:sp>
      <p:sp>
        <p:nvSpPr>
          <p:cNvPr id="71683" name="Rectangle 3"/>
          <p:cNvSpPr>
            <a:spLocks noGrp="1" noChangeArrowheads="1"/>
          </p:cNvSpPr>
          <p:nvPr>
            <p:ph type="body" idx="1"/>
          </p:nvPr>
        </p:nvSpPr>
        <p:spPr>
          <a:xfrm>
            <a:off x="533400" y="1676400"/>
            <a:ext cx="8229600" cy="4800600"/>
          </a:xfrm>
          <a:noFill/>
        </p:spPr>
        <p:txBody>
          <a:bodyPr>
            <a:normAutofit/>
          </a:bodyPr>
          <a:lstStyle/>
          <a:p>
            <a:pPr marL="609600" indent="-609600">
              <a:lnSpc>
                <a:spcPct val="90000"/>
              </a:lnSpc>
              <a:buClr>
                <a:schemeClr val="tx1"/>
              </a:buClr>
              <a:buFont typeface="Wingdings" pitchFamily="2" charset="2"/>
              <a:buChar char="§"/>
            </a:pPr>
            <a:r>
              <a:rPr lang="en-US" sz="2800" dirty="0"/>
              <a:t>The &lt;TABLE&gt;&lt;/TABLE&gt; element has four sub-elements</a:t>
            </a:r>
            <a:r>
              <a:rPr lang="en-US" sz="2800" dirty="0" smtClean="0"/>
              <a:t>:</a:t>
            </a:r>
          </a:p>
          <a:p>
            <a:pPr marL="609600" indent="-609600">
              <a:lnSpc>
                <a:spcPct val="90000"/>
              </a:lnSpc>
              <a:buClr>
                <a:schemeClr val="tx1"/>
              </a:buClr>
              <a:buFont typeface="Wingdings" pitchFamily="2" charset="2"/>
              <a:buChar char="§"/>
            </a:pPr>
            <a:endParaRPr lang="en-US" sz="2800" dirty="0"/>
          </a:p>
          <a:p>
            <a:pPr marL="609600" indent="-609600">
              <a:lnSpc>
                <a:spcPct val="90000"/>
              </a:lnSpc>
              <a:buClr>
                <a:schemeClr val="tx1"/>
              </a:buClr>
              <a:buFont typeface="Monotype Sorts" pitchFamily="2" charset="2"/>
              <a:buAutoNum type="arabicPeriod"/>
            </a:pPr>
            <a:r>
              <a:rPr lang="en-US" sz="2800" dirty="0"/>
              <a:t>Table </a:t>
            </a:r>
            <a:r>
              <a:rPr lang="en-US" sz="2800" dirty="0" smtClean="0"/>
              <a:t>Row&lt;TR     &gt;&lt;/</a:t>
            </a:r>
            <a:r>
              <a:rPr lang="en-US" sz="2800" dirty="0"/>
              <a:t>TR&gt;.</a:t>
            </a:r>
          </a:p>
          <a:p>
            <a:pPr marL="609600" indent="-609600">
              <a:lnSpc>
                <a:spcPct val="90000"/>
              </a:lnSpc>
              <a:buClr>
                <a:schemeClr val="tx1"/>
              </a:buClr>
              <a:buFont typeface="Monotype Sorts" pitchFamily="2" charset="2"/>
              <a:buAutoNum type="arabicPeriod"/>
            </a:pPr>
            <a:r>
              <a:rPr lang="en-US" sz="2800" dirty="0"/>
              <a:t>Table Header &lt;TH&gt;&lt;/TH&gt;.</a:t>
            </a:r>
          </a:p>
          <a:p>
            <a:pPr marL="609600" indent="-609600">
              <a:lnSpc>
                <a:spcPct val="90000"/>
              </a:lnSpc>
              <a:buClr>
                <a:schemeClr val="tx1"/>
              </a:buClr>
              <a:buFont typeface="Monotype Sorts" pitchFamily="2" charset="2"/>
              <a:buAutoNum type="arabicPeriod"/>
            </a:pPr>
            <a:r>
              <a:rPr lang="en-US" sz="2800" dirty="0"/>
              <a:t>Table Data &lt;TD&gt;&lt;/TD&gt;.</a:t>
            </a:r>
          </a:p>
          <a:p>
            <a:pPr marL="609600" indent="-609600">
              <a:lnSpc>
                <a:spcPct val="90000"/>
              </a:lnSpc>
              <a:buClr>
                <a:schemeClr val="tx1"/>
              </a:buClr>
              <a:buFont typeface="Monotype Sorts" pitchFamily="2" charset="2"/>
              <a:buAutoNum type="arabicPeriod"/>
            </a:pPr>
            <a:r>
              <a:rPr lang="en-US" sz="2800" dirty="0"/>
              <a:t>Caption &lt;CAPTION&gt;&lt;/CAPTION</a:t>
            </a:r>
            <a:r>
              <a:rPr lang="en-US" sz="2800" dirty="0" smtClean="0"/>
              <a:t>&gt;.</a:t>
            </a:r>
          </a:p>
          <a:p>
            <a:pPr marL="609600" indent="-609600">
              <a:lnSpc>
                <a:spcPct val="90000"/>
              </a:lnSpc>
              <a:buClr>
                <a:schemeClr val="tx1"/>
              </a:buClr>
              <a:buFont typeface="Monotype Sorts" pitchFamily="2" charset="2"/>
              <a:buAutoNum type="arabicPeriod"/>
            </a:pPr>
            <a:endParaRPr lang="en-US" sz="2800" dirty="0"/>
          </a:p>
          <a:p>
            <a:pPr marL="609600" indent="-609600">
              <a:lnSpc>
                <a:spcPct val="90000"/>
              </a:lnSpc>
              <a:buClr>
                <a:schemeClr val="tx1"/>
              </a:buClr>
              <a:buFont typeface="Wingdings" pitchFamily="2" charset="2"/>
              <a:buChar char="§"/>
            </a:pPr>
            <a:r>
              <a:rPr lang="en-US" sz="2800" dirty="0"/>
              <a:t>The table row elements usually contain table header elements or table data elements.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E7F6A6B-A93B-477C-87AB-963CD82CB061}" type="slidenum">
              <a:rPr lang="ar-SA"/>
              <a:pPr/>
              <a:t>4</a:t>
            </a:fld>
            <a:endParaRPr lang="en-US"/>
          </a:p>
        </p:txBody>
      </p:sp>
      <p:sp>
        <p:nvSpPr>
          <p:cNvPr id="72706" name="Rectangle 2"/>
          <p:cNvSpPr>
            <a:spLocks noGrp="1" noChangeArrowheads="1"/>
          </p:cNvSpPr>
          <p:nvPr>
            <p:ph type="title"/>
          </p:nvPr>
        </p:nvSpPr>
        <p:spPr>
          <a:xfrm>
            <a:off x="457200" y="304800"/>
            <a:ext cx="8229600" cy="762000"/>
          </a:xfrm>
          <a:noFill/>
        </p:spPr>
        <p:txBody>
          <a:bodyPr>
            <a:flatTx/>
          </a:bodyPr>
          <a:lstStyle/>
          <a:p>
            <a:r>
              <a:rPr lang="en-US">
                <a:solidFill>
                  <a:srgbClr val="C00000"/>
                </a:solidFill>
              </a:rPr>
              <a:t>Tables</a:t>
            </a:r>
          </a:p>
        </p:txBody>
      </p:sp>
      <p:sp>
        <p:nvSpPr>
          <p:cNvPr id="72707" name="Rectangle 3"/>
          <p:cNvSpPr>
            <a:spLocks noGrp="1" noChangeArrowheads="1"/>
          </p:cNvSpPr>
          <p:nvPr>
            <p:ph type="body" idx="1"/>
          </p:nvPr>
        </p:nvSpPr>
        <p:spPr>
          <a:xfrm>
            <a:off x="685800" y="1143000"/>
            <a:ext cx="7772400" cy="5105400"/>
          </a:xfrm>
          <a:noFill/>
        </p:spPr>
        <p:txBody>
          <a:bodyPr>
            <a:noAutofit/>
          </a:bodyPr>
          <a:lstStyle/>
          <a:p>
            <a:pPr>
              <a:lnSpc>
                <a:spcPct val="90000"/>
              </a:lnSpc>
              <a:buClr>
                <a:schemeClr val="bg1"/>
              </a:buClr>
              <a:buFont typeface="Wingdings" pitchFamily="2" charset="2"/>
              <a:buNone/>
            </a:pPr>
            <a:r>
              <a:rPr lang="en-US" sz="2200" b="1" dirty="0"/>
              <a:t>&lt;table border=“1”&gt;</a:t>
            </a:r>
          </a:p>
          <a:p>
            <a:pPr>
              <a:lnSpc>
                <a:spcPct val="90000"/>
              </a:lnSpc>
              <a:buClr>
                <a:schemeClr val="bg1"/>
              </a:buClr>
              <a:buFont typeface="Wingdings" pitchFamily="2" charset="2"/>
              <a:buNone/>
            </a:pPr>
            <a:r>
              <a:rPr lang="en-US" sz="2200" b="1" dirty="0" smtClean="0">
                <a:solidFill>
                  <a:srgbClr val="FF0000"/>
                </a:solidFill>
              </a:rPr>
              <a:t>	&lt;</a:t>
            </a:r>
            <a:r>
              <a:rPr lang="en-US" sz="2200" b="1" dirty="0" err="1">
                <a:solidFill>
                  <a:srgbClr val="FF0000"/>
                </a:solidFill>
              </a:rPr>
              <a:t>tr</a:t>
            </a:r>
            <a:r>
              <a:rPr lang="en-US" sz="2200" b="1" dirty="0">
                <a:solidFill>
                  <a:srgbClr val="FF0000"/>
                </a:solidFill>
              </a:rPr>
              <a:t>&gt;</a:t>
            </a:r>
          </a:p>
          <a:p>
            <a:pPr>
              <a:lnSpc>
                <a:spcPct val="90000"/>
              </a:lnSpc>
              <a:buClr>
                <a:schemeClr val="bg1"/>
              </a:buClr>
              <a:buFont typeface="Wingdings" pitchFamily="2" charset="2"/>
              <a:buNone/>
            </a:pPr>
            <a:r>
              <a:rPr lang="en-US" sz="2200" b="1" dirty="0" smtClean="0">
                <a:solidFill>
                  <a:srgbClr val="0000CC"/>
                </a:solidFill>
              </a:rPr>
              <a:t>		&lt;</a:t>
            </a:r>
            <a:r>
              <a:rPr lang="en-US" sz="2200" b="1" dirty="0" err="1">
                <a:solidFill>
                  <a:srgbClr val="0000CC"/>
                </a:solidFill>
              </a:rPr>
              <a:t>th</a:t>
            </a:r>
            <a:r>
              <a:rPr lang="en-US" sz="2200" b="1" dirty="0">
                <a:solidFill>
                  <a:srgbClr val="0000CC"/>
                </a:solidFill>
              </a:rPr>
              <a:t>&gt; Column 1 header &lt;/</a:t>
            </a:r>
            <a:r>
              <a:rPr lang="en-US" sz="2200" b="1" dirty="0" err="1">
                <a:solidFill>
                  <a:srgbClr val="0000CC"/>
                </a:solidFill>
              </a:rPr>
              <a:t>th</a:t>
            </a:r>
            <a:r>
              <a:rPr lang="en-US" sz="2200" b="1" dirty="0">
                <a:solidFill>
                  <a:srgbClr val="0000CC"/>
                </a:solidFill>
              </a:rPr>
              <a:t>&gt;</a:t>
            </a:r>
          </a:p>
          <a:p>
            <a:pPr>
              <a:lnSpc>
                <a:spcPct val="90000"/>
              </a:lnSpc>
              <a:buClr>
                <a:schemeClr val="bg1"/>
              </a:buClr>
              <a:buFont typeface="Wingdings" pitchFamily="2" charset="2"/>
              <a:buNone/>
            </a:pPr>
            <a:r>
              <a:rPr lang="en-US" sz="2200" b="1" dirty="0" smtClean="0">
                <a:solidFill>
                  <a:srgbClr val="0000CC"/>
                </a:solidFill>
              </a:rPr>
              <a:t>		&lt;</a:t>
            </a:r>
            <a:r>
              <a:rPr lang="en-US" sz="2200" b="1" dirty="0" err="1">
                <a:solidFill>
                  <a:srgbClr val="0000CC"/>
                </a:solidFill>
              </a:rPr>
              <a:t>th</a:t>
            </a:r>
            <a:r>
              <a:rPr lang="en-US" sz="2200" b="1" dirty="0">
                <a:solidFill>
                  <a:srgbClr val="0000CC"/>
                </a:solidFill>
              </a:rPr>
              <a:t>&gt; Column 2 header &lt;/</a:t>
            </a:r>
            <a:r>
              <a:rPr lang="en-US" sz="2200" b="1" dirty="0" err="1">
                <a:solidFill>
                  <a:srgbClr val="0000CC"/>
                </a:solidFill>
              </a:rPr>
              <a:t>th</a:t>
            </a:r>
            <a:r>
              <a:rPr lang="en-US" sz="2200" b="1" dirty="0">
                <a:solidFill>
                  <a:srgbClr val="0000CC"/>
                </a:solidFill>
              </a:rPr>
              <a:t>&gt;</a:t>
            </a:r>
          </a:p>
          <a:p>
            <a:pPr>
              <a:lnSpc>
                <a:spcPct val="90000"/>
              </a:lnSpc>
              <a:buClr>
                <a:schemeClr val="bg1"/>
              </a:buClr>
              <a:buFont typeface="Wingdings" pitchFamily="2" charset="2"/>
              <a:buNone/>
            </a:pPr>
            <a:r>
              <a:rPr lang="en-US" sz="2200" b="1" dirty="0" smtClean="0">
                <a:solidFill>
                  <a:srgbClr val="FF0000"/>
                </a:solidFill>
              </a:rPr>
              <a:t>	&lt;/</a:t>
            </a:r>
            <a:r>
              <a:rPr lang="en-US" sz="2200" b="1" dirty="0" err="1" smtClean="0">
                <a:solidFill>
                  <a:srgbClr val="FF0000"/>
                </a:solidFill>
              </a:rPr>
              <a:t>tr</a:t>
            </a:r>
            <a:r>
              <a:rPr lang="en-US" sz="2200" b="1" dirty="0">
                <a:solidFill>
                  <a:srgbClr val="FF0000"/>
                </a:solidFill>
              </a:rPr>
              <a:t>&gt;</a:t>
            </a:r>
          </a:p>
          <a:p>
            <a:pPr>
              <a:lnSpc>
                <a:spcPct val="90000"/>
              </a:lnSpc>
              <a:buClr>
                <a:schemeClr val="bg1"/>
              </a:buClr>
              <a:buFont typeface="Wingdings" pitchFamily="2" charset="2"/>
              <a:buNone/>
            </a:pPr>
            <a:r>
              <a:rPr lang="en-US" sz="2200" b="1" dirty="0" smtClean="0">
                <a:solidFill>
                  <a:srgbClr val="990000"/>
                </a:solidFill>
              </a:rPr>
              <a:t>	&lt;</a:t>
            </a:r>
            <a:r>
              <a:rPr lang="en-US" sz="2200" b="1" dirty="0" err="1" smtClean="0">
                <a:solidFill>
                  <a:srgbClr val="990000"/>
                </a:solidFill>
              </a:rPr>
              <a:t>tr</a:t>
            </a:r>
            <a:r>
              <a:rPr lang="en-US" sz="2200" b="1" dirty="0">
                <a:solidFill>
                  <a:srgbClr val="990000"/>
                </a:solidFill>
              </a:rPr>
              <a:t>&gt;</a:t>
            </a:r>
          </a:p>
          <a:p>
            <a:pPr>
              <a:lnSpc>
                <a:spcPct val="90000"/>
              </a:lnSpc>
              <a:buClr>
                <a:schemeClr val="bg1"/>
              </a:buClr>
              <a:buFont typeface="Wingdings" pitchFamily="2" charset="2"/>
              <a:buNone/>
            </a:pPr>
            <a:r>
              <a:rPr lang="en-US" sz="2200" b="1" dirty="0" smtClean="0">
                <a:solidFill>
                  <a:srgbClr val="0000CC"/>
                </a:solidFill>
              </a:rPr>
              <a:t>		&lt;</a:t>
            </a:r>
            <a:r>
              <a:rPr lang="en-US" sz="2200" b="1" dirty="0">
                <a:solidFill>
                  <a:srgbClr val="0000CC"/>
                </a:solidFill>
              </a:rPr>
              <a:t>td&gt; Row1, Col1 &lt;/td&gt;</a:t>
            </a:r>
          </a:p>
          <a:p>
            <a:pPr>
              <a:lnSpc>
                <a:spcPct val="90000"/>
              </a:lnSpc>
              <a:buClr>
                <a:schemeClr val="bg1"/>
              </a:buClr>
              <a:buFont typeface="Wingdings" pitchFamily="2" charset="2"/>
              <a:buNone/>
            </a:pPr>
            <a:r>
              <a:rPr lang="en-US" sz="2200" b="1" dirty="0" smtClean="0">
                <a:solidFill>
                  <a:srgbClr val="0000CC"/>
                </a:solidFill>
              </a:rPr>
              <a:t>		&lt;</a:t>
            </a:r>
            <a:r>
              <a:rPr lang="en-US" sz="2200" b="1" dirty="0">
                <a:solidFill>
                  <a:srgbClr val="0000CC"/>
                </a:solidFill>
              </a:rPr>
              <a:t>td&gt; Row1, Col2 &lt;/td&gt;</a:t>
            </a:r>
          </a:p>
          <a:p>
            <a:pPr>
              <a:lnSpc>
                <a:spcPct val="90000"/>
              </a:lnSpc>
              <a:buClr>
                <a:schemeClr val="bg1"/>
              </a:buClr>
              <a:buFont typeface="Wingdings" pitchFamily="2" charset="2"/>
              <a:buNone/>
            </a:pPr>
            <a:r>
              <a:rPr lang="en-US" sz="2200" b="1" dirty="0" smtClean="0">
                <a:solidFill>
                  <a:srgbClr val="990000"/>
                </a:solidFill>
              </a:rPr>
              <a:t>	&lt;/</a:t>
            </a:r>
            <a:r>
              <a:rPr lang="en-US" sz="2200" b="1" dirty="0" err="1">
                <a:solidFill>
                  <a:srgbClr val="990000"/>
                </a:solidFill>
              </a:rPr>
              <a:t>tr</a:t>
            </a:r>
            <a:r>
              <a:rPr lang="en-US" sz="2200" b="1" dirty="0">
                <a:solidFill>
                  <a:srgbClr val="990000"/>
                </a:solidFill>
              </a:rPr>
              <a:t>&gt;</a:t>
            </a:r>
          </a:p>
          <a:p>
            <a:pPr>
              <a:lnSpc>
                <a:spcPct val="90000"/>
              </a:lnSpc>
              <a:buClr>
                <a:schemeClr val="bg1"/>
              </a:buClr>
              <a:buFont typeface="Wingdings" pitchFamily="2" charset="2"/>
              <a:buNone/>
            </a:pPr>
            <a:r>
              <a:rPr lang="en-US" sz="2200" b="1" dirty="0" smtClean="0">
                <a:solidFill>
                  <a:srgbClr val="FF0000"/>
                </a:solidFill>
              </a:rPr>
              <a:t>	&lt;</a:t>
            </a:r>
            <a:r>
              <a:rPr lang="en-US" sz="2200" b="1" dirty="0" err="1">
                <a:solidFill>
                  <a:srgbClr val="FF0000"/>
                </a:solidFill>
              </a:rPr>
              <a:t>tr</a:t>
            </a:r>
            <a:r>
              <a:rPr lang="en-US" sz="2200" b="1" dirty="0">
                <a:solidFill>
                  <a:srgbClr val="FF0000"/>
                </a:solidFill>
              </a:rPr>
              <a:t>&gt;</a:t>
            </a:r>
          </a:p>
          <a:p>
            <a:pPr>
              <a:lnSpc>
                <a:spcPct val="90000"/>
              </a:lnSpc>
              <a:buClr>
                <a:schemeClr val="bg1"/>
              </a:buClr>
              <a:buFont typeface="Wingdings" pitchFamily="2" charset="2"/>
              <a:buNone/>
            </a:pPr>
            <a:r>
              <a:rPr lang="en-US" sz="2200" b="1" dirty="0" smtClean="0">
                <a:solidFill>
                  <a:srgbClr val="0000CC"/>
                </a:solidFill>
              </a:rPr>
              <a:t>		&lt;</a:t>
            </a:r>
            <a:r>
              <a:rPr lang="en-US" sz="2200" b="1" dirty="0">
                <a:solidFill>
                  <a:srgbClr val="0000CC"/>
                </a:solidFill>
              </a:rPr>
              <a:t>td&gt; Row2, Col1 &lt;/td&gt;</a:t>
            </a:r>
          </a:p>
          <a:p>
            <a:pPr>
              <a:lnSpc>
                <a:spcPct val="90000"/>
              </a:lnSpc>
              <a:buClr>
                <a:schemeClr val="bg1"/>
              </a:buClr>
              <a:buFont typeface="Wingdings" pitchFamily="2" charset="2"/>
              <a:buNone/>
            </a:pPr>
            <a:r>
              <a:rPr lang="en-US" sz="2200" b="1" dirty="0" smtClean="0">
                <a:solidFill>
                  <a:srgbClr val="0000CC"/>
                </a:solidFill>
              </a:rPr>
              <a:t>		&lt;</a:t>
            </a:r>
            <a:r>
              <a:rPr lang="en-US" sz="2200" b="1" dirty="0">
                <a:solidFill>
                  <a:srgbClr val="0000CC"/>
                </a:solidFill>
              </a:rPr>
              <a:t>td&gt; Row2, Col2 &lt;/td&gt;</a:t>
            </a:r>
          </a:p>
          <a:p>
            <a:pPr>
              <a:lnSpc>
                <a:spcPct val="90000"/>
              </a:lnSpc>
              <a:buClr>
                <a:schemeClr val="bg1"/>
              </a:buClr>
              <a:buFont typeface="Wingdings" pitchFamily="2" charset="2"/>
              <a:buNone/>
            </a:pPr>
            <a:r>
              <a:rPr lang="en-US" sz="2200" b="1" dirty="0" smtClean="0">
                <a:solidFill>
                  <a:srgbClr val="FF0000"/>
                </a:solidFill>
              </a:rPr>
              <a:t>	&lt;/</a:t>
            </a:r>
            <a:r>
              <a:rPr lang="en-US" sz="2200" b="1" dirty="0" err="1">
                <a:solidFill>
                  <a:srgbClr val="FF0000"/>
                </a:solidFill>
              </a:rPr>
              <a:t>tr</a:t>
            </a:r>
            <a:r>
              <a:rPr lang="en-US" sz="2200" b="1" dirty="0">
                <a:solidFill>
                  <a:srgbClr val="FF0000"/>
                </a:solidFill>
              </a:rPr>
              <a:t>&gt;</a:t>
            </a:r>
          </a:p>
          <a:p>
            <a:pPr>
              <a:lnSpc>
                <a:spcPct val="90000"/>
              </a:lnSpc>
              <a:buClr>
                <a:schemeClr val="bg1"/>
              </a:buClr>
              <a:buFont typeface="Wingdings" pitchFamily="2" charset="2"/>
              <a:buNone/>
            </a:pPr>
            <a:r>
              <a:rPr lang="en-US" sz="2200" b="1" dirty="0"/>
              <a:t>&lt;/table&gt;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5"/>
          <p:cNvSpPr>
            <a:spLocks noGrp="1"/>
          </p:cNvSpPr>
          <p:nvPr>
            <p:ph type="sldNum" sz="quarter" idx="12"/>
          </p:nvPr>
        </p:nvSpPr>
        <p:spPr/>
        <p:txBody>
          <a:bodyPr/>
          <a:lstStyle/>
          <a:p>
            <a:fld id="{E7E777AD-8F21-4889-9D87-86821222DFF7}" type="slidenum">
              <a:rPr lang="ar-SA"/>
              <a:pPr/>
              <a:t>5</a:t>
            </a:fld>
            <a:endParaRPr lang="en-US"/>
          </a:p>
        </p:txBody>
      </p:sp>
      <p:sp>
        <p:nvSpPr>
          <p:cNvPr id="73730" name="Rectangle 2"/>
          <p:cNvSpPr>
            <a:spLocks noGrp="1" noChangeArrowheads="1"/>
          </p:cNvSpPr>
          <p:nvPr>
            <p:ph type="title"/>
          </p:nvPr>
        </p:nvSpPr>
        <p:spPr>
          <a:noFill/>
        </p:spPr>
        <p:txBody>
          <a:bodyPr>
            <a:flatTx/>
          </a:bodyPr>
          <a:lstStyle/>
          <a:p>
            <a:r>
              <a:rPr lang="en-US">
                <a:solidFill>
                  <a:srgbClr val="C00000"/>
                </a:solidFill>
              </a:rPr>
              <a:t>Tables</a:t>
            </a:r>
          </a:p>
        </p:txBody>
      </p:sp>
      <p:graphicFrame>
        <p:nvGraphicFramePr>
          <p:cNvPr id="73746" name="Group 18"/>
          <p:cNvGraphicFramePr>
            <a:graphicFrameLocks noGrp="1"/>
          </p:cNvGraphicFramePr>
          <p:nvPr>
            <p:ph type="tbl" idx="1"/>
          </p:nvPr>
        </p:nvGraphicFramePr>
        <p:xfrm>
          <a:off x="1182688" y="2438400"/>
          <a:ext cx="6778625" cy="2333626"/>
        </p:xfrm>
        <a:graphic>
          <a:graphicData uri="http://schemas.openxmlformats.org/drawingml/2006/table">
            <a:tbl>
              <a:tblPr/>
              <a:tblGrid>
                <a:gridCol w="3429000"/>
                <a:gridCol w="3349625"/>
              </a:tblGrid>
              <a:tr h="10398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cs typeface="Arial" charset="0"/>
                        </a:rPr>
                        <a:t> Column 1 Header</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cs typeface="Arial" charset="0"/>
                        </a:rPr>
                        <a:t> Column 2 Header</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84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Row1, Col1</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Row1, Col2</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Row2, Col1</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Arial" charset="0"/>
                        </a:rPr>
                        <a:t>Row2, Col2</a:t>
                      </a: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E4981AE-D7CE-4D94-B51E-658F09BF80DD}" type="slidenum">
              <a:rPr lang="ar-SA"/>
              <a:pPr/>
              <a:t>6</a:t>
            </a:fld>
            <a:endParaRPr lang="en-US"/>
          </a:p>
        </p:txBody>
      </p:sp>
      <p:sp>
        <p:nvSpPr>
          <p:cNvPr id="74754" name="Rectangle 2"/>
          <p:cNvSpPr>
            <a:spLocks noGrp="1" noChangeArrowheads="1"/>
          </p:cNvSpPr>
          <p:nvPr>
            <p:ph type="title"/>
          </p:nvPr>
        </p:nvSpPr>
        <p:spPr>
          <a:xfrm>
            <a:off x="606425" y="274638"/>
            <a:ext cx="7931150" cy="1143000"/>
          </a:xfrm>
          <a:noFill/>
        </p:spPr>
        <p:txBody>
          <a:bodyPr>
            <a:flatTx/>
          </a:bodyPr>
          <a:lstStyle/>
          <a:p>
            <a:r>
              <a:rPr lang="en-US">
                <a:solidFill>
                  <a:srgbClr val="C00000"/>
                </a:solidFill>
              </a:rPr>
              <a:t>Tables Attributes</a:t>
            </a:r>
          </a:p>
        </p:txBody>
      </p:sp>
      <p:sp>
        <p:nvSpPr>
          <p:cNvPr id="74755" name="Rectangle 3"/>
          <p:cNvSpPr>
            <a:spLocks noGrp="1" noChangeArrowheads="1"/>
          </p:cNvSpPr>
          <p:nvPr>
            <p:ph type="body" idx="1"/>
          </p:nvPr>
        </p:nvSpPr>
        <p:spPr>
          <a:xfrm>
            <a:off x="457200" y="1600200"/>
            <a:ext cx="8229600" cy="4953000"/>
          </a:xfrm>
          <a:noFill/>
        </p:spPr>
        <p:txBody>
          <a:bodyPr/>
          <a:lstStyle/>
          <a:p>
            <a:pPr>
              <a:buClr>
                <a:schemeClr val="tx1"/>
              </a:buClr>
              <a:buFont typeface="Wingdings" pitchFamily="2" charset="2"/>
              <a:buChar char="§"/>
            </a:pPr>
            <a:r>
              <a:rPr lang="en-US" sz="2800" b="1" dirty="0" err="1">
                <a:solidFill>
                  <a:srgbClr val="FF0000"/>
                </a:solidFill>
              </a:rPr>
              <a:t>BGColor</a:t>
            </a:r>
            <a:r>
              <a:rPr lang="en-US" sz="2800" b="1" dirty="0"/>
              <a:t>:</a:t>
            </a:r>
            <a:r>
              <a:rPr lang="en-US" sz="2800" dirty="0"/>
              <a:t> Some browsers support background colors in a table.</a:t>
            </a:r>
          </a:p>
          <a:p>
            <a:pPr>
              <a:buClr>
                <a:schemeClr val="tx1"/>
              </a:buClr>
              <a:buFont typeface="Wingdings" pitchFamily="2" charset="2"/>
              <a:buChar char="§"/>
            </a:pPr>
            <a:r>
              <a:rPr lang="en-US" sz="2800" b="1" dirty="0">
                <a:solidFill>
                  <a:srgbClr val="FF0000"/>
                </a:solidFill>
              </a:rPr>
              <a:t>Width</a:t>
            </a:r>
            <a:r>
              <a:rPr lang="en-US" sz="2800" b="1" dirty="0"/>
              <a:t>:</a:t>
            </a:r>
            <a:r>
              <a:rPr lang="en-US" sz="2800" dirty="0"/>
              <a:t> you can specify the table width as an absolute number of pixels or a percentage of the document width. You can set the width for the table cells as well.</a:t>
            </a:r>
          </a:p>
          <a:p>
            <a:pPr>
              <a:buClr>
                <a:schemeClr val="tx1"/>
              </a:buClr>
              <a:buFont typeface="Wingdings" pitchFamily="2" charset="2"/>
              <a:buChar char="§"/>
            </a:pPr>
            <a:r>
              <a:rPr lang="en-US" sz="2800" b="1" dirty="0">
                <a:solidFill>
                  <a:srgbClr val="FF0000"/>
                </a:solidFill>
              </a:rPr>
              <a:t>Border</a:t>
            </a:r>
            <a:r>
              <a:rPr lang="en-US" sz="2800" b="1" dirty="0"/>
              <a:t>:</a:t>
            </a:r>
            <a:r>
              <a:rPr lang="en-US" sz="2800" dirty="0"/>
              <a:t> You can choose a numerical value for the border width, which specifies the border in pixels.</a:t>
            </a:r>
          </a:p>
          <a:p>
            <a:pPr>
              <a:buClr>
                <a:schemeClr val="tx1"/>
              </a:buClr>
              <a:buFont typeface="Wingdings" pitchFamily="2" charset="2"/>
              <a:buChar char="§"/>
            </a:pPr>
            <a:r>
              <a:rPr lang="en-US" sz="2800" b="1" dirty="0" err="1">
                <a:solidFill>
                  <a:srgbClr val="FF0000"/>
                </a:solidFill>
              </a:rPr>
              <a:t>CellSpacing</a:t>
            </a:r>
            <a:r>
              <a:rPr lang="en-US" sz="2800" b="1" dirty="0"/>
              <a:t>:</a:t>
            </a:r>
            <a:r>
              <a:rPr lang="en-US" sz="2800" dirty="0"/>
              <a:t> Cell Spacing represents the space between cells and is specified in pixels.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553C8B0-1162-4407-91D7-E2E8E869598C}" type="slidenum">
              <a:rPr lang="ar-SA"/>
              <a:pPr/>
              <a:t>7</a:t>
            </a:fld>
            <a:endParaRPr lang="en-US"/>
          </a:p>
        </p:txBody>
      </p:sp>
      <p:sp>
        <p:nvSpPr>
          <p:cNvPr id="75778" name="Rectangle 2"/>
          <p:cNvSpPr>
            <a:spLocks noGrp="1" noChangeArrowheads="1"/>
          </p:cNvSpPr>
          <p:nvPr>
            <p:ph type="title"/>
          </p:nvPr>
        </p:nvSpPr>
        <p:spPr>
          <a:xfrm>
            <a:off x="457200" y="274638"/>
            <a:ext cx="8229600" cy="685800"/>
          </a:xfrm>
          <a:noFill/>
        </p:spPr>
        <p:txBody>
          <a:bodyPr>
            <a:normAutofit fontScale="90000"/>
            <a:flatTx/>
          </a:bodyPr>
          <a:lstStyle/>
          <a:p>
            <a:r>
              <a:rPr lang="en-US" dirty="0">
                <a:solidFill>
                  <a:srgbClr val="C00000"/>
                </a:solidFill>
              </a:rPr>
              <a:t>Table Attributes</a:t>
            </a:r>
          </a:p>
        </p:txBody>
      </p:sp>
      <p:sp>
        <p:nvSpPr>
          <p:cNvPr id="75779" name="Rectangle 3"/>
          <p:cNvSpPr>
            <a:spLocks noGrp="1" noChangeArrowheads="1"/>
          </p:cNvSpPr>
          <p:nvPr>
            <p:ph type="body" idx="1"/>
          </p:nvPr>
        </p:nvSpPr>
        <p:spPr>
          <a:xfrm>
            <a:off x="685800" y="1371600"/>
            <a:ext cx="8077200" cy="5029200"/>
          </a:xfrm>
          <a:noFill/>
        </p:spPr>
        <p:txBody>
          <a:bodyPr/>
          <a:lstStyle/>
          <a:p>
            <a:pPr>
              <a:buClr>
                <a:schemeClr val="tx1"/>
              </a:buClr>
              <a:buFont typeface="Wingdings" pitchFamily="2" charset="2"/>
              <a:buChar char="§"/>
            </a:pPr>
            <a:r>
              <a:rPr lang="en-US" b="1" dirty="0" err="1">
                <a:solidFill>
                  <a:srgbClr val="FF0000"/>
                </a:solidFill>
              </a:rPr>
              <a:t>CellPadding</a:t>
            </a:r>
            <a:r>
              <a:rPr lang="en-US" b="1" dirty="0"/>
              <a:t>:</a:t>
            </a:r>
            <a:r>
              <a:rPr lang="en-US" dirty="0"/>
              <a:t> Cell Padding is the space between the cell border and the cell contents and is specified in pixels.</a:t>
            </a:r>
          </a:p>
          <a:p>
            <a:pPr>
              <a:buClr>
                <a:schemeClr val="tx1"/>
              </a:buClr>
              <a:buFont typeface="Wingdings" pitchFamily="2" charset="2"/>
              <a:buChar char="§"/>
            </a:pPr>
            <a:r>
              <a:rPr lang="en-US" b="1" dirty="0">
                <a:solidFill>
                  <a:srgbClr val="FF0000"/>
                </a:solidFill>
              </a:rPr>
              <a:t>Align</a:t>
            </a:r>
            <a:r>
              <a:rPr lang="en-US" b="1" dirty="0"/>
              <a:t>:</a:t>
            </a:r>
            <a:r>
              <a:rPr lang="en-US" dirty="0"/>
              <a:t> tables can have left, right, or center alignment. </a:t>
            </a:r>
          </a:p>
          <a:p>
            <a:pPr>
              <a:buClr>
                <a:schemeClr val="tx1"/>
              </a:buClr>
              <a:buFont typeface="Wingdings" pitchFamily="2" charset="2"/>
              <a:buChar char="§"/>
            </a:pPr>
            <a:r>
              <a:rPr lang="en-US" b="1" dirty="0">
                <a:solidFill>
                  <a:srgbClr val="FF0000"/>
                </a:solidFill>
              </a:rPr>
              <a:t>Background</a:t>
            </a:r>
            <a:r>
              <a:rPr lang="en-US" b="1" dirty="0"/>
              <a:t>:</a:t>
            </a:r>
            <a:r>
              <a:rPr lang="en-US" dirty="0"/>
              <a:t> Background Image, will be titled in IE3.0 and above.</a:t>
            </a:r>
          </a:p>
          <a:p>
            <a:pPr>
              <a:buClr>
                <a:schemeClr val="tx1"/>
              </a:buClr>
              <a:buFont typeface="Wingdings" pitchFamily="2" charset="2"/>
              <a:buChar char="§"/>
            </a:pPr>
            <a:r>
              <a:rPr lang="en-US" dirty="0" err="1">
                <a:solidFill>
                  <a:srgbClr val="FF0000"/>
                </a:solidFill>
              </a:rPr>
              <a:t>BorderColor</a:t>
            </a:r>
            <a:r>
              <a:rPr lang="en-US" dirty="0">
                <a:solidFill>
                  <a:srgbClr val="FF0000"/>
                </a:solidFill>
              </a:rPr>
              <a:t>, </a:t>
            </a:r>
            <a:r>
              <a:rPr lang="en-US" dirty="0" err="1">
                <a:solidFill>
                  <a:srgbClr val="FF0000"/>
                </a:solidFill>
              </a:rPr>
              <a:t>BorderColorDark</a:t>
            </a:r>
            <a:r>
              <a:rPr lang="en-US" dirty="0"/>
              <a: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C04E7C4-1B98-46B7-A934-7C5BE51B5144}" type="slidenum">
              <a:rPr lang="ar-SA"/>
              <a:pPr/>
              <a:t>8</a:t>
            </a:fld>
            <a:endParaRPr lang="en-US"/>
          </a:p>
        </p:txBody>
      </p:sp>
      <p:sp>
        <p:nvSpPr>
          <p:cNvPr id="76802" name="Rectangle 2"/>
          <p:cNvSpPr>
            <a:spLocks noGrp="1" noChangeArrowheads="1"/>
          </p:cNvSpPr>
          <p:nvPr>
            <p:ph type="title"/>
          </p:nvPr>
        </p:nvSpPr>
        <p:spPr>
          <a:xfrm>
            <a:off x="457200" y="304800"/>
            <a:ext cx="8229600" cy="1143000"/>
          </a:xfrm>
          <a:noFill/>
        </p:spPr>
        <p:txBody>
          <a:bodyPr>
            <a:flatTx/>
          </a:bodyPr>
          <a:lstStyle/>
          <a:p>
            <a:r>
              <a:rPr lang="en-US" dirty="0">
                <a:solidFill>
                  <a:srgbClr val="C00000"/>
                </a:solidFill>
              </a:rPr>
              <a:t>Table Caption</a:t>
            </a:r>
          </a:p>
        </p:txBody>
      </p:sp>
      <p:sp>
        <p:nvSpPr>
          <p:cNvPr id="76803" name="Rectangle 3"/>
          <p:cNvSpPr>
            <a:spLocks noGrp="1" noChangeArrowheads="1"/>
          </p:cNvSpPr>
          <p:nvPr>
            <p:ph type="body" idx="1"/>
          </p:nvPr>
        </p:nvSpPr>
        <p:spPr>
          <a:xfrm>
            <a:off x="457200" y="1752600"/>
            <a:ext cx="8229600" cy="4525963"/>
          </a:xfrm>
          <a:noFill/>
        </p:spPr>
        <p:txBody>
          <a:bodyPr/>
          <a:lstStyle/>
          <a:p>
            <a:pPr>
              <a:buFont typeface="Wingdings" pitchFamily="2" charset="2"/>
              <a:buChar char="§"/>
            </a:pPr>
            <a:r>
              <a:rPr lang="en-US" sz="2800" dirty="0"/>
              <a:t>A table caption allows you to specify a line of text that will appear centered above or bellow the table.</a:t>
            </a:r>
          </a:p>
          <a:p>
            <a:pPr>
              <a:buFont typeface="Wingdings" pitchFamily="2" charset="2"/>
              <a:buNone/>
            </a:pPr>
            <a:r>
              <a:rPr lang="en-US" sz="2400" b="1" dirty="0">
                <a:solidFill>
                  <a:srgbClr val="FF0000"/>
                </a:solidFill>
              </a:rPr>
              <a:t>&lt;TABLE BORDER=1 CELLPADDING=2&gt;</a:t>
            </a:r>
          </a:p>
          <a:p>
            <a:pPr>
              <a:buFont typeface="Wingdings" pitchFamily="2" charset="2"/>
              <a:buNone/>
            </a:pPr>
            <a:r>
              <a:rPr lang="en-US" sz="2400" b="1" dirty="0">
                <a:solidFill>
                  <a:srgbClr val="FF0000"/>
                </a:solidFill>
              </a:rPr>
              <a:t>&lt;CAPTION ALIGN=“BOTTOM”&gt; Label For My Table &lt;/CAPTION&gt;</a:t>
            </a:r>
          </a:p>
          <a:p>
            <a:pPr>
              <a:buFont typeface="Wingdings" pitchFamily="2" charset="2"/>
              <a:buChar char="§"/>
            </a:pPr>
            <a:endParaRPr lang="en-US" sz="2800" dirty="0"/>
          </a:p>
          <a:p>
            <a:pPr>
              <a:buFont typeface="Wingdings" pitchFamily="2" charset="2"/>
              <a:buChar char="§"/>
            </a:pPr>
            <a:r>
              <a:rPr lang="en-US" sz="2800" dirty="0"/>
              <a:t>The Caption element has one attribute ALIGN that can be either TOP (Above the table) or BOTTOM (below the table).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0BD6E33-AF8B-4EC4-8BA2-97C2B76C2978}" type="slidenum">
              <a:rPr lang="ar-SA"/>
              <a:pPr/>
              <a:t>9</a:t>
            </a:fld>
            <a:endParaRPr lang="en-US"/>
          </a:p>
        </p:txBody>
      </p:sp>
      <p:sp>
        <p:nvSpPr>
          <p:cNvPr id="77826" name="Rectangle 2"/>
          <p:cNvSpPr>
            <a:spLocks noGrp="1" noChangeArrowheads="1"/>
          </p:cNvSpPr>
          <p:nvPr>
            <p:ph type="title"/>
          </p:nvPr>
        </p:nvSpPr>
        <p:spPr>
          <a:noFill/>
        </p:spPr>
        <p:txBody>
          <a:bodyPr>
            <a:flatTx/>
          </a:bodyPr>
          <a:lstStyle/>
          <a:p>
            <a:r>
              <a:rPr lang="en-US">
                <a:solidFill>
                  <a:srgbClr val="C00000"/>
                </a:solidFill>
              </a:rPr>
              <a:t>Table Header</a:t>
            </a:r>
          </a:p>
        </p:txBody>
      </p:sp>
      <p:sp>
        <p:nvSpPr>
          <p:cNvPr id="77827" name="Rectangle 3"/>
          <p:cNvSpPr>
            <a:spLocks noGrp="1" noChangeArrowheads="1"/>
          </p:cNvSpPr>
          <p:nvPr>
            <p:ph type="body" idx="1"/>
          </p:nvPr>
        </p:nvSpPr>
        <p:spPr>
          <a:xfrm>
            <a:off x="457200" y="1905000"/>
            <a:ext cx="8229600" cy="3505200"/>
          </a:xfrm>
          <a:noFill/>
        </p:spPr>
        <p:txBody>
          <a:bodyPr/>
          <a:lstStyle/>
          <a:p>
            <a:pPr>
              <a:buClr>
                <a:schemeClr val="accent2"/>
              </a:buClr>
              <a:buFont typeface="Wingdings" pitchFamily="2" charset="2"/>
              <a:buChar char="§"/>
            </a:pPr>
            <a:r>
              <a:rPr lang="en-US"/>
              <a:t>Table Data cells are represented by the TD element. Cells can also be TH (Table Header) elements which results in the contents of the table header cells appearing </a:t>
            </a:r>
            <a:r>
              <a:rPr lang="en-US">
                <a:solidFill>
                  <a:srgbClr val="990000"/>
                </a:solidFill>
              </a:rPr>
              <a:t>centered and in bold text</a:t>
            </a:r>
            <a:r>
              <a:rPr lang="en-US"/>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3A419BB-E024-4777-BB8B-66E0810ADDB0}" type="slidenum">
              <a:rPr lang="ar-SA"/>
              <a:pPr/>
              <a:t>10</a:t>
            </a:fld>
            <a:endParaRPr lang="en-US"/>
          </a:p>
        </p:txBody>
      </p:sp>
      <p:sp>
        <p:nvSpPr>
          <p:cNvPr id="78850" name="Rectangle 2"/>
          <p:cNvSpPr>
            <a:spLocks noGrp="1" noChangeArrowheads="1"/>
          </p:cNvSpPr>
          <p:nvPr>
            <p:ph type="title"/>
          </p:nvPr>
        </p:nvSpPr>
        <p:spPr>
          <a:xfrm>
            <a:off x="457200" y="274638"/>
            <a:ext cx="8229600" cy="1020762"/>
          </a:xfrm>
          <a:noFill/>
        </p:spPr>
        <p:txBody>
          <a:bodyPr>
            <a:normAutofit fontScale="90000"/>
            <a:flatTx/>
          </a:bodyPr>
          <a:lstStyle/>
          <a:p>
            <a:r>
              <a:rPr lang="en-US" sz="4000" b="1">
                <a:solidFill>
                  <a:srgbClr val="C00000"/>
                </a:solidFill>
              </a:rPr>
              <a:t>Table Data and Table Header Attributes</a:t>
            </a:r>
          </a:p>
        </p:txBody>
      </p:sp>
      <p:sp>
        <p:nvSpPr>
          <p:cNvPr id="78851" name="Rectangle 3"/>
          <p:cNvSpPr>
            <a:spLocks noGrp="1" noChangeArrowheads="1"/>
          </p:cNvSpPr>
          <p:nvPr>
            <p:ph type="body" idx="1"/>
          </p:nvPr>
        </p:nvSpPr>
        <p:spPr>
          <a:xfrm>
            <a:off x="304800" y="1447800"/>
            <a:ext cx="8305800" cy="4495800"/>
          </a:xfrm>
          <a:noFill/>
        </p:spPr>
        <p:txBody>
          <a:bodyPr>
            <a:noAutofit/>
          </a:bodyPr>
          <a:lstStyle/>
          <a:p>
            <a:pPr>
              <a:buClr>
                <a:schemeClr val="accent2"/>
              </a:buClr>
              <a:buFont typeface="Wingdings" pitchFamily="2" charset="2"/>
              <a:buChar char="§"/>
            </a:pPr>
            <a:r>
              <a:rPr lang="en-US" sz="2600" b="1" dirty="0" err="1">
                <a:solidFill>
                  <a:srgbClr val="FF0000"/>
                </a:solidFill>
              </a:rPr>
              <a:t>Colspan</a:t>
            </a:r>
            <a:r>
              <a:rPr lang="en-US" sz="2600" b="1" dirty="0">
                <a:solidFill>
                  <a:srgbClr val="FF0000"/>
                </a:solidFill>
              </a:rPr>
              <a:t>:</a:t>
            </a:r>
            <a:r>
              <a:rPr lang="en-US" sz="2600" dirty="0"/>
              <a:t> Specifies how many cell columns of the table this cell should span.</a:t>
            </a:r>
          </a:p>
          <a:p>
            <a:pPr>
              <a:buClr>
                <a:schemeClr val="accent2"/>
              </a:buClr>
              <a:buFont typeface="Wingdings" pitchFamily="2" charset="2"/>
              <a:buChar char="§"/>
            </a:pPr>
            <a:r>
              <a:rPr lang="en-US" sz="2600" b="1" dirty="0" err="1">
                <a:solidFill>
                  <a:srgbClr val="FF0000"/>
                </a:solidFill>
              </a:rPr>
              <a:t>Rowspan</a:t>
            </a:r>
            <a:r>
              <a:rPr lang="en-US" sz="2600" b="1" i="1" dirty="0"/>
              <a:t>:</a:t>
            </a:r>
            <a:r>
              <a:rPr lang="en-US" sz="2600" dirty="0"/>
              <a:t> Specifies how many cell rows of the table this cell should span.</a:t>
            </a:r>
          </a:p>
          <a:p>
            <a:pPr>
              <a:buClr>
                <a:schemeClr val="accent2"/>
              </a:buClr>
              <a:buFont typeface="Wingdings" pitchFamily="2" charset="2"/>
              <a:buChar char="§"/>
            </a:pPr>
            <a:r>
              <a:rPr lang="en-US" sz="2600" b="1" dirty="0">
                <a:solidFill>
                  <a:srgbClr val="FF0000"/>
                </a:solidFill>
              </a:rPr>
              <a:t>Align</a:t>
            </a:r>
            <a:r>
              <a:rPr lang="en-US" sz="2600" b="1" i="1" dirty="0"/>
              <a:t>:</a:t>
            </a:r>
            <a:r>
              <a:rPr lang="en-US" sz="2600" dirty="0"/>
              <a:t> cell data can have left, right, or center alignment.</a:t>
            </a:r>
          </a:p>
          <a:p>
            <a:pPr>
              <a:buClr>
                <a:schemeClr val="accent2"/>
              </a:buClr>
              <a:buFont typeface="Wingdings" pitchFamily="2" charset="2"/>
              <a:buChar char="§"/>
            </a:pPr>
            <a:r>
              <a:rPr lang="en-US" sz="2600" b="1" dirty="0" err="1">
                <a:solidFill>
                  <a:srgbClr val="FF0000"/>
                </a:solidFill>
              </a:rPr>
              <a:t>Valign</a:t>
            </a:r>
            <a:r>
              <a:rPr lang="en-US" sz="2600" b="1" i="1" dirty="0"/>
              <a:t>:</a:t>
            </a:r>
            <a:r>
              <a:rPr lang="en-US" sz="2600" dirty="0"/>
              <a:t> cell data can have top, middle, or bottom alignment.</a:t>
            </a:r>
          </a:p>
          <a:p>
            <a:pPr>
              <a:buClr>
                <a:schemeClr val="accent2"/>
              </a:buClr>
              <a:buFont typeface="Wingdings" pitchFamily="2" charset="2"/>
              <a:buChar char="§"/>
            </a:pPr>
            <a:r>
              <a:rPr lang="en-US" sz="2600" b="1" dirty="0">
                <a:solidFill>
                  <a:srgbClr val="FF0000"/>
                </a:solidFill>
              </a:rPr>
              <a:t>Width</a:t>
            </a:r>
            <a:r>
              <a:rPr lang="en-US" sz="2600" b="1" i="1" dirty="0"/>
              <a:t>:</a:t>
            </a:r>
            <a:r>
              <a:rPr lang="en-US" sz="2600" dirty="0"/>
              <a:t> you can specify the width as an absolute number of pixels or a percentage of the document width.</a:t>
            </a:r>
          </a:p>
          <a:p>
            <a:pPr>
              <a:buClr>
                <a:schemeClr val="accent2"/>
              </a:buClr>
              <a:buFont typeface="Wingdings" pitchFamily="2" charset="2"/>
              <a:buChar char="§"/>
            </a:pPr>
            <a:r>
              <a:rPr lang="en-US" sz="2600" b="1" dirty="0">
                <a:solidFill>
                  <a:srgbClr val="FF0000"/>
                </a:solidFill>
              </a:rPr>
              <a:t>Height</a:t>
            </a:r>
            <a:r>
              <a:rPr lang="en-US" sz="2600" b="1" i="1" dirty="0"/>
              <a:t>:</a:t>
            </a:r>
            <a:r>
              <a:rPr lang="en-US" sz="2600" dirty="0"/>
              <a:t> You can specify the height as an absolute number of pixels or a percentage of the document height.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62D23746-6384-4144-B8DD-6883C0140131}" type="slidenum">
              <a:rPr lang="ar-SA"/>
              <a:pPr/>
              <a:t>11</a:t>
            </a:fld>
            <a:endParaRPr lang="en-US"/>
          </a:p>
        </p:txBody>
      </p:sp>
      <p:sp>
        <p:nvSpPr>
          <p:cNvPr id="139267" name="Rectangle 3"/>
          <p:cNvSpPr>
            <a:spLocks noGrp="1" noChangeArrowheads="1"/>
          </p:cNvSpPr>
          <p:nvPr>
            <p:ph type="body" idx="1"/>
          </p:nvPr>
        </p:nvSpPr>
        <p:spPr>
          <a:xfrm>
            <a:off x="152400" y="1143000"/>
            <a:ext cx="8991600" cy="3048000"/>
          </a:xfrm>
          <a:noFill/>
        </p:spPr>
        <p:txBody>
          <a:bodyPr>
            <a:noAutofit/>
          </a:bodyPr>
          <a:lstStyle/>
          <a:p>
            <a:pPr>
              <a:lnSpc>
                <a:spcPct val="80000"/>
              </a:lnSpc>
              <a:buFontTx/>
              <a:buNone/>
            </a:pPr>
            <a:r>
              <a:rPr lang="en-US" sz="2200" b="1" dirty="0"/>
              <a:t>&lt;TABLE BORDER=1 width=50%&gt;</a:t>
            </a:r>
          </a:p>
          <a:p>
            <a:pPr>
              <a:lnSpc>
                <a:spcPct val="80000"/>
              </a:lnSpc>
              <a:buFontTx/>
              <a:buNone/>
            </a:pPr>
            <a:r>
              <a:rPr lang="en-US" sz="2200" b="1" dirty="0"/>
              <a:t>&lt;CAPTION&gt;  &lt;h1&gt;Spare Parts &lt;h1&gt; &lt;/Caption&gt;</a:t>
            </a:r>
          </a:p>
          <a:p>
            <a:pPr>
              <a:lnSpc>
                <a:spcPct val="80000"/>
              </a:lnSpc>
              <a:buFontTx/>
              <a:buNone/>
            </a:pPr>
            <a:r>
              <a:rPr lang="en-US" sz="2200" b="1" dirty="0" smtClean="0"/>
              <a:t>	&lt;</a:t>
            </a:r>
            <a:r>
              <a:rPr lang="en-US" sz="2200" b="1" dirty="0"/>
              <a:t>TR&gt;&lt;TH&gt;Stock Number&lt;/TH&gt;&lt;TH&gt;Description&lt;/TH&gt;&lt;TH&gt;List Price&lt;/TH&gt;&lt;/TR&gt;</a:t>
            </a:r>
          </a:p>
          <a:p>
            <a:pPr>
              <a:lnSpc>
                <a:spcPct val="80000"/>
              </a:lnSpc>
              <a:buFontTx/>
              <a:buNone/>
            </a:pPr>
            <a:r>
              <a:rPr lang="en-US" sz="2200" b="1" dirty="0" smtClean="0"/>
              <a:t>	&lt;</a:t>
            </a:r>
            <a:r>
              <a:rPr lang="en-US" sz="2200" b="1" dirty="0"/>
              <a:t>TR&gt;&lt;TD </a:t>
            </a:r>
            <a:r>
              <a:rPr lang="en-US" sz="2200" b="1" dirty="0" err="1"/>
              <a:t>bgcolor</a:t>
            </a:r>
            <a:r>
              <a:rPr lang="en-US" sz="2200" b="1" dirty="0"/>
              <a:t>=red&gt;3476-AB&lt;/TD&gt;&lt;TD&gt;76mm Socket&lt;/TD&gt;&lt;TD&gt;45.00&lt;/TD&gt;&lt;/TR&gt;</a:t>
            </a:r>
          </a:p>
          <a:p>
            <a:pPr>
              <a:lnSpc>
                <a:spcPct val="80000"/>
              </a:lnSpc>
              <a:buFontTx/>
              <a:buNone/>
            </a:pPr>
            <a:r>
              <a:rPr lang="en-US" sz="2200" b="1" dirty="0" smtClean="0"/>
              <a:t>	&lt;</a:t>
            </a:r>
            <a:r>
              <a:rPr lang="en-US" sz="2200" b="1" dirty="0"/>
              <a:t>TR&gt;&lt;TD &gt;3478-AB&lt;/TD&gt;&lt;TD&gt;&lt;font color=blue&gt;78mm Socket&lt;/font&gt; &lt;/TD&gt;&lt;TD&gt;47.50&lt;/TD&gt;&lt;/TR&gt;</a:t>
            </a:r>
          </a:p>
          <a:p>
            <a:pPr>
              <a:lnSpc>
                <a:spcPct val="80000"/>
              </a:lnSpc>
              <a:buFontTx/>
              <a:buNone/>
            </a:pPr>
            <a:r>
              <a:rPr lang="en-US" sz="2200" b="1" dirty="0" smtClean="0"/>
              <a:t>	&lt;</a:t>
            </a:r>
            <a:r>
              <a:rPr lang="en-US" sz="2200" b="1" dirty="0"/>
              <a:t>TR&gt;&lt;TD&gt;3480-AB&lt;/TD&gt;&lt;TD&gt;80mm Socket&lt;/TD&gt;&lt;TD&gt;50.00&lt;/TD&gt;&lt;/TR&gt;</a:t>
            </a:r>
          </a:p>
          <a:p>
            <a:pPr>
              <a:lnSpc>
                <a:spcPct val="80000"/>
              </a:lnSpc>
              <a:buFontTx/>
              <a:buNone/>
            </a:pPr>
            <a:r>
              <a:rPr lang="en-US" sz="2200" b="1" dirty="0"/>
              <a:t>&lt;/TABLE&gt;</a:t>
            </a:r>
          </a:p>
          <a:p>
            <a:pPr>
              <a:lnSpc>
                <a:spcPct val="80000"/>
              </a:lnSpc>
              <a:buFontTx/>
              <a:buNone/>
            </a:pPr>
            <a:endParaRPr lang="en-US" sz="2200" b="1" dirty="0"/>
          </a:p>
        </p:txBody>
      </p:sp>
      <p:sp>
        <p:nvSpPr>
          <p:cNvPr id="139268" name="Rectangle 4"/>
          <p:cNvSpPr>
            <a:spLocks noGrp="1" noChangeArrowheads="1"/>
          </p:cNvSpPr>
          <p:nvPr>
            <p:ph type="title"/>
          </p:nvPr>
        </p:nvSpPr>
        <p:spPr>
          <a:xfrm>
            <a:off x="457200" y="152400"/>
            <a:ext cx="8229600" cy="792163"/>
          </a:xfrm>
          <a:noFill/>
          <a:ln/>
        </p:spPr>
        <p:txBody>
          <a:bodyPr>
            <a:flatTx/>
          </a:bodyPr>
          <a:lstStyle/>
          <a:p>
            <a:r>
              <a:rPr lang="en-US" dirty="0">
                <a:solidFill>
                  <a:srgbClr val="C00000"/>
                </a:solidFill>
              </a:rPr>
              <a:t>Basic Table Code</a:t>
            </a:r>
          </a:p>
        </p:txBody>
      </p:sp>
      <p:pic>
        <p:nvPicPr>
          <p:cNvPr id="139272" name="Picture 8"/>
          <p:cNvPicPr>
            <a:picLocks noChangeAspect="1" noChangeArrowheads="1"/>
          </p:cNvPicPr>
          <p:nvPr/>
        </p:nvPicPr>
        <p:blipFill>
          <a:blip r:embed="rId2" cstate="print"/>
          <a:srcRect/>
          <a:stretch>
            <a:fillRect/>
          </a:stretch>
        </p:blipFill>
        <p:spPr bwMode="auto">
          <a:xfrm>
            <a:off x="1143000" y="4570413"/>
            <a:ext cx="6477000" cy="2287587"/>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BD90B1A-5460-4C0E-BDCD-171C19A7252E}" type="slidenum">
              <a:rPr lang="ar-SA"/>
              <a:pPr/>
              <a:t>12</a:t>
            </a:fld>
            <a:endParaRPr lang="en-US"/>
          </a:p>
        </p:txBody>
      </p:sp>
      <p:sp>
        <p:nvSpPr>
          <p:cNvPr id="79874" name="Rectangle 2"/>
          <p:cNvSpPr>
            <a:spLocks noGrp="1" noChangeArrowheads="1"/>
          </p:cNvSpPr>
          <p:nvPr>
            <p:ph type="title"/>
          </p:nvPr>
        </p:nvSpPr>
        <p:spPr>
          <a:xfrm>
            <a:off x="609600" y="304800"/>
            <a:ext cx="7931150" cy="685800"/>
          </a:xfrm>
          <a:noFill/>
        </p:spPr>
        <p:txBody>
          <a:bodyPr>
            <a:normAutofit/>
            <a:flatTx/>
          </a:bodyPr>
          <a:lstStyle/>
          <a:p>
            <a:r>
              <a:rPr lang="en-US" sz="3600" b="1" dirty="0">
                <a:solidFill>
                  <a:srgbClr val="C00000"/>
                </a:solidFill>
              </a:rPr>
              <a:t>Table Data and Table Header Attributes</a:t>
            </a:r>
          </a:p>
        </p:txBody>
      </p:sp>
      <p:sp>
        <p:nvSpPr>
          <p:cNvPr id="79875" name="Rectangle 3"/>
          <p:cNvSpPr>
            <a:spLocks noGrp="1" noChangeArrowheads="1"/>
          </p:cNvSpPr>
          <p:nvPr>
            <p:ph type="body" idx="1"/>
          </p:nvPr>
        </p:nvSpPr>
        <p:spPr>
          <a:xfrm>
            <a:off x="304800" y="1447800"/>
            <a:ext cx="8839200" cy="5410200"/>
          </a:xfrm>
          <a:noFill/>
        </p:spPr>
        <p:txBody>
          <a:bodyPr/>
          <a:lstStyle/>
          <a:p>
            <a:pPr>
              <a:buFontTx/>
              <a:buNone/>
            </a:pPr>
            <a:r>
              <a:rPr lang="en-US" dirty="0"/>
              <a:t>&lt;Table border=1 </a:t>
            </a:r>
            <a:r>
              <a:rPr lang="en-US" dirty="0" smtClean="0"/>
              <a:t> </a:t>
            </a:r>
            <a:r>
              <a:rPr lang="en-US" dirty="0" err="1" smtClean="0"/>
              <a:t>cellpadding</a:t>
            </a:r>
            <a:r>
              <a:rPr lang="en-US" dirty="0" smtClean="0"/>
              <a:t> </a:t>
            </a:r>
            <a:r>
              <a:rPr lang="en-US" dirty="0"/>
              <a:t>=2&gt;</a:t>
            </a:r>
          </a:p>
          <a:p>
            <a:pPr>
              <a:buFontTx/>
              <a:buNone/>
            </a:pPr>
            <a:r>
              <a:rPr lang="en-US" b="1" dirty="0" smtClean="0">
                <a:solidFill>
                  <a:srgbClr val="FF0000"/>
                </a:solidFill>
              </a:rPr>
              <a:t>   &lt;</a:t>
            </a:r>
            <a:r>
              <a:rPr lang="en-US" b="1" dirty="0" err="1">
                <a:solidFill>
                  <a:srgbClr val="FF0000"/>
                </a:solidFill>
              </a:rPr>
              <a:t>tr</a:t>
            </a:r>
            <a:r>
              <a:rPr lang="en-US" b="1" dirty="0">
                <a:solidFill>
                  <a:srgbClr val="FF0000"/>
                </a:solidFill>
              </a:rPr>
              <a:t>&gt; &lt;</a:t>
            </a:r>
            <a:r>
              <a:rPr lang="en-US" b="1" dirty="0" err="1">
                <a:solidFill>
                  <a:srgbClr val="0000CC"/>
                </a:solidFill>
              </a:rPr>
              <a:t>th</a:t>
            </a:r>
            <a:r>
              <a:rPr lang="en-US" b="1" dirty="0">
                <a:solidFill>
                  <a:srgbClr val="FF0000"/>
                </a:solidFill>
              </a:rPr>
              <a:t>&gt; Column 1 Header&lt;</a:t>
            </a:r>
            <a:r>
              <a:rPr lang="en-US" b="1" dirty="0">
                <a:solidFill>
                  <a:srgbClr val="0000CC"/>
                </a:solidFill>
              </a:rPr>
              <a:t>/</a:t>
            </a:r>
            <a:r>
              <a:rPr lang="en-US" b="1" dirty="0" err="1">
                <a:solidFill>
                  <a:srgbClr val="0000CC"/>
                </a:solidFill>
              </a:rPr>
              <a:t>th</a:t>
            </a:r>
            <a:r>
              <a:rPr lang="en-US" b="1" dirty="0">
                <a:solidFill>
                  <a:srgbClr val="FF0000"/>
                </a:solidFill>
              </a:rPr>
              <a:t>&gt; &lt;</a:t>
            </a:r>
            <a:r>
              <a:rPr lang="en-US" b="1" dirty="0" err="1">
                <a:solidFill>
                  <a:srgbClr val="0000CC"/>
                </a:solidFill>
              </a:rPr>
              <a:t>th</a:t>
            </a:r>
            <a:r>
              <a:rPr lang="en-US" b="1" dirty="0">
                <a:solidFill>
                  <a:srgbClr val="FF0000"/>
                </a:solidFill>
              </a:rPr>
              <a:t>&gt; Column 2 Header&lt;</a:t>
            </a:r>
            <a:r>
              <a:rPr lang="en-US" b="1" dirty="0">
                <a:solidFill>
                  <a:srgbClr val="0000CC"/>
                </a:solidFill>
              </a:rPr>
              <a:t>/</a:t>
            </a:r>
            <a:r>
              <a:rPr lang="en-US" b="1" dirty="0" err="1">
                <a:solidFill>
                  <a:srgbClr val="0000CC"/>
                </a:solidFill>
              </a:rPr>
              <a:t>th</a:t>
            </a:r>
            <a:r>
              <a:rPr lang="en-US" b="1" dirty="0">
                <a:solidFill>
                  <a:srgbClr val="FF0000"/>
                </a:solidFill>
              </a:rPr>
              <a:t>&gt; &lt;/</a:t>
            </a:r>
            <a:r>
              <a:rPr lang="en-US" b="1" dirty="0" err="1">
                <a:solidFill>
                  <a:srgbClr val="FF0000"/>
                </a:solidFill>
              </a:rPr>
              <a:t>tr</a:t>
            </a:r>
            <a:r>
              <a:rPr lang="en-US" b="1" dirty="0">
                <a:solidFill>
                  <a:srgbClr val="FF0000"/>
                </a:solidFill>
              </a:rPr>
              <a:t>&gt;</a:t>
            </a:r>
          </a:p>
          <a:p>
            <a:pPr>
              <a:buFontTx/>
              <a:buNone/>
            </a:pPr>
            <a:r>
              <a:rPr lang="en-US" b="1" dirty="0" smtClean="0">
                <a:solidFill>
                  <a:srgbClr val="0000CC"/>
                </a:solidFill>
              </a:rPr>
              <a:t>  &lt;</a:t>
            </a:r>
            <a:r>
              <a:rPr lang="en-US" b="1" dirty="0" err="1" smtClean="0">
                <a:solidFill>
                  <a:srgbClr val="0000CC"/>
                </a:solidFill>
              </a:rPr>
              <a:t>tr</a:t>
            </a:r>
            <a:r>
              <a:rPr lang="en-US" b="1" dirty="0">
                <a:solidFill>
                  <a:srgbClr val="0000CC"/>
                </a:solidFill>
              </a:rPr>
              <a:t>&gt; &lt;td </a:t>
            </a:r>
            <a:r>
              <a:rPr lang="en-US" b="1" dirty="0" err="1">
                <a:solidFill>
                  <a:srgbClr val="FF0000"/>
                </a:solidFill>
              </a:rPr>
              <a:t>colspan</a:t>
            </a:r>
            <a:r>
              <a:rPr lang="en-US" b="1" dirty="0">
                <a:solidFill>
                  <a:srgbClr val="FF0000"/>
                </a:solidFill>
              </a:rPr>
              <a:t>=2</a:t>
            </a:r>
            <a:r>
              <a:rPr lang="en-US" b="1" dirty="0">
                <a:solidFill>
                  <a:srgbClr val="0000CC"/>
                </a:solidFill>
              </a:rPr>
              <a:t>&gt; Row 1 Col 1&lt;/td&gt; &lt;/</a:t>
            </a:r>
            <a:r>
              <a:rPr lang="en-US" b="1" dirty="0" err="1">
                <a:solidFill>
                  <a:srgbClr val="0000CC"/>
                </a:solidFill>
              </a:rPr>
              <a:t>tr</a:t>
            </a:r>
            <a:r>
              <a:rPr lang="en-US" b="1" dirty="0">
                <a:solidFill>
                  <a:srgbClr val="0000CC"/>
                </a:solidFill>
              </a:rPr>
              <a:t>&gt;</a:t>
            </a:r>
          </a:p>
          <a:p>
            <a:pPr>
              <a:buFontTx/>
              <a:buNone/>
            </a:pPr>
            <a:r>
              <a:rPr lang="en-US" b="1" dirty="0" smtClean="0"/>
              <a:t>  &lt;</a:t>
            </a:r>
            <a:r>
              <a:rPr lang="en-US" b="1" dirty="0" err="1"/>
              <a:t>tr</a:t>
            </a:r>
            <a:r>
              <a:rPr lang="en-US" b="1" dirty="0"/>
              <a:t>&gt; &lt;td </a:t>
            </a:r>
            <a:r>
              <a:rPr lang="en-US" b="1" dirty="0" err="1">
                <a:solidFill>
                  <a:srgbClr val="0000CC"/>
                </a:solidFill>
              </a:rPr>
              <a:t>rowspan</a:t>
            </a:r>
            <a:r>
              <a:rPr lang="en-US" b="1" dirty="0">
                <a:solidFill>
                  <a:srgbClr val="0000CC"/>
                </a:solidFill>
              </a:rPr>
              <a:t>=2</a:t>
            </a:r>
            <a:r>
              <a:rPr lang="en-US" b="1" dirty="0"/>
              <a:t>&gt;Row 2 Col 1&lt;/td&gt; </a:t>
            </a:r>
          </a:p>
          <a:p>
            <a:pPr>
              <a:buFontTx/>
              <a:buNone/>
            </a:pPr>
            <a:r>
              <a:rPr lang="en-US" b="1" dirty="0" smtClean="0"/>
              <a:t>  &lt;</a:t>
            </a:r>
            <a:r>
              <a:rPr lang="en-US" b="1" dirty="0"/>
              <a:t>td&gt; Row 2 Col2&lt;/td&gt; &lt;/</a:t>
            </a:r>
            <a:r>
              <a:rPr lang="en-US" b="1" dirty="0" err="1"/>
              <a:t>tr</a:t>
            </a:r>
            <a:r>
              <a:rPr lang="en-US" b="1" dirty="0"/>
              <a:t>&gt;</a:t>
            </a:r>
          </a:p>
          <a:p>
            <a:pPr>
              <a:buFontTx/>
              <a:buNone/>
            </a:pPr>
            <a:r>
              <a:rPr lang="en-US" b="1" dirty="0" smtClean="0">
                <a:solidFill>
                  <a:srgbClr val="FF3399"/>
                </a:solidFill>
              </a:rPr>
              <a:t>  &lt;</a:t>
            </a:r>
            <a:r>
              <a:rPr lang="en-US" b="1" dirty="0" err="1">
                <a:solidFill>
                  <a:srgbClr val="FF3399"/>
                </a:solidFill>
              </a:rPr>
              <a:t>tr</a:t>
            </a:r>
            <a:r>
              <a:rPr lang="en-US" b="1" dirty="0">
                <a:solidFill>
                  <a:srgbClr val="FF3399"/>
                </a:solidFill>
              </a:rPr>
              <a:t>&gt; &lt;td&gt; Row 3 Col2&lt;/td&gt; &lt;/</a:t>
            </a:r>
            <a:r>
              <a:rPr lang="en-US" b="1" dirty="0" err="1">
                <a:solidFill>
                  <a:srgbClr val="FF3399"/>
                </a:solidFill>
              </a:rPr>
              <a:t>tr</a:t>
            </a:r>
            <a:r>
              <a:rPr lang="en-US" b="1" dirty="0">
                <a:solidFill>
                  <a:srgbClr val="FF3399"/>
                </a:solidFill>
              </a:rPr>
              <a:t>&gt;</a:t>
            </a:r>
          </a:p>
          <a:p>
            <a:pPr>
              <a:buFontTx/>
              <a:buNone/>
            </a:pPr>
            <a:r>
              <a:rPr lang="en-US" b="1" dirty="0"/>
              <a:t>&lt;/table&gt;</a:t>
            </a:r>
          </a:p>
          <a:p>
            <a:pPr>
              <a:buFontTx/>
              <a:buNone/>
            </a:pPr>
            <a:endParaRPr 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5"/>
          <p:cNvSpPr>
            <a:spLocks noGrp="1"/>
          </p:cNvSpPr>
          <p:nvPr>
            <p:ph type="sldNum" sz="quarter" idx="12"/>
          </p:nvPr>
        </p:nvSpPr>
        <p:spPr/>
        <p:txBody>
          <a:bodyPr/>
          <a:lstStyle/>
          <a:p>
            <a:fld id="{45C54F78-D46B-478A-B7E8-D3CDD4E79F35}" type="slidenum">
              <a:rPr lang="ar-SA"/>
              <a:pPr/>
              <a:t>13</a:t>
            </a:fld>
            <a:endParaRPr lang="en-US"/>
          </a:p>
        </p:txBody>
      </p:sp>
      <p:sp>
        <p:nvSpPr>
          <p:cNvPr id="80898" name="Rectangle 2"/>
          <p:cNvSpPr>
            <a:spLocks noGrp="1" noChangeArrowheads="1"/>
          </p:cNvSpPr>
          <p:nvPr>
            <p:ph type="title"/>
          </p:nvPr>
        </p:nvSpPr>
        <p:spPr>
          <a:xfrm>
            <a:off x="606425" y="320675"/>
            <a:ext cx="8077200" cy="1020763"/>
          </a:xfrm>
          <a:noFill/>
        </p:spPr>
        <p:txBody>
          <a:bodyPr>
            <a:flatTx/>
          </a:bodyPr>
          <a:lstStyle/>
          <a:p>
            <a:r>
              <a:rPr lang="en-US" sz="3600" dirty="0">
                <a:solidFill>
                  <a:srgbClr val="C00000"/>
                </a:solidFill>
              </a:rPr>
              <a:t>Table Data and Table Header Attributes</a:t>
            </a:r>
          </a:p>
        </p:txBody>
      </p:sp>
      <p:graphicFrame>
        <p:nvGraphicFramePr>
          <p:cNvPr id="80923" name="Group 27"/>
          <p:cNvGraphicFramePr>
            <a:graphicFrameLocks noGrp="1"/>
          </p:cNvGraphicFramePr>
          <p:nvPr>
            <p:ph type="tbl" idx="1"/>
          </p:nvPr>
        </p:nvGraphicFramePr>
        <p:xfrm>
          <a:off x="533400" y="1985963"/>
          <a:ext cx="7929563" cy="3217864"/>
        </p:xfrm>
        <a:graphic>
          <a:graphicData uri="http://schemas.openxmlformats.org/drawingml/2006/table">
            <a:tbl>
              <a:tblPr/>
              <a:tblGrid>
                <a:gridCol w="3965575"/>
                <a:gridCol w="3963988"/>
              </a:tblGrid>
              <a:tr h="7588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cs typeface="Arial" charset="0"/>
                        </a:rPr>
                        <a:t>Column 1 Header</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chemeClr val="tx1"/>
                          </a:solidFill>
                          <a:effectLst/>
                          <a:latin typeface="Arial" charset="0"/>
                          <a:cs typeface="Arial" charset="0"/>
                        </a:rPr>
                        <a:t>Column 2 Header</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chemeClr val="accent1"/>
                    </a:solidFill>
                  </a:tcPr>
                </a:tc>
              </a:tr>
              <a:tr h="8016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Row 1 Col 1</a:t>
                      </a:r>
                    </a:p>
                  </a:txBody>
                  <a:tcPr horzOverflow="overflow">
                    <a:lnL w="28575" cap="flat" cmpd="sng" algn="ctr">
                      <a:solidFill>
                        <a:schemeClr val="bg2"/>
                      </a:solidFill>
                      <a:prstDash val="solid"/>
                      <a:round/>
                      <a:headEnd type="none" w="sm" len="sm"/>
                      <a:tailEnd type="none" w="sm" len="sm"/>
                    </a:lnL>
                    <a:lnR>
                      <a:noFill/>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cs typeface="Arial" charset="0"/>
                      </a:endParaRPr>
                    </a:p>
                  </a:txBody>
                  <a:tcPr horzOverflow="overflow">
                    <a:lnL>
                      <a:noFill/>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solidFill>
                      <a:srgbClr val="FFFF00"/>
                    </a:solidFill>
                  </a:tcPr>
                </a:tc>
              </a:tr>
              <a:tr h="9413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 b="0" i="0" u="none" strike="noStrike" cap="none" normalizeH="0" baseline="0" dirty="0" smtClean="0">
                        <a:ln>
                          <a:noFill/>
                        </a:ln>
                        <a:solidFill>
                          <a:srgbClr val="0000CC"/>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rgbClr val="0000CC"/>
                          </a:solidFill>
                          <a:effectLst/>
                          <a:latin typeface="Arial" charset="0"/>
                          <a:cs typeface="Arial" charset="0"/>
                        </a:rPr>
                        <a:t>Row 2 Col 1</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CC"/>
                          </a:solidFill>
                          <a:effectLst/>
                          <a:latin typeface="Arial" charset="0"/>
                          <a:cs typeface="Arial" charset="0"/>
                        </a:rPr>
                        <a:t>Row 2 Col 2</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r>
              <a:tr h="715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a:noFill/>
                    </a:lnT>
                    <a:lnB w="28575"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Row 3 Col 2</a:t>
                      </a:r>
                    </a:p>
                  </a:txBody>
                  <a:tcPr horzOverflow="overflow">
                    <a:lnL w="28575" cap="flat" cmpd="sng" algn="ctr">
                      <a:solidFill>
                        <a:schemeClr val="bg2"/>
                      </a:solidFill>
                      <a:prstDash val="solid"/>
                      <a:round/>
                      <a:headEnd type="none" w="sm" len="sm"/>
                      <a:tailEnd type="none" w="sm" len="sm"/>
                    </a:lnL>
                    <a:lnR w="28575" cap="flat" cmpd="sng" algn="ctr">
                      <a:solidFill>
                        <a:schemeClr val="bg2"/>
                      </a:solidFill>
                      <a:prstDash val="solid"/>
                      <a:round/>
                      <a:headEnd type="none" w="sm" len="sm"/>
                      <a:tailEnd type="none" w="sm" len="sm"/>
                    </a:lnR>
                    <a:lnT w="28575" cap="flat" cmpd="sng" algn="ctr">
                      <a:solidFill>
                        <a:schemeClr val="bg2"/>
                      </a:solidFill>
                      <a:prstDash val="solid"/>
                      <a:round/>
                      <a:headEnd type="none" w="sm" len="sm"/>
                      <a:tailEnd type="none" w="sm" len="sm"/>
                    </a:lnT>
                    <a:lnB w="28575"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151D353-5DE4-4771-9472-095D43AC6AED}" type="slidenum">
              <a:rPr lang="ar-SA"/>
              <a:pPr/>
              <a:t>14</a:t>
            </a:fld>
            <a:endParaRPr lang="en-US"/>
          </a:p>
        </p:txBody>
      </p:sp>
      <p:sp>
        <p:nvSpPr>
          <p:cNvPr id="135170" name="Rectangle 2"/>
          <p:cNvSpPr>
            <a:spLocks noGrp="1" noChangeArrowheads="1"/>
          </p:cNvSpPr>
          <p:nvPr>
            <p:ph type="title"/>
          </p:nvPr>
        </p:nvSpPr>
        <p:spPr>
          <a:xfrm>
            <a:off x="381000" y="152400"/>
            <a:ext cx="8229600" cy="762000"/>
          </a:xfrm>
          <a:noFill/>
        </p:spPr>
        <p:txBody>
          <a:bodyPr>
            <a:normAutofit fontScale="90000"/>
            <a:flatTx/>
          </a:bodyPr>
          <a:lstStyle/>
          <a:p>
            <a:r>
              <a:rPr lang="en-US" sz="4000" b="1" dirty="0">
                <a:solidFill>
                  <a:srgbClr val="C00000"/>
                </a:solidFill>
              </a:rPr>
              <a:t/>
            </a:r>
            <a:br>
              <a:rPr lang="en-US" sz="4000" b="1" dirty="0">
                <a:solidFill>
                  <a:srgbClr val="C00000"/>
                </a:solidFill>
              </a:rPr>
            </a:br>
            <a:r>
              <a:rPr lang="en-US" sz="4000" b="1" dirty="0">
                <a:solidFill>
                  <a:srgbClr val="C00000"/>
                </a:solidFill>
              </a:rPr>
              <a:t>Special Things to Note</a:t>
            </a:r>
            <a:br>
              <a:rPr lang="en-US" sz="4000" b="1" dirty="0">
                <a:solidFill>
                  <a:srgbClr val="C00000"/>
                </a:solidFill>
              </a:rPr>
            </a:br>
            <a:endParaRPr lang="en-US" sz="4000" b="1" dirty="0">
              <a:solidFill>
                <a:srgbClr val="C00000"/>
              </a:solidFill>
            </a:endParaRPr>
          </a:p>
        </p:txBody>
      </p:sp>
      <p:sp>
        <p:nvSpPr>
          <p:cNvPr id="135171" name="Rectangle 3"/>
          <p:cNvSpPr>
            <a:spLocks noGrp="1" noChangeArrowheads="1"/>
          </p:cNvSpPr>
          <p:nvPr>
            <p:ph type="body" idx="1"/>
          </p:nvPr>
        </p:nvSpPr>
        <p:spPr>
          <a:xfrm>
            <a:off x="381000" y="990600"/>
            <a:ext cx="8229600" cy="5638800"/>
          </a:xfrm>
          <a:noFill/>
        </p:spPr>
        <p:txBody>
          <a:bodyPr>
            <a:noAutofit/>
          </a:bodyPr>
          <a:lstStyle/>
          <a:p>
            <a:pPr>
              <a:lnSpc>
                <a:spcPct val="80000"/>
              </a:lnSpc>
            </a:pPr>
            <a:r>
              <a:rPr lang="en-US" sz="2300" b="1" dirty="0"/>
              <a:t>TH, TD and TR should always have end tags.</a:t>
            </a:r>
            <a:r>
              <a:rPr lang="en-US" sz="2300" dirty="0"/>
              <a:t/>
            </a:r>
            <a:br>
              <a:rPr lang="en-US" sz="2300" dirty="0"/>
            </a:br>
            <a:r>
              <a:rPr lang="en-US" sz="2300" dirty="0"/>
              <a:t>Although the end tags are formally optional, many browsers will mess up the formatting of the table if you omit the end tags. In particular, you should </a:t>
            </a:r>
            <a:r>
              <a:rPr lang="en-US" sz="2300" b="1" i="1" dirty="0"/>
              <a:t>always</a:t>
            </a:r>
            <a:r>
              <a:rPr lang="en-US" sz="2300" dirty="0"/>
              <a:t> use end tags if you have a TABLE within a TABLE -- in this situation, the table parser gets hopelessly confused if you don't close your TH, TD and TR elements.  </a:t>
            </a:r>
          </a:p>
          <a:p>
            <a:pPr>
              <a:lnSpc>
                <a:spcPct val="80000"/>
              </a:lnSpc>
            </a:pPr>
            <a:r>
              <a:rPr lang="en-US" sz="2300" b="1" dirty="0"/>
              <a:t>A default TABLE has no borders</a:t>
            </a:r>
            <a:r>
              <a:rPr lang="en-US" sz="2300" dirty="0"/>
              <a:t/>
            </a:r>
            <a:br>
              <a:rPr lang="en-US" sz="2300" dirty="0"/>
            </a:br>
            <a:r>
              <a:rPr lang="en-US" sz="2300" dirty="0"/>
              <a:t>By default, tables are drawn without border lines. You need the BORDER attribute to draw the lines. </a:t>
            </a:r>
          </a:p>
          <a:p>
            <a:pPr>
              <a:lnSpc>
                <a:spcPct val="80000"/>
              </a:lnSpc>
            </a:pPr>
            <a:r>
              <a:rPr lang="en-US" sz="2300" b="1" dirty="0"/>
              <a:t>By default, a table is flush with the left margin</a:t>
            </a:r>
            <a:r>
              <a:rPr lang="en-US" sz="2300" dirty="0"/>
              <a:t/>
            </a:r>
            <a:br>
              <a:rPr lang="en-US" sz="2300" dirty="0"/>
            </a:br>
            <a:r>
              <a:rPr lang="en-US" sz="2300" dirty="0"/>
              <a:t>TABLEs  are plopped over on the left margin. If you want centered tables, You can either: place the table inside a DIV element with attribute ALIGN="center".</a:t>
            </a:r>
            <a:br>
              <a:rPr lang="en-US" sz="2300" dirty="0"/>
            </a:br>
            <a:r>
              <a:rPr lang="en-US" sz="2300" dirty="0"/>
              <a:t>Most current browsers also supports table alignment, using the ALIGN attribute. Allowed values are "left", "right", or "center", for example: &lt;TABLE ALIGN="left"&gt;. The values "left" and "right" float the table to the left or right of the page, with text flow allowed around the table. This is entirely equivalent to IMG alignment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E345456-F14B-491D-8022-9B9C9A15E198}" type="slidenum">
              <a:rPr lang="ar-SA"/>
              <a:pPr/>
              <a:t>15</a:t>
            </a:fld>
            <a:endParaRPr lang="en-US"/>
          </a:p>
        </p:txBody>
      </p:sp>
      <p:sp>
        <p:nvSpPr>
          <p:cNvPr id="145411" name="Rectangle 3"/>
          <p:cNvSpPr>
            <a:spLocks noGrp="1" noChangeArrowheads="1"/>
          </p:cNvSpPr>
          <p:nvPr>
            <p:ph type="body" idx="1"/>
          </p:nvPr>
        </p:nvSpPr>
        <p:spPr>
          <a:xfrm>
            <a:off x="304800" y="1600200"/>
            <a:ext cx="8305800" cy="5105400"/>
          </a:xfrm>
        </p:spPr>
        <p:txBody>
          <a:bodyPr/>
          <a:lstStyle/>
          <a:p>
            <a:pPr lvl="2">
              <a:buFontTx/>
              <a:buNone/>
            </a:pPr>
            <a:r>
              <a:rPr lang="en-US" b="1" dirty="0">
                <a:solidFill>
                  <a:srgbClr val="FF0000"/>
                </a:solidFill>
              </a:rPr>
              <a:t>&lt;TABLE BORDER width=“750”&gt;</a:t>
            </a:r>
            <a:r>
              <a:rPr lang="en-US" b="1" dirty="0"/>
              <a:t> </a:t>
            </a:r>
          </a:p>
          <a:p>
            <a:pPr lvl="2">
              <a:buFontTx/>
              <a:buNone/>
            </a:pPr>
            <a:r>
              <a:rPr lang="en-US" b="1" dirty="0" smtClean="0"/>
              <a:t>   &lt;</a:t>
            </a:r>
            <a:r>
              <a:rPr lang="en-US" b="1" dirty="0"/>
              <a:t>TR&gt; &lt;TD </a:t>
            </a:r>
            <a:r>
              <a:rPr lang="en-US" b="1" dirty="0" err="1"/>
              <a:t>colspan</a:t>
            </a:r>
            <a:r>
              <a:rPr lang="en-US" b="1" dirty="0"/>
              <a:t>=“4” align=“center”&gt;Page Banner&lt;/TD&gt;&lt;/TR&gt;   </a:t>
            </a:r>
          </a:p>
          <a:p>
            <a:pPr lvl="2">
              <a:buFontTx/>
              <a:buNone/>
            </a:pPr>
            <a:endParaRPr lang="en-US" b="1" dirty="0"/>
          </a:p>
          <a:p>
            <a:pPr lvl="2">
              <a:buFontTx/>
              <a:buNone/>
            </a:pPr>
            <a:r>
              <a:rPr lang="en-US" b="1" dirty="0" smtClean="0"/>
              <a:t>  &lt;</a:t>
            </a:r>
            <a:r>
              <a:rPr lang="en-US" b="1" dirty="0"/>
              <a:t>TR&gt; &lt;TD </a:t>
            </a:r>
            <a:r>
              <a:rPr lang="en-US" b="1" dirty="0" err="1">
                <a:solidFill>
                  <a:srgbClr val="0000FF"/>
                </a:solidFill>
              </a:rPr>
              <a:t>rowspan</a:t>
            </a:r>
            <a:r>
              <a:rPr lang="en-US" b="1" dirty="0">
                <a:solidFill>
                  <a:srgbClr val="0000FF"/>
                </a:solidFill>
              </a:rPr>
              <a:t>=“2”</a:t>
            </a:r>
            <a:r>
              <a:rPr lang="en-US" b="1" dirty="0"/>
              <a:t> width=“25%”&gt;</a:t>
            </a:r>
            <a:r>
              <a:rPr lang="en-US" b="1" dirty="0" err="1"/>
              <a:t>Nav</a:t>
            </a:r>
            <a:r>
              <a:rPr lang="en-US" b="1" dirty="0"/>
              <a:t> Links&lt;/TD&gt;</a:t>
            </a:r>
            <a:r>
              <a:rPr lang="en-US" b="1" dirty="0">
                <a:solidFill>
                  <a:srgbClr val="0000CC"/>
                </a:solidFill>
              </a:rPr>
              <a:t>&lt;TD</a:t>
            </a:r>
            <a:r>
              <a:rPr lang="en-US" b="1" dirty="0"/>
              <a:t> </a:t>
            </a:r>
            <a:r>
              <a:rPr lang="en-US" b="1" dirty="0" err="1">
                <a:solidFill>
                  <a:srgbClr val="0000CC"/>
                </a:solidFill>
              </a:rPr>
              <a:t>colspan</a:t>
            </a:r>
            <a:r>
              <a:rPr lang="en-US" b="1" dirty="0">
                <a:solidFill>
                  <a:srgbClr val="0000CC"/>
                </a:solidFill>
              </a:rPr>
              <a:t>=“2”&gt;Feature</a:t>
            </a:r>
            <a:r>
              <a:rPr lang="en-US" b="1" dirty="0"/>
              <a:t> </a:t>
            </a:r>
            <a:r>
              <a:rPr lang="en-US" b="1" dirty="0">
                <a:solidFill>
                  <a:srgbClr val="0000CC"/>
                </a:solidFill>
              </a:rPr>
              <a:t>Article&lt;/TD</a:t>
            </a:r>
            <a:r>
              <a:rPr lang="en-US" b="1" dirty="0"/>
              <a:t>&gt; &lt;TD </a:t>
            </a:r>
            <a:r>
              <a:rPr lang="en-US" b="1" dirty="0" err="1">
                <a:solidFill>
                  <a:srgbClr val="0000FF"/>
                </a:solidFill>
              </a:rPr>
              <a:t>rowspan</a:t>
            </a:r>
            <a:r>
              <a:rPr lang="en-US" b="1" dirty="0">
                <a:solidFill>
                  <a:srgbClr val="0000FF"/>
                </a:solidFill>
              </a:rPr>
              <a:t>=“2”</a:t>
            </a:r>
            <a:r>
              <a:rPr lang="en-US" b="1" dirty="0"/>
              <a:t> width=“25%”&gt;Linked Ads&lt;/TD&gt;&lt;/TR&gt;</a:t>
            </a:r>
          </a:p>
          <a:p>
            <a:pPr lvl="2">
              <a:buFontTx/>
              <a:buNone/>
            </a:pPr>
            <a:endParaRPr lang="en-US" b="1" dirty="0"/>
          </a:p>
          <a:p>
            <a:pPr lvl="2">
              <a:buFontTx/>
              <a:buNone/>
            </a:pPr>
            <a:r>
              <a:rPr lang="en-US" b="1" dirty="0"/>
              <a:t>	&lt;TR&gt;&lt;TD </a:t>
            </a:r>
            <a:r>
              <a:rPr lang="en-US" b="1" dirty="0">
                <a:solidFill>
                  <a:srgbClr val="FF3300"/>
                </a:solidFill>
              </a:rPr>
              <a:t>width=“25%”</a:t>
            </a:r>
            <a:r>
              <a:rPr lang="en-US" b="1" dirty="0"/>
              <a:t>&gt;News Column 1 &lt;/TD&gt; &lt;TD </a:t>
            </a:r>
            <a:r>
              <a:rPr lang="en-US" b="1" dirty="0">
                <a:solidFill>
                  <a:srgbClr val="FF3300"/>
                </a:solidFill>
              </a:rPr>
              <a:t>width=“25%”</a:t>
            </a:r>
            <a:r>
              <a:rPr lang="en-US" b="1" dirty="0"/>
              <a:t>&gt;&lt;News Column 2 &lt;/TD&gt;&lt;/TR&gt;</a:t>
            </a:r>
          </a:p>
          <a:p>
            <a:pPr lvl="2">
              <a:buFontTx/>
              <a:buNone/>
            </a:pPr>
            <a:r>
              <a:rPr lang="en-US" b="1" dirty="0">
                <a:solidFill>
                  <a:srgbClr val="FF0000"/>
                </a:solidFill>
              </a:rPr>
              <a:t>&lt;/TABLE&gt;</a:t>
            </a:r>
          </a:p>
          <a:p>
            <a:pPr>
              <a:buFontTx/>
              <a:buNone/>
            </a:pPr>
            <a:endParaRPr lang="en-US" sz="2400" b="1" dirty="0">
              <a:solidFill>
                <a:srgbClr val="FF0000"/>
              </a:solidFill>
            </a:endParaRPr>
          </a:p>
        </p:txBody>
      </p:sp>
      <p:sp>
        <p:nvSpPr>
          <p:cNvPr id="145412" name="Rectangle 4"/>
          <p:cNvSpPr>
            <a:spLocks noGrp="1" noChangeArrowheads="1"/>
          </p:cNvSpPr>
          <p:nvPr>
            <p:ph type="title"/>
          </p:nvPr>
        </p:nvSpPr>
        <p:spPr>
          <a:xfrm>
            <a:off x="457200" y="304800"/>
            <a:ext cx="8229600" cy="1143000"/>
          </a:xfrm>
          <a:noFill/>
          <a:ln/>
        </p:spPr>
        <p:txBody>
          <a:bodyPr>
            <a:flatTx/>
          </a:bodyPr>
          <a:lstStyle/>
          <a:p>
            <a:r>
              <a:rPr lang="en-US" dirty="0">
                <a:solidFill>
                  <a:srgbClr val="C00000"/>
                </a:solidFill>
              </a:rPr>
              <a:t>What will be the output?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2AADE95-2996-4D8A-BBCB-2A4FD1F7D3EB}" type="slidenum">
              <a:rPr lang="ar-SA"/>
              <a:pPr/>
              <a:t>16</a:t>
            </a:fld>
            <a:endParaRPr lang="en-US"/>
          </a:p>
        </p:txBody>
      </p:sp>
      <p:sp>
        <p:nvSpPr>
          <p:cNvPr id="146437" name="Rectangle 5"/>
          <p:cNvSpPr>
            <a:spLocks noGrp="1" noChangeArrowheads="1"/>
          </p:cNvSpPr>
          <p:nvPr>
            <p:ph type="title"/>
          </p:nvPr>
        </p:nvSpPr>
        <p:spPr>
          <a:xfrm>
            <a:off x="533400" y="228600"/>
            <a:ext cx="8229600" cy="944563"/>
          </a:xfrm>
          <a:noFill/>
          <a:ln/>
        </p:spPr>
        <p:txBody>
          <a:bodyPr>
            <a:flatTx/>
          </a:bodyPr>
          <a:lstStyle/>
          <a:p>
            <a:r>
              <a:rPr lang="en-US">
                <a:solidFill>
                  <a:srgbClr val="C00000"/>
                </a:solidFill>
              </a:rPr>
              <a:t>The Output</a:t>
            </a:r>
            <a:endParaRPr lang="en-US" b="1">
              <a:solidFill>
                <a:srgbClr val="C00000"/>
              </a:solidFill>
            </a:endParaRPr>
          </a:p>
        </p:txBody>
      </p:sp>
      <p:pic>
        <p:nvPicPr>
          <p:cNvPr id="46081" name="Picture 1" descr="C:\Users\LAB2Lecture\Desktop\img align.png"/>
          <p:cNvPicPr>
            <a:picLocks noChangeAspect="1" noChangeArrowheads="1"/>
          </p:cNvPicPr>
          <p:nvPr/>
        </p:nvPicPr>
        <p:blipFill>
          <a:blip r:embed="rId2"/>
          <a:srcRect/>
          <a:stretch>
            <a:fillRect/>
          </a:stretch>
        </p:blipFill>
        <p:spPr bwMode="auto">
          <a:xfrm>
            <a:off x="-19050" y="1333500"/>
            <a:ext cx="9163050" cy="5524500"/>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9C260DE-B624-404C-8B18-70837A5E7FF8}" type="slidenum">
              <a:rPr lang="ar-SA"/>
              <a:pPr/>
              <a:t>17</a:t>
            </a:fld>
            <a:endParaRPr lang="en-US"/>
          </a:p>
        </p:txBody>
      </p:sp>
      <p:sp>
        <p:nvSpPr>
          <p:cNvPr id="81922" name="Rectangle 2"/>
          <p:cNvSpPr>
            <a:spLocks noGrp="1" noChangeArrowheads="1"/>
          </p:cNvSpPr>
          <p:nvPr>
            <p:ph type="title"/>
          </p:nvPr>
        </p:nvSpPr>
        <p:spPr>
          <a:xfrm>
            <a:off x="457200" y="274638"/>
            <a:ext cx="8229600" cy="762000"/>
          </a:xfrm>
          <a:noFill/>
        </p:spPr>
        <p:txBody>
          <a:bodyPr>
            <a:flatTx/>
          </a:bodyPr>
          <a:lstStyle/>
          <a:p>
            <a:r>
              <a:rPr lang="en-US" dirty="0">
                <a:solidFill>
                  <a:srgbClr val="C00000"/>
                </a:solidFill>
              </a:rPr>
              <a:t>F</a:t>
            </a:r>
            <a:r>
              <a:rPr lang="en-US" b="1" dirty="0">
                <a:solidFill>
                  <a:srgbClr val="C00000"/>
                </a:solidFill>
              </a:rPr>
              <a:t>rames</a:t>
            </a:r>
          </a:p>
        </p:txBody>
      </p:sp>
      <p:sp>
        <p:nvSpPr>
          <p:cNvPr id="81923" name="Rectangle 3"/>
          <p:cNvSpPr>
            <a:spLocks noGrp="1" noChangeArrowheads="1"/>
          </p:cNvSpPr>
          <p:nvPr>
            <p:ph type="body" idx="1"/>
          </p:nvPr>
        </p:nvSpPr>
        <p:spPr>
          <a:xfrm>
            <a:off x="304800" y="1447800"/>
            <a:ext cx="8610600" cy="5029200"/>
          </a:xfrm>
          <a:noFill/>
        </p:spPr>
        <p:txBody>
          <a:bodyPr>
            <a:normAutofit lnSpcReduction="10000"/>
          </a:bodyPr>
          <a:lstStyle/>
          <a:p>
            <a:pPr marL="609600" indent="-609600">
              <a:lnSpc>
                <a:spcPct val="90000"/>
              </a:lnSpc>
              <a:buClr>
                <a:schemeClr val="accent2"/>
              </a:buClr>
              <a:buFont typeface="Wingdings" pitchFamily="2" charset="2"/>
              <a:buChar char="§"/>
            </a:pPr>
            <a:r>
              <a:rPr lang="en-US" sz="2800" dirty="0"/>
              <a:t>Frames are a relatively new addition to the HTML standard. </a:t>
            </a:r>
            <a:r>
              <a:rPr lang="en-US" dirty="0"/>
              <a:t>First introduced in Netscape Navigator 2.0. </a:t>
            </a:r>
            <a:endParaRPr lang="en-US" dirty="0" smtClean="0"/>
          </a:p>
          <a:p>
            <a:pPr marL="609600" indent="-609600">
              <a:lnSpc>
                <a:spcPct val="90000"/>
              </a:lnSpc>
              <a:buClr>
                <a:schemeClr val="accent2"/>
              </a:buClr>
              <a:buFont typeface="Wingdings" pitchFamily="2" charset="2"/>
              <a:buChar char="§"/>
            </a:pPr>
            <a:endParaRPr lang="en-US" sz="2800" dirty="0"/>
          </a:p>
          <a:p>
            <a:pPr marL="609600" indent="-609600">
              <a:lnSpc>
                <a:spcPct val="90000"/>
              </a:lnSpc>
              <a:buClr>
                <a:schemeClr val="accent2"/>
              </a:buClr>
              <a:buFont typeface="Wingdings" pitchFamily="2" charset="2"/>
              <a:buNone/>
            </a:pPr>
            <a:r>
              <a:rPr lang="en-US" sz="2800" dirty="0"/>
              <a:t>Objectives:</a:t>
            </a:r>
          </a:p>
          <a:p>
            <a:pPr marL="609600" indent="-609600">
              <a:lnSpc>
                <a:spcPct val="90000"/>
              </a:lnSpc>
              <a:buClr>
                <a:schemeClr val="accent2"/>
              </a:buClr>
              <a:buFont typeface="Wingdings" pitchFamily="2" charset="2"/>
              <a:buNone/>
            </a:pPr>
            <a:r>
              <a:rPr lang="en-US" sz="2800" dirty="0"/>
              <a:t>Upon completing this section, you should be able to:</a:t>
            </a:r>
          </a:p>
          <a:p>
            <a:pPr marL="609600" indent="-609600">
              <a:lnSpc>
                <a:spcPct val="90000"/>
              </a:lnSpc>
              <a:buClr>
                <a:schemeClr val="accent2"/>
              </a:buClr>
              <a:buFont typeface="Wingdings" pitchFamily="2" charset="2"/>
              <a:buChar char="§"/>
            </a:pPr>
            <a:r>
              <a:rPr lang="en-US" sz="2800" dirty="0"/>
              <a:t>Create a Frame based page.</a:t>
            </a:r>
          </a:p>
          <a:p>
            <a:pPr marL="609600" indent="-609600">
              <a:lnSpc>
                <a:spcPct val="90000"/>
              </a:lnSpc>
              <a:buClr>
                <a:schemeClr val="accent2"/>
              </a:buClr>
              <a:buFont typeface="Wingdings" pitchFamily="2" charset="2"/>
              <a:buChar char="§"/>
            </a:pPr>
            <a:r>
              <a:rPr lang="en-US" sz="2800" dirty="0"/>
              <a:t>Work with the Frameset, Frame, and </a:t>
            </a:r>
            <a:r>
              <a:rPr lang="en-US" sz="2800" dirty="0" err="1"/>
              <a:t>Noframes</a:t>
            </a:r>
            <a:r>
              <a:rPr lang="en-US" sz="2800" dirty="0"/>
              <a:t> elements.</a:t>
            </a:r>
          </a:p>
          <a:p>
            <a:pPr marL="609600" indent="-609600">
              <a:lnSpc>
                <a:spcPct val="90000"/>
              </a:lnSpc>
              <a:buClr>
                <a:schemeClr val="accent2"/>
              </a:buClr>
              <a:buFont typeface="Wingdings" pitchFamily="2" charset="2"/>
              <a:buChar char="§"/>
            </a:pPr>
            <a:r>
              <a:rPr lang="en-US" sz="2800" dirty="0"/>
              <a:t>Use the attributes of the Frames elements to control the display.</a:t>
            </a:r>
          </a:p>
          <a:p>
            <a:pPr marL="609600" indent="-609600">
              <a:lnSpc>
                <a:spcPct val="90000"/>
              </a:lnSpc>
              <a:buClr>
                <a:schemeClr val="accent2"/>
              </a:buClr>
              <a:buFont typeface="Wingdings" pitchFamily="2" charset="2"/>
              <a:buChar char="§"/>
            </a:pPr>
            <a:r>
              <a:rPr lang="en-US" sz="2800" dirty="0"/>
              <a:t>Set Targets appropriately.</a:t>
            </a:r>
          </a:p>
          <a:p>
            <a:pPr marL="609600" indent="-609600">
              <a:lnSpc>
                <a:spcPct val="90000"/>
              </a:lnSpc>
              <a:buClr>
                <a:schemeClr val="accent2"/>
              </a:buClr>
              <a:buFont typeface="Wingdings" pitchFamily="2" charset="2"/>
              <a:buNone/>
            </a:pP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BB115F3-C8F7-432F-98F8-3A48E1569258}" type="slidenum">
              <a:rPr lang="ar-SA"/>
              <a:pPr/>
              <a:t>18</a:t>
            </a:fld>
            <a:endParaRPr lang="en-US"/>
          </a:p>
        </p:txBody>
      </p:sp>
      <p:sp>
        <p:nvSpPr>
          <p:cNvPr id="82946" name="Rectangle 2"/>
          <p:cNvSpPr>
            <a:spLocks noGrp="1" noChangeArrowheads="1"/>
          </p:cNvSpPr>
          <p:nvPr>
            <p:ph type="title"/>
          </p:nvPr>
        </p:nvSpPr>
        <p:spPr>
          <a:xfrm>
            <a:off x="457200" y="274638"/>
            <a:ext cx="8229600" cy="838200"/>
          </a:xfrm>
          <a:noFill/>
        </p:spPr>
        <p:txBody>
          <a:bodyPr/>
          <a:lstStyle/>
          <a:p>
            <a:r>
              <a:rPr lang="en-US" dirty="0">
                <a:solidFill>
                  <a:srgbClr val="C00000"/>
                </a:solidFill>
              </a:rPr>
              <a:t>Frames</a:t>
            </a:r>
          </a:p>
        </p:txBody>
      </p:sp>
      <p:sp>
        <p:nvSpPr>
          <p:cNvPr id="82947" name="Rectangle 3"/>
          <p:cNvSpPr>
            <a:spLocks noGrp="1" noChangeArrowheads="1"/>
          </p:cNvSpPr>
          <p:nvPr>
            <p:ph type="body" idx="1"/>
          </p:nvPr>
        </p:nvSpPr>
        <p:spPr>
          <a:xfrm>
            <a:off x="685800" y="1295400"/>
            <a:ext cx="7772400" cy="5105400"/>
          </a:xfrm>
          <a:noFill/>
        </p:spPr>
        <p:txBody>
          <a:bodyPr/>
          <a:lstStyle/>
          <a:p>
            <a:pPr>
              <a:lnSpc>
                <a:spcPct val="80000"/>
              </a:lnSpc>
              <a:buClr>
                <a:schemeClr val="accent2"/>
              </a:buClr>
              <a:buFont typeface="Wingdings" pitchFamily="2" charset="2"/>
              <a:buChar char="§"/>
            </a:pPr>
            <a:r>
              <a:rPr lang="en-US" sz="2800"/>
              <a:t>A framed page is actually made up of multiple HTML pages. There is one HTML document that describes how to break up the single browser window into multiple windowpanes. Each windowpane is filled with an HTML document.</a:t>
            </a:r>
          </a:p>
          <a:p>
            <a:pPr>
              <a:lnSpc>
                <a:spcPct val="80000"/>
              </a:lnSpc>
              <a:buClr>
                <a:schemeClr val="accent2"/>
              </a:buClr>
              <a:buFont typeface="Wingdings" pitchFamily="2" charset="2"/>
              <a:buNone/>
            </a:pPr>
            <a:endParaRPr lang="en-US" sz="2800"/>
          </a:p>
          <a:p>
            <a:pPr>
              <a:lnSpc>
                <a:spcPct val="80000"/>
              </a:lnSpc>
              <a:buClr>
                <a:schemeClr val="accent2"/>
              </a:buClr>
              <a:buFont typeface="Wingdings" pitchFamily="2" charset="2"/>
              <a:buChar char="§"/>
            </a:pPr>
            <a:r>
              <a:rPr lang="en-US" sz="2800"/>
              <a:t>For Example to make a framed page with a windowpane on the left and one on the right requires three HTML pages. </a:t>
            </a:r>
            <a:r>
              <a:rPr lang="en-US" sz="2800" b="1" i="1"/>
              <a:t>Doc1.html</a:t>
            </a:r>
            <a:r>
              <a:rPr lang="en-US" sz="2800"/>
              <a:t> and </a:t>
            </a:r>
            <a:r>
              <a:rPr lang="en-US" sz="2800" b="1" i="1"/>
              <a:t>Doc2.html </a:t>
            </a:r>
            <a:r>
              <a:rPr lang="en-US" sz="2800"/>
              <a:t>are the pages that contain content. </a:t>
            </a:r>
            <a:r>
              <a:rPr lang="en-US" sz="2800" b="1" i="1"/>
              <a:t>Frames.html </a:t>
            </a:r>
            <a:r>
              <a:rPr lang="en-US" sz="2800"/>
              <a:t>is the page that describes the division of the single browser window into two windowpanes.</a:t>
            </a:r>
            <a:r>
              <a:rPr lang="en-US" sz="2400"/>
              <a:t> </a:t>
            </a:r>
            <a:endParaRPr lang="en-US" sz="2400" b="1" i="1"/>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6"/>
          <p:cNvSpPr>
            <a:spLocks noGrp="1"/>
          </p:cNvSpPr>
          <p:nvPr>
            <p:ph type="sldNum" sz="quarter" idx="12"/>
          </p:nvPr>
        </p:nvSpPr>
        <p:spPr/>
        <p:txBody>
          <a:bodyPr/>
          <a:lstStyle/>
          <a:p>
            <a:fld id="{FCC66D52-7DF8-4012-90C2-029C8B80C417}" type="slidenum">
              <a:rPr lang="ar-SA"/>
              <a:pPr/>
              <a:t>19</a:t>
            </a:fld>
            <a:endParaRPr lang="en-US"/>
          </a:p>
        </p:txBody>
      </p:sp>
      <p:sp>
        <p:nvSpPr>
          <p:cNvPr id="83970" name="Rectangle 2"/>
          <p:cNvSpPr>
            <a:spLocks noGrp="1" noChangeArrowheads="1"/>
          </p:cNvSpPr>
          <p:nvPr>
            <p:ph type="title"/>
          </p:nvPr>
        </p:nvSpPr>
        <p:spPr>
          <a:noFill/>
        </p:spPr>
        <p:txBody>
          <a:bodyPr>
            <a:flatTx/>
          </a:bodyPr>
          <a:lstStyle/>
          <a:p>
            <a:r>
              <a:rPr lang="en-US">
                <a:solidFill>
                  <a:srgbClr val="C00000"/>
                </a:solidFill>
              </a:rPr>
              <a:t>Frames</a:t>
            </a:r>
          </a:p>
        </p:txBody>
      </p:sp>
      <p:sp>
        <p:nvSpPr>
          <p:cNvPr id="83971" name="Rectangle 3"/>
          <p:cNvSpPr>
            <a:spLocks noChangeArrowheads="1"/>
          </p:cNvSpPr>
          <p:nvPr/>
        </p:nvSpPr>
        <p:spPr bwMode="auto">
          <a:xfrm>
            <a:off x="2971800" y="4038600"/>
            <a:ext cx="2857500" cy="1943100"/>
          </a:xfrm>
          <a:prstGeom prst="rect">
            <a:avLst/>
          </a:prstGeom>
          <a:solidFill>
            <a:srgbClr val="FFFFFF"/>
          </a:solidFill>
          <a:ln w="9525">
            <a:solidFill>
              <a:srgbClr val="000000"/>
            </a:solidFill>
            <a:miter lim="800000"/>
            <a:headEnd/>
            <a:tailEnd/>
          </a:ln>
        </p:spPr>
        <p:txBody>
          <a:bodyPr/>
          <a:lstStyle/>
          <a:p>
            <a:endParaRPr lang="en-US"/>
          </a:p>
        </p:txBody>
      </p:sp>
      <p:sp>
        <p:nvSpPr>
          <p:cNvPr id="83972" name="Text Box 4"/>
          <p:cNvSpPr txBox="1">
            <a:spLocks noChangeArrowheads="1"/>
          </p:cNvSpPr>
          <p:nvPr/>
        </p:nvSpPr>
        <p:spPr bwMode="auto">
          <a:xfrm>
            <a:off x="4457700" y="4152900"/>
            <a:ext cx="1143000" cy="1485900"/>
          </a:xfrm>
          <a:prstGeom prst="rect">
            <a:avLst/>
          </a:prstGeom>
          <a:solidFill>
            <a:srgbClr val="FFFFFF"/>
          </a:solidFill>
          <a:ln w="9525">
            <a:solidFill>
              <a:srgbClr val="000000"/>
            </a:solidFill>
            <a:miter lim="800000"/>
            <a:headEnd/>
            <a:tailEnd/>
          </a:ln>
        </p:spPr>
        <p:txBody>
          <a:bodyPr/>
          <a:lstStyle/>
          <a:p>
            <a:endParaRPr lang="en-US" sz="1200">
              <a:latin typeface="Times New Roman" charset="0"/>
            </a:endParaRPr>
          </a:p>
          <a:p>
            <a:endParaRPr lang="en-US" sz="1200">
              <a:latin typeface="Times New Roman" charset="0"/>
            </a:endParaRPr>
          </a:p>
          <a:p>
            <a:endParaRPr lang="en-US" sz="1200">
              <a:latin typeface="Times New Roman" charset="0"/>
            </a:endParaRPr>
          </a:p>
          <a:p>
            <a:r>
              <a:rPr lang="en-US" sz="1600" b="1">
                <a:solidFill>
                  <a:srgbClr val="FF0000"/>
                </a:solidFill>
                <a:latin typeface="Times New Roman" charset="0"/>
              </a:rPr>
              <a:t>Doc2.html</a:t>
            </a:r>
          </a:p>
        </p:txBody>
      </p:sp>
      <p:sp>
        <p:nvSpPr>
          <p:cNvPr id="83973" name="Text Box 5"/>
          <p:cNvSpPr txBox="1">
            <a:spLocks noChangeArrowheads="1"/>
          </p:cNvSpPr>
          <p:nvPr/>
        </p:nvSpPr>
        <p:spPr bwMode="auto">
          <a:xfrm>
            <a:off x="3124200" y="4152900"/>
            <a:ext cx="1104900" cy="1485900"/>
          </a:xfrm>
          <a:prstGeom prst="rect">
            <a:avLst/>
          </a:prstGeom>
          <a:solidFill>
            <a:srgbClr val="FFFFFF"/>
          </a:solidFill>
          <a:ln w="9525">
            <a:solidFill>
              <a:srgbClr val="000000"/>
            </a:solidFill>
            <a:miter lim="800000"/>
            <a:headEnd/>
            <a:tailEnd/>
          </a:ln>
        </p:spPr>
        <p:txBody>
          <a:bodyPr/>
          <a:lstStyle/>
          <a:p>
            <a:endParaRPr lang="en-US" sz="1200">
              <a:latin typeface="Times New Roman" charset="0"/>
            </a:endParaRPr>
          </a:p>
          <a:p>
            <a:endParaRPr lang="en-US" sz="1200">
              <a:latin typeface="Times New Roman" charset="0"/>
            </a:endParaRPr>
          </a:p>
          <a:p>
            <a:endParaRPr lang="en-US" sz="1200">
              <a:latin typeface="Times New Roman" charset="0"/>
            </a:endParaRPr>
          </a:p>
          <a:p>
            <a:pPr algn="ctr"/>
            <a:r>
              <a:rPr lang="en-US" sz="1600" b="1">
                <a:solidFill>
                  <a:srgbClr val="FF0000"/>
                </a:solidFill>
                <a:latin typeface="Times New Roman" charset="0"/>
              </a:rPr>
              <a:t>Doc1.html</a:t>
            </a:r>
          </a:p>
        </p:txBody>
      </p:sp>
      <p:sp>
        <p:nvSpPr>
          <p:cNvPr id="83974" name="Text Box 6"/>
          <p:cNvSpPr txBox="1">
            <a:spLocks noChangeArrowheads="1"/>
          </p:cNvSpPr>
          <p:nvPr/>
        </p:nvSpPr>
        <p:spPr bwMode="auto">
          <a:xfrm>
            <a:off x="3657600" y="6096000"/>
            <a:ext cx="1524000" cy="381000"/>
          </a:xfrm>
          <a:prstGeom prst="rect">
            <a:avLst/>
          </a:prstGeom>
          <a:noFill/>
          <a:ln w="9525">
            <a:solidFill>
              <a:srgbClr val="990000"/>
            </a:solidFill>
            <a:miter lim="800000"/>
            <a:headEnd/>
            <a:tailEnd/>
          </a:ln>
        </p:spPr>
        <p:txBody>
          <a:bodyPr/>
          <a:lstStyle/>
          <a:p>
            <a:pPr algn="ctr"/>
            <a:r>
              <a:rPr lang="en-US" sz="1600" dirty="0">
                <a:solidFill>
                  <a:schemeClr val="tx1">
                    <a:lumMod val="95000"/>
                    <a:lumOff val="5000"/>
                  </a:schemeClr>
                </a:solidFill>
                <a:latin typeface="Times New Roman" charset="0"/>
              </a:rPr>
              <a:t>Frames.html</a:t>
            </a:r>
          </a:p>
        </p:txBody>
      </p:sp>
      <p:sp>
        <p:nvSpPr>
          <p:cNvPr id="83975" name="Text Box 7"/>
          <p:cNvSpPr txBox="1">
            <a:spLocks noChangeArrowheads="1"/>
          </p:cNvSpPr>
          <p:nvPr/>
        </p:nvSpPr>
        <p:spPr bwMode="auto">
          <a:xfrm>
            <a:off x="4572000" y="1981200"/>
            <a:ext cx="1143000" cy="1485900"/>
          </a:xfrm>
          <a:prstGeom prst="rect">
            <a:avLst/>
          </a:prstGeom>
          <a:solidFill>
            <a:srgbClr val="FFFFFF"/>
          </a:solidFill>
          <a:ln w="9525">
            <a:solidFill>
              <a:srgbClr val="000000"/>
            </a:solidFill>
            <a:miter lim="800000"/>
            <a:headEnd/>
            <a:tailEnd/>
          </a:ln>
        </p:spPr>
        <p:txBody>
          <a:bodyPr/>
          <a:lstStyle/>
          <a:p>
            <a:endParaRPr lang="en-US" sz="1200">
              <a:latin typeface="Times New Roman" charset="0"/>
            </a:endParaRPr>
          </a:p>
          <a:p>
            <a:endParaRPr lang="en-US" sz="1200">
              <a:latin typeface="Times New Roman" charset="0"/>
            </a:endParaRPr>
          </a:p>
          <a:p>
            <a:endParaRPr lang="en-US" sz="1200">
              <a:latin typeface="Times New Roman" charset="0"/>
            </a:endParaRPr>
          </a:p>
          <a:p>
            <a:r>
              <a:rPr lang="en-US" sz="1600" b="1">
                <a:solidFill>
                  <a:srgbClr val="FF0000"/>
                </a:solidFill>
                <a:latin typeface="Times New Roman" charset="0"/>
              </a:rPr>
              <a:t>Doc2.html</a:t>
            </a:r>
          </a:p>
        </p:txBody>
      </p:sp>
      <p:sp>
        <p:nvSpPr>
          <p:cNvPr id="83976" name="Text Box 8"/>
          <p:cNvSpPr txBox="1">
            <a:spLocks noChangeArrowheads="1"/>
          </p:cNvSpPr>
          <p:nvPr/>
        </p:nvSpPr>
        <p:spPr bwMode="auto">
          <a:xfrm>
            <a:off x="3124200" y="1981200"/>
            <a:ext cx="1104900" cy="1485900"/>
          </a:xfrm>
          <a:prstGeom prst="rect">
            <a:avLst/>
          </a:prstGeom>
          <a:solidFill>
            <a:srgbClr val="FFFFFF"/>
          </a:solidFill>
          <a:ln w="9525">
            <a:solidFill>
              <a:srgbClr val="000000"/>
            </a:solidFill>
            <a:miter lim="800000"/>
            <a:headEnd/>
            <a:tailEnd/>
          </a:ln>
        </p:spPr>
        <p:txBody>
          <a:bodyPr/>
          <a:lstStyle/>
          <a:p>
            <a:endParaRPr lang="en-US" sz="1200">
              <a:latin typeface="Times New Roman" charset="0"/>
            </a:endParaRPr>
          </a:p>
          <a:p>
            <a:endParaRPr lang="en-US" sz="1200">
              <a:latin typeface="Times New Roman" charset="0"/>
            </a:endParaRPr>
          </a:p>
          <a:p>
            <a:endParaRPr lang="en-US" sz="1200">
              <a:latin typeface="Times New Roman" charset="0"/>
            </a:endParaRPr>
          </a:p>
          <a:p>
            <a:pPr algn="ctr"/>
            <a:r>
              <a:rPr lang="en-US" sz="1600" b="1">
                <a:solidFill>
                  <a:srgbClr val="FF0000"/>
                </a:solidFill>
                <a:latin typeface="Times New Roman" charset="0"/>
              </a:rPr>
              <a:t>Doc1.html</a:t>
            </a:r>
          </a:p>
        </p:txBody>
      </p:sp>
      <p:sp>
        <p:nvSpPr>
          <p:cNvPr id="83977" name="Line 9"/>
          <p:cNvSpPr>
            <a:spLocks noChangeShapeType="1"/>
          </p:cNvSpPr>
          <p:nvPr/>
        </p:nvSpPr>
        <p:spPr bwMode="auto">
          <a:xfrm>
            <a:off x="3429000" y="3467100"/>
            <a:ext cx="342900" cy="685800"/>
          </a:xfrm>
          <a:prstGeom prst="line">
            <a:avLst/>
          </a:prstGeom>
          <a:noFill/>
          <a:ln w="9525">
            <a:solidFill>
              <a:srgbClr val="000000"/>
            </a:solidFill>
            <a:round/>
            <a:headEnd/>
            <a:tailEnd type="triangle" w="med" len="med"/>
          </a:ln>
        </p:spPr>
        <p:txBody>
          <a:bodyPr/>
          <a:lstStyle/>
          <a:p>
            <a:endParaRPr lang="en-US"/>
          </a:p>
        </p:txBody>
      </p:sp>
      <p:sp>
        <p:nvSpPr>
          <p:cNvPr id="83978" name="Line 10"/>
          <p:cNvSpPr>
            <a:spLocks noChangeShapeType="1"/>
          </p:cNvSpPr>
          <p:nvPr/>
        </p:nvSpPr>
        <p:spPr bwMode="auto">
          <a:xfrm flipH="1">
            <a:off x="4914900" y="3467100"/>
            <a:ext cx="457200" cy="685800"/>
          </a:xfrm>
          <a:prstGeom prst="line">
            <a:avLst/>
          </a:prstGeom>
          <a:noFill/>
          <a:ln w="9525">
            <a:solidFill>
              <a:srgbClr val="00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D705FBC-73C4-4B08-8748-7FEF107B8378}" type="slidenum">
              <a:rPr lang="ar-SA"/>
              <a:pPr/>
              <a:t>20</a:t>
            </a:fld>
            <a:endParaRPr lang="en-US"/>
          </a:p>
        </p:txBody>
      </p:sp>
      <p:sp>
        <p:nvSpPr>
          <p:cNvPr id="84994" name="Rectangle 2"/>
          <p:cNvSpPr>
            <a:spLocks noGrp="1" noChangeArrowheads="1"/>
          </p:cNvSpPr>
          <p:nvPr>
            <p:ph type="title"/>
          </p:nvPr>
        </p:nvSpPr>
        <p:spPr>
          <a:xfrm>
            <a:off x="457200" y="381000"/>
            <a:ext cx="8229600" cy="1143000"/>
          </a:xfrm>
          <a:noFill/>
        </p:spPr>
        <p:txBody>
          <a:bodyPr>
            <a:flatTx/>
          </a:bodyPr>
          <a:lstStyle/>
          <a:p>
            <a:r>
              <a:rPr lang="en-US" dirty="0">
                <a:solidFill>
                  <a:srgbClr val="C00000"/>
                </a:solidFill>
              </a:rPr>
              <a:t>Frame Page Architecture</a:t>
            </a:r>
          </a:p>
        </p:txBody>
      </p:sp>
      <p:sp>
        <p:nvSpPr>
          <p:cNvPr id="84995" name="Rectangle 3"/>
          <p:cNvSpPr>
            <a:spLocks noGrp="1" noChangeArrowheads="1"/>
          </p:cNvSpPr>
          <p:nvPr>
            <p:ph type="body" idx="1"/>
          </p:nvPr>
        </p:nvSpPr>
        <p:spPr>
          <a:xfrm>
            <a:off x="228600" y="1600200"/>
            <a:ext cx="8686800" cy="4953000"/>
          </a:xfrm>
          <a:noFill/>
        </p:spPr>
        <p:txBody>
          <a:bodyPr/>
          <a:lstStyle/>
          <a:p>
            <a:pPr>
              <a:buClr>
                <a:schemeClr val="accent2"/>
              </a:buClr>
              <a:buFont typeface="Wingdings" pitchFamily="2" charset="2"/>
              <a:buChar char="§"/>
            </a:pPr>
            <a:r>
              <a:rPr lang="en-US" sz="2800" dirty="0"/>
              <a:t>A </a:t>
            </a:r>
            <a:r>
              <a:rPr lang="en-US" sz="2800" b="1" dirty="0">
                <a:solidFill>
                  <a:srgbClr val="FF0000"/>
                </a:solidFill>
              </a:rPr>
              <a:t>&lt;FRAMESET&gt;</a:t>
            </a:r>
            <a:r>
              <a:rPr lang="en-US" sz="2800" dirty="0"/>
              <a:t> element is placed in the html document before the </a:t>
            </a:r>
            <a:r>
              <a:rPr lang="en-US" sz="2800" b="1" dirty="0">
                <a:solidFill>
                  <a:srgbClr val="FF0000"/>
                </a:solidFill>
              </a:rPr>
              <a:t>&lt;BODY&gt;</a:t>
            </a:r>
            <a:r>
              <a:rPr lang="en-US" sz="2800" dirty="0"/>
              <a:t> element. The </a:t>
            </a:r>
            <a:r>
              <a:rPr lang="en-US" sz="2800" b="1" dirty="0">
                <a:solidFill>
                  <a:srgbClr val="FF0000"/>
                </a:solidFill>
              </a:rPr>
              <a:t>&lt;FRAMESET&gt;</a:t>
            </a:r>
            <a:r>
              <a:rPr lang="en-US" sz="2800" dirty="0"/>
              <a:t> describes the amount of screen real estate given to each windowpane by dividing the screen into </a:t>
            </a:r>
            <a:r>
              <a:rPr lang="en-US" sz="2800" b="1" dirty="0">
                <a:solidFill>
                  <a:srgbClr val="FF0000"/>
                </a:solidFill>
              </a:rPr>
              <a:t>ROWS</a:t>
            </a:r>
            <a:r>
              <a:rPr lang="en-US" sz="2800" dirty="0"/>
              <a:t> or </a:t>
            </a:r>
            <a:r>
              <a:rPr lang="en-US" sz="2800" b="1" dirty="0">
                <a:solidFill>
                  <a:srgbClr val="FF0000"/>
                </a:solidFill>
              </a:rPr>
              <a:t>COLS</a:t>
            </a:r>
            <a:r>
              <a:rPr lang="en-US" sz="2800" dirty="0"/>
              <a:t>.</a:t>
            </a:r>
          </a:p>
          <a:p>
            <a:pPr>
              <a:buClr>
                <a:schemeClr val="accent2"/>
              </a:buClr>
              <a:buFont typeface="Wingdings" pitchFamily="2" charset="2"/>
              <a:buChar char="§"/>
            </a:pPr>
            <a:r>
              <a:rPr lang="en-US" sz="2800" dirty="0"/>
              <a:t>The </a:t>
            </a:r>
            <a:r>
              <a:rPr lang="en-US" sz="2800" b="1" dirty="0">
                <a:solidFill>
                  <a:srgbClr val="FF0000"/>
                </a:solidFill>
              </a:rPr>
              <a:t>&lt;FRAMESET&gt;</a:t>
            </a:r>
            <a:r>
              <a:rPr lang="en-US" sz="2800" dirty="0"/>
              <a:t> will then contain </a:t>
            </a:r>
            <a:r>
              <a:rPr lang="en-US" sz="2800" b="1" dirty="0">
                <a:solidFill>
                  <a:srgbClr val="FF0000"/>
                </a:solidFill>
              </a:rPr>
              <a:t>&lt;FRAME&gt;</a:t>
            </a:r>
            <a:r>
              <a:rPr lang="en-US" sz="2800" dirty="0"/>
              <a:t> elements, </a:t>
            </a:r>
            <a:r>
              <a:rPr lang="en-US" sz="2800" b="1" dirty="0">
                <a:solidFill>
                  <a:srgbClr val="0000CC"/>
                </a:solidFill>
              </a:rPr>
              <a:t>one per division</a:t>
            </a:r>
            <a:r>
              <a:rPr lang="en-US" sz="2800" dirty="0"/>
              <a:t> of the browser window. </a:t>
            </a:r>
          </a:p>
          <a:p>
            <a:pPr>
              <a:buClr>
                <a:schemeClr val="accent2"/>
              </a:buClr>
              <a:buFont typeface="Wingdings" pitchFamily="2" charset="2"/>
              <a:buChar char="§"/>
            </a:pPr>
            <a:r>
              <a:rPr lang="en-US" sz="2800" dirty="0"/>
              <a:t>Note: Because there is no </a:t>
            </a:r>
            <a:r>
              <a:rPr lang="en-US" sz="2800" b="1" dirty="0">
                <a:solidFill>
                  <a:srgbClr val="FF0000"/>
                </a:solidFill>
              </a:rPr>
              <a:t>BODY</a:t>
            </a:r>
            <a:r>
              <a:rPr lang="en-US" sz="2800" dirty="0"/>
              <a:t> container, FRAMESET pages can't have </a:t>
            </a:r>
            <a:r>
              <a:rPr lang="en-US" sz="2800" dirty="0">
                <a:solidFill>
                  <a:srgbClr val="0000FF"/>
                </a:solidFill>
              </a:rPr>
              <a:t>background images</a:t>
            </a:r>
            <a:r>
              <a:rPr lang="en-US" sz="2800" dirty="0"/>
              <a:t> and </a:t>
            </a:r>
            <a:r>
              <a:rPr lang="en-US" sz="2800" dirty="0">
                <a:solidFill>
                  <a:srgbClr val="0000FF"/>
                </a:solidFill>
              </a:rPr>
              <a:t>background colors</a:t>
            </a:r>
            <a:r>
              <a:rPr lang="en-US" sz="2800" dirty="0"/>
              <a:t> associated with them.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6F27772-A70E-48F6-A2ED-E32F28CA4F0C}" type="slidenum">
              <a:rPr lang="ar-SA"/>
              <a:pPr/>
              <a:t>21</a:t>
            </a:fld>
            <a:endParaRPr lang="en-US"/>
          </a:p>
        </p:txBody>
      </p:sp>
      <p:sp>
        <p:nvSpPr>
          <p:cNvPr id="86018" name="Rectangle 2"/>
          <p:cNvSpPr>
            <a:spLocks noGrp="1" noChangeArrowheads="1"/>
          </p:cNvSpPr>
          <p:nvPr>
            <p:ph type="title"/>
          </p:nvPr>
        </p:nvSpPr>
        <p:spPr>
          <a:xfrm>
            <a:off x="493542" y="228600"/>
            <a:ext cx="8229600" cy="914400"/>
          </a:xfrm>
          <a:noFill/>
        </p:spPr>
        <p:txBody>
          <a:bodyPr>
            <a:flatTx/>
          </a:bodyPr>
          <a:lstStyle/>
          <a:p>
            <a:r>
              <a:rPr lang="en-US" dirty="0">
                <a:solidFill>
                  <a:srgbClr val="C00000"/>
                </a:solidFill>
              </a:rPr>
              <a:t>Frame Page Architecture</a:t>
            </a:r>
          </a:p>
        </p:txBody>
      </p:sp>
      <p:sp>
        <p:nvSpPr>
          <p:cNvPr id="86019" name="Rectangle 3"/>
          <p:cNvSpPr>
            <a:spLocks noGrp="1" noChangeArrowheads="1"/>
          </p:cNvSpPr>
          <p:nvPr>
            <p:ph type="body" idx="1"/>
          </p:nvPr>
        </p:nvSpPr>
        <p:spPr>
          <a:xfrm>
            <a:off x="493542" y="1447800"/>
            <a:ext cx="8001000" cy="5105400"/>
          </a:xfrm>
          <a:noFill/>
        </p:spPr>
        <p:txBody>
          <a:bodyPr/>
          <a:lstStyle/>
          <a:p>
            <a:pPr>
              <a:lnSpc>
                <a:spcPct val="90000"/>
              </a:lnSpc>
              <a:buFontTx/>
              <a:buNone/>
            </a:pPr>
            <a:r>
              <a:rPr lang="en-US" sz="2800" b="1"/>
              <a:t>&lt;HTML&gt;</a:t>
            </a:r>
          </a:p>
          <a:p>
            <a:pPr>
              <a:lnSpc>
                <a:spcPct val="90000"/>
              </a:lnSpc>
              <a:buFontTx/>
              <a:buNone/>
            </a:pPr>
            <a:r>
              <a:rPr lang="en-US" sz="2800" b="1"/>
              <a:t>&lt;HEAD&gt;</a:t>
            </a:r>
          </a:p>
          <a:p>
            <a:pPr>
              <a:lnSpc>
                <a:spcPct val="90000"/>
              </a:lnSpc>
              <a:buFontTx/>
              <a:buNone/>
            </a:pPr>
            <a:r>
              <a:rPr lang="en-US" sz="2800" b="1"/>
              <a:t>&lt;TITLE&gt; Framed Page &lt;/TITLE&gt;</a:t>
            </a:r>
          </a:p>
          <a:p>
            <a:pPr>
              <a:lnSpc>
                <a:spcPct val="90000"/>
              </a:lnSpc>
              <a:buFontTx/>
              <a:buNone/>
            </a:pPr>
            <a:r>
              <a:rPr lang="en-US" sz="2800" b="1">
                <a:solidFill>
                  <a:srgbClr val="FF0000"/>
                </a:solidFill>
              </a:rPr>
              <a:t>&lt;FRAMeSET COLS=“23%,77%”&gt;</a:t>
            </a:r>
          </a:p>
          <a:p>
            <a:pPr>
              <a:lnSpc>
                <a:spcPct val="90000"/>
              </a:lnSpc>
              <a:buFontTx/>
              <a:buNone/>
            </a:pPr>
            <a:r>
              <a:rPr lang="en-US" sz="2800" b="1">
                <a:solidFill>
                  <a:srgbClr val="0000CC"/>
                </a:solidFill>
              </a:rPr>
              <a:t>&lt;FRAME SRC=“Doc1.html”&gt;</a:t>
            </a:r>
          </a:p>
          <a:p>
            <a:pPr>
              <a:lnSpc>
                <a:spcPct val="90000"/>
              </a:lnSpc>
              <a:buFontTx/>
              <a:buNone/>
            </a:pPr>
            <a:r>
              <a:rPr lang="en-US" sz="2800" b="1">
                <a:solidFill>
                  <a:srgbClr val="0000CC"/>
                </a:solidFill>
              </a:rPr>
              <a:t>&lt;FRAME SRC=“Doc2.html”&gt;</a:t>
            </a:r>
          </a:p>
          <a:p>
            <a:pPr>
              <a:lnSpc>
                <a:spcPct val="90000"/>
              </a:lnSpc>
              <a:buFontTx/>
              <a:buNone/>
            </a:pPr>
            <a:r>
              <a:rPr lang="en-US" sz="2800" b="1">
                <a:solidFill>
                  <a:srgbClr val="FF0000"/>
                </a:solidFill>
              </a:rPr>
              <a:t>&lt;/FRAMeSET &gt;</a:t>
            </a:r>
          </a:p>
          <a:p>
            <a:pPr>
              <a:lnSpc>
                <a:spcPct val="90000"/>
              </a:lnSpc>
              <a:buFontTx/>
              <a:buNone/>
            </a:pPr>
            <a:r>
              <a:rPr lang="en-US" sz="2800" b="1"/>
              <a:t>&lt;/HEAD&gt;</a:t>
            </a:r>
          </a:p>
          <a:p>
            <a:pPr>
              <a:lnSpc>
                <a:spcPct val="90000"/>
              </a:lnSpc>
              <a:buFontTx/>
              <a:buNone/>
            </a:pPr>
            <a:endParaRPr lang="en-US" sz="2800" b="1">
              <a:solidFill>
                <a:srgbClr val="FF0000"/>
              </a:solidFill>
            </a:endParaRPr>
          </a:p>
          <a:p>
            <a:pPr>
              <a:lnSpc>
                <a:spcPct val="90000"/>
              </a:lnSpc>
              <a:buFontTx/>
              <a:buNone/>
            </a:pPr>
            <a:r>
              <a:rPr lang="en-US" sz="2800" b="1"/>
              <a:t>&lt;/HTML&gt;</a:t>
            </a:r>
          </a:p>
          <a:p>
            <a:pPr>
              <a:lnSpc>
                <a:spcPct val="90000"/>
              </a:lnSpc>
              <a:buFontTx/>
              <a:buNone/>
            </a:pPr>
            <a:endParaRPr lang="en-US" sz="2800" b="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6"/>
          <p:cNvSpPr>
            <a:spLocks noGrp="1"/>
          </p:cNvSpPr>
          <p:nvPr>
            <p:ph type="sldNum" sz="quarter" idx="12"/>
          </p:nvPr>
        </p:nvSpPr>
        <p:spPr/>
        <p:txBody>
          <a:bodyPr/>
          <a:lstStyle/>
          <a:p>
            <a:fld id="{BA0B5459-8A83-4EA7-8333-F5B591F77DA9}" type="slidenum">
              <a:rPr lang="ar-SA"/>
              <a:pPr/>
              <a:t>22</a:t>
            </a:fld>
            <a:endParaRPr lang="en-US"/>
          </a:p>
        </p:txBody>
      </p:sp>
      <p:sp>
        <p:nvSpPr>
          <p:cNvPr id="87042" name="Rectangle 2"/>
          <p:cNvSpPr>
            <a:spLocks noGrp="1" noChangeArrowheads="1"/>
          </p:cNvSpPr>
          <p:nvPr>
            <p:ph type="title"/>
          </p:nvPr>
        </p:nvSpPr>
        <p:spPr>
          <a:xfrm>
            <a:off x="457200" y="274638"/>
            <a:ext cx="8458200" cy="1401762"/>
          </a:xfrm>
          <a:noFill/>
        </p:spPr>
        <p:txBody>
          <a:bodyPr>
            <a:flatTx/>
          </a:bodyPr>
          <a:lstStyle/>
          <a:p>
            <a:r>
              <a:rPr lang="en-US" sz="3400" b="1" dirty="0">
                <a:solidFill>
                  <a:srgbClr val="C00000"/>
                </a:solidFill>
              </a:rPr>
              <a:t>The Diagram below is a graphical view of the document described above</a:t>
            </a:r>
          </a:p>
        </p:txBody>
      </p:sp>
      <p:grpSp>
        <p:nvGrpSpPr>
          <p:cNvPr id="2" name="Group 3"/>
          <p:cNvGrpSpPr>
            <a:grpSpLocks/>
          </p:cNvGrpSpPr>
          <p:nvPr/>
        </p:nvGrpSpPr>
        <p:grpSpPr bwMode="auto">
          <a:xfrm>
            <a:off x="1752600" y="2286000"/>
            <a:ext cx="5372100" cy="3314700"/>
            <a:chOff x="1800" y="1620"/>
            <a:chExt cx="8460" cy="5220"/>
          </a:xfrm>
          <a:noFill/>
        </p:grpSpPr>
        <p:sp>
          <p:nvSpPr>
            <p:cNvPr id="87044" name="Rectangle 4"/>
            <p:cNvSpPr>
              <a:spLocks noChangeArrowheads="1"/>
            </p:cNvSpPr>
            <p:nvPr/>
          </p:nvSpPr>
          <p:spPr bwMode="auto">
            <a:xfrm>
              <a:off x="1800" y="1620"/>
              <a:ext cx="8460" cy="5220"/>
            </a:xfrm>
            <a:prstGeom prst="rect">
              <a:avLst/>
            </a:prstGeom>
            <a:grpFill/>
            <a:ln w="9525">
              <a:solidFill>
                <a:srgbClr val="000000"/>
              </a:solidFill>
              <a:miter lim="800000"/>
              <a:headEnd/>
              <a:tailEnd/>
            </a:ln>
          </p:spPr>
          <p:txBody>
            <a:bodyPr/>
            <a:lstStyle/>
            <a:p>
              <a:endParaRPr lang="en-US"/>
            </a:p>
          </p:txBody>
        </p:sp>
        <p:sp>
          <p:nvSpPr>
            <p:cNvPr id="87045" name="Text Box 5"/>
            <p:cNvSpPr txBox="1">
              <a:spLocks noChangeArrowheads="1"/>
            </p:cNvSpPr>
            <p:nvPr/>
          </p:nvSpPr>
          <p:spPr bwMode="auto">
            <a:xfrm>
              <a:off x="2700" y="1797"/>
              <a:ext cx="6660" cy="540"/>
            </a:xfrm>
            <a:prstGeom prst="rect">
              <a:avLst/>
            </a:prstGeom>
            <a:grpFill/>
            <a:ln w="9525">
              <a:solidFill>
                <a:srgbClr val="FFFFFF"/>
              </a:solidFill>
              <a:miter lim="800000"/>
              <a:headEnd/>
              <a:tailEnd/>
            </a:ln>
          </p:spPr>
          <p:txBody>
            <a:bodyPr/>
            <a:lstStyle/>
            <a:p>
              <a:pPr algn="ctr"/>
              <a:r>
                <a:rPr lang="en-US" sz="2000" b="1">
                  <a:solidFill>
                    <a:srgbClr val="0000CC"/>
                  </a:solidFill>
                  <a:latin typeface="Times New Roman" charset="0"/>
                </a:rPr>
                <a:t>FRAMESET COLS=”23%, 77%”</a:t>
              </a:r>
            </a:p>
          </p:txBody>
        </p:sp>
        <p:sp>
          <p:nvSpPr>
            <p:cNvPr id="87046" name="Text Box 6"/>
            <p:cNvSpPr txBox="1">
              <a:spLocks noChangeArrowheads="1"/>
            </p:cNvSpPr>
            <p:nvPr/>
          </p:nvSpPr>
          <p:spPr bwMode="auto">
            <a:xfrm>
              <a:off x="5040" y="2520"/>
              <a:ext cx="4680" cy="3960"/>
            </a:xfrm>
            <a:prstGeom prst="rect">
              <a:avLst/>
            </a:prstGeom>
            <a:grpFill/>
            <a:ln w="9525">
              <a:solidFill>
                <a:srgbClr val="000000"/>
              </a:solidFill>
              <a:miter lim="800000"/>
              <a:headEnd/>
              <a:tailEnd/>
            </a:ln>
          </p:spPr>
          <p:txBody>
            <a:bodyPr/>
            <a:lstStyle/>
            <a:p>
              <a:r>
                <a:rPr lang="en-US" sz="2000" b="1" dirty="0">
                  <a:solidFill>
                    <a:srgbClr val="FF0000"/>
                  </a:solidFill>
                  <a:latin typeface="Times New Roman" charset="0"/>
                </a:rPr>
                <a:t>FRAME</a:t>
              </a:r>
            </a:p>
            <a:p>
              <a:endParaRPr lang="en-US" sz="2000" b="1" dirty="0">
                <a:solidFill>
                  <a:srgbClr val="0000CC"/>
                </a:solidFill>
                <a:latin typeface="Times New Roman" charset="0"/>
              </a:endParaRPr>
            </a:p>
            <a:p>
              <a:r>
                <a:rPr lang="en-US" sz="2000" b="1" dirty="0">
                  <a:solidFill>
                    <a:srgbClr val="0000CC"/>
                  </a:solidFill>
                  <a:latin typeface="Times New Roman" charset="0"/>
                </a:rPr>
                <a:t>NAME=</a:t>
              </a:r>
              <a:r>
                <a:rPr lang="en-US" sz="2000" b="1" dirty="0" err="1">
                  <a:solidFill>
                    <a:srgbClr val="0000CC"/>
                  </a:solidFill>
                  <a:latin typeface="Times New Roman" charset="0"/>
                </a:rPr>
                <a:t>right_pane</a:t>
              </a:r>
              <a:endParaRPr lang="en-US" sz="2000" b="1" dirty="0">
                <a:solidFill>
                  <a:srgbClr val="0000CC"/>
                </a:solidFill>
                <a:latin typeface="Times New Roman" charset="0"/>
              </a:endParaRPr>
            </a:p>
            <a:p>
              <a:r>
                <a:rPr lang="en-US" sz="2000" b="1" dirty="0">
                  <a:solidFill>
                    <a:srgbClr val="0000CC"/>
                  </a:solidFill>
                  <a:latin typeface="Times New Roman" charset="0"/>
                </a:rPr>
                <a:t>SRC= Doc2.html</a:t>
              </a:r>
            </a:p>
          </p:txBody>
        </p:sp>
        <p:sp>
          <p:nvSpPr>
            <p:cNvPr id="87047" name="Text Box 7"/>
            <p:cNvSpPr txBox="1">
              <a:spLocks noChangeArrowheads="1"/>
            </p:cNvSpPr>
            <p:nvPr/>
          </p:nvSpPr>
          <p:spPr bwMode="auto">
            <a:xfrm>
              <a:off x="2160" y="2520"/>
              <a:ext cx="2520" cy="3960"/>
            </a:xfrm>
            <a:prstGeom prst="rect">
              <a:avLst/>
            </a:prstGeom>
            <a:grpFill/>
            <a:ln w="9525">
              <a:solidFill>
                <a:srgbClr val="000000"/>
              </a:solidFill>
              <a:miter lim="800000"/>
              <a:headEnd/>
              <a:tailEnd/>
            </a:ln>
          </p:spPr>
          <p:txBody>
            <a:bodyPr/>
            <a:lstStyle/>
            <a:p>
              <a:r>
                <a:rPr lang="en-US" sz="2000" b="1">
                  <a:solidFill>
                    <a:srgbClr val="FF0000"/>
                  </a:solidFill>
                  <a:latin typeface="Times New Roman" charset="0"/>
                </a:rPr>
                <a:t>FRAME</a:t>
              </a:r>
            </a:p>
            <a:p>
              <a:endParaRPr lang="en-US" sz="2000" b="1">
                <a:solidFill>
                  <a:srgbClr val="0000CC"/>
                </a:solidFill>
                <a:latin typeface="Times New Roman" charset="0"/>
              </a:endParaRPr>
            </a:p>
            <a:p>
              <a:r>
                <a:rPr lang="en-US" sz="2000" b="1">
                  <a:solidFill>
                    <a:srgbClr val="0000CC"/>
                  </a:solidFill>
                  <a:latin typeface="Times New Roman" charset="0"/>
                </a:rPr>
                <a:t>NAME= left_pane</a:t>
              </a:r>
            </a:p>
            <a:p>
              <a:r>
                <a:rPr lang="en-US" sz="2000" b="1">
                  <a:solidFill>
                    <a:srgbClr val="0000CC"/>
                  </a:solidFill>
                  <a:latin typeface="Times New Roman" charset="0"/>
                </a:rPr>
                <a:t>SRC=Doc1.html</a:t>
              </a: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149287-2306-4164-BDA0-C51A709A655A}" type="slidenum">
              <a:rPr lang="ar-SA"/>
              <a:pPr/>
              <a:t>23</a:t>
            </a:fld>
            <a:endParaRPr lang="en-US"/>
          </a:p>
        </p:txBody>
      </p:sp>
      <p:sp>
        <p:nvSpPr>
          <p:cNvPr id="88066" name="Rectangle 2"/>
          <p:cNvSpPr>
            <a:spLocks noGrp="1" noChangeArrowheads="1"/>
          </p:cNvSpPr>
          <p:nvPr>
            <p:ph type="title"/>
          </p:nvPr>
        </p:nvSpPr>
        <p:spPr>
          <a:xfrm>
            <a:off x="606425" y="274638"/>
            <a:ext cx="7931150" cy="914400"/>
          </a:xfrm>
          <a:noFill/>
        </p:spPr>
        <p:txBody>
          <a:bodyPr>
            <a:flatTx/>
          </a:bodyPr>
          <a:lstStyle/>
          <a:p>
            <a:r>
              <a:rPr lang="en-US" dirty="0">
                <a:solidFill>
                  <a:srgbClr val="C00000"/>
                </a:solidFill>
              </a:rPr>
              <a:t>&lt;FRAMESET&gt; </a:t>
            </a:r>
            <a:r>
              <a:rPr lang="en-US" b="1" dirty="0">
                <a:solidFill>
                  <a:srgbClr val="C00000"/>
                </a:solidFill>
              </a:rPr>
              <a:t>Container</a:t>
            </a:r>
            <a:r>
              <a:rPr lang="en-US" dirty="0">
                <a:solidFill>
                  <a:srgbClr val="C00000"/>
                </a:solidFill>
              </a:rPr>
              <a:t> </a:t>
            </a:r>
          </a:p>
        </p:txBody>
      </p:sp>
      <p:sp>
        <p:nvSpPr>
          <p:cNvPr id="88067" name="Rectangle 3"/>
          <p:cNvSpPr>
            <a:spLocks noGrp="1" noChangeArrowheads="1"/>
          </p:cNvSpPr>
          <p:nvPr>
            <p:ph type="body" idx="1"/>
          </p:nvPr>
        </p:nvSpPr>
        <p:spPr>
          <a:xfrm>
            <a:off x="685800" y="1447800"/>
            <a:ext cx="7772400" cy="4953000"/>
          </a:xfrm>
          <a:noFill/>
          <a:ln>
            <a:solidFill>
              <a:srgbClr val="333300"/>
            </a:solidFill>
          </a:ln>
        </p:spPr>
        <p:txBody>
          <a:bodyPr/>
          <a:lstStyle/>
          <a:p>
            <a:pPr>
              <a:lnSpc>
                <a:spcPct val="90000"/>
              </a:lnSpc>
              <a:buClr>
                <a:schemeClr val="accent2"/>
              </a:buClr>
              <a:buFont typeface="Wingdings" pitchFamily="2" charset="2"/>
              <a:buNone/>
            </a:pPr>
            <a:r>
              <a:rPr lang="en-US" sz="2400" b="1">
                <a:solidFill>
                  <a:srgbClr val="0000CC"/>
                </a:solidFill>
              </a:rPr>
              <a:t>&lt;FRAMESET&gt;</a:t>
            </a:r>
            <a:r>
              <a:rPr lang="en-US" sz="2400" b="1" i="1"/>
              <a:t> :</a:t>
            </a:r>
            <a:r>
              <a:rPr lang="en-US" sz="2400"/>
              <a:t> The FRAMESET element creates divisions in the browser window in a single direction. This allows you to define divisions as either rows or columns.</a:t>
            </a:r>
          </a:p>
          <a:p>
            <a:pPr>
              <a:lnSpc>
                <a:spcPct val="90000"/>
              </a:lnSpc>
              <a:buClr>
                <a:schemeClr val="accent2"/>
              </a:buClr>
              <a:buFont typeface="Wingdings" pitchFamily="2" charset="2"/>
              <a:buChar char="§"/>
            </a:pPr>
            <a:r>
              <a:rPr lang="en-US" sz="2400" b="1">
                <a:solidFill>
                  <a:srgbClr val="0000CC"/>
                </a:solidFill>
              </a:rPr>
              <a:t>ROWS</a:t>
            </a:r>
            <a:r>
              <a:rPr lang="en-US" sz="2400" b="1" i="1"/>
              <a:t> : </a:t>
            </a:r>
            <a:r>
              <a:rPr lang="en-US" sz="2400"/>
              <a:t>Determines the size and number of rectangular rows within a &lt;FRAMESET&gt;. They are set from top of the display area to the bottom.</a:t>
            </a:r>
          </a:p>
          <a:p>
            <a:pPr>
              <a:lnSpc>
                <a:spcPct val="90000"/>
              </a:lnSpc>
              <a:buClr>
                <a:schemeClr val="accent2"/>
              </a:buClr>
              <a:buFont typeface="Wingdings" pitchFamily="2" charset="2"/>
              <a:buNone/>
            </a:pPr>
            <a:r>
              <a:rPr lang="en-US" sz="2400" b="1">
                <a:solidFill>
                  <a:srgbClr val="FF0000"/>
                </a:solidFill>
              </a:rPr>
              <a:t>Possible values are:</a:t>
            </a:r>
          </a:p>
          <a:p>
            <a:pPr>
              <a:lnSpc>
                <a:spcPct val="90000"/>
              </a:lnSpc>
              <a:buClr>
                <a:schemeClr val="accent2"/>
              </a:buClr>
              <a:buFont typeface="Wingdings" pitchFamily="2" charset="2"/>
              <a:buChar char="§"/>
            </a:pPr>
            <a:r>
              <a:rPr lang="en-US" sz="2400"/>
              <a:t>Absolute pixel units, I.e. “360,120”.</a:t>
            </a:r>
          </a:p>
          <a:p>
            <a:pPr>
              <a:lnSpc>
                <a:spcPct val="90000"/>
              </a:lnSpc>
              <a:buClr>
                <a:schemeClr val="accent2"/>
              </a:buClr>
              <a:buFont typeface="Wingdings" pitchFamily="2" charset="2"/>
              <a:buChar char="§"/>
            </a:pPr>
            <a:r>
              <a:rPr lang="en-US" sz="2400"/>
              <a:t>A percentage of screen height, e.g. “75%,25%”.</a:t>
            </a:r>
          </a:p>
          <a:p>
            <a:pPr>
              <a:lnSpc>
                <a:spcPct val="90000"/>
              </a:lnSpc>
              <a:buClr>
                <a:schemeClr val="accent2"/>
              </a:buClr>
              <a:buFont typeface="Wingdings" pitchFamily="2" charset="2"/>
              <a:buChar char="§"/>
            </a:pPr>
            <a:r>
              <a:rPr lang="en-US" sz="2400"/>
              <a:t>Proportional values using the asterisk (*). This is often combined with a value in pixels , e.g. “360,*”.</a:t>
            </a:r>
          </a:p>
          <a:p>
            <a:pPr>
              <a:lnSpc>
                <a:spcPct val="90000"/>
              </a:lnSpc>
              <a:buClr>
                <a:schemeClr val="accent2"/>
              </a:buClr>
              <a:buFont typeface="Wingdings" pitchFamily="2" charset="2"/>
              <a:buChar char="§"/>
            </a:pPr>
            <a:r>
              <a:rPr lang="en-US"/>
              <a:t>&lt;Frameset cols=“200,20%,*,2*”&gt;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5EF3F11-CAC7-41B6-BBE7-4C243CEF50F7}" type="slidenum">
              <a:rPr lang="ar-SA"/>
              <a:pPr/>
              <a:t>24</a:t>
            </a:fld>
            <a:endParaRPr lang="en-US"/>
          </a:p>
        </p:txBody>
      </p:sp>
      <p:sp>
        <p:nvSpPr>
          <p:cNvPr id="89090" name="Rectangle 2"/>
          <p:cNvSpPr>
            <a:spLocks noGrp="1" noChangeArrowheads="1"/>
          </p:cNvSpPr>
          <p:nvPr>
            <p:ph type="title"/>
          </p:nvPr>
        </p:nvSpPr>
        <p:spPr>
          <a:xfrm>
            <a:off x="457200" y="274638"/>
            <a:ext cx="8229600" cy="914400"/>
          </a:xfrm>
          <a:noFill/>
        </p:spPr>
        <p:txBody>
          <a:bodyPr>
            <a:flatTx/>
          </a:bodyPr>
          <a:lstStyle/>
          <a:p>
            <a:r>
              <a:rPr lang="en-US" dirty="0">
                <a:solidFill>
                  <a:srgbClr val="C00000"/>
                </a:solidFill>
              </a:rPr>
              <a:t>Creating a Frames Page</a:t>
            </a:r>
          </a:p>
        </p:txBody>
      </p:sp>
      <p:sp>
        <p:nvSpPr>
          <p:cNvPr id="89091" name="Rectangle 3"/>
          <p:cNvSpPr>
            <a:spLocks noGrp="1" noChangeArrowheads="1"/>
          </p:cNvSpPr>
          <p:nvPr>
            <p:ph type="body" idx="1"/>
          </p:nvPr>
        </p:nvSpPr>
        <p:spPr>
          <a:xfrm>
            <a:off x="381000" y="1524000"/>
            <a:ext cx="8229600" cy="4525963"/>
          </a:xfrm>
          <a:noFill/>
        </p:spPr>
        <p:txBody>
          <a:bodyPr/>
          <a:lstStyle/>
          <a:p>
            <a:pPr>
              <a:lnSpc>
                <a:spcPct val="80000"/>
              </a:lnSpc>
              <a:buClr>
                <a:schemeClr val="accent2"/>
              </a:buClr>
              <a:buFont typeface="Wingdings" pitchFamily="2" charset="2"/>
              <a:buChar char="§"/>
            </a:pPr>
            <a:r>
              <a:rPr lang="en-US" sz="2800" b="1">
                <a:solidFill>
                  <a:srgbClr val="0000CC"/>
                </a:solidFill>
              </a:rPr>
              <a:t>COLS</a:t>
            </a:r>
            <a:r>
              <a:rPr lang="en-US" sz="2800" b="1" i="1"/>
              <a:t>:</a:t>
            </a:r>
            <a:r>
              <a:rPr lang="en-US" sz="2800"/>
              <a:t> Determines the size and number of rectangular columns within a &lt;FRAMESET&gt;. They are set from </a:t>
            </a:r>
            <a:r>
              <a:rPr lang="en-US" sz="2800" b="1">
                <a:solidFill>
                  <a:srgbClr val="FF0000"/>
                </a:solidFill>
              </a:rPr>
              <a:t>left</a:t>
            </a:r>
            <a:r>
              <a:rPr lang="en-US" sz="2800"/>
              <a:t> to </a:t>
            </a:r>
            <a:r>
              <a:rPr lang="en-US" sz="2800" b="1">
                <a:solidFill>
                  <a:srgbClr val="FF0000"/>
                </a:solidFill>
              </a:rPr>
              <a:t>right</a:t>
            </a:r>
            <a:r>
              <a:rPr lang="en-US" sz="2800"/>
              <a:t> of the display area.</a:t>
            </a:r>
          </a:p>
          <a:p>
            <a:pPr>
              <a:lnSpc>
                <a:spcPct val="80000"/>
              </a:lnSpc>
              <a:buClr>
                <a:schemeClr val="accent2"/>
              </a:buClr>
              <a:buFont typeface="Wingdings" pitchFamily="2" charset="2"/>
              <a:buNone/>
            </a:pPr>
            <a:endParaRPr lang="en-US" sz="2800" b="1">
              <a:solidFill>
                <a:srgbClr val="FF0000"/>
              </a:solidFill>
            </a:endParaRPr>
          </a:p>
          <a:p>
            <a:pPr>
              <a:lnSpc>
                <a:spcPct val="80000"/>
              </a:lnSpc>
              <a:buClr>
                <a:schemeClr val="accent2"/>
              </a:buClr>
              <a:buFont typeface="Wingdings" pitchFamily="2" charset="2"/>
              <a:buNone/>
            </a:pPr>
            <a:r>
              <a:rPr lang="en-US" sz="2800" b="1">
                <a:solidFill>
                  <a:srgbClr val="FF0000"/>
                </a:solidFill>
              </a:rPr>
              <a:t>Possible values are:</a:t>
            </a:r>
          </a:p>
          <a:p>
            <a:pPr>
              <a:lnSpc>
                <a:spcPct val="80000"/>
              </a:lnSpc>
              <a:buClr>
                <a:schemeClr val="accent2"/>
              </a:buClr>
              <a:buFont typeface="Wingdings" pitchFamily="2" charset="2"/>
              <a:buChar char="§"/>
            </a:pPr>
            <a:r>
              <a:rPr lang="en-US" sz="2800"/>
              <a:t>Absolute pixel units, I.e. “480,160”.</a:t>
            </a:r>
          </a:p>
          <a:p>
            <a:pPr>
              <a:lnSpc>
                <a:spcPct val="80000"/>
              </a:lnSpc>
              <a:buClr>
                <a:schemeClr val="accent2"/>
              </a:buClr>
              <a:buFont typeface="Wingdings" pitchFamily="2" charset="2"/>
              <a:buChar char="§"/>
            </a:pPr>
            <a:r>
              <a:rPr lang="en-US" sz="2800"/>
              <a:t>A percentage of screen width, e.g. “75%,25%”.</a:t>
            </a:r>
          </a:p>
          <a:p>
            <a:pPr>
              <a:lnSpc>
                <a:spcPct val="80000"/>
              </a:lnSpc>
              <a:buClr>
                <a:schemeClr val="accent2"/>
              </a:buClr>
              <a:buFont typeface="Wingdings" pitchFamily="2" charset="2"/>
              <a:buChar char="§"/>
            </a:pPr>
            <a:r>
              <a:rPr lang="en-US" sz="2800"/>
              <a:t>Proportional values using the asterisk (*). This is often combined with a value in pixels , e.g. “480,*”.</a:t>
            </a:r>
          </a:p>
          <a:p>
            <a:pPr>
              <a:lnSpc>
                <a:spcPct val="80000"/>
              </a:lnSpc>
              <a:buClr>
                <a:schemeClr val="accent2"/>
              </a:buClr>
              <a:buFont typeface="Wingdings" pitchFamily="2" charset="2"/>
              <a:buNone/>
            </a:pPr>
            <a:endParaRPr lang="en-US" sz="28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59D9D99-8E71-46A2-8266-FE018F0D01D9}" type="slidenum">
              <a:rPr lang="ar-SA"/>
              <a:pPr/>
              <a:t>25</a:t>
            </a:fld>
            <a:endParaRPr lang="en-US"/>
          </a:p>
        </p:txBody>
      </p:sp>
      <p:sp>
        <p:nvSpPr>
          <p:cNvPr id="90114" name="Rectangle 2"/>
          <p:cNvSpPr>
            <a:spLocks noGrp="1" noChangeArrowheads="1"/>
          </p:cNvSpPr>
          <p:nvPr>
            <p:ph type="title"/>
          </p:nvPr>
        </p:nvSpPr>
        <p:spPr>
          <a:xfrm>
            <a:off x="430237" y="457200"/>
            <a:ext cx="8229600" cy="838200"/>
          </a:xfrm>
          <a:noFill/>
        </p:spPr>
        <p:txBody>
          <a:bodyPr>
            <a:flatTx/>
          </a:bodyPr>
          <a:lstStyle/>
          <a:p>
            <a:r>
              <a:rPr lang="en-US" dirty="0">
                <a:solidFill>
                  <a:srgbClr val="C00000"/>
                </a:solidFill>
              </a:rPr>
              <a:t>Creating a Frames Page</a:t>
            </a:r>
          </a:p>
        </p:txBody>
      </p:sp>
      <p:sp>
        <p:nvSpPr>
          <p:cNvPr id="90115" name="Rectangle 3"/>
          <p:cNvSpPr>
            <a:spLocks noGrp="1" noChangeArrowheads="1"/>
          </p:cNvSpPr>
          <p:nvPr>
            <p:ph type="body" idx="1"/>
          </p:nvPr>
        </p:nvSpPr>
        <p:spPr>
          <a:xfrm>
            <a:off x="658837" y="1706562"/>
            <a:ext cx="7772400" cy="4876800"/>
          </a:xfrm>
          <a:noFill/>
        </p:spPr>
        <p:txBody>
          <a:bodyPr/>
          <a:lstStyle/>
          <a:p>
            <a:pPr>
              <a:lnSpc>
                <a:spcPct val="90000"/>
              </a:lnSpc>
              <a:buClr>
                <a:schemeClr val="accent2"/>
              </a:buClr>
              <a:buFont typeface="Wingdings" pitchFamily="2" charset="2"/>
              <a:buChar char="§"/>
            </a:pPr>
            <a:r>
              <a:rPr lang="en-US" sz="2400" b="1">
                <a:solidFill>
                  <a:srgbClr val="0000CC"/>
                </a:solidFill>
              </a:rPr>
              <a:t>FRAMEBORDER</a:t>
            </a:r>
            <a:r>
              <a:rPr lang="en-US" sz="2400" b="1" i="1"/>
              <a:t> </a:t>
            </a:r>
            <a:r>
              <a:rPr lang="en-US" sz="2400" b="1"/>
              <a:t>:</a:t>
            </a:r>
            <a:r>
              <a:rPr lang="en-US"/>
              <a:t> </a:t>
            </a:r>
            <a:r>
              <a:rPr lang="en-US" sz="2400"/>
              <a:t>Possible values </a:t>
            </a:r>
            <a:r>
              <a:rPr lang="en-US" sz="2400" b="1">
                <a:solidFill>
                  <a:srgbClr val="FF0000"/>
                </a:solidFill>
              </a:rPr>
              <a:t>0</a:t>
            </a:r>
            <a:r>
              <a:rPr lang="en-US" sz="2400" b="1"/>
              <a:t>, </a:t>
            </a:r>
            <a:r>
              <a:rPr lang="en-US" sz="2400" b="1">
                <a:solidFill>
                  <a:srgbClr val="FF0000"/>
                </a:solidFill>
              </a:rPr>
              <a:t>1</a:t>
            </a:r>
            <a:r>
              <a:rPr lang="en-US" sz="2400" b="1"/>
              <a:t>, </a:t>
            </a:r>
            <a:r>
              <a:rPr lang="en-US" sz="2400" b="1">
                <a:solidFill>
                  <a:srgbClr val="FF0000"/>
                </a:solidFill>
              </a:rPr>
              <a:t>YES</a:t>
            </a:r>
            <a:r>
              <a:rPr lang="en-US" sz="2400" b="1"/>
              <a:t>, </a:t>
            </a:r>
            <a:r>
              <a:rPr lang="en-US" sz="2400" b="1">
                <a:solidFill>
                  <a:srgbClr val="FF0000"/>
                </a:solidFill>
              </a:rPr>
              <a:t>NO</a:t>
            </a:r>
            <a:r>
              <a:rPr lang="en-US" sz="2400"/>
              <a:t>. A setting of zero will create a borderless frame.</a:t>
            </a:r>
          </a:p>
          <a:p>
            <a:pPr>
              <a:lnSpc>
                <a:spcPct val="90000"/>
              </a:lnSpc>
              <a:buClr>
                <a:schemeClr val="accent2"/>
              </a:buClr>
              <a:buFont typeface="Wingdings" pitchFamily="2" charset="2"/>
              <a:buChar char="§"/>
            </a:pPr>
            <a:r>
              <a:rPr lang="en-US" sz="2400" b="1">
                <a:solidFill>
                  <a:srgbClr val="0000CC"/>
                </a:solidFill>
              </a:rPr>
              <a:t>FRAMESPACING</a:t>
            </a:r>
            <a:r>
              <a:rPr lang="en-US" sz="2400" b="1"/>
              <a:t>:</a:t>
            </a:r>
            <a:r>
              <a:rPr lang="en-US" sz="2400"/>
              <a:t> This attribute is specified in </a:t>
            </a:r>
            <a:r>
              <a:rPr lang="en-US" sz="2400" b="1">
                <a:solidFill>
                  <a:srgbClr val="FF0000"/>
                </a:solidFill>
              </a:rPr>
              <a:t>pixels</a:t>
            </a:r>
            <a:r>
              <a:rPr lang="en-US" sz="2400"/>
              <a:t>. If you go to borderless frames you will need to set this value to zero as well, or you will have a gap between your frames where the border used to be.</a:t>
            </a:r>
          </a:p>
          <a:p>
            <a:pPr>
              <a:lnSpc>
                <a:spcPct val="90000"/>
              </a:lnSpc>
              <a:buClr>
                <a:schemeClr val="accent2"/>
              </a:buClr>
              <a:buFont typeface="Wingdings" pitchFamily="2" charset="2"/>
              <a:buChar char="§"/>
            </a:pPr>
            <a:r>
              <a:rPr lang="en-US" sz="2400" b="1">
                <a:solidFill>
                  <a:srgbClr val="0000CC"/>
                </a:solidFill>
              </a:rPr>
              <a:t>BORDER(thickness of the Frame)</a:t>
            </a:r>
            <a:r>
              <a:rPr lang="en-US" sz="2400" b="1"/>
              <a:t>:</a:t>
            </a:r>
            <a:r>
              <a:rPr lang="en-US" sz="2400"/>
              <a:t> This attribute specified in pixels. A setting of zero will create a borderless frame. Default value is 5.</a:t>
            </a:r>
          </a:p>
          <a:p>
            <a:pPr>
              <a:lnSpc>
                <a:spcPct val="90000"/>
              </a:lnSpc>
              <a:buClr>
                <a:schemeClr val="accent2"/>
              </a:buClr>
              <a:buFont typeface="Wingdings" pitchFamily="2" charset="2"/>
              <a:buChar char="§"/>
            </a:pPr>
            <a:r>
              <a:rPr lang="en-US" sz="2400" b="1">
                <a:solidFill>
                  <a:srgbClr val="0000CC"/>
                </a:solidFill>
              </a:rPr>
              <a:t>BORDERCOLOR</a:t>
            </a:r>
            <a:r>
              <a:rPr lang="en-US" sz="2400" b="1"/>
              <a:t>:</a:t>
            </a:r>
            <a:r>
              <a:rPr lang="en-US" sz="2400"/>
              <a:t> This attribute is allows you choose a color for your border. This attribute is rarely used.</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345A1BA-3DF8-4D08-B5D4-A0BA4381C168}" type="slidenum">
              <a:rPr lang="ar-SA"/>
              <a:pPr/>
              <a:t>26</a:t>
            </a:fld>
            <a:endParaRPr lang="en-US"/>
          </a:p>
        </p:txBody>
      </p:sp>
      <p:sp>
        <p:nvSpPr>
          <p:cNvPr id="92162" name="Rectangle 2"/>
          <p:cNvSpPr>
            <a:spLocks noGrp="1" noChangeArrowheads="1"/>
          </p:cNvSpPr>
          <p:nvPr>
            <p:ph type="title"/>
          </p:nvPr>
        </p:nvSpPr>
        <p:spPr>
          <a:xfrm>
            <a:off x="457200" y="381000"/>
            <a:ext cx="8229600" cy="838200"/>
          </a:xfrm>
          <a:noFill/>
        </p:spPr>
        <p:txBody>
          <a:bodyPr>
            <a:flatTx/>
          </a:bodyPr>
          <a:lstStyle/>
          <a:p>
            <a:r>
              <a:rPr lang="en-US">
                <a:solidFill>
                  <a:srgbClr val="C00000"/>
                </a:solidFill>
              </a:rPr>
              <a:t>&lt;FRAME&gt;</a:t>
            </a:r>
          </a:p>
        </p:txBody>
      </p:sp>
      <p:sp>
        <p:nvSpPr>
          <p:cNvPr id="92163" name="Rectangle 3"/>
          <p:cNvSpPr>
            <a:spLocks noGrp="1" noChangeArrowheads="1"/>
          </p:cNvSpPr>
          <p:nvPr>
            <p:ph type="body" idx="1"/>
          </p:nvPr>
        </p:nvSpPr>
        <p:spPr>
          <a:xfrm>
            <a:off x="457200" y="1630362"/>
            <a:ext cx="8229600" cy="4525963"/>
          </a:xfrm>
          <a:noFill/>
        </p:spPr>
        <p:txBody>
          <a:bodyPr/>
          <a:lstStyle/>
          <a:p>
            <a:pPr>
              <a:buFontTx/>
              <a:buNone/>
            </a:pPr>
            <a:r>
              <a:rPr lang="en-US" sz="2400" b="1">
                <a:solidFill>
                  <a:srgbClr val="0000CC"/>
                </a:solidFill>
              </a:rPr>
              <a:t>&lt;FRAME&gt;:</a:t>
            </a:r>
            <a:r>
              <a:rPr lang="en-US" sz="2400"/>
              <a:t> This element defines a single frame within a frameset. There will be a FRAME element for each division created by the FRAMESET element. This tag has the following attributes:</a:t>
            </a:r>
          </a:p>
          <a:p>
            <a:pPr>
              <a:buClr>
                <a:schemeClr val="accent2"/>
              </a:buClr>
              <a:buFont typeface="Wingdings" pitchFamily="2" charset="2"/>
              <a:buChar char="§"/>
            </a:pPr>
            <a:r>
              <a:rPr lang="en-US" sz="2400" b="1">
                <a:solidFill>
                  <a:srgbClr val="FF0000"/>
                </a:solidFill>
              </a:rPr>
              <a:t>SRC</a:t>
            </a:r>
            <a:r>
              <a:rPr lang="en-US" sz="2400" b="1">
                <a:solidFill>
                  <a:srgbClr val="0000CC"/>
                </a:solidFill>
              </a:rPr>
              <a:t>:</a:t>
            </a:r>
            <a:r>
              <a:rPr lang="en-US" sz="2400"/>
              <a:t> Required, as it provides the URL for the page that will be displayed in the frame.</a:t>
            </a:r>
          </a:p>
          <a:p>
            <a:pPr>
              <a:buClr>
                <a:schemeClr val="accent2"/>
              </a:buClr>
              <a:buFont typeface="Wingdings" pitchFamily="2" charset="2"/>
              <a:buChar char="§"/>
            </a:pPr>
            <a:r>
              <a:rPr lang="en-US" sz="2400" b="1">
                <a:solidFill>
                  <a:srgbClr val="FF0000"/>
                </a:solidFill>
              </a:rPr>
              <a:t>NAME</a:t>
            </a:r>
            <a:r>
              <a:rPr lang="en-US" sz="2400" b="1">
                <a:solidFill>
                  <a:srgbClr val="0000CC"/>
                </a:solidFill>
              </a:rPr>
              <a:t>:</a:t>
            </a:r>
            <a:r>
              <a:rPr lang="en-US" sz="2400" b="1" i="1"/>
              <a:t> </a:t>
            </a:r>
            <a:r>
              <a:rPr lang="en-US" sz="2400"/>
              <a:t>Required for frames that will allow targeting by other HTML documents. Works in conjunction with the target attribute of the &lt;A&gt;, &lt;AREA&gt;, &lt;BASE&gt;, and &lt;FORM&gt; tags.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5A90998-2472-4825-86F4-E226B24A2813}" type="slidenum">
              <a:rPr lang="ar-SA"/>
              <a:pPr/>
              <a:t>27</a:t>
            </a:fld>
            <a:endParaRPr lang="en-US"/>
          </a:p>
        </p:txBody>
      </p:sp>
      <p:sp>
        <p:nvSpPr>
          <p:cNvPr id="93186" name="Rectangle 2"/>
          <p:cNvSpPr>
            <a:spLocks noGrp="1" noChangeArrowheads="1"/>
          </p:cNvSpPr>
          <p:nvPr>
            <p:ph type="title"/>
          </p:nvPr>
        </p:nvSpPr>
        <p:spPr>
          <a:xfrm>
            <a:off x="457200" y="274638"/>
            <a:ext cx="8229600" cy="838200"/>
          </a:xfrm>
          <a:noFill/>
        </p:spPr>
        <p:txBody>
          <a:bodyPr>
            <a:flatTx/>
          </a:bodyPr>
          <a:lstStyle/>
          <a:p>
            <a:r>
              <a:rPr lang="en-US">
                <a:solidFill>
                  <a:srgbClr val="C00000"/>
                </a:solidFill>
              </a:rPr>
              <a:t>&lt;FRAME&gt;</a:t>
            </a:r>
          </a:p>
        </p:txBody>
      </p:sp>
      <p:sp>
        <p:nvSpPr>
          <p:cNvPr id="93187" name="Rectangle 3"/>
          <p:cNvSpPr>
            <a:spLocks noGrp="1" noChangeArrowheads="1"/>
          </p:cNvSpPr>
          <p:nvPr>
            <p:ph type="body" idx="1"/>
          </p:nvPr>
        </p:nvSpPr>
        <p:spPr>
          <a:xfrm>
            <a:off x="685800" y="1524000"/>
            <a:ext cx="7772400" cy="5029200"/>
          </a:xfrm>
          <a:noFill/>
        </p:spPr>
        <p:txBody>
          <a:bodyPr/>
          <a:lstStyle/>
          <a:p>
            <a:pPr marL="609600" indent="-609600">
              <a:lnSpc>
                <a:spcPct val="90000"/>
              </a:lnSpc>
              <a:buClr>
                <a:schemeClr val="accent2"/>
              </a:buClr>
              <a:buFont typeface="Wingdings" pitchFamily="2" charset="2"/>
              <a:buChar char="§"/>
            </a:pPr>
            <a:r>
              <a:rPr lang="en-US" sz="2400" b="1">
                <a:solidFill>
                  <a:srgbClr val="3333FF"/>
                </a:solidFill>
              </a:rPr>
              <a:t>MARGINWIDTH</a:t>
            </a:r>
            <a:r>
              <a:rPr lang="en-US" sz="2400" b="1"/>
              <a:t>:</a:t>
            </a:r>
            <a:r>
              <a:rPr lang="en-US" sz="2400"/>
              <a:t> Optional attribute stated in pixels. Determines horizontal space between the &lt;FRAME&gt; contents and the frame’s borders.</a:t>
            </a:r>
          </a:p>
          <a:p>
            <a:pPr marL="609600" indent="-609600">
              <a:lnSpc>
                <a:spcPct val="90000"/>
              </a:lnSpc>
              <a:buClr>
                <a:schemeClr val="accent2"/>
              </a:buClr>
              <a:buFont typeface="Wingdings" pitchFamily="2" charset="2"/>
              <a:buChar char="§"/>
            </a:pPr>
            <a:r>
              <a:rPr lang="en-US" sz="2400" b="1">
                <a:solidFill>
                  <a:srgbClr val="3333FF"/>
                </a:solidFill>
              </a:rPr>
              <a:t>MARGINHEIGHT</a:t>
            </a:r>
            <a:r>
              <a:rPr lang="en-US" sz="2400" b="1"/>
              <a:t>:</a:t>
            </a:r>
            <a:r>
              <a:rPr lang="en-US" sz="2400"/>
              <a:t> Optional attribute stated in pixels. Determines vertical space between the &lt;FRAME&gt; contents and the frame’s borders.</a:t>
            </a:r>
          </a:p>
          <a:p>
            <a:pPr marL="609600" indent="-609600">
              <a:lnSpc>
                <a:spcPct val="90000"/>
              </a:lnSpc>
              <a:buClr>
                <a:schemeClr val="accent2"/>
              </a:buClr>
              <a:buFont typeface="Wingdings" pitchFamily="2" charset="2"/>
              <a:buChar char="§"/>
            </a:pPr>
            <a:r>
              <a:rPr lang="en-US" sz="2400" b="1">
                <a:solidFill>
                  <a:srgbClr val="FF0000"/>
                </a:solidFill>
              </a:rPr>
              <a:t>SCROLLING</a:t>
            </a:r>
            <a:r>
              <a:rPr lang="en-US" sz="2400"/>
              <a:t>: Displays a scroll bar(s) in the frame. Possible values are: </a:t>
            </a:r>
          </a:p>
          <a:p>
            <a:pPr marL="609600" indent="-609600">
              <a:lnSpc>
                <a:spcPct val="90000"/>
              </a:lnSpc>
              <a:buClr>
                <a:schemeClr val="accent2"/>
              </a:buClr>
              <a:buFont typeface="Wingdings" pitchFamily="2" charset="2"/>
              <a:buAutoNum type="arabicPeriod"/>
            </a:pPr>
            <a:r>
              <a:rPr lang="en-US" sz="2400" b="1">
                <a:solidFill>
                  <a:srgbClr val="990000"/>
                </a:solidFill>
              </a:rPr>
              <a:t>Yes</a:t>
            </a:r>
            <a:r>
              <a:rPr lang="en-US" sz="2400"/>
              <a:t> – always display scroll bar(s).</a:t>
            </a:r>
          </a:p>
          <a:p>
            <a:pPr marL="609600" indent="-609600">
              <a:lnSpc>
                <a:spcPct val="90000"/>
              </a:lnSpc>
              <a:buClr>
                <a:schemeClr val="accent2"/>
              </a:buClr>
              <a:buFont typeface="Wingdings" pitchFamily="2" charset="2"/>
              <a:buAutoNum type="arabicPeriod"/>
            </a:pPr>
            <a:r>
              <a:rPr lang="en-US" sz="2400" b="1">
                <a:solidFill>
                  <a:srgbClr val="990000"/>
                </a:solidFill>
              </a:rPr>
              <a:t>No</a:t>
            </a:r>
            <a:r>
              <a:rPr lang="en-US" sz="2400"/>
              <a:t> – never display scroll bar(s).</a:t>
            </a:r>
          </a:p>
          <a:p>
            <a:pPr marL="609600" indent="-609600">
              <a:lnSpc>
                <a:spcPct val="90000"/>
              </a:lnSpc>
              <a:buClr>
                <a:schemeClr val="accent2"/>
              </a:buClr>
              <a:buFont typeface="Wingdings" pitchFamily="2" charset="2"/>
              <a:buAutoNum type="arabicPeriod"/>
            </a:pPr>
            <a:r>
              <a:rPr lang="en-US" sz="2400" b="1">
                <a:solidFill>
                  <a:srgbClr val="990000"/>
                </a:solidFill>
              </a:rPr>
              <a:t>Auto</a:t>
            </a:r>
            <a:r>
              <a:rPr lang="en-US" sz="2400"/>
              <a:t> – browser will decide based on frame contents.</a:t>
            </a:r>
            <a:endParaRPr lang="ar-SA" sz="2400"/>
          </a:p>
          <a:p>
            <a:pPr marL="609600" indent="-609600">
              <a:lnSpc>
                <a:spcPct val="90000"/>
              </a:lnSpc>
              <a:buClr>
                <a:schemeClr val="accent2"/>
              </a:buClr>
              <a:buFont typeface="Wingdings" pitchFamily="2" charset="2"/>
              <a:buNone/>
            </a:pPr>
            <a:r>
              <a:rPr lang="en-US">
                <a:solidFill>
                  <a:srgbClr val="0000FF"/>
                </a:solidFill>
              </a:rPr>
              <a:t>By default: scrolling is auto.</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65B781D-D422-4B8F-9343-8999AAB5C299}" type="slidenum">
              <a:rPr lang="ar-SA"/>
              <a:pPr/>
              <a:t>28</a:t>
            </a:fld>
            <a:endParaRPr lang="en-US"/>
          </a:p>
        </p:txBody>
      </p:sp>
      <p:sp>
        <p:nvSpPr>
          <p:cNvPr id="94210" name="Rectangle 2"/>
          <p:cNvSpPr>
            <a:spLocks noGrp="1" noChangeArrowheads="1"/>
          </p:cNvSpPr>
          <p:nvPr>
            <p:ph type="title"/>
          </p:nvPr>
        </p:nvSpPr>
        <p:spPr>
          <a:xfrm>
            <a:off x="454855" y="689635"/>
            <a:ext cx="8229600" cy="715962"/>
          </a:xfrm>
          <a:noFill/>
        </p:spPr>
        <p:txBody>
          <a:bodyPr>
            <a:flatTx/>
          </a:bodyPr>
          <a:lstStyle/>
          <a:p>
            <a:r>
              <a:rPr lang="en-US" sz="4000" b="1">
                <a:solidFill>
                  <a:srgbClr val="C00000"/>
                </a:solidFill>
              </a:rPr>
              <a:t>&lt;FRAME&gt;</a:t>
            </a:r>
          </a:p>
        </p:txBody>
      </p:sp>
      <p:sp>
        <p:nvSpPr>
          <p:cNvPr id="94211" name="Rectangle 3"/>
          <p:cNvSpPr>
            <a:spLocks noGrp="1" noChangeArrowheads="1"/>
          </p:cNvSpPr>
          <p:nvPr>
            <p:ph type="body" idx="1"/>
          </p:nvPr>
        </p:nvSpPr>
        <p:spPr>
          <a:xfrm>
            <a:off x="378655" y="1905000"/>
            <a:ext cx="8229600" cy="2971800"/>
          </a:xfrm>
          <a:noFill/>
        </p:spPr>
        <p:txBody>
          <a:bodyPr/>
          <a:lstStyle/>
          <a:p>
            <a:pPr>
              <a:buClr>
                <a:schemeClr val="accent2"/>
              </a:buClr>
              <a:buFont typeface="Wingdings" pitchFamily="2" charset="2"/>
              <a:buChar char="§"/>
            </a:pPr>
            <a:r>
              <a:rPr lang="en-US" b="1">
                <a:solidFill>
                  <a:srgbClr val="FF0000"/>
                </a:solidFill>
              </a:rPr>
              <a:t>NORESIZE</a:t>
            </a:r>
            <a:r>
              <a:rPr lang="en-US" b="1"/>
              <a:t>:</a:t>
            </a:r>
            <a:r>
              <a:rPr lang="en-US"/>
              <a:t> Optional – prevents viewers from resizing the frame. By default the user can stretch or shrink the frame’s display by selecting the frame’s border and moving it up, down, left, or right.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34172F9-9725-4521-A02E-530EFA935B19}" type="slidenum">
              <a:rPr lang="ar-SA"/>
              <a:pPr/>
              <a:t>29</a:t>
            </a:fld>
            <a:endParaRPr lang="en-US"/>
          </a:p>
        </p:txBody>
      </p:sp>
      <p:sp>
        <p:nvSpPr>
          <p:cNvPr id="95234" name="Rectangle 2"/>
          <p:cNvSpPr>
            <a:spLocks noGrp="1" noChangeArrowheads="1"/>
          </p:cNvSpPr>
          <p:nvPr>
            <p:ph type="title"/>
          </p:nvPr>
        </p:nvSpPr>
        <p:spPr>
          <a:xfrm>
            <a:off x="559191" y="762000"/>
            <a:ext cx="7929563" cy="838200"/>
          </a:xfrm>
          <a:noFill/>
        </p:spPr>
        <p:txBody>
          <a:bodyPr>
            <a:flatTx/>
          </a:bodyPr>
          <a:lstStyle/>
          <a:p>
            <a:r>
              <a:rPr lang="en-US">
                <a:solidFill>
                  <a:srgbClr val="C00000"/>
                </a:solidFill>
              </a:rPr>
              <a:t>&lt;NOFRAMES&gt;</a:t>
            </a:r>
          </a:p>
        </p:txBody>
      </p:sp>
      <p:sp>
        <p:nvSpPr>
          <p:cNvPr id="95235" name="Rectangle 3"/>
          <p:cNvSpPr>
            <a:spLocks noGrp="1" noChangeArrowheads="1"/>
          </p:cNvSpPr>
          <p:nvPr>
            <p:ph type="body" idx="1"/>
          </p:nvPr>
        </p:nvSpPr>
        <p:spPr>
          <a:xfrm>
            <a:off x="482991" y="1935162"/>
            <a:ext cx="8229600" cy="3429000"/>
          </a:xfrm>
          <a:noFill/>
        </p:spPr>
        <p:txBody>
          <a:bodyPr/>
          <a:lstStyle/>
          <a:p>
            <a:pPr>
              <a:buClr>
                <a:schemeClr val="accent2"/>
              </a:buClr>
              <a:buFont typeface="Wingdings" pitchFamily="2" charset="2"/>
              <a:buChar char="§"/>
            </a:pPr>
            <a:r>
              <a:rPr lang="en-US" sz="2400" b="1">
                <a:solidFill>
                  <a:srgbClr val="0000CC"/>
                </a:solidFill>
              </a:rPr>
              <a:t>&lt;NOFRAMES&gt;:</a:t>
            </a:r>
            <a:r>
              <a:rPr lang="en-US" sz="2400" b="1" i="1"/>
              <a:t> </a:t>
            </a:r>
            <a:r>
              <a:rPr lang="en-US" sz="2400"/>
              <a:t>Frame – capable browsers ignore all HTML within this tag including the contents of the BODY element. This element does not have any attributes.</a:t>
            </a:r>
          </a:p>
          <a:p>
            <a:pPr>
              <a:buClr>
                <a:schemeClr val="accent2"/>
              </a:buClr>
              <a:buFont typeface="Wingdings" pitchFamily="2" charset="2"/>
              <a:buNone/>
            </a:pPr>
            <a:endParaRPr lang="en-US" sz="2400"/>
          </a:p>
          <a:p>
            <a:pPr>
              <a:buClr>
                <a:schemeClr val="accent2"/>
              </a:buClr>
              <a:buFont typeface="Wingdings" pitchFamily="2" charset="2"/>
              <a:buNone/>
            </a:pPr>
            <a:r>
              <a:rPr lang="en-US" sz="2400"/>
              <a:t>&lt;HTML&gt;</a:t>
            </a:r>
          </a:p>
          <a:p>
            <a:pPr>
              <a:buClr>
                <a:schemeClr val="accent2"/>
              </a:buClr>
              <a:buFont typeface="Wingdings" pitchFamily="2" charset="2"/>
              <a:buNone/>
            </a:pPr>
            <a:r>
              <a:rPr lang="en-US" sz="2400"/>
              <a:t>&lt;HEAD&gt;</a:t>
            </a:r>
          </a:p>
          <a:p>
            <a:pPr>
              <a:buClr>
                <a:schemeClr val="accent2"/>
              </a:buClr>
              <a:buFont typeface="Wingdings" pitchFamily="2" charset="2"/>
              <a:buNone/>
            </a:pPr>
            <a:r>
              <a:rPr lang="en-US" sz="2400"/>
              <a:t>&lt;TITLE&gt; Framed Page &lt;/TITLE&gt;</a:t>
            </a:r>
          </a:p>
          <a:p>
            <a:pPr>
              <a:buClr>
                <a:schemeClr val="accent2"/>
              </a:buClr>
              <a:buFont typeface="Wingdings" pitchFamily="2" charset="2"/>
              <a:buNone/>
            </a:pPr>
            <a:r>
              <a:rPr lang="en-US" sz="2400"/>
              <a:t>&lt;/HEAD&gt;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CB3F2CC-AFD2-4E5D-B13E-1A48D5BF2C0B}" type="slidenum">
              <a:rPr lang="ar-SA"/>
              <a:pPr/>
              <a:t>30</a:t>
            </a:fld>
            <a:endParaRPr lang="en-US"/>
          </a:p>
        </p:txBody>
      </p:sp>
      <p:sp>
        <p:nvSpPr>
          <p:cNvPr id="96258" name="Rectangle 2"/>
          <p:cNvSpPr>
            <a:spLocks noGrp="1" noChangeArrowheads="1"/>
          </p:cNvSpPr>
          <p:nvPr>
            <p:ph type="title"/>
          </p:nvPr>
        </p:nvSpPr>
        <p:spPr>
          <a:xfrm>
            <a:off x="845234" y="212188"/>
            <a:ext cx="8229600" cy="838200"/>
          </a:xfrm>
          <a:noFill/>
        </p:spPr>
        <p:txBody>
          <a:bodyPr>
            <a:flatTx/>
          </a:bodyPr>
          <a:lstStyle/>
          <a:p>
            <a:r>
              <a:rPr lang="en-US" dirty="0">
                <a:solidFill>
                  <a:srgbClr val="C00000"/>
                </a:solidFill>
              </a:rPr>
              <a:t>&lt;NOFRAMES&gt;</a:t>
            </a:r>
          </a:p>
        </p:txBody>
      </p:sp>
      <p:sp>
        <p:nvSpPr>
          <p:cNvPr id="96259" name="Rectangle 3"/>
          <p:cNvSpPr>
            <a:spLocks noGrp="1" noChangeArrowheads="1"/>
          </p:cNvSpPr>
          <p:nvPr>
            <p:ph type="body" idx="1"/>
          </p:nvPr>
        </p:nvSpPr>
        <p:spPr>
          <a:xfrm>
            <a:off x="464234" y="1355188"/>
            <a:ext cx="8686800" cy="5486400"/>
          </a:xfrm>
          <a:noFill/>
        </p:spPr>
        <p:txBody>
          <a:bodyPr/>
          <a:lstStyle/>
          <a:p>
            <a:pPr>
              <a:buFontTx/>
              <a:buNone/>
            </a:pPr>
            <a:r>
              <a:rPr lang="en-US"/>
              <a:t>&lt;</a:t>
            </a:r>
            <a:r>
              <a:rPr lang="en-US">
                <a:solidFill>
                  <a:srgbClr val="0000FF"/>
                </a:solidFill>
              </a:rPr>
              <a:t>FRAMESET</a:t>
            </a:r>
            <a:r>
              <a:rPr lang="en-US"/>
              <a:t> COLS="23%,77%"&gt;</a:t>
            </a:r>
          </a:p>
          <a:p>
            <a:pPr>
              <a:buFontTx/>
              <a:buNone/>
            </a:pPr>
            <a:r>
              <a:rPr lang="en-US"/>
              <a:t>&lt;FRAME  SRC=""   NAME="left_pane“&gt;</a:t>
            </a:r>
          </a:p>
          <a:p>
            <a:pPr>
              <a:buFontTx/>
              <a:buNone/>
            </a:pPr>
            <a:r>
              <a:rPr lang="en-US"/>
              <a:t>&lt;FRAME  SRC=""   NAME="right_pane"&gt; </a:t>
            </a:r>
          </a:p>
          <a:p>
            <a:pPr>
              <a:buFontTx/>
              <a:buNone/>
            </a:pPr>
            <a:r>
              <a:rPr lang="en-US" b="1">
                <a:solidFill>
                  <a:srgbClr val="FF0000"/>
                </a:solidFill>
              </a:rPr>
              <a:t>&lt;NOFRAMES&gt;</a:t>
            </a:r>
          </a:p>
          <a:p>
            <a:pPr>
              <a:buFontTx/>
              <a:buNone/>
            </a:pPr>
            <a:r>
              <a:rPr lang="en-US"/>
              <a:t>&lt;P&gt; This is a Framed Page. Upgrade your browser to support frames.&lt;/P&gt;</a:t>
            </a:r>
          </a:p>
          <a:p>
            <a:pPr>
              <a:buFontTx/>
              <a:buNone/>
            </a:pPr>
            <a:r>
              <a:rPr lang="en-US" b="1">
                <a:solidFill>
                  <a:srgbClr val="FF0000"/>
                </a:solidFill>
              </a:rPr>
              <a:t>&lt;/NOFRAMES&gt;</a:t>
            </a:r>
            <a:r>
              <a:rPr lang="en-US"/>
              <a:t>&lt;</a:t>
            </a:r>
            <a:r>
              <a:rPr lang="en-US">
                <a:solidFill>
                  <a:srgbClr val="0000FF"/>
                </a:solidFill>
              </a:rPr>
              <a:t>/FRAMESET</a:t>
            </a:r>
            <a:r>
              <a:rPr lang="en-US"/>
              <a:t>&gt;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8387E09-8B33-442B-BBEB-3F5C3772DF0C}" type="slidenum">
              <a:rPr lang="ar-SA"/>
              <a:pPr/>
              <a:t>31</a:t>
            </a:fld>
            <a:endParaRPr lang="en-US"/>
          </a:p>
        </p:txBody>
      </p:sp>
      <p:sp>
        <p:nvSpPr>
          <p:cNvPr id="98306" name="Rectangle 2"/>
          <p:cNvSpPr>
            <a:spLocks noGrp="1" noChangeArrowheads="1"/>
          </p:cNvSpPr>
          <p:nvPr>
            <p:ph type="title"/>
          </p:nvPr>
        </p:nvSpPr>
        <p:spPr>
          <a:xfrm>
            <a:off x="457200" y="457200"/>
            <a:ext cx="8229600" cy="914400"/>
          </a:xfrm>
          <a:noFill/>
        </p:spPr>
        <p:txBody>
          <a:bodyPr>
            <a:flatTx/>
          </a:bodyPr>
          <a:lstStyle/>
          <a:p>
            <a:r>
              <a:rPr lang="en-US" sz="4000">
                <a:solidFill>
                  <a:srgbClr val="C00000"/>
                </a:solidFill>
              </a:rPr>
              <a:t>Compound FRAMESET Divisions</a:t>
            </a:r>
          </a:p>
        </p:txBody>
      </p:sp>
      <p:sp>
        <p:nvSpPr>
          <p:cNvPr id="98307" name="Rectangle 3"/>
          <p:cNvSpPr>
            <a:spLocks noGrp="1" noChangeArrowheads="1"/>
          </p:cNvSpPr>
          <p:nvPr>
            <p:ph type="body" idx="1"/>
          </p:nvPr>
        </p:nvSpPr>
        <p:spPr>
          <a:xfrm>
            <a:off x="457200" y="2087562"/>
            <a:ext cx="8229600" cy="4221163"/>
          </a:xfrm>
          <a:noFill/>
        </p:spPr>
        <p:txBody>
          <a:bodyPr/>
          <a:lstStyle/>
          <a:p>
            <a:pPr>
              <a:buClr>
                <a:schemeClr val="accent2"/>
              </a:buClr>
              <a:buFont typeface="Wingdings" pitchFamily="2" charset="2"/>
              <a:buChar char="§"/>
            </a:pPr>
            <a:r>
              <a:rPr lang="en-US" sz="2800"/>
              <a:t>In this case a second </a:t>
            </a:r>
            <a:r>
              <a:rPr lang="en-US" sz="2800" b="1">
                <a:solidFill>
                  <a:srgbClr val="FF0000"/>
                </a:solidFill>
              </a:rPr>
              <a:t>FRAMESET</a:t>
            </a:r>
            <a:r>
              <a:rPr lang="en-US" sz="2800"/>
              <a:t> element will be inserted in the place of the </a:t>
            </a:r>
            <a:r>
              <a:rPr lang="en-US" sz="2800" b="1">
                <a:solidFill>
                  <a:srgbClr val="FF0000"/>
                </a:solidFill>
              </a:rPr>
              <a:t>FRAME</a:t>
            </a:r>
            <a:r>
              <a:rPr lang="en-US" sz="2800"/>
              <a:t> element that would describe the second row.</a:t>
            </a:r>
          </a:p>
          <a:p>
            <a:pPr>
              <a:buClr>
                <a:schemeClr val="accent2"/>
              </a:buClr>
              <a:buFont typeface="Wingdings" pitchFamily="2" charset="2"/>
              <a:buChar char="§"/>
            </a:pPr>
            <a:r>
              <a:rPr lang="en-US" sz="2800"/>
              <a:t>The second </a:t>
            </a:r>
            <a:r>
              <a:rPr lang="en-US" sz="2800" b="1">
                <a:solidFill>
                  <a:srgbClr val="FF0000"/>
                </a:solidFill>
              </a:rPr>
              <a:t>FRAMESET</a:t>
            </a:r>
            <a:r>
              <a:rPr lang="en-US" sz="2800"/>
              <a:t> element will divide the remaining screen real estate into </a:t>
            </a:r>
            <a:r>
              <a:rPr lang="en-US" sz="2800" b="1">
                <a:solidFill>
                  <a:srgbClr val="FF0000"/>
                </a:solidFill>
              </a:rPr>
              <a:t>2</a:t>
            </a:r>
            <a:r>
              <a:rPr lang="en-US" sz="2800"/>
              <a:t> columns.</a:t>
            </a:r>
          </a:p>
          <a:p>
            <a:pPr>
              <a:buClr>
                <a:schemeClr val="accent2"/>
              </a:buClr>
              <a:buFont typeface="Wingdings" pitchFamily="2" charset="2"/>
              <a:buChar char="§"/>
            </a:pPr>
            <a:r>
              <a:rPr lang="en-US" sz="2800"/>
              <a:t>This nested </a:t>
            </a:r>
            <a:r>
              <a:rPr lang="en-US" sz="2800" b="1">
                <a:solidFill>
                  <a:srgbClr val="FF0000"/>
                </a:solidFill>
              </a:rPr>
              <a:t>FRAMESET</a:t>
            </a:r>
            <a:r>
              <a:rPr lang="en-US" sz="2800"/>
              <a:t> will then be followed by </a:t>
            </a:r>
            <a:r>
              <a:rPr lang="en-US" sz="2800" b="1">
                <a:solidFill>
                  <a:srgbClr val="FF0000"/>
                </a:solidFill>
              </a:rPr>
              <a:t>2 FRAME</a:t>
            </a:r>
            <a:r>
              <a:rPr lang="en-US" sz="2800"/>
              <a:t> elements to describe each of the subsequent frame divisions created.</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C0D36258-5C04-48E6-A1A3-B54F98E3634B}" type="slidenum">
              <a:rPr lang="ar-SA"/>
              <a:pPr/>
              <a:t>32</a:t>
            </a:fld>
            <a:endParaRPr lang="en-US"/>
          </a:p>
        </p:txBody>
      </p:sp>
      <p:sp>
        <p:nvSpPr>
          <p:cNvPr id="99330" name="Rectangle 2"/>
          <p:cNvSpPr>
            <a:spLocks noGrp="1" noChangeArrowheads="1"/>
          </p:cNvSpPr>
          <p:nvPr>
            <p:ph type="title"/>
          </p:nvPr>
        </p:nvSpPr>
        <p:spPr>
          <a:xfrm>
            <a:off x="457200" y="274638"/>
            <a:ext cx="8229600" cy="1020762"/>
          </a:xfrm>
          <a:noFill/>
        </p:spPr>
        <p:txBody>
          <a:bodyPr>
            <a:flatTx/>
          </a:bodyPr>
          <a:lstStyle/>
          <a:p>
            <a:r>
              <a:rPr lang="en-US" sz="4000">
                <a:solidFill>
                  <a:srgbClr val="C00000"/>
                </a:solidFill>
              </a:rPr>
              <a:t>Compound FRAMESET Divisions</a:t>
            </a:r>
          </a:p>
        </p:txBody>
      </p:sp>
      <p:sp>
        <p:nvSpPr>
          <p:cNvPr id="99331" name="Rectangle 3"/>
          <p:cNvSpPr>
            <a:spLocks noGrp="1" noChangeArrowheads="1"/>
          </p:cNvSpPr>
          <p:nvPr>
            <p:ph type="body" sz="half" idx="1"/>
          </p:nvPr>
        </p:nvSpPr>
        <p:spPr>
          <a:xfrm>
            <a:off x="228600" y="1676400"/>
            <a:ext cx="5562600" cy="4419600"/>
          </a:xfrm>
          <a:solidFill>
            <a:schemeClr val="bg1">
              <a:lumMod val="95000"/>
            </a:schemeClr>
          </a:solidFill>
        </p:spPr>
        <p:txBody>
          <a:bodyPr/>
          <a:lstStyle/>
          <a:p>
            <a:pPr>
              <a:lnSpc>
                <a:spcPct val="80000"/>
              </a:lnSpc>
              <a:buFontTx/>
              <a:buNone/>
            </a:pPr>
            <a:r>
              <a:rPr lang="en-US" sz="2400" dirty="0"/>
              <a:t>&lt;html&gt;</a:t>
            </a:r>
          </a:p>
          <a:p>
            <a:pPr>
              <a:lnSpc>
                <a:spcPct val="80000"/>
              </a:lnSpc>
              <a:buFontTx/>
              <a:buNone/>
            </a:pPr>
            <a:r>
              <a:rPr lang="en-US" sz="2400" dirty="0"/>
              <a:t>&lt;head&gt;</a:t>
            </a:r>
          </a:p>
          <a:p>
            <a:pPr>
              <a:lnSpc>
                <a:spcPct val="80000"/>
              </a:lnSpc>
              <a:buFontTx/>
              <a:buNone/>
            </a:pPr>
            <a:r>
              <a:rPr lang="en-US" sz="2400" dirty="0"/>
              <a:t>&lt;title&gt; Compound Frames Page&lt;/title&gt;</a:t>
            </a:r>
          </a:p>
          <a:p>
            <a:pPr>
              <a:lnSpc>
                <a:spcPct val="80000"/>
              </a:lnSpc>
              <a:buFontTx/>
              <a:buNone/>
            </a:pPr>
            <a:r>
              <a:rPr lang="en-US" sz="3200" b="1" dirty="0">
                <a:solidFill>
                  <a:srgbClr val="008000"/>
                </a:solidFill>
              </a:rPr>
              <a:t>&lt;/head&gt;</a:t>
            </a:r>
          </a:p>
          <a:p>
            <a:pPr>
              <a:lnSpc>
                <a:spcPct val="80000"/>
              </a:lnSpc>
              <a:buFontTx/>
              <a:buNone/>
            </a:pPr>
            <a:r>
              <a:rPr lang="en-US" sz="2400" b="1" dirty="0">
                <a:solidFill>
                  <a:srgbClr val="0000CC"/>
                </a:solidFill>
              </a:rPr>
              <a:t>&lt;frameset rows=“120,*”&gt;</a:t>
            </a:r>
          </a:p>
          <a:p>
            <a:pPr>
              <a:lnSpc>
                <a:spcPct val="80000"/>
              </a:lnSpc>
              <a:buFontTx/>
              <a:buNone/>
            </a:pPr>
            <a:r>
              <a:rPr lang="en-US" sz="2400" dirty="0"/>
              <a:t>&lt;frame </a:t>
            </a:r>
            <a:r>
              <a:rPr lang="en-US" sz="2400" dirty="0" err="1"/>
              <a:t>src</a:t>
            </a:r>
            <a:r>
              <a:rPr lang="en-US" sz="2400" dirty="0"/>
              <a:t>=“banner_file.html” </a:t>
            </a:r>
            <a:r>
              <a:rPr lang="en-US" sz="2400" dirty="0" err="1"/>
              <a:t>name”banner</a:t>
            </a:r>
            <a:r>
              <a:rPr lang="en-US" sz="2400" dirty="0"/>
              <a:t>”&gt;</a:t>
            </a:r>
          </a:p>
          <a:p>
            <a:pPr>
              <a:lnSpc>
                <a:spcPct val="80000"/>
              </a:lnSpc>
              <a:buFontTx/>
              <a:buNone/>
            </a:pPr>
            <a:r>
              <a:rPr lang="en-US" sz="2400" b="1" dirty="0">
                <a:solidFill>
                  <a:srgbClr val="0000CC"/>
                </a:solidFill>
              </a:rPr>
              <a:t>&lt;frameset cols=“120,*”&gt;</a:t>
            </a:r>
          </a:p>
          <a:p>
            <a:pPr>
              <a:lnSpc>
                <a:spcPct val="80000"/>
              </a:lnSpc>
              <a:buFontTx/>
              <a:buNone/>
            </a:pPr>
            <a:r>
              <a:rPr lang="en-US" sz="2400" b="1" dirty="0">
                <a:solidFill>
                  <a:srgbClr val="FF0000"/>
                </a:solidFill>
              </a:rPr>
              <a:t>&lt;frame </a:t>
            </a:r>
            <a:r>
              <a:rPr lang="en-US" sz="2400" b="1" dirty="0" err="1">
                <a:solidFill>
                  <a:srgbClr val="FF0000"/>
                </a:solidFill>
              </a:rPr>
              <a:t>src</a:t>
            </a:r>
            <a:r>
              <a:rPr lang="en-US" sz="2400" b="1" dirty="0">
                <a:solidFill>
                  <a:srgbClr val="FF0000"/>
                </a:solidFill>
              </a:rPr>
              <a:t>=“links_file.html” name=“links”&gt;</a:t>
            </a:r>
          </a:p>
          <a:p>
            <a:pPr>
              <a:lnSpc>
                <a:spcPct val="80000"/>
              </a:lnSpc>
              <a:buFontTx/>
              <a:buNone/>
            </a:pPr>
            <a:r>
              <a:rPr lang="en-US" sz="2400" b="1" dirty="0">
                <a:solidFill>
                  <a:srgbClr val="990000"/>
                </a:solidFill>
              </a:rPr>
              <a:t>&lt;frame </a:t>
            </a:r>
            <a:r>
              <a:rPr lang="en-US" sz="2400" b="1" dirty="0" err="1">
                <a:solidFill>
                  <a:srgbClr val="990000"/>
                </a:solidFill>
              </a:rPr>
              <a:t>src</a:t>
            </a:r>
            <a:r>
              <a:rPr lang="en-US" sz="2400" b="1" dirty="0">
                <a:solidFill>
                  <a:srgbClr val="990000"/>
                </a:solidFill>
              </a:rPr>
              <a:t>=“content_file.html” name=“content”&gt;</a:t>
            </a:r>
          </a:p>
        </p:txBody>
      </p:sp>
      <p:sp>
        <p:nvSpPr>
          <p:cNvPr id="99332" name="Rectangle 4"/>
          <p:cNvSpPr>
            <a:spLocks noGrp="1" noChangeArrowheads="1"/>
          </p:cNvSpPr>
          <p:nvPr>
            <p:ph type="body" sz="half" idx="2"/>
          </p:nvPr>
        </p:nvSpPr>
        <p:spPr>
          <a:xfrm>
            <a:off x="6113463" y="1676400"/>
            <a:ext cx="2570162" cy="4292600"/>
          </a:xfrm>
          <a:solidFill>
            <a:srgbClr val="B8E187"/>
          </a:solidFill>
        </p:spPr>
        <p:txBody>
          <a:bodyPr/>
          <a:lstStyle/>
          <a:p>
            <a:pPr>
              <a:lnSpc>
                <a:spcPct val="90000"/>
              </a:lnSpc>
              <a:buFontTx/>
              <a:buNone/>
            </a:pPr>
            <a:r>
              <a:rPr lang="en-US" b="1">
                <a:solidFill>
                  <a:srgbClr val="FF0000"/>
                </a:solidFill>
              </a:rPr>
              <a:t>&lt;</a:t>
            </a:r>
            <a:r>
              <a:rPr lang="en-US" b="1">
                <a:solidFill>
                  <a:srgbClr val="0000FF"/>
                </a:solidFill>
              </a:rPr>
              <a:t>no</a:t>
            </a:r>
            <a:r>
              <a:rPr lang="en-US" b="1">
                <a:solidFill>
                  <a:srgbClr val="FF0000"/>
                </a:solidFill>
              </a:rPr>
              <a:t>frames&gt;</a:t>
            </a:r>
          </a:p>
          <a:p>
            <a:pPr>
              <a:lnSpc>
                <a:spcPct val="90000"/>
              </a:lnSpc>
              <a:buFontTx/>
              <a:buNone/>
            </a:pPr>
            <a:r>
              <a:rPr lang="en-US"/>
              <a:t>&lt;p&gt;</a:t>
            </a:r>
          </a:p>
          <a:p>
            <a:pPr>
              <a:lnSpc>
                <a:spcPct val="90000"/>
              </a:lnSpc>
              <a:buFontTx/>
              <a:buNone/>
            </a:pPr>
            <a:r>
              <a:rPr lang="en-US"/>
              <a:t>Default message</a:t>
            </a:r>
          </a:p>
          <a:p>
            <a:pPr>
              <a:lnSpc>
                <a:spcPct val="90000"/>
              </a:lnSpc>
              <a:buFontTx/>
              <a:buNone/>
            </a:pPr>
            <a:r>
              <a:rPr lang="en-US"/>
              <a:t>&lt;/p&gt;</a:t>
            </a:r>
          </a:p>
          <a:p>
            <a:pPr>
              <a:lnSpc>
                <a:spcPct val="90000"/>
              </a:lnSpc>
              <a:buFontTx/>
              <a:buNone/>
            </a:pPr>
            <a:r>
              <a:rPr lang="en-US" b="1">
                <a:solidFill>
                  <a:srgbClr val="FF0000"/>
                </a:solidFill>
              </a:rPr>
              <a:t>&lt;/</a:t>
            </a:r>
            <a:r>
              <a:rPr lang="en-US" b="1">
                <a:solidFill>
                  <a:srgbClr val="0000FF"/>
                </a:solidFill>
              </a:rPr>
              <a:t>no</a:t>
            </a:r>
            <a:r>
              <a:rPr lang="en-US" b="1">
                <a:solidFill>
                  <a:srgbClr val="FF0000"/>
                </a:solidFill>
              </a:rPr>
              <a:t>frames&gt;</a:t>
            </a:r>
          </a:p>
          <a:p>
            <a:pPr>
              <a:lnSpc>
                <a:spcPct val="90000"/>
              </a:lnSpc>
              <a:buFontTx/>
              <a:buNone/>
            </a:pPr>
            <a:r>
              <a:rPr lang="en-US" b="1">
                <a:solidFill>
                  <a:srgbClr val="0000FF"/>
                </a:solidFill>
              </a:rPr>
              <a:t>&lt;/frameset&gt;</a:t>
            </a:r>
          </a:p>
          <a:p>
            <a:pPr>
              <a:lnSpc>
                <a:spcPct val="90000"/>
              </a:lnSpc>
              <a:buFontTx/>
              <a:buNone/>
            </a:pPr>
            <a:r>
              <a:rPr lang="en-US" b="1">
                <a:solidFill>
                  <a:srgbClr val="0000FF"/>
                </a:solidFill>
              </a:rPr>
              <a:t>&lt;/frameset&gt;</a:t>
            </a:r>
          </a:p>
          <a:p>
            <a:pPr>
              <a:lnSpc>
                <a:spcPct val="90000"/>
              </a:lnSpc>
              <a:buFontTx/>
              <a:buNone/>
            </a:pPr>
            <a:r>
              <a:rPr lang="en-US" sz="3600" b="1">
                <a:solidFill>
                  <a:srgbClr val="008000"/>
                </a:solidFill>
              </a:rPr>
              <a:t>&lt;/head&gt;</a:t>
            </a:r>
          </a:p>
          <a:p>
            <a:pPr>
              <a:lnSpc>
                <a:spcPct val="90000"/>
              </a:lnSpc>
              <a:buFontTx/>
              <a:buNone/>
            </a:pPr>
            <a:endParaRPr lang="en-US">
              <a:solidFill>
                <a:srgbClr val="008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6"/>
          <p:cNvSpPr>
            <a:spLocks noGrp="1"/>
          </p:cNvSpPr>
          <p:nvPr>
            <p:ph type="sldNum" sz="quarter" idx="12"/>
          </p:nvPr>
        </p:nvSpPr>
        <p:spPr/>
        <p:txBody>
          <a:bodyPr/>
          <a:lstStyle/>
          <a:p>
            <a:fld id="{F3A70F58-A902-45B4-AC93-99A928887869}" type="slidenum">
              <a:rPr lang="ar-SA"/>
              <a:pPr/>
              <a:t>33</a:t>
            </a:fld>
            <a:endParaRPr lang="en-US"/>
          </a:p>
        </p:txBody>
      </p:sp>
      <p:sp>
        <p:nvSpPr>
          <p:cNvPr id="154626" name="Rectangle 2"/>
          <p:cNvSpPr>
            <a:spLocks noGrp="1" noChangeArrowheads="1"/>
          </p:cNvSpPr>
          <p:nvPr>
            <p:ph type="title"/>
          </p:nvPr>
        </p:nvSpPr>
        <p:spPr>
          <a:xfrm>
            <a:off x="228600" y="228600"/>
            <a:ext cx="8610600" cy="1905000"/>
          </a:xfrm>
          <a:noFill/>
        </p:spPr>
        <p:txBody>
          <a:bodyPr/>
          <a:lstStyle/>
          <a:p>
            <a:pPr algn="l"/>
            <a:r>
              <a:rPr lang="en-US" dirty="0">
                <a:solidFill>
                  <a:srgbClr val="C00000"/>
                </a:solidFill>
              </a:rPr>
              <a:t>Compound FRAMESET Divisions</a:t>
            </a:r>
            <a:r>
              <a:rPr lang="en-US" dirty="0">
                <a:solidFill>
                  <a:srgbClr val="FFFF00"/>
                </a:solidFill>
              </a:rPr>
              <a:t/>
            </a:r>
            <a:br>
              <a:rPr lang="en-US" dirty="0">
                <a:solidFill>
                  <a:srgbClr val="FFFF00"/>
                </a:solidFill>
              </a:rPr>
            </a:br>
            <a:r>
              <a:rPr lang="en-US" sz="2800" dirty="0">
                <a:solidFill>
                  <a:schemeClr val="accent4">
                    <a:lumMod val="50000"/>
                  </a:schemeClr>
                </a:solidFill>
              </a:rPr>
              <a:t>You may want to create a frames design with a combination of rows and columns.</a:t>
            </a:r>
          </a:p>
        </p:txBody>
      </p:sp>
      <p:grpSp>
        <p:nvGrpSpPr>
          <p:cNvPr id="2" name="Group 3"/>
          <p:cNvGrpSpPr>
            <a:grpSpLocks/>
          </p:cNvGrpSpPr>
          <p:nvPr/>
        </p:nvGrpSpPr>
        <p:grpSpPr bwMode="auto">
          <a:xfrm>
            <a:off x="762000" y="2895600"/>
            <a:ext cx="8001000" cy="3352800"/>
            <a:chOff x="2880" y="1440"/>
            <a:chExt cx="6660" cy="3420"/>
          </a:xfrm>
          <a:noFill/>
        </p:grpSpPr>
        <p:sp>
          <p:nvSpPr>
            <p:cNvPr id="154628" name="Rectangle 4"/>
            <p:cNvSpPr>
              <a:spLocks noChangeArrowheads="1"/>
            </p:cNvSpPr>
            <p:nvPr/>
          </p:nvSpPr>
          <p:spPr bwMode="auto">
            <a:xfrm>
              <a:off x="2880" y="1440"/>
              <a:ext cx="6660" cy="3420"/>
            </a:xfrm>
            <a:prstGeom prst="rect">
              <a:avLst/>
            </a:prstGeom>
            <a:grpFill/>
            <a:ln w="9525">
              <a:solidFill>
                <a:srgbClr val="000000"/>
              </a:solidFill>
              <a:miter lim="800000"/>
              <a:headEnd/>
              <a:tailEnd/>
            </a:ln>
          </p:spPr>
          <p:txBody>
            <a:bodyPr/>
            <a:lstStyle/>
            <a:p>
              <a:endParaRPr lang="en-US"/>
            </a:p>
          </p:txBody>
        </p:sp>
        <p:sp>
          <p:nvSpPr>
            <p:cNvPr id="154629" name="Line 5"/>
            <p:cNvSpPr>
              <a:spLocks noChangeShapeType="1"/>
            </p:cNvSpPr>
            <p:nvPr/>
          </p:nvSpPr>
          <p:spPr bwMode="auto">
            <a:xfrm flipH="1">
              <a:off x="2880" y="2160"/>
              <a:ext cx="6660" cy="0"/>
            </a:xfrm>
            <a:prstGeom prst="line">
              <a:avLst/>
            </a:prstGeom>
            <a:grpFill/>
            <a:ln w="9525">
              <a:solidFill>
                <a:srgbClr val="000000"/>
              </a:solidFill>
              <a:round/>
              <a:headEnd/>
              <a:tailEnd/>
            </a:ln>
          </p:spPr>
          <p:txBody>
            <a:bodyPr/>
            <a:lstStyle/>
            <a:p>
              <a:endParaRPr lang="en-US"/>
            </a:p>
          </p:txBody>
        </p:sp>
        <p:sp>
          <p:nvSpPr>
            <p:cNvPr id="154630" name="Line 6"/>
            <p:cNvSpPr>
              <a:spLocks noChangeShapeType="1"/>
            </p:cNvSpPr>
            <p:nvPr/>
          </p:nvSpPr>
          <p:spPr bwMode="auto">
            <a:xfrm>
              <a:off x="4140" y="2160"/>
              <a:ext cx="0" cy="2700"/>
            </a:xfrm>
            <a:prstGeom prst="line">
              <a:avLst/>
            </a:prstGeom>
            <a:grpFill/>
            <a:ln w="9525">
              <a:solidFill>
                <a:srgbClr val="000000"/>
              </a:solidFill>
              <a:round/>
              <a:headEnd/>
              <a:tailEnd/>
            </a:ln>
          </p:spPr>
          <p:txBody>
            <a:bodyPr/>
            <a:lstStyle/>
            <a:p>
              <a:endParaRPr lang="en-US"/>
            </a:p>
          </p:txBody>
        </p:sp>
        <p:sp>
          <p:nvSpPr>
            <p:cNvPr id="154631" name="Text Box 7"/>
            <p:cNvSpPr txBox="1">
              <a:spLocks noChangeArrowheads="1"/>
            </p:cNvSpPr>
            <p:nvPr/>
          </p:nvSpPr>
          <p:spPr bwMode="auto">
            <a:xfrm>
              <a:off x="4860" y="1620"/>
              <a:ext cx="2700" cy="360"/>
            </a:xfrm>
            <a:prstGeom prst="rect">
              <a:avLst/>
            </a:prstGeom>
            <a:grpFill/>
            <a:ln w="9525">
              <a:solidFill>
                <a:srgbClr val="FFFFFF"/>
              </a:solidFill>
              <a:prstDash val="dash"/>
              <a:miter lim="800000"/>
              <a:headEnd/>
              <a:tailEnd/>
            </a:ln>
          </p:spPr>
          <p:txBody>
            <a:bodyPr/>
            <a:lstStyle/>
            <a:p>
              <a:pPr algn="ctr"/>
              <a:r>
                <a:rPr lang="en-US" sz="2800" b="1">
                  <a:solidFill>
                    <a:schemeClr val="tx2"/>
                  </a:solidFill>
                  <a:latin typeface="Times New Roman" charset="0"/>
                </a:rPr>
                <a:t>Banner File</a:t>
              </a:r>
            </a:p>
          </p:txBody>
        </p:sp>
        <p:sp>
          <p:nvSpPr>
            <p:cNvPr id="154632" name="Text Box 8"/>
            <p:cNvSpPr txBox="1">
              <a:spLocks noChangeArrowheads="1"/>
            </p:cNvSpPr>
            <p:nvPr/>
          </p:nvSpPr>
          <p:spPr bwMode="auto">
            <a:xfrm>
              <a:off x="5400" y="3060"/>
              <a:ext cx="2700" cy="360"/>
            </a:xfrm>
            <a:prstGeom prst="rect">
              <a:avLst/>
            </a:prstGeom>
            <a:grpFill/>
            <a:ln w="9525">
              <a:solidFill>
                <a:srgbClr val="FFFFFF"/>
              </a:solidFill>
              <a:miter lim="800000"/>
              <a:headEnd/>
              <a:tailEnd/>
            </a:ln>
          </p:spPr>
          <p:txBody>
            <a:bodyPr/>
            <a:lstStyle/>
            <a:p>
              <a:pPr algn="ctr"/>
              <a:r>
                <a:rPr lang="en-US" sz="2800" b="1">
                  <a:solidFill>
                    <a:schemeClr val="tx2"/>
                  </a:solidFill>
                  <a:latin typeface="Times New Roman" charset="0"/>
                </a:rPr>
                <a:t>Contents File</a:t>
              </a:r>
            </a:p>
          </p:txBody>
        </p:sp>
        <p:sp>
          <p:nvSpPr>
            <p:cNvPr id="154633" name="Text Box 9"/>
            <p:cNvSpPr txBox="1">
              <a:spLocks noChangeArrowheads="1"/>
            </p:cNvSpPr>
            <p:nvPr/>
          </p:nvSpPr>
          <p:spPr bwMode="auto">
            <a:xfrm>
              <a:off x="3060" y="2700"/>
              <a:ext cx="900" cy="1260"/>
            </a:xfrm>
            <a:prstGeom prst="rect">
              <a:avLst/>
            </a:prstGeom>
            <a:grpFill/>
            <a:ln w="9525">
              <a:solidFill>
                <a:srgbClr val="FFFFFF"/>
              </a:solidFill>
              <a:miter lim="800000"/>
              <a:headEnd/>
              <a:tailEnd/>
            </a:ln>
          </p:spPr>
          <p:txBody>
            <a:bodyPr/>
            <a:lstStyle/>
            <a:p>
              <a:r>
                <a:rPr lang="en-US" sz="2800" b="1">
                  <a:solidFill>
                    <a:schemeClr val="tx2"/>
                  </a:solidFill>
                  <a:latin typeface="Times New Roman" charset="0"/>
                </a:rPr>
                <a:t>Links</a:t>
              </a:r>
            </a:p>
            <a:p>
              <a:r>
                <a:rPr lang="en-US" sz="2800" b="1">
                  <a:solidFill>
                    <a:schemeClr val="tx2"/>
                  </a:solidFill>
                  <a:latin typeface="Times New Roman" charset="0"/>
                </a:rPr>
                <a:t>File</a:t>
              </a: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C4483C8-28EF-4024-BCF7-CD46406048BC}" type="slidenum">
              <a:rPr lang="ar-SA"/>
              <a:pPr/>
              <a:t>34</a:t>
            </a:fld>
            <a:endParaRPr lang="en-US"/>
          </a:p>
        </p:txBody>
      </p:sp>
      <p:sp>
        <p:nvSpPr>
          <p:cNvPr id="147459" name="Rectangle 3"/>
          <p:cNvSpPr>
            <a:spLocks noGrp="1" noChangeArrowheads="1"/>
          </p:cNvSpPr>
          <p:nvPr>
            <p:ph type="body" idx="1"/>
          </p:nvPr>
        </p:nvSpPr>
        <p:spPr>
          <a:xfrm>
            <a:off x="457200" y="1828800"/>
            <a:ext cx="8229600" cy="5029200"/>
          </a:xfrm>
          <a:noFill/>
        </p:spPr>
        <p:txBody>
          <a:bodyPr/>
          <a:lstStyle/>
          <a:p>
            <a:pPr>
              <a:lnSpc>
                <a:spcPct val="90000"/>
              </a:lnSpc>
              <a:buFontTx/>
              <a:buNone/>
            </a:pPr>
            <a:r>
              <a:rPr lang="en-US" sz="2800" b="1">
                <a:solidFill>
                  <a:srgbClr val="0000FF"/>
                </a:solidFill>
              </a:rPr>
              <a:t>&lt;HEAD&gt;</a:t>
            </a:r>
          </a:p>
          <a:p>
            <a:pPr>
              <a:lnSpc>
                <a:spcPct val="90000"/>
              </a:lnSpc>
              <a:buFontTx/>
              <a:buNone/>
            </a:pPr>
            <a:r>
              <a:rPr lang="en-US" sz="2800" b="1">
                <a:solidFill>
                  <a:srgbClr val="FF0000"/>
                </a:solidFill>
              </a:rPr>
              <a:t>&lt;FRAMESET ROWS="25%,50%,25%”</a:t>
            </a:r>
            <a:endParaRPr lang="ar-SA" sz="2800" b="1">
              <a:solidFill>
                <a:srgbClr val="FF0000"/>
              </a:solidFill>
            </a:endParaRPr>
          </a:p>
          <a:p>
            <a:pPr>
              <a:lnSpc>
                <a:spcPct val="90000"/>
              </a:lnSpc>
              <a:buFontTx/>
              <a:buNone/>
            </a:pPr>
            <a:r>
              <a:rPr lang="en-US" sz="2800" b="1"/>
              <a:t>			&lt;FRAME SRC=""&gt;</a:t>
            </a:r>
          </a:p>
          <a:p>
            <a:pPr>
              <a:lnSpc>
                <a:spcPct val="90000"/>
              </a:lnSpc>
              <a:buFontTx/>
              <a:buNone/>
            </a:pPr>
            <a:r>
              <a:rPr lang="en-US" sz="2800" b="1"/>
              <a:t>&lt;FRAMESET COLS="25%,*"&gt;</a:t>
            </a:r>
          </a:p>
          <a:p>
            <a:pPr>
              <a:lnSpc>
                <a:spcPct val="90000"/>
              </a:lnSpc>
              <a:buFontTx/>
              <a:buNone/>
            </a:pPr>
            <a:r>
              <a:rPr lang="en-US" sz="2800" b="1">
                <a:solidFill>
                  <a:srgbClr val="33CC33"/>
                </a:solidFill>
              </a:rPr>
              <a:t>				</a:t>
            </a:r>
            <a:r>
              <a:rPr lang="en-US" sz="2800" b="1">
                <a:solidFill>
                  <a:srgbClr val="A50021"/>
                </a:solidFill>
              </a:rPr>
              <a:t>&lt;FRAME SRC=""&gt;</a:t>
            </a:r>
          </a:p>
          <a:p>
            <a:pPr>
              <a:lnSpc>
                <a:spcPct val="90000"/>
              </a:lnSpc>
              <a:buFontTx/>
              <a:buNone/>
            </a:pPr>
            <a:r>
              <a:rPr lang="en-US" sz="2800" b="1">
                <a:solidFill>
                  <a:srgbClr val="A50021"/>
                </a:solidFill>
              </a:rPr>
              <a:t>				&lt;FRAME SRC=""&gt;</a:t>
            </a:r>
          </a:p>
          <a:p>
            <a:pPr>
              <a:lnSpc>
                <a:spcPct val="90000"/>
              </a:lnSpc>
              <a:buFontTx/>
              <a:buNone/>
            </a:pPr>
            <a:r>
              <a:rPr lang="en-US" sz="2800" b="1">
                <a:solidFill>
                  <a:srgbClr val="33CC33"/>
                </a:solidFill>
              </a:rPr>
              <a:t>					</a:t>
            </a:r>
            <a:r>
              <a:rPr lang="en-US" sz="2800" b="1"/>
              <a:t>&lt;/FRAMESET&gt;</a:t>
            </a:r>
          </a:p>
          <a:p>
            <a:pPr>
              <a:lnSpc>
                <a:spcPct val="90000"/>
              </a:lnSpc>
              <a:buFontTx/>
              <a:buNone/>
            </a:pPr>
            <a:r>
              <a:rPr lang="en-US" sz="2800" b="1"/>
              <a:t>			&lt;FRAME SRC=""&gt;</a:t>
            </a:r>
          </a:p>
          <a:p>
            <a:pPr>
              <a:lnSpc>
                <a:spcPct val="90000"/>
              </a:lnSpc>
              <a:buFontTx/>
              <a:buNone/>
            </a:pPr>
            <a:r>
              <a:rPr lang="en-US" sz="2800" b="1">
                <a:solidFill>
                  <a:srgbClr val="FF0000"/>
                </a:solidFill>
              </a:rPr>
              <a:t>&lt;/FRAMESET&gt;</a:t>
            </a:r>
          </a:p>
          <a:p>
            <a:pPr>
              <a:lnSpc>
                <a:spcPct val="90000"/>
              </a:lnSpc>
              <a:buFontTx/>
              <a:buNone/>
            </a:pPr>
            <a:r>
              <a:rPr lang="en-US" sz="2800" b="1">
                <a:solidFill>
                  <a:srgbClr val="0000FF"/>
                </a:solidFill>
              </a:rPr>
              <a:t>&lt;/HEAD&gt;</a:t>
            </a:r>
          </a:p>
        </p:txBody>
      </p:sp>
      <p:sp>
        <p:nvSpPr>
          <p:cNvPr id="147460" name="Rectangle 4"/>
          <p:cNvSpPr>
            <a:spLocks noGrp="1" noChangeArrowheads="1"/>
          </p:cNvSpPr>
          <p:nvPr>
            <p:ph type="title"/>
          </p:nvPr>
        </p:nvSpPr>
        <p:spPr>
          <a:xfrm>
            <a:off x="381000" y="381000"/>
            <a:ext cx="8305800" cy="1143000"/>
          </a:xfrm>
          <a:noFill/>
          <a:ln/>
        </p:spPr>
        <p:txBody>
          <a:bodyPr>
            <a:normAutofit fontScale="90000"/>
            <a:flatTx/>
          </a:bodyPr>
          <a:lstStyle/>
          <a:p>
            <a:r>
              <a:rPr lang="en-US" dirty="0">
                <a:solidFill>
                  <a:srgbClr val="C00000"/>
                </a:solidFill>
              </a:rPr>
              <a:t>Compound FRAMESET Divisions  Example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00DECD8-3A05-4588-9875-FA59475E564C}" type="slidenum">
              <a:rPr lang="ar-SA"/>
              <a:pPr/>
              <a:t>35</a:t>
            </a:fld>
            <a:endParaRPr lang="en-US"/>
          </a:p>
        </p:txBody>
      </p:sp>
      <p:pic>
        <p:nvPicPr>
          <p:cNvPr id="148484" name="Picture 4"/>
          <p:cNvPicPr>
            <a:picLocks noChangeAspect="1" noChangeArrowheads="1"/>
          </p:cNvPicPr>
          <p:nvPr/>
        </p:nvPicPr>
        <p:blipFill>
          <a:blip r:embed="rId2" cstate="print"/>
          <a:srcRect/>
          <a:stretch>
            <a:fillRect/>
          </a:stretch>
        </p:blipFill>
        <p:spPr bwMode="auto">
          <a:xfrm>
            <a:off x="0" y="879866"/>
            <a:ext cx="9248775" cy="6172200"/>
          </a:xfrm>
          <a:prstGeom prst="rect">
            <a:avLst/>
          </a:prstGeom>
          <a:noFill/>
        </p:spPr>
      </p:pic>
      <p:sp>
        <p:nvSpPr>
          <p:cNvPr id="148485" name="Rectangle 5"/>
          <p:cNvSpPr>
            <a:spLocks noGrp="1" noChangeArrowheads="1"/>
          </p:cNvSpPr>
          <p:nvPr>
            <p:ph type="title"/>
          </p:nvPr>
        </p:nvSpPr>
        <p:spPr>
          <a:xfrm>
            <a:off x="381000" y="244475"/>
            <a:ext cx="8305800" cy="609600"/>
          </a:xfrm>
          <a:noFill/>
          <a:ln/>
        </p:spPr>
        <p:txBody>
          <a:bodyPr>
            <a:normAutofit fontScale="90000"/>
            <a:flatTx/>
          </a:bodyPr>
          <a:lstStyle/>
          <a:p>
            <a:r>
              <a:rPr lang="en-US" dirty="0">
                <a:solidFill>
                  <a:srgbClr val="C00000"/>
                </a:solidFill>
              </a:rPr>
              <a:t>Output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C7CB526-639E-45F2-BB60-DD8C94BCB5B6}" type="slidenum">
              <a:rPr lang="ar-SA"/>
              <a:pPr/>
              <a:t>36</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609600"/>
            <a:ext cx="9144000" cy="553134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5C76D4C-E707-429D-BEFE-DAFFC4CD4729}" type="slidenum">
              <a:rPr lang="ar-SA"/>
              <a:pPr/>
              <a:t>37</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9600"/>
            <a:ext cx="9144000" cy="5531342"/>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75F5678-AA37-4CED-AE00-C2A8A346E6A6}" type="slidenum">
              <a:rPr lang="ar-SA"/>
              <a:pPr/>
              <a:t>38</a:t>
            </a:fld>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21570" r="13333"/>
          <a:stretch/>
        </p:blipFill>
        <p:spPr>
          <a:xfrm>
            <a:off x="228599" y="762000"/>
            <a:ext cx="8581681" cy="480060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985437-212D-4F6B-9CC1-F744719A2AE2}" type="slidenum">
              <a:rPr lang="ar-SA"/>
              <a:pPr/>
              <a:t>39</a:t>
            </a:fld>
            <a:endParaRPr lang="en-US"/>
          </a:p>
        </p:txBody>
      </p:sp>
      <p:sp>
        <p:nvSpPr>
          <p:cNvPr id="160772" name="Rectangle 4"/>
          <p:cNvSpPr>
            <a:spLocks noGrp="1" noChangeArrowheads="1"/>
          </p:cNvSpPr>
          <p:nvPr>
            <p:ph type="body" idx="1"/>
          </p:nvPr>
        </p:nvSpPr>
        <p:spPr>
          <a:xfrm>
            <a:off x="304800" y="533400"/>
            <a:ext cx="8534400" cy="5638800"/>
          </a:xfrm>
          <a:noFill/>
          <a:ln/>
        </p:spPr>
        <p:txBody>
          <a:bodyPr/>
          <a:lstStyle/>
          <a:p>
            <a:pPr algn="ctr">
              <a:buFontTx/>
              <a:buNone/>
            </a:pPr>
            <a:r>
              <a:rPr lang="en-US" sz="3600" b="1" dirty="0"/>
              <a:t>  Frame Formatting</a:t>
            </a:r>
          </a:p>
          <a:p>
            <a:pPr marL="0" indent="0">
              <a:buNone/>
            </a:pPr>
            <a:r>
              <a:rPr lang="en-US" sz="2800" b="1" dirty="0"/>
              <a:t>Example:</a:t>
            </a:r>
          </a:p>
          <a:p>
            <a:pPr lvl="2"/>
            <a:endParaRPr lang="en-US" sz="2800" b="1" dirty="0"/>
          </a:p>
          <a:p>
            <a:pPr lvl="2">
              <a:buFontTx/>
              <a:buNone/>
            </a:pPr>
            <a:r>
              <a:rPr lang="en-US" sz="2800" b="1" dirty="0">
                <a:solidFill>
                  <a:srgbClr val="FF0000"/>
                </a:solidFill>
              </a:rPr>
              <a:t>&lt;frameset rows=“20%, *, 20%”&gt;</a:t>
            </a:r>
          </a:p>
          <a:p>
            <a:pPr lvl="2">
              <a:buFontTx/>
              <a:buNone/>
            </a:pPr>
            <a:r>
              <a:rPr lang="en-US" sz="2800" b="1" dirty="0"/>
              <a:t>		</a:t>
            </a:r>
            <a:r>
              <a:rPr lang="en-US" sz="2800" b="1" dirty="0">
                <a:solidFill>
                  <a:srgbClr val="0000FF"/>
                </a:solidFill>
              </a:rPr>
              <a:t>&lt;frame </a:t>
            </a:r>
            <a:r>
              <a:rPr lang="en-US" sz="2800" b="1" dirty="0" err="1">
                <a:solidFill>
                  <a:srgbClr val="0000FF"/>
                </a:solidFill>
              </a:rPr>
              <a:t>src</a:t>
            </a:r>
            <a:r>
              <a:rPr lang="en-US" sz="2800" b="1" dirty="0">
                <a:solidFill>
                  <a:srgbClr val="0000FF"/>
                </a:solidFill>
              </a:rPr>
              <a:t>=“header.html” </a:t>
            </a:r>
            <a:r>
              <a:rPr lang="en-US" sz="2800" b="1" dirty="0" err="1">
                <a:solidFill>
                  <a:srgbClr val="0000FF"/>
                </a:solidFill>
              </a:rPr>
              <a:t>noresize</a:t>
            </a:r>
            <a:r>
              <a:rPr lang="en-US" sz="2800" b="1" dirty="0">
                <a:solidFill>
                  <a:srgbClr val="0000FF"/>
                </a:solidFill>
              </a:rPr>
              <a:t> scrolling=no&gt;</a:t>
            </a:r>
          </a:p>
          <a:p>
            <a:pPr lvl="2">
              <a:buFontTx/>
              <a:buNone/>
            </a:pPr>
            <a:r>
              <a:rPr lang="en-US" sz="2800" b="1" dirty="0">
                <a:solidFill>
                  <a:srgbClr val="0000FF"/>
                </a:solidFill>
              </a:rPr>
              <a:t>		&lt;frame </a:t>
            </a:r>
            <a:r>
              <a:rPr lang="en-US" sz="2800" b="1" dirty="0" err="1">
                <a:solidFill>
                  <a:srgbClr val="0000FF"/>
                </a:solidFill>
              </a:rPr>
              <a:t>src</a:t>
            </a:r>
            <a:r>
              <a:rPr lang="en-US" sz="2800" b="1" dirty="0">
                <a:solidFill>
                  <a:srgbClr val="0000FF"/>
                </a:solidFill>
              </a:rPr>
              <a:t>=“body.html”&gt;</a:t>
            </a:r>
          </a:p>
          <a:p>
            <a:pPr lvl="2">
              <a:buFontTx/>
              <a:buNone/>
            </a:pPr>
            <a:r>
              <a:rPr lang="en-US" sz="2800" b="1" dirty="0">
                <a:solidFill>
                  <a:srgbClr val="0000FF"/>
                </a:solidFill>
              </a:rPr>
              <a:t>		&lt;frame </a:t>
            </a:r>
            <a:r>
              <a:rPr lang="en-US" sz="2800" b="1" dirty="0" err="1">
                <a:solidFill>
                  <a:srgbClr val="0000FF"/>
                </a:solidFill>
              </a:rPr>
              <a:t>src</a:t>
            </a:r>
            <a:r>
              <a:rPr lang="en-US" sz="2800" b="1" dirty="0">
                <a:solidFill>
                  <a:srgbClr val="0000FF"/>
                </a:solidFill>
              </a:rPr>
              <a:t>=“navigationbar.html” </a:t>
            </a:r>
            <a:r>
              <a:rPr lang="en-US" sz="2800" b="1" dirty="0" err="1">
                <a:solidFill>
                  <a:schemeClr val="tx2"/>
                </a:solidFill>
              </a:rPr>
              <a:t>noresize</a:t>
            </a:r>
            <a:r>
              <a:rPr lang="en-US" sz="2800" b="1" dirty="0">
                <a:solidFill>
                  <a:srgbClr val="0000FF"/>
                </a:solidFill>
              </a:rPr>
              <a:t>   </a:t>
            </a:r>
            <a:r>
              <a:rPr lang="en-US" sz="2800" b="1" dirty="0">
                <a:solidFill>
                  <a:schemeClr val="tx2"/>
                </a:solidFill>
              </a:rPr>
              <a:t>scrolling=no</a:t>
            </a:r>
            <a:r>
              <a:rPr lang="en-US" sz="2800" b="1" dirty="0">
                <a:solidFill>
                  <a:srgbClr val="0000FF"/>
                </a:solidFill>
              </a:rPr>
              <a:t>&gt;</a:t>
            </a:r>
          </a:p>
          <a:p>
            <a:pPr lvl="2">
              <a:buFontTx/>
              <a:buNone/>
            </a:pPr>
            <a:r>
              <a:rPr lang="en-US" sz="2800" b="1" dirty="0">
                <a:solidFill>
                  <a:srgbClr val="FF0000"/>
                </a:solidFill>
              </a:rPr>
              <a:t>&lt;/frameset&gt;</a:t>
            </a:r>
          </a:p>
          <a:p>
            <a:pPr lvl="2"/>
            <a:endParaRPr lang="en-US" sz="2800" b="1" dirty="0">
              <a:solidFill>
                <a:srgbClr val="FF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42B94CF-8A8E-4876-A6AE-C1D64FD6A293}" type="slidenum">
              <a:rPr lang="ar-SA"/>
              <a:pPr/>
              <a:t>40</a:t>
            </a:fld>
            <a:endParaRPr lang="en-US"/>
          </a:p>
        </p:txBody>
      </p:sp>
      <p:sp>
        <p:nvSpPr>
          <p:cNvPr id="149508" name="Rectangle 4"/>
          <p:cNvSpPr>
            <a:spLocks noGrp="1" noChangeArrowheads="1"/>
          </p:cNvSpPr>
          <p:nvPr>
            <p:ph type="body" idx="1"/>
          </p:nvPr>
        </p:nvSpPr>
        <p:spPr>
          <a:noFill/>
          <a:ln/>
        </p:spPr>
        <p:txBody>
          <a:bodyPr/>
          <a:lstStyle/>
          <a:p>
            <a:pPr marL="609600" indent="-609600">
              <a:lnSpc>
                <a:spcPct val="90000"/>
              </a:lnSpc>
              <a:buFontTx/>
              <a:buAutoNum type="arabicParenR"/>
            </a:pPr>
            <a:r>
              <a:rPr lang="en-US"/>
              <a:t>&lt;FRAMESET COLS="2*, 3*, 5*"&gt; </a:t>
            </a:r>
          </a:p>
          <a:p>
            <a:pPr marL="609600" indent="-609600">
              <a:lnSpc>
                <a:spcPct val="90000"/>
              </a:lnSpc>
              <a:buFontTx/>
              <a:buNone/>
            </a:pPr>
            <a:r>
              <a:rPr lang="en-US"/>
              <a:t>2) &lt;FRAMESET COLS="150, 20%, *, 3*"&gt; </a:t>
            </a:r>
          </a:p>
          <a:p>
            <a:pPr marL="609600" indent="-609600">
              <a:lnSpc>
                <a:spcPct val="90000"/>
              </a:lnSpc>
              <a:buFontTx/>
              <a:buNone/>
            </a:pPr>
            <a:r>
              <a:rPr lang="en-US"/>
              <a:t> </a:t>
            </a:r>
            <a:r>
              <a:rPr lang="en-US">
                <a:solidFill>
                  <a:srgbClr val="FF0000"/>
                </a:solidFill>
              </a:rPr>
              <a:t>So what are the space-allocation priorities?</a:t>
            </a:r>
            <a:r>
              <a:rPr lang="en-US"/>
              <a:t> </a:t>
            </a:r>
            <a:r>
              <a:rPr lang="en-US">
                <a:solidFill>
                  <a:srgbClr val="0000FF"/>
                </a:solidFill>
              </a:rPr>
              <a:t>Absolute pixel</a:t>
            </a:r>
            <a:r>
              <a:rPr lang="en-US"/>
              <a:t> values are always assigned </a:t>
            </a:r>
            <a:r>
              <a:rPr lang="en-US">
                <a:solidFill>
                  <a:srgbClr val="0000FF"/>
                </a:solidFill>
              </a:rPr>
              <a:t>space first</a:t>
            </a:r>
            <a:r>
              <a:rPr lang="en-US"/>
              <a:t>, in order from </a:t>
            </a:r>
            <a:r>
              <a:rPr lang="en-US">
                <a:solidFill>
                  <a:srgbClr val="0000FF"/>
                </a:solidFill>
              </a:rPr>
              <a:t>left</a:t>
            </a:r>
            <a:r>
              <a:rPr lang="en-US"/>
              <a:t> to </a:t>
            </a:r>
            <a:r>
              <a:rPr lang="en-US">
                <a:solidFill>
                  <a:srgbClr val="0000FF"/>
                </a:solidFill>
              </a:rPr>
              <a:t>right</a:t>
            </a:r>
            <a:r>
              <a:rPr lang="en-US"/>
              <a:t>. These are followed by </a:t>
            </a:r>
            <a:r>
              <a:rPr lang="en-US">
                <a:solidFill>
                  <a:srgbClr val="0000FF"/>
                </a:solidFill>
              </a:rPr>
              <a:t>percentage</a:t>
            </a:r>
            <a:r>
              <a:rPr lang="en-US"/>
              <a:t> values of the total space. Finally, </a:t>
            </a:r>
            <a:r>
              <a:rPr lang="en-US">
                <a:solidFill>
                  <a:srgbClr val="0000FF"/>
                </a:solidFill>
              </a:rPr>
              <a:t>proportional </a:t>
            </a:r>
            <a:r>
              <a:rPr lang="en-US"/>
              <a:t>values are divided based upon what space is </a:t>
            </a:r>
            <a:r>
              <a:rPr lang="en-US">
                <a:solidFill>
                  <a:srgbClr val="0000FF"/>
                </a:solidFill>
              </a:rPr>
              <a:t>left</a:t>
            </a:r>
            <a:r>
              <a:rPr lang="en-US"/>
              <a:t>. </a:t>
            </a:r>
          </a:p>
        </p:txBody>
      </p:sp>
      <p:sp>
        <p:nvSpPr>
          <p:cNvPr id="149509" name="Rectangle 5"/>
          <p:cNvSpPr>
            <a:spLocks noGrp="1" noChangeArrowheads="1"/>
          </p:cNvSpPr>
          <p:nvPr>
            <p:ph type="title"/>
          </p:nvPr>
        </p:nvSpPr>
        <p:spPr>
          <a:xfrm>
            <a:off x="460375" y="274638"/>
            <a:ext cx="8002588" cy="914400"/>
          </a:xfrm>
          <a:noFill/>
          <a:ln/>
        </p:spPr>
        <p:txBody>
          <a:bodyPr>
            <a:flatTx/>
          </a:bodyPr>
          <a:lstStyle/>
          <a:p>
            <a:r>
              <a:rPr lang="en-US">
                <a:solidFill>
                  <a:srgbClr val="C00000"/>
                </a:solidFill>
              </a:rPr>
              <a:t>What do the following mean?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C49BE6C-34DD-4E03-8D4E-79BDD019E2A8}" type="slidenum">
              <a:rPr lang="ar-SA"/>
              <a:pPr/>
              <a:t>41</a:t>
            </a:fld>
            <a:endParaRPr lang="en-US"/>
          </a:p>
        </p:txBody>
      </p:sp>
      <p:sp>
        <p:nvSpPr>
          <p:cNvPr id="150531" name="Rectangle 3"/>
          <p:cNvSpPr>
            <a:spLocks noGrp="1" noChangeArrowheads="1"/>
          </p:cNvSpPr>
          <p:nvPr>
            <p:ph type="body" idx="1"/>
          </p:nvPr>
        </p:nvSpPr>
        <p:spPr>
          <a:xfrm>
            <a:off x="152400" y="1524000"/>
            <a:ext cx="8839200" cy="4876800"/>
          </a:xfrm>
          <a:noFill/>
        </p:spPr>
        <p:txBody>
          <a:bodyPr/>
          <a:lstStyle/>
          <a:p>
            <a:pPr>
              <a:lnSpc>
                <a:spcPct val="90000"/>
              </a:lnSpc>
            </a:pPr>
            <a:r>
              <a:rPr lang="en-US"/>
              <a:t>The &lt;FRAME&gt; tag has six associated attributes: </a:t>
            </a:r>
            <a:r>
              <a:rPr lang="en-US">
                <a:solidFill>
                  <a:srgbClr val="0000FF"/>
                </a:solidFill>
              </a:rPr>
              <a:t>SRC</a:t>
            </a:r>
            <a:r>
              <a:rPr lang="en-US"/>
              <a:t>, </a:t>
            </a:r>
            <a:r>
              <a:rPr lang="en-US">
                <a:solidFill>
                  <a:srgbClr val="0000FF"/>
                </a:solidFill>
              </a:rPr>
              <a:t>NAME</a:t>
            </a:r>
            <a:r>
              <a:rPr lang="en-US"/>
              <a:t>, </a:t>
            </a:r>
            <a:r>
              <a:rPr lang="en-US">
                <a:solidFill>
                  <a:srgbClr val="0000FF"/>
                </a:solidFill>
              </a:rPr>
              <a:t>MARGINWIDTH</a:t>
            </a:r>
            <a:r>
              <a:rPr lang="en-US"/>
              <a:t>, </a:t>
            </a:r>
            <a:r>
              <a:rPr lang="en-US">
                <a:solidFill>
                  <a:srgbClr val="0000FF"/>
                </a:solidFill>
              </a:rPr>
              <a:t>MARGINHEIGHT</a:t>
            </a:r>
            <a:r>
              <a:rPr lang="en-US"/>
              <a:t>, </a:t>
            </a:r>
            <a:r>
              <a:rPr lang="en-US">
                <a:solidFill>
                  <a:srgbClr val="0000FF"/>
                </a:solidFill>
              </a:rPr>
              <a:t>SCROLLING</a:t>
            </a:r>
            <a:r>
              <a:rPr lang="en-US"/>
              <a:t>, and </a:t>
            </a:r>
            <a:r>
              <a:rPr lang="en-US">
                <a:solidFill>
                  <a:srgbClr val="0000FF"/>
                </a:solidFill>
              </a:rPr>
              <a:t>NORESIZE</a:t>
            </a:r>
            <a:r>
              <a:rPr lang="en-US"/>
              <a:t>. Here's a complete generic FRAME:</a:t>
            </a:r>
          </a:p>
          <a:p>
            <a:pPr>
              <a:lnSpc>
                <a:spcPct val="90000"/>
              </a:lnSpc>
            </a:pPr>
            <a:r>
              <a:rPr lang="en-US">
                <a:solidFill>
                  <a:srgbClr val="FF0000"/>
                </a:solidFill>
              </a:rPr>
              <a:t>&lt;</a:t>
            </a:r>
            <a:r>
              <a:rPr lang="en-US">
                <a:solidFill>
                  <a:srgbClr val="0000FF"/>
                </a:solidFill>
              </a:rPr>
              <a:t>FRAME</a:t>
            </a:r>
            <a:r>
              <a:rPr lang="en-US">
                <a:solidFill>
                  <a:srgbClr val="FF0000"/>
                </a:solidFill>
              </a:rPr>
              <a:t> SRC="url"  NAME="window_name" SCROLLING=</a:t>
            </a:r>
            <a:r>
              <a:rPr lang="en-US">
                <a:solidFill>
                  <a:srgbClr val="00CC00"/>
                </a:solidFill>
              </a:rPr>
              <a:t>YES|NO|AUTO </a:t>
            </a:r>
            <a:r>
              <a:rPr lang="en-US">
                <a:solidFill>
                  <a:srgbClr val="FF0000"/>
                </a:solidFill>
              </a:rPr>
              <a:t>MARGINWIDTH="value" MARGINHEIGHT="value" </a:t>
            </a:r>
          </a:p>
          <a:p>
            <a:pPr>
              <a:lnSpc>
                <a:spcPct val="90000"/>
              </a:lnSpc>
              <a:buFontTx/>
              <a:buNone/>
            </a:pPr>
            <a:r>
              <a:rPr lang="en-US">
                <a:solidFill>
                  <a:srgbClr val="FF0000"/>
                </a:solidFill>
              </a:rPr>
              <a:t>   NORESIZE&gt; </a:t>
            </a:r>
          </a:p>
        </p:txBody>
      </p:sp>
      <p:sp>
        <p:nvSpPr>
          <p:cNvPr id="150532" name="Rectangle 4"/>
          <p:cNvSpPr>
            <a:spLocks noGrp="1" noChangeArrowheads="1"/>
          </p:cNvSpPr>
          <p:nvPr>
            <p:ph type="title"/>
          </p:nvPr>
        </p:nvSpPr>
        <p:spPr>
          <a:xfrm>
            <a:off x="460375" y="274638"/>
            <a:ext cx="8002588" cy="914400"/>
          </a:xfrm>
          <a:noFill/>
          <a:ln/>
        </p:spPr>
        <p:txBody>
          <a:bodyPr>
            <a:flatTx/>
          </a:bodyPr>
          <a:lstStyle/>
          <a:p>
            <a:r>
              <a:rPr lang="en-US">
                <a:solidFill>
                  <a:srgbClr val="C00000"/>
                </a:solidFill>
              </a:rPr>
              <a:t>Generic Frame Formula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5B07AEA-7044-4A8D-BCF1-9122E603E72D}" type="slidenum">
              <a:rPr lang="ar-SA"/>
              <a:pPr/>
              <a:t>42</a:t>
            </a:fld>
            <a:endParaRPr lang="en-US"/>
          </a:p>
        </p:txBody>
      </p:sp>
      <p:sp>
        <p:nvSpPr>
          <p:cNvPr id="151555" name="Rectangle 3"/>
          <p:cNvSpPr>
            <a:spLocks noGrp="1" noChangeArrowheads="1"/>
          </p:cNvSpPr>
          <p:nvPr>
            <p:ph type="body" idx="1"/>
          </p:nvPr>
        </p:nvSpPr>
        <p:spPr>
          <a:xfrm>
            <a:off x="228600" y="1646238"/>
            <a:ext cx="8458200" cy="4525962"/>
          </a:xfrm>
        </p:spPr>
        <p:txBody>
          <a:bodyPr/>
          <a:lstStyle/>
          <a:p>
            <a:pPr>
              <a:buFontTx/>
              <a:buNone/>
            </a:pPr>
            <a:r>
              <a:rPr lang="en-US" sz="2800" b="1">
                <a:solidFill>
                  <a:srgbClr val="FF0000"/>
                </a:solidFill>
              </a:rPr>
              <a:t>&lt;FRAMESET </a:t>
            </a:r>
            <a:r>
              <a:rPr lang="en-US" sz="2800" b="1">
                <a:solidFill>
                  <a:srgbClr val="0000FF"/>
                </a:solidFill>
              </a:rPr>
              <a:t>ROWS="*, 2*, *"</a:t>
            </a:r>
            <a:r>
              <a:rPr lang="en-US" sz="2800" b="1">
                <a:solidFill>
                  <a:srgbClr val="FF0000"/>
                </a:solidFill>
              </a:rPr>
              <a:t>    COLS="2*, *"&gt;</a:t>
            </a:r>
          </a:p>
          <a:p>
            <a:pPr>
              <a:buFontTx/>
              <a:buNone/>
            </a:pPr>
            <a:r>
              <a:rPr lang="en-US" sz="2800" b="1"/>
              <a:t>&lt;FRAME SRC=“”&gt;</a:t>
            </a:r>
          </a:p>
          <a:p>
            <a:pPr>
              <a:buFontTx/>
              <a:buNone/>
            </a:pPr>
            <a:r>
              <a:rPr lang="en-US" sz="2800" b="1"/>
              <a:t>&lt;FRAME SRC=“”&gt;</a:t>
            </a:r>
          </a:p>
          <a:p>
            <a:pPr>
              <a:buFontTx/>
              <a:buNone/>
            </a:pPr>
            <a:r>
              <a:rPr lang="en-US" sz="2800" b="1"/>
              <a:t>&lt;FRAME SRC=“”&gt;</a:t>
            </a:r>
          </a:p>
          <a:p>
            <a:pPr>
              <a:buFontTx/>
              <a:buNone/>
            </a:pPr>
            <a:r>
              <a:rPr lang="en-US" sz="2800" b="1"/>
              <a:t>&lt;FRAME SRC=“”&gt;</a:t>
            </a:r>
          </a:p>
          <a:p>
            <a:pPr>
              <a:buFontTx/>
              <a:buNone/>
            </a:pPr>
            <a:r>
              <a:rPr lang="en-US" sz="2800" b="1"/>
              <a:t>&lt;FRAME SRC=“”&gt;</a:t>
            </a:r>
          </a:p>
          <a:p>
            <a:pPr>
              <a:buFontTx/>
              <a:buNone/>
            </a:pPr>
            <a:r>
              <a:rPr lang="en-US" sz="2800" b="1"/>
              <a:t>&lt;FRAME SRC=“”&gt;</a:t>
            </a:r>
          </a:p>
          <a:p>
            <a:pPr>
              <a:buFontTx/>
              <a:buNone/>
            </a:pPr>
            <a:r>
              <a:rPr lang="en-US" sz="2800" b="1">
                <a:solidFill>
                  <a:srgbClr val="FF0000"/>
                </a:solidFill>
              </a:rPr>
              <a:t>&lt;/FRAMESET&gt;</a:t>
            </a:r>
          </a:p>
        </p:txBody>
      </p:sp>
      <p:sp>
        <p:nvSpPr>
          <p:cNvPr id="151556" name="Rectangle 4"/>
          <p:cNvSpPr>
            <a:spLocks noGrp="1" noChangeArrowheads="1"/>
          </p:cNvSpPr>
          <p:nvPr>
            <p:ph type="title"/>
          </p:nvPr>
        </p:nvSpPr>
        <p:spPr>
          <a:xfrm>
            <a:off x="460375" y="274638"/>
            <a:ext cx="8002588" cy="914400"/>
          </a:xfrm>
          <a:noFill/>
          <a:ln/>
        </p:spPr>
        <p:txBody>
          <a:bodyPr>
            <a:flatTx/>
          </a:bodyPr>
          <a:lstStyle/>
          <a:p>
            <a:r>
              <a:rPr lang="en-US">
                <a:solidFill>
                  <a:srgbClr val="C00000"/>
                </a:solidFill>
              </a:rPr>
              <a:t>What will be the Output?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58AB914-BB1B-4A73-B5CA-F020E60776BC}" type="slidenum">
              <a:rPr lang="ar-SA"/>
              <a:pPr/>
              <a:t>43</a:t>
            </a:fld>
            <a:endParaRPr lang="en-US"/>
          </a:p>
        </p:txBody>
      </p:sp>
      <p:sp>
        <p:nvSpPr>
          <p:cNvPr id="100354" name="Rectangle 2"/>
          <p:cNvSpPr>
            <a:spLocks noGrp="1" noChangeArrowheads="1"/>
          </p:cNvSpPr>
          <p:nvPr>
            <p:ph type="title"/>
          </p:nvPr>
        </p:nvSpPr>
        <p:spPr>
          <a:xfrm>
            <a:off x="606425" y="274638"/>
            <a:ext cx="7931150" cy="762000"/>
          </a:xfrm>
          <a:noFill/>
        </p:spPr>
        <p:txBody>
          <a:bodyPr>
            <a:flatTx/>
          </a:bodyPr>
          <a:lstStyle/>
          <a:p>
            <a:r>
              <a:rPr lang="en-US">
                <a:solidFill>
                  <a:srgbClr val="C00000"/>
                </a:solidFill>
              </a:rPr>
              <a:t>Targets</a:t>
            </a:r>
          </a:p>
        </p:txBody>
      </p:sp>
      <p:sp>
        <p:nvSpPr>
          <p:cNvPr id="100355" name="Rectangle 3"/>
          <p:cNvSpPr>
            <a:spLocks noGrp="1" noChangeArrowheads="1"/>
          </p:cNvSpPr>
          <p:nvPr>
            <p:ph type="body" idx="1"/>
          </p:nvPr>
        </p:nvSpPr>
        <p:spPr>
          <a:xfrm>
            <a:off x="304800" y="1371600"/>
            <a:ext cx="8458200" cy="5029200"/>
          </a:xfrm>
          <a:noFill/>
        </p:spPr>
        <p:txBody>
          <a:bodyPr/>
          <a:lstStyle/>
          <a:p>
            <a:pPr>
              <a:lnSpc>
                <a:spcPct val="90000"/>
              </a:lnSpc>
              <a:buClr>
                <a:schemeClr val="accent2"/>
              </a:buClr>
              <a:buFont typeface="Wingdings" pitchFamily="2" charset="2"/>
              <a:buChar char="§"/>
            </a:pPr>
            <a:r>
              <a:rPr lang="en-US" sz="2400" dirty="0"/>
              <a:t>When you use links for use in a frames environment you will need to specify an additional attribute called </a:t>
            </a:r>
            <a:r>
              <a:rPr lang="en-US" sz="2400" b="1" dirty="0">
                <a:solidFill>
                  <a:srgbClr val="FF0000"/>
                </a:solidFill>
              </a:rPr>
              <a:t>TARGET</a:t>
            </a:r>
            <a:r>
              <a:rPr lang="en-US" sz="2400" b="1" dirty="0"/>
              <a:t>.</a:t>
            </a:r>
          </a:p>
          <a:p>
            <a:pPr>
              <a:lnSpc>
                <a:spcPct val="90000"/>
              </a:lnSpc>
              <a:buClr>
                <a:schemeClr val="accent2"/>
              </a:buClr>
              <a:buFont typeface="Wingdings" pitchFamily="2" charset="2"/>
              <a:buChar char="§"/>
            </a:pPr>
            <a:r>
              <a:rPr lang="en-US" sz="2400" dirty="0"/>
              <a:t>The </a:t>
            </a:r>
            <a:r>
              <a:rPr lang="en-US" sz="2400" b="1" dirty="0">
                <a:solidFill>
                  <a:srgbClr val="FF0000"/>
                </a:solidFill>
              </a:rPr>
              <a:t>TARGET</a:t>
            </a:r>
            <a:r>
              <a:rPr lang="en-US" sz="2400" dirty="0"/>
              <a:t> attribute uses the NAME attribute of the </a:t>
            </a:r>
            <a:r>
              <a:rPr lang="en-US" sz="2400" b="1" dirty="0">
                <a:solidFill>
                  <a:srgbClr val="FF0000"/>
                </a:solidFill>
              </a:rPr>
              <a:t>FRAME</a:t>
            </a:r>
            <a:r>
              <a:rPr lang="en-US" sz="2400" dirty="0"/>
              <a:t> element.</a:t>
            </a:r>
          </a:p>
          <a:p>
            <a:pPr>
              <a:lnSpc>
                <a:spcPct val="90000"/>
              </a:lnSpc>
              <a:buClr>
                <a:schemeClr val="accent2"/>
              </a:buClr>
              <a:buFont typeface="Wingdings" pitchFamily="2" charset="2"/>
              <a:buChar char="§"/>
            </a:pPr>
            <a:r>
              <a:rPr lang="en-US" sz="2400" dirty="0"/>
              <a:t>If we were to place a link in </a:t>
            </a:r>
            <a:r>
              <a:rPr lang="en-US" sz="2400" dirty="0" smtClean="0"/>
              <a:t>doc5.html </a:t>
            </a:r>
            <a:r>
              <a:rPr lang="en-US" sz="2400" dirty="0"/>
              <a:t>that linked to </a:t>
            </a:r>
            <a:r>
              <a:rPr lang="en-US" sz="2400" dirty="0" smtClean="0"/>
              <a:t>doc5.html </a:t>
            </a:r>
            <a:r>
              <a:rPr lang="en-US" sz="2400" dirty="0"/>
              <a:t>and we wanted </a:t>
            </a:r>
            <a:r>
              <a:rPr lang="en-US" sz="2400" dirty="0" smtClean="0"/>
              <a:t>doc5.html </a:t>
            </a:r>
            <a:r>
              <a:rPr lang="en-US" sz="2400" dirty="0"/>
              <a:t>to be displayed in the right windowpane; the HTML code would appear in </a:t>
            </a:r>
            <a:r>
              <a:rPr lang="en-US" sz="2400" dirty="0" smtClean="0"/>
              <a:t>doc5.html </a:t>
            </a:r>
            <a:r>
              <a:rPr lang="en-US" sz="2400" dirty="0"/>
              <a:t>as follows:</a:t>
            </a:r>
          </a:p>
          <a:p>
            <a:pPr>
              <a:lnSpc>
                <a:spcPct val="90000"/>
              </a:lnSpc>
              <a:buClr>
                <a:schemeClr val="accent2"/>
              </a:buClr>
              <a:buFont typeface="Wingdings" pitchFamily="2" charset="2"/>
              <a:buNone/>
            </a:pPr>
            <a:endParaRPr lang="en-US" sz="2400" dirty="0"/>
          </a:p>
          <a:p>
            <a:pPr algn="ctr">
              <a:lnSpc>
                <a:spcPct val="90000"/>
              </a:lnSpc>
              <a:buClr>
                <a:schemeClr val="accent2"/>
              </a:buClr>
              <a:buFont typeface="Wingdings" pitchFamily="2" charset="2"/>
              <a:buNone/>
            </a:pPr>
            <a:r>
              <a:rPr lang="en-US" dirty="0">
                <a:solidFill>
                  <a:srgbClr val="0000FF"/>
                </a:solidFill>
              </a:rPr>
              <a:t>&lt;</a:t>
            </a:r>
            <a:r>
              <a:rPr lang="en-US" b="1" dirty="0">
                <a:solidFill>
                  <a:srgbClr val="A50021"/>
                </a:solidFill>
              </a:rPr>
              <a:t>A</a:t>
            </a:r>
            <a:r>
              <a:rPr lang="en-US" dirty="0">
                <a:solidFill>
                  <a:srgbClr val="0000FF"/>
                </a:solidFill>
              </a:rPr>
              <a:t> </a:t>
            </a:r>
            <a:r>
              <a:rPr lang="en-US" b="1" dirty="0">
                <a:solidFill>
                  <a:srgbClr val="FF0000"/>
                </a:solidFill>
              </a:rPr>
              <a:t>HREF</a:t>
            </a:r>
            <a:r>
              <a:rPr lang="en-US" dirty="0">
                <a:solidFill>
                  <a:srgbClr val="0000FF"/>
                </a:solidFill>
              </a:rPr>
              <a:t>=“</a:t>
            </a:r>
            <a:r>
              <a:rPr lang="en-US" dirty="0" smtClean="0">
                <a:solidFill>
                  <a:srgbClr val="333300"/>
                </a:solidFill>
              </a:rPr>
              <a:t>doc5.html</a:t>
            </a:r>
            <a:r>
              <a:rPr lang="en-US" dirty="0">
                <a:solidFill>
                  <a:srgbClr val="0000FF"/>
                </a:solidFill>
              </a:rPr>
              <a:t>” </a:t>
            </a:r>
            <a:r>
              <a:rPr lang="en-US" b="1" dirty="0">
                <a:solidFill>
                  <a:srgbClr val="FF0000"/>
                </a:solidFill>
              </a:rPr>
              <a:t>TARGET</a:t>
            </a:r>
            <a:r>
              <a:rPr lang="en-US" dirty="0">
                <a:solidFill>
                  <a:srgbClr val="0000FF"/>
                </a:solidFill>
              </a:rPr>
              <a:t>=“</a:t>
            </a:r>
            <a:r>
              <a:rPr lang="en-US" dirty="0" err="1">
                <a:solidFill>
                  <a:srgbClr val="0000FF"/>
                </a:solidFill>
              </a:rPr>
              <a:t>right_pane</a:t>
            </a:r>
            <a:r>
              <a:rPr lang="en-US" dirty="0">
                <a:solidFill>
                  <a:srgbClr val="0000FF"/>
                </a:solidFill>
              </a:rPr>
              <a:t>”&gt;Link to Document </a:t>
            </a:r>
            <a:r>
              <a:rPr lang="en-US" dirty="0" smtClean="0">
                <a:solidFill>
                  <a:srgbClr val="0000FF"/>
                </a:solidFill>
              </a:rPr>
              <a:t>5 </a:t>
            </a:r>
            <a:r>
              <a:rPr lang="en-US" dirty="0">
                <a:solidFill>
                  <a:srgbClr val="0000FF"/>
                </a:solidFill>
              </a:rPr>
              <a:t>&lt;/</a:t>
            </a:r>
            <a:r>
              <a:rPr lang="en-US" b="1" dirty="0">
                <a:solidFill>
                  <a:srgbClr val="A50021"/>
                </a:solidFill>
              </a:rPr>
              <a:t>A</a:t>
            </a:r>
            <a:r>
              <a:rPr lang="en-US" dirty="0">
                <a:solidFill>
                  <a:srgbClr val="0000FF"/>
                </a:solidFill>
              </a:rPr>
              <a:t>&gt;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0AEAAE9-5EC2-4F39-9E59-D812E760071E}" type="slidenum">
              <a:rPr lang="ar-SA"/>
              <a:pPr/>
              <a:t>44</a:t>
            </a:fld>
            <a:endParaRPr lang="en-US"/>
          </a:p>
        </p:txBody>
      </p:sp>
      <p:sp>
        <p:nvSpPr>
          <p:cNvPr id="163858" name="Rectangle 18"/>
          <p:cNvSpPr>
            <a:spLocks noGrp="1" noChangeArrowheads="1"/>
          </p:cNvSpPr>
          <p:nvPr>
            <p:ph type="title"/>
          </p:nvPr>
        </p:nvSpPr>
        <p:spPr>
          <a:xfrm>
            <a:off x="381000" y="304800"/>
            <a:ext cx="8305800" cy="609600"/>
          </a:xfrm>
          <a:noFill/>
          <a:ln/>
        </p:spPr>
        <p:txBody>
          <a:bodyPr>
            <a:normAutofit fontScale="90000"/>
            <a:flatTx/>
          </a:bodyPr>
          <a:lstStyle/>
          <a:p>
            <a:r>
              <a:rPr lang="en-US" dirty="0">
                <a:solidFill>
                  <a:srgbClr val="C00000"/>
                </a:solidFill>
              </a:rPr>
              <a:t>Special Targets</a:t>
            </a:r>
          </a:p>
        </p:txBody>
      </p:sp>
      <p:sp>
        <p:nvSpPr>
          <p:cNvPr id="163859" name="Rectangle 19"/>
          <p:cNvSpPr>
            <a:spLocks noGrp="1" noChangeArrowheads="1"/>
          </p:cNvSpPr>
          <p:nvPr>
            <p:ph type="body" idx="1"/>
          </p:nvPr>
        </p:nvSpPr>
        <p:spPr>
          <a:xfrm>
            <a:off x="533400" y="1143000"/>
            <a:ext cx="7848600" cy="6019800"/>
          </a:xfrm>
          <a:noFill/>
          <a:ln/>
        </p:spPr>
        <p:txBody>
          <a:bodyPr/>
          <a:lstStyle/>
          <a:p>
            <a:pPr marL="0" indent="0">
              <a:lnSpc>
                <a:spcPct val="80000"/>
              </a:lnSpc>
              <a:buNone/>
            </a:pPr>
            <a:r>
              <a:rPr lang="en-US" sz="2000" dirty="0"/>
              <a:t>There are </a:t>
            </a:r>
            <a:r>
              <a:rPr lang="en-US" sz="2000" b="1" dirty="0">
                <a:solidFill>
                  <a:srgbClr val="FF0000"/>
                </a:solidFill>
              </a:rPr>
              <a:t>4</a:t>
            </a:r>
            <a:r>
              <a:rPr lang="en-US" sz="2000" dirty="0"/>
              <a:t> special target names that cannot be assigned by the NAME attribute of the FRAME tag.</a:t>
            </a:r>
          </a:p>
          <a:p>
            <a:pPr marL="609600" indent="-609600">
              <a:lnSpc>
                <a:spcPct val="80000"/>
              </a:lnSpc>
              <a:buFontTx/>
              <a:buNone/>
            </a:pPr>
            <a:r>
              <a:rPr lang="en-US" sz="2000" b="1" dirty="0">
                <a:solidFill>
                  <a:srgbClr val="FF0000"/>
                </a:solidFill>
              </a:rPr>
              <a:t>1.	TARGET=“_top”</a:t>
            </a:r>
            <a:r>
              <a:rPr lang="en-US" sz="2000" dirty="0"/>
              <a:t> : This loads the linked document into the full browser window with the URL specified by the HREF attribute. All frames disappear, leaving the new linked page to occupy the entire window. The back is turned on. </a:t>
            </a:r>
          </a:p>
          <a:p>
            <a:pPr marL="609600" indent="-609600">
              <a:lnSpc>
                <a:spcPct val="80000"/>
              </a:lnSpc>
              <a:buFontTx/>
              <a:buNone/>
            </a:pPr>
            <a:r>
              <a:rPr lang="en-US" sz="2000" b="1" dirty="0">
                <a:solidFill>
                  <a:srgbClr val="FF0000"/>
                </a:solidFill>
              </a:rPr>
              <a:t>2.	TARGET=“_blank”</a:t>
            </a:r>
            <a:r>
              <a:rPr lang="en-US" sz="2000" dirty="0"/>
              <a:t> : Opens an unnamed new browser window and loads the document specified in the URL attribute into the new window (and your old window stays open). The back is turned off. Other windows remains on.</a:t>
            </a:r>
          </a:p>
          <a:p>
            <a:pPr marL="609600" indent="-609600">
              <a:lnSpc>
                <a:spcPct val="80000"/>
              </a:lnSpc>
            </a:pPr>
            <a:endParaRPr lang="en-US" sz="2000" b="1" dirty="0"/>
          </a:p>
          <a:p>
            <a:pPr marL="609600" indent="-609600">
              <a:lnSpc>
                <a:spcPct val="80000"/>
              </a:lnSpc>
              <a:buFontTx/>
              <a:buNone/>
            </a:pPr>
            <a:r>
              <a:rPr lang="en-US" sz="2000" b="1" dirty="0">
                <a:solidFill>
                  <a:srgbClr val="FF0000"/>
                </a:solidFill>
              </a:rPr>
              <a:t>3.	TARGET=“_self”</a:t>
            </a:r>
            <a:r>
              <a:rPr lang="en-US" sz="2000" dirty="0"/>
              <a:t> : Loads the document in the same window where the anchor was {</a:t>
            </a:r>
            <a:r>
              <a:rPr lang="en-US" sz="2000" i="1" dirty="0"/>
              <a:t>Clicked</a:t>
            </a:r>
            <a:r>
              <a:rPr lang="en-US" sz="2000" dirty="0"/>
              <a:t>}. This is the </a:t>
            </a:r>
            <a:r>
              <a:rPr lang="en-US" sz="2000" b="1" dirty="0"/>
              <a:t>default</a:t>
            </a:r>
            <a:r>
              <a:rPr lang="en-US" sz="2000" dirty="0"/>
              <a:t> setting for linking elements.</a:t>
            </a:r>
          </a:p>
          <a:p>
            <a:pPr marL="609600" indent="-609600">
              <a:lnSpc>
                <a:spcPct val="80000"/>
              </a:lnSpc>
            </a:pPr>
            <a:endParaRPr lang="en-US" sz="2000" dirty="0"/>
          </a:p>
          <a:p>
            <a:pPr marL="609600" indent="-609600">
              <a:lnSpc>
                <a:spcPct val="80000"/>
              </a:lnSpc>
              <a:buFontTx/>
              <a:buNone/>
            </a:pPr>
            <a:r>
              <a:rPr lang="en-US" sz="2000" b="1" dirty="0">
                <a:solidFill>
                  <a:srgbClr val="FF0000"/>
                </a:solidFill>
              </a:rPr>
              <a:t>4.	TARGET=“_parent”</a:t>
            </a:r>
            <a:r>
              <a:rPr lang="en-US" sz="2000" dirty="0"/>
              <a:t> : the _parent frame is a prior frameset that the current frameset was “spawned” from. If there isn’t one it is the browser window. The document is loaded into the area occupied by the columns or rows frameset containing the frame that contains the link. The back is turned on. All windows disappear.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F3ED1D0-3A65-4E63-9BA3-71AB2634F37A}" type="slidenum">
              <a:rPr lang="ar-SA"/>
              <a:pPr/>
              <a:t>45</a:t>
            </a:fld>
            <a:endParaRPr lang="en-US"/>
          </a:p>
        </p:txBody>
      </p:sp>
      <p:sp>
        <p:nvSpPr>
          <p:cNvPr id="162820" name="Rectangle 4"/>
          <p:cNvSpPr>
            <a:spLocks noChangeArrowheads="1"/>
          </p:cNvSpPr>
          <p:nvPr/>
        </p:nvSpPr>
        <p:spPr bwMode="auto">
          <a:xfrm>
            <a:off x="0" y="361950"/>
            <a:ext cx="9144000" cy="5934075"/>
          </a:xfrm>
          <a:prstGeom prst="rect">
            <a:avLst/>
          </a:prstGeom>
          <a:noFill/>
          <a:ln w="9525">
            <a:noFill/>
            <a:miter lim="800000"/>
            <a:headEnd/>
            <a:tailEnd/>
          </a:ln>
          <a:effectLst/>
        </p:spPr>
        <p:txBody>
          <a:bodyPr anchor="ctr">
            <a:spAutoFit/>
          </a:bodyPr>
          <a:lstStyle/>
          <a:p>
            <a:pPr eaLnBrk="1" hangingPunct="1"/>
            <a:r>
              <a:rPr lang="en-US" sz="2400" dirty="0"/>
              <a:t>If a frame contains the following link, then clicking the link launches a new, unnamed browser display window that contains the content defined in stuff.HTM. This can be a simple HTML document, or an entirely new FRAMESET definition. </a:t>
            </a:r>
          </a:p>
          <a:p>
            <a:pPr eaLnBrk="1" hangingPunct="1"/>
            <a:r>
              <a:rPr lang="en-US" sz="2400" b="1" dirty="0">
                <a:solidFill>
                  <a:srgbClr val="FF0000"/>
                </a:solidFill>
              </a:rPr>
              <a:t>1.	&lt;A HREF="stuff.html" TARGET="_blank"&gt; </a:t>
            </a:r>
          </a:p>
          <a:p>
            <a:pPr eaLnBrk="1" hangingPunct="1"/>
            <a:r>
              <a:rPr lang="en-US" sz="2400" dirty="0"/>
              <a:t>If a frame contains the following link, then clicking the link will simply cause the frame which contains the link to clear, and its content will be replaced with whatever is in stuff.htm.</a:t>
            </a:r>
          </a:p>
          <a:p>
            <a:pPr eaLnBrk="1" hangingPunct="1"/>
            <a:r>
              <a:rPr lang="en-US" sz="2400" b="1" dirty="0">
                <a:solidFill>
                  <a:srgbClr val="FF0000"/>
                </a:solidFill>
              </a:rPr>
              <a:t>2.	&lt;A HREF="stuff.html" TARGET="_self"&gt; </a:t>
            </a:r>
          </a:p>
          <a:p>
            <a:pPr eaLnBrk="1" hangingPunct="1"/>
            <a:r>
              <a:rPr lang="en-US" sz="2400" dirty="0"/>
              <a:t>If a frame contains the following link, the frameset that contains the frame that contains this link will be replaced by stuff.HTM.</a:t>
            </a:r>
          </a:p>
          <a:p>
            <a:pPr eaLnBrk="1" hangingPunct="1"/>
            <a:r>
              <a:rPr lang="en-US" sz="2400" b="1" dirty="0">
                <a:solidFill>
                  <a:srgbClr val="FF0000"/>
                </a:solidFill>
              </a:rPr>
              <a:t>3.	&lt;A HREF="stuff.html" TARGET="_parent"&gt; </a:t>
            </a:r>
          </a:p>
          <a:p>
            <a:pPr eaLnBrk="1" hangingPunct="1"/>
            <a:r>
              <a:rPr lang="en-US" sz="2400" dirty="0"/>
              <a:t>Finally, if a frame contains the following link, clicking the link replaces the entire browser window with the contents of stuff.HTM.</a:t>
            </a:r>
          </a:p>
          <a:p>
            <a:pPr eaLnBrk="1" hangingPunct="1"/>
            <a:r>
              <a:rPr lang="en-US" sz="2400" b="1" dirty="0">
                <a:solidFill>
                  <a:srgbClr val="FF0000"/>
                </a:solidFill>
              </a:rPr>
              <a:t>4.	&lt;A HREF="stuff.html" TARGET="_top"&gt;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p:txBody>
          <a:bodyPr/>
          <a:lstStyle/>
          <a:p>
            <a:fld id="{12B29BEF-39EA-49E2-A5D4-E75C6B53A2D6}" type="slidenum">
              <a:rPr lang="ar-SA"/>
              <a:pPr/>
              <a:t>46</a:t>
            </a:fld>
            <a:endParaRPr lang="en-US"/>
          </a:p>
        </p:txBody>
      </p:sp>
      <p:sp>
        <p:nvSpPr>
          <p:cNvPr id="165892" name="Rectangle 4"/>
          <p:cNvSpPr>
            <a:spLocks noChangeArrowheads="1"/>
          </p:cNvSpPr>
          <p:nvPr/>
        </p:nvSpPr>
        <p:spPr bwMode="auto">
          <a:xfrm>
            <a:off x="762000" y="381000"/>
            <a:ext cx="7772400" cy="1143000"/>
          </a:xfrm>
          <a:prstGeom prst="rect">
            <a:avLst/>
          </a:prstGeom>
          <a:noFill/>
          <a:ln w="9525">
            <a:noFill/>
            <a:miter lim="800000"/>
            <a:headEnd/>
            <a:tailEnd/>
          </a:ln>
          <a:effectLst/>
        </p:spPr>
        <p:txBody>
          <a:bodyPr anchor="ctr">
            <a:flatTx/>
          </a:bodyPr>
          <a:lstStyle/>
          <a:p>
            <a:pPr algn="ctr"/>
            <a:r>
              <a:rPr lang="en-GB" sz="4400">
                <a:solidFill>
                  <a:srgbClr val="C00000"/>
                </a:solidFill>
              </a:rPr>
              <a:t>Targeting links to frames</a:t>
            </a:r>
          </a:p>
        </p:txBody>
      </p:sp>
      <p:sp>
        <p:nvSpPr>
          <p:cNvPr id="165893" name="Rectangle 5"/>
          <p:cNvSpPr>
            <a:spLocks noChangeArrowheads="1"/>
          </p:cNvSpPr>
          <p:nvPr/>
        </p:nvSpPr>
        <p:spPr bwMode="auto">
          <a:xfrm>
            <a:off x="457200" y="1600200"/>
            <a:ext cx="8382000" cy="4724400"/>
          </a:xfrm>
          <a:prstGeom prst="rect">
            <a:avLst/>
          </a:prstGeom>
          <a:noFill/>
          <a:ln w="9525">
            <a:noFill/>
            <a:miter lim="800000"/>
            <a:headEnd/>
            <a:tailEnd/>
          </a:ln>
          <a:effectLst/>
        </p:spPr>
        <p:txBody>
          <a:bodyPr/>
          <a:lstStyle/>
          <a:p>
            <a:endParaRPr lang="en-GB" sz="2000" dirty="0"/>
          </a:p>
          <a:p>
            <a:r>
              <a:rPr lang="en-GB" sz="2000" dirty="0"/>
              <a:t>The TARGET attribute allows you to specify the frame into which a page is to be loaded into in a frames setting.</a:t>
            </a:r>
          </a:p>
          <a:p>
            <a:endParaRPr lang="en-GB" sz="2000" dirty="0"/>
          </a:p>
          <a:p>
            <a:r>
              <a:rPr lang="en-GB" sz="2000" dirty="0"/>
              <a:t>&lt;A HREF=“chap1.html” TARGET=“_self”&gt; [Chapter 1]&lt;/A&gt;</a:t>
            </a:r>
          </a:p>
          <a:p>
            <a:r>
              <a:rPr lang="en-GB" sz="2000" dirty="0"/>
              <a:t>&lt;A HREF=“chap1.html” TARGET=“_parent”&gt; [Chapter 2]&lt;/A&gt;</a:t>
            </a:r>
          </a:p>
          <a:p>
            <a:endParaRPr lang="en-GB" sz="2000" dirty="0"/>
          </a:p>
          <a:p>
            <a:endParaRPr lang="en-GB" sz="2000" dirty="0"/>
          </a:p>
          <a:p>
            <a:r>
              <a:rPr lang="en-GB" sz="1600" dirty="0">
                <a:latin typeface="Times New Roman" charset="0"/>
              </a:rPr>
              <a:t>Parent window</a:t>
            </a:r>
          </a:p>
        </p:txBody>
      </p:sp>
      <p:grpSp>
        <p:nvGrpSpPr>
          <p:cNvPr id="2" name="Group 6"/>
          <p:cNvGrpSpPr>
            <a:grpSpLocks/>
          </p:cNvGrpSpPr>
          <p:nvPr/>
        </p:nvGrpSpPr>
        <p:grpSpPr bwMode="auto">
          <a:xfrm>
            <a:off x="4648200" y="3810000"/>
            <a:ext cx="3352800" cy="2438400"/>
            <a:chOff x="2880" y="2448"/>
            <a:chExt cx="2112" cy="1536"/>
          </a:xfrm>
        </p:grpSpPr>
        <p:sp>
          <p:nvSpPr>
            <p:cNvPr id="165895" name="Text Box 7"/>
            <p:cNvSpPr txBox="1">
              <a:spLocks noChangeArrowheads="1"/>
            </p:cNvSpPr>
            <p:nvPr/>
          </p:nvSpPr>
          <p:spPr bwMode="auto">
            <a:xfrm>
              <a:off x="2928" y="2592"/>
              <a:ext cx="2064" cy="462"/>
            </a:xfrm>
            <a:prstGeom prst="rect">
              <a:avLst/>
            </a:prstGeom>
            <a:noFill/>
            <a:ln w="9525">
              <a:noFill/>
              <a:miter lim="800000"/>
              <a:headEnd/>
              <a:tailEnd/>
            </a:ln>
            <a:effectLst/>
          </p:spPr>
          <p:txBody>
            <a:bodyPr>
              <a:spAutoFit/>
            </a:bodyPr>
            <a:lstStyle/>
            <a:p>
              <a:pPr algn="ctr">
                <a:spcBef>
                  <a:spcPct val="50000"/>
                </a:spcBef>
              </a:pPr>
              <a:r>
                <a:rPr lang="en-GB" b="1"/>
                <a:t>Learning HTML</a:t>
              </a:r>
            </a:p>
            <a:p>
              <a:pPr algn="ctr">
                <a:spcBef>
                  <a:spcPct val="50000"/>
                </a:spcBef>
              </a:pPr>
              <a:r>
                <a:rPr lang="en-GB" sz="1600"/>
                <a:t>[Chapter 1][Chapter 2][Chapter 3]</a:t>
              </a:r>
            </a:p>
          </p:txBody>
        </p:sp>
        <p:grpSp>
          <p:nvGrpSpPr>
            <p:cNvPr id="3" name="Group 8"/>
            <p:cNvGrpSpPr>
              <a:grpSpLocks/>
            </p:cNvGrpSpPr>
            <p:nvPr/>
          </p:nvGrpSpPr>
          <p:grpSpPr bwMode="auto">
            <a:xfrm>
              <a:off x="2880" y="2448"/>
              <a:ext cx="2112" cy="1536"/>
              <a:chOff x="2880" y="2448"/>
              <a:chExt cx="2112" cy="1536"/>
            </a:xfrm>
          </p:grpSpPr>
          <p:sp>
            <p:nvSpPr>
              <p:cNvPr id="165897" name="Rectangle 9"/>
              <p:cNvSpPr>
                <a:spLocks noChangeArrowheads="1"/>
              </p:cNvSpPr>
              <p:nvPr/>
            </p:nvSpPr>
            <p:spPr bwMode="auto">
              <a:xfrm>
                <a:off x="2880" y="2448"/>
                <a:ext cx="2112" cy="1536"/>
              </a:xfrm>
              <a:prstGeom prst="rect">
                <a:avLst/>
              </a:prstGeom>
              <a:noFill/>
              <a:ln w="9525">
                <a:solidFill>
                  <a:schemeClr val="tx1"/>
                </a:solidFill>
                <a:miter lim="800000"/>
                <a:headEnd/>
                <a:tailEnd/>
              </a:ln>
              <a:effectLst/>
            </p:spPr>
            <p:txBody>
              <a:bodyPr wrap="none" anchor="ctr"/>
              <a:lstStyle/>
              <a:p>
                <a:endParaRPr lang="en-US"/>
              </a:p>
            </p:txBody>
          </p:sp>
          <p:sp>
            <p:nvSpPr>
              <p:cNvPr id="165898" name="Line 10"/>
              <p:cNvSpPr>
                <a:spLocks noChangeShapeType="1"/>
              </p:cNvSpPr>
              <p:nvPr/>
            </p:nvSpPr>
            <p:spPr bwMode="auto">
              <a:xfrm>
                <a:off x="2880" y="3120"/>
                <a:ext cx="2112" cy="0"/>
              </a:xfrm>
              <a:prstGeom prst="line">
                <a:avLst/>
              </a:prstGeom>
              <a:noFill/>
              <a:ln w="9525">
                <a:solidFill>
                  <a:schemeClr val="tx1"/>
                </a:solidFill>
                <a:round/>
                <a:headEnd/>
                <a:tailEnd/>
              </a:ln>
              <a:effectLst/>
            </p:spPr>
            <p:txBody>
              <a:bodyPr/>
              <a:lstStyle/>
              <a:p>
                <a:endParaRPr lang="en-US"/>
              </a:p>
            </p:txBody>
          </p:sp>
        </p:grpSp>
      </p:grpSp>
      <p:sp>
        <p:nvSpPr>
          <p:cNvPr id="165899" name="Text Box 11"/>
          <p:cNvSpPr txBox="1">
            <a:spLocks noChangeArrowheads="1"/>
          </p:cNvSpPr>
          <p:nvPr/>
        </p:nvSpPr>
        <p:spPr bwMode="auto">
          <a:xfrm>
            <a:off x="3276600" y="4114800"/>
            <a:ext cx="1295400" cy="336550"/>
          </a:xfrm>
          <a:prstGeom prst="rect">
            <a:avLst/>
          </a:prstGeom>
          <a:noFill/>
          <a:ln w="9525">
            <a:noFill/>
            <a:miter lim="800000"/>
            <a:headEnd/>
            <a:tailEnd/>
          </a:ln>
          <a:effectLst/>
        </p:spPr>
        <p:txBody>
          <a:bodyPr>
            <a:spAutoFit/>
          </a:bodyPr>
          <a:lstStyle/>
          <a:p>
            <a:pPr>
              <a:spcBef>
                <a:spcPct val="50000"/>
              </a:spcBef>
            </a:pPr>
            <a:r>
              <a:rPr lang="en-GB" sz="1600" b="1">
                <a:latin typeface="Times New Roman" charset="0"/>
              </a:rPr>
              <a:t>chap1.html</a:t>
            </a:r>
          </a:p>
        </p:txBody>
      </p:sp>
      <p:sp>
        <p:nvSpPr>
          <p:cNvPr id="165900" name="Text Box 12"/>
          <p:cNvSpPr txBox="1">
            <a:spLocks noChangeArrowheads="1"/>
          </p:cNvSpPr>
          <p:nvPr/>
        </p:nvSpPr>
        <p:spPr bwMode="auto">
          <a:xfrm>
            <a:off x="3124200" y="5226050"/>
            <a:ext cx="1295400" cy="336550"/>
          </a:xfrm>
          <a:prstGeom prst="rect">
            <a:avLst/>
          </a:prstGeom>
          <a:noFill/>
          <a:ln w="9525">
            <a:noFill/>
            <a:miter lim="800000"/>
            <a:headEnd/>
            <a:tailEnd/>
          </a:ln>
          <a:effectLst/>
        </p:spPr>
        <p:txBody>
          <a:bodyPr>
            <a:spAutoFit/>
          </a:bodyPr>
          <a:lstStyle/>
          <a:p>
            <a:pPr>
              <a:spcBef>
                <a:spcPct val="50000"/>
              </a:spcBef>
            </a:pPr>
            <a:r>
              <a:rPr lang="en-GB" sz="1600" b="1">
                <a:latin typeface="Times New Roman" charset="0"/>
              </a:rPr>
              <a:t>chap2.html</a:t>
            </a:r>
          </a:p>
        </p:txBody>
      </p:sp>
      <p:sp>
        <p:nvSpPr>
          <p:cNvPr id="165901" name="Line 13"/>
          <p:cNvSpPr>
            <a:spLocks noChangeShapeType="1"/>
          </p:cNvSpPr>
          <p:nvPr/>
        </p:nvSpPr>
        <p:spPr bwMode="auto">
          <a:xfrm flipH="1" flipV="1">
            <a:off x="2133600" y="5410200"/>
            <a:ext cx="990600" cy="0"/>
          </a:xfrm>
          <a:prstGeom prst="line">
            <a:avLst/>
          </a:prstGeom>
          <a:noFill/>
          <a:ln w="9525">
            <a:solidFill>
              <a:schemeClr val="tx1"/>
            </a:solidFill>
            <a:round/>
            <a:headEnd/>
            <a:tailEnd type="triangle" w="lg" len="lg"/>
          </a:ln>
          <a:effectLst/>
        </p:spPr>
        <p:txBody>
          <a:bodyPr/>
          <a:lstStyle/>
          <a:p>
            <a:endParaRPr lang="en-US"/>
          </a:p>
        </p:txBody>
      </p:sp>
      <p:sp>
        <p:nvSpPr>
          <p:cNvPr id="165902" name="Line 14"/>
          <p:cNvSpPr>
            <a:spLocks noChangeShapeType="1"/>
          </p:cNvSpPr>
          <p:nvPr/>
        </p:nvSpPr>
        <p:spPr bwMode="auto">
          <a:xfrm>
            <a:off x="4419600" y="4267200"/>
            <a:ext cx="914400" cy="0"/>
          </a:xfrm>
          <a:prstGeom prst="line">
            <a:avLst/>
          </a:prstGeom>
          <a:noFill/>
          <a:ln w="9525">
            <a:solidFill>
              <a:schemeClr val="tx1"/>
            </a:solidFill>
            <a:round/>
            <a:headEnd/>
            <a:tailEnd type="triangle" w="lg" len="lg"/>
          </a:ln>
          <a:effectLst/>
        </p:spPr>
        <p:txBody>
          <a:bodyPr/>
          <a:lstStyle/>
          <a:p>
            <a:endParaRPr lang="en-US"/>
          </a:p>
        </p:txBody>
      </p:sp>
      <p:sp>
        <p:nvSpPr>
          <p:cNvPr id="165903" name="Rectangle 15"/>
          <p:cNvSpPr>
            <a:spLocks noChangeArrowheads="1"/>
          </p:cNvSpPr>
          <p:nvPr/>
        </p:nvSpPr>
        <p:spPr bwMode="auto">
          <a:xfrm>
            <a:off x="533400" y="3886200"/>
            <a:ext cx="2514600" cy="2286000"/>
          </a:xfrm>
          <a:prstGeom prst="rect">
            <a:avLst/>
          </a:prstGeom>
          <a:noFill/>
          <a:ln w="9525">
            <a:solidFill>
              <a:schemeClr val="tx1"/>
            </a:solidFill>
            <a:miter lim="800000"/>
            <a:headEnd/>
            <a:tailEnd type="none" w="lg" len="lg"/>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5"/>
          <p:cNvSpPr>
            <a:spLocks noGrp="1"/>
          </p:cNvSpPr>
          <p:nvPr>
            <p:ph type="sldNum" sz="quarter" idx="12"/>
          </p:nvPr>
        </p:nvSpPr>
        <p:spPr/>
        <p:txBody>
          <a:bodyPr/>
          <a:lstStyle/>
          <a:p>
            <a:fld id="{E2278F67-AC3B-4761-91E0-7FDC69317C57}" type="slidenum">
              <a:rPr lang="ar-SA"/>
              <a:pPr/>
              <a:t>47</a:t>
            </a:fld>
            <a:endParaRPr lang="en-US"/>
          </a:p>
        </p:txBody>
      </p:sp>
      <p:sp>
        <p:nvSpPr>
          <p:cNvPr id="164868" name="Rectangle 4"/>
          <p:cNvSpPr>
            <a:spLocks noChangeArrowheads="1"/>
          </p:cNvSpPr>
          <p:nvPr/>
        </p:nvSpPr>
        <p:spPr bwMode="auto">
          <a:xfrm>
            <a:off x="685800" y="304800"/>
            <a:ext cx="7772400" cy="1143000"/>
          </a:xfrm>
          <a:prstGeom prst="rect">
            <a:avLst/>
          </a:prstGeom>
          <a:noFill/>
          <a:ln w="9525">
            <a:noFill/>
            <a:miter lim="800000"/>
            <a:headEnd/>
            <a:tailEnd/>
          </a:ln>
          <a:effectLst/>
        </p:spPr>
        <p:txBody>
          <a:bodyPr anchor="ctr">
            <a:flatTx/>
          </a:bodyPr>
          <a:lstStyle/>
          <a:p>
            <a:pPr algn="ctr"/>
            <a:r>
              <a:rPr lang="en-GB" sz="3200">
                <a:solidFill>
                  <a:srgbClr val="C00000"/>
                </a:solidFill>
              </a:rPr>
              <a:t>Targeting links to frames</a:t>
            </a:r>
          </a:p>
        </p:txBody>
      </p:sp>
      <p:sp>
        <p:nvSpPr>
          <p:cNvPr id="164869" name="Rectangle 5"/>
          <p:cNvSpPr>
            <a:spLocks noChangeArrowheads="1"/>
          </p:cNvSpPr>
          <p:nvPr/>
        </p:nvSpPr>
        <p:spPr bwMode="auto">
          <a:xfrm>
            <a:off x="533400" y="1752600"/>
            <a:ext cx="8229600" cy="4724400"/>
          </a:xfrm>
          <a:prstGeom prst="rect">
            <a:avLst/>
          </a:prstGeom>
          <a:noFill/>
          <a:ln w="9525">
            <a:noFill/>
            <a:miter lim="800000"/>
            <a:headEnd/>
            <a:tailEnd/>
          </a:ln>
          <a:effectLst/>
        </p:spPr>
        <p:txBody>
          <a:bodyPr/>
          <a:lstStyle/>
          <a:p>
            <a:r>
              <a:rPr lang="en-GB" sz="2000"/>
              <a:t>The TARGET attribute allows you to specify the frame into which a page is to be loaded into in a frames setting.</a:t>
            </a:r>
          </a:p>
          <a:p>
            <a:endParaRPr lang="en-GB" sz="2000"/>
          </a:p>
          <a:p>
            <a:r>
              <a:rPr lang="en-GB" sz="2000"/>
              <a:t>&lt;A HREF=“chap1.html” TARGET=“bottom”&gt; [Chapter 1]&lt;/A&gt;</a:t>
            </a:r>
          </a:p>
          <a:p>
            <a:r>
              <a:rPr lang="en-GB" sz="2000"/>
              <a:t>&lt;A HREF=“chap2.html” TARGET=“bottom”&gt; [Chapter 2]&lt;/A&gt;</a:t>
            </a:r>
          </a:p>
          <a:p>
            <a:r>
              <a:rPr lang="en-GB" sz="2000"/>
              <a:t>&lt;A HREF=“chap3.html” TARGET=“bottom”&gt; [Chapter 3]&lt;/A&gt;</a:t>
            </a:r>
          </a:p>
          <a:p>
            <a:endParaRPr lang="en-GB" sz="2000"/>
          </a:p>
          <a:p>
            <a:endParaRPr lang="en-GB" sz="2000"/>
          </a:p>
          <a:p>
            <a:endParaRPr lang="en-GB" sz="2000"/>
          </a:p>
        </p:txBody>
      </p:sp>
      <p:grpSp>
        <p:nvGrpSpPr>
          <p:cNvPr id="2" name="Group 6"/>
          <p:cNvGrpSpPr>
            <a:grpSpLocks/>
          </p:cNvGrpSpPr>
          <p:nvPr/>
        </p:nvGrpSpPr>
        <p:grpSpPr bwMode="auto">
          <a:xfrm>
            <a:off x="4572000" y="3886200"/>
            <a:ext cx="3352800" cy="2438400"/>
            <a:chOff x="2880" y="2448"/>
            <a:chExt cx="2112" cy="1536"/>
          </a:xfrm>
        </p:grpSpPr>
        <p:sp>
          <p:nvSpPr>
            <p:cNvPr id="164871" name="Text Box 7"/>
            <p:cNvSpPr txBox="1">
              <a:spLocks noChangeArrowheads="1"/>
            </p:cNvSpPr>
            <p:nvPr/>
          </p:nvSpPr>
          <p:spPr bwMode="auto">
            <a:xfrm>
              <a:off x="2928" y="2592"/>
              <a:ext cx="2064" cy="462"/>
            </a:xfrm>
            <a:prstGeom prst="rect">
              <a:avLst/>
            </a:prstGeom>
            <a:noFill/>
            <a:ln w="9525">
              <a:noFill/>
              <a:miter lim="800000"/>
              <a:headEnd/>
              <a:tailEnd/>
            </a:ln>
            <a:effectLst/>
          </p:spPr>
          <p:txBody>
            <a:bodyPr>
              <a:spAutoFit/>
            </a:bodyPr>
            <a:lstStyle/>
            <a:p>
              <a:pPr algn="ctr">
                <a:spcBef>
                  <a:spcPct val="50000"/>
                </a:spcBef>
              </a:pPr>
              <a:r>
                <a:rPr lang="en-GB" b="1"/>
                <a:t>Learning HTML</a:t>
              </a:r>
            </a:p>
            <a:p>
              <a:pPr algn="ctr">
                <a:spcBef>
                  <a:spcPct val="50000"/>
                </a:spcBef>
              </a:pPr>
              <a:r>
                <a:rPr lang="en-GB" sz="1600"/>
                <a:t>[Chapter 1][Chapter 2][Chapter 3]</a:t>
              </a:r>
            </a:p>
          </p:txBody>
        </p:sp>
        <p:grpSp>
          <p:nvGrpSpPr>
            <p:cNvPr id="3" name="Group 8"/>
            <p:cNvGrpSpPr>
              <a:grpSpLocks/>
            </p:cNvGrpSpPr>
            <p:nvPr/>
          </p:nvGrpSpPr>
          <p:grpSpPr bwMode="auto">
            <a:xfrm>
              <a:off x="2880" y="2448"/>
              <a:ext cx="2112" cy="1536"/>
              <a:chOff x="2880" y="2448"/>
              <a:chExt cx="2112" cy="1536"/>
            </a:xfrm>
          </p:grpSpPr>
          <p:sp>
            <p:nvSpPr>
              <p:cNvPr id="164873" name="Rectangle 9"/>
              <p:cNvSpPr>
                <a:spLocks noChangeArrowheads="1"/>
              </p:cNvSpPr>
              <p:nvPr/>
            </p:nvSpPr>
            <p:spPr bwMode="auto">
              <a:xfrm>
                <a:off x="2880" y="2448"/>
                <a:ext cx="2112" cy="1536"/>
              </a:xfrm>
              <a:prstGeom prst="rect">
                <a:avLst/>
              </a:prstGeom>
              <a:noFill/>
              <a:ln w="9525">
                <a:solidFill>
                  <a:schemeClr val="tx1"/>
                </a:solidFill>
                <a:miter lim="800000"/>
                <a:headEnd/>
                <a:tailEnd/>
              </a:ln>
              <a:effectLst/>
            </p:spPr>
            <p:txBody>
              <a:bodyPr wrap="none" anchor="ctr"/>
              <a:lstStyle/>
              <a:p>
                <a:endParaRPr lang="en-US"/>
              </a:p>
            </p:txBody>
          </p:sp>
          <p:sp>
            <p:nvSpPr>
              <p:cNvPr id="164874" name="Line 10"/>
              <p:cNvSpPr>
                <a:spLocks noChangeShapeType="1"/>
              </p:cNvSpPr>
              <p:nvPr/>
            </p:nvSpPr>
            <p:spPr bwMode="auto">
              <a:xfrm>
                <a:off x="2880" y="3120"/>
                <a:ext cx="2112" cy="0"/>
              </a:xfrm>
              <a:prstGeom prst="line">
                <a:avLst/>
              </a:prstGeom>
              <a:noFill/>
              <a:ln w="9525">
                <a:solidFill>
                  <a:schemeClr val="tx1"/>
                </a:solidFill>
                <a:round/>
                <a:headEnd/>
                <a:tailEnd/>
              </a:ln>
              <a:effectLst/>
            </p:spPr>
            <p:txBody>
              <a:bodyPr/>
              <a:lstStyle/>
              <a:p>
                <a:endParaRPr lang="en-US"/>
              </a:p>
            </p:txBody>
          </p:sp>
        </p:grpSp>
      </p:grpSp>
      <p:sp>
        <p:nvSpPr>
          <p:cNvPr id="164875" name="Text Box 11"/>
          <p:cNvSpPr txBox="1">
            <a:spLocks noChangeArrowheads="1"/>
          </p:cNvSpPr>
          <p:nvPr/>
        </p:nvSpPr>
        <p:spPr bwMode="auto">
          <a:xfrm>
            <a:off x="1600200" y="4114800"/>
            <a:ext cx="1295400" cy="336550"/>
          </a:xfrm>
          <a:prstGeom prst="rect">
            <a:avLst/>
          </a:prstGeom>
          <a:noFill/>
          <a:ln w="9525">
            <a:noFill/>
            <a:miter lim="800000"/>
            <a:headEnd/>
            <a:tailEnd/>
          </a:ln>
          <a:effectLst/>
        </p:spPr>
        <p:txBody>
          <a:bodyPr>
            <a:spAutoFit/>
          </a:bodyPr>
          <a:lstStyle/>
          <a:p>
            <a:pPr>
              <a:spcBef>
                <a:spcPct val="50000"/>
              </a:spcBef>
            </a:pPr>
            <a:r>
              <a:rPr lang="en-GB" sz="1600" b="1">
                <a:latin typeface="Times New Roman" charset="0"/>
              </a:rPr>
              <a:t>chap1.html</a:t>
            </a:r>
          </a:p>
        </p:txBody>
      </p:sp>
      <p:sp>
        <p:nvSpPr>
          <p:cNvPr id="164876" name="Text Box 12"/>
          <p:cNvSpPr txBox="1">
            <a:spLocks noChangeArrowheads="1"/>
          </p:cNvSpPr>
          <p:nvPr/>
        </p:nvSpPr>
        <p:spPr bwMode="auto">
          <a:xfrm>
            <a:off x="1600200" y="4921250"/>
            <a:ext cx="1295400" cy="336550"/>
          </a:xfrm>
          <a:prstGeom prst="rect">
            <a:avLst/>
          </a:prstGeom>
          <a:noFill/>
          <a:ln w="9525">
            <a:noFill/>
            <a:miter lim="800000"/>
            <a:headEnd/>
            <a:tailEnd/>
          </a:ln>
          <a:effectLst/>
        </p:spPr>
        <p:txBody>
          <a:bodyPr>
            <a:spAutoFit/>
          </a:bodyPr>
          <a:lstStyle/>
          <a:p>
            <a:pPr>
              <a:spcBef>
                <a:spcPct val="50000"/>
              </a:spcBef>
            </a:pPr>
            <a:r>
              <a:rPr lang="en-GB" sz="1600" b="1">
                <a:latin typeface="Times New Roman" charset="0"/>
              </a:rPr>
              <a:t>chap2.html</a:t>
            </a:r>
          </a:p>
        </p:txBody>
      </p:sp>
      <p:sp>
        <p:nvSpPr>
          <p:cNvPr id="164877" name="Text Box 13"/>
          <p:cNvSpPr txBox="1">
            <a:spLocks noChangeArrowheads="1"/>
          </p:cNvSpPr>
          <p:nvPr/>
        </p:nvSpPr>
        <p:spPr bwMode="auto">
          <a:xfrm>
            <a:off x="1600200" y="5683250"/>
            <a:ext cx="1295400" cy="336550"/>
          </a:xfrm>
          <a:prstGeom prst="rect">
            <a:avLst/>
          </a:prstGeom>
          <a:noFill/>
          <a:ln w="9525">
            <a:noFill/>
            <a:miter lim="800000"/>
            <a:headEnd/>
            <a:tailEnd/>
          </a:ln>
          <a:effectLst/>
        </p:spPr>
        <p:txBody>
          <a:bodyPr>
            <a:spAutoFit/>
          </a:bodyPr>
          <a:lstStyle/>
          <a:p>
            <a:pPr>
              <a:spcBef>
                <a:spcPct val="50000"/>
              </a:spcBef>
            </a:pPr>
            <a:r>
              <a:rPr lang="en-GB" sz="1600" b="1">
                <a:latin typeface="Times New Roman" charset="0"/>
              </a:rPr>
              <a:t>chap3.html</a:t>
            </a:r>
          </a:p>
        </p:txBody>
      </p:sp>
      <p:sp>
        <p:nvSpPr>
          <p:cNvPr id="164878" name="Line 14"/>
          <p:cNvSpPr>
            <a:spLocks noChangeShapeType="1"/>
          </p:cNvSpPr>
          <p:nvPr/>
        </p:nvSpPr>
        <p:spPr bwMode="auto">
          <a:xfrm>
            <a:off x="2743200" y="4343400"/>
            <a:ext cx="2819400" cy="990600"/>
          </a:xfrm>
          <a:prstGeom prst="line">
            <a:avLst/>
          </a:prstGeom>
          <a:noFill/>
          <a:ln w="9525">
            <a:solidFill>
              <a:schemeClr val="tx1"/>
            </a:solidFill>
            <a:round/>
            <a:headEnd/>
            <a:tailEnd type="triangle" w="lg" len="lg"/>
          </a:ln>
          <a:effectLst/>
        </p:spPr>
        <p:txBody>
          <a:bodyPr/>
          <a:lstStyle/>
          <a:p>
            <a:endParaRPr lang="en-US"/>
          </a:p>
        </p:txBody>
      </p:sp>
      <p:sp>
        <p:nvSpPr>
          <p:cNvPr id="164879" name="Line 15"/>
          <p:cNvSpPr>
            <a:spLocks noChangeShapeType="1"/>
          </p:cNvSpPr>
          <p:nvPr/>
        </p:nvSpPr>
        <p:spPr bwMode="auto">
          <a:xfrm>
            <a:off x="2817813" y="5105400"/>
            <a:ext cx="2667000" cy="381000"/>
          </a:xfrm>
          <a:prstGeom prst="line">
            <a:avLst/>
          </a:prstGeom>
          <a:noFill/>
          <a:ln w="9525">
            <a:solidFill>
              <a:schemeClr val="tx1"/>
            </a:solidFill>
            <a:round/>
            <a:headEnd/>
            <a:tailEnd type="triangle" w="lg" len="lg"/>
          </a:ln>
          <a:effectLst/>
        </p:spPr>
        <p:txBody>
          <a:bodyPr/>
          <a:lstStyle/>
          <a:p>
            <a:endParaRPr lang="en-US"/>
          </a:p>
        </p:txBody>
      </p:sp>
      <p:sp>
        <p:nvSpPr>
          <p:cNvPr id="164880" name="Line 16"/>
          <p:cNvSpPr>
            <a:spLocks noChangeShapeType="1"/>
          </p:cNvSpPr>
          <p:nvPr/>
        </p:nvSpPr>
        <p:spPr bwMode="auto">
          <a:xfrm flipV="1">
            <a:off x="2895600" y="5715000"/>
            <a:ext cx="2514600" cy="152400"/>
          </a:xfrm>
          <a:prstGeom prst="line">
            <a:avLst/>
          </a:prstGeom>
          <a:noFill/>
          <a:ln w="9525">
            <a:solidFill>
              <a:schemeClr val="tx1"/>
            </a:solidFill>
            <a:round/>
            <a:headEnd/>
            <a:tailEnd type="triangle" w="lg" len="lg"/>
          </a:ln>
          <a:effectLst/>
        </p:spPr>
        <p:txBody>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431</TotalTime>
  <Words>2419</Words>
  <Application>Microsoft Office PowerPoint</Application>
  <PresentationFormat>On-screen Show (4:3)</PresentationFormat>
  <Paragraphs>371</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Monotype Sorts</vt:lpstr>
      <vt:lpstr>Times New Roman</vt:lpstr>
      <vt:lpstr>Wingdings</vt:lpstr>
      <vt:lpstr>HNDIT</vt:lpstr>
      <vt:lpstr>HNDIT11062 –  Web Development</vt:lpstr>
      <vt:lpstr>Tables</vt:lpstr>
      <vt:lpstr>Tables </vt:lpstr>
      <vt:lpstr>Tables</vt:lpstr>
      <vt:lpstr>Tables</vt:lpstr>
      <vt:lpstr>Tables Attributes</vt:lpstr>
      <vt:lpstr>Table Attributes</vt:lpstr>
      <vt:lpstr>Table Caption</vt:lpstr>
      <vt:lpstr>Table Header</vt:lpstr>
      <vt:lpstr>Table Data and Table Header Attributes</vt:lpstr>
      <vt:lpstr>Basic Table Code</vt:lpstr>
      <vt:lpstr>Table Data and Table Header Attributes</vt:lpstr>
      <vt:lpstr>Table Data and Table Header Attributes</vt:lpstr>
      <vt:lpstr> Special Things to Note </vt:lpstr>
      <vt:lpstr>What will be the output?</vt:lpstr>
      <vt:lpstr>The Output</vt:lpstr>
      <vt:lpstr>Frames</vt:lpstr>
      <vt:lpstr>Frames</vt:lpstr>
      <vt:lpstr>Frames</vt:lpstr>
      <vt:lpstr>Frame Page Architecture</vt:lpstr>
      <vt:lpstr>Frame Page Architecture</vt:lpstr>
      <vt:lpstr>The Diagram below is a graphical view of the document described above</vt:lpstr>
      <vt:lpstr>&lt;FRAMESET&gt; Container </vt:lpstr>
      <vt:lpstr>Creating a Frames Page</vt:lpstr>
      <vt:lpstr>Creating a Frames Page</vt:lpstr>
      <vt:lpstr>&lt;FRAME&gt;</vt:lpstr>
      <vt:lpstr>&lt;FRAME&gt;</vt:lpstr>
      <vt:lpstr>&lt;FRAME&gt;</vt:lpstr>
      <vt:lpstr>&lt;NOFRAMES&gt;</vt:lpstr>
      <vt:lpstr>&lt;NOFRAMES&gt;</vt:lpstr>
      <vt:lpstr>Compound FRAMESET Divisions</vt:lpstr>
      <vt:lpstr>Compound FRAMESET Divisions</vt:lpstr>
      <vt:lpstr>Compound FRAMESET Divisions You may want to create a frames design with a combination of rows and columns.</vt:lpstr>
      <vt:lpstr>Compound FRAMESET Divisions  Example</vt:lpstr>
      <vt:lpstr>Output</vt:lpstr>
      <vt:lpstr>PowerPoint Presentation</vt:lpstr>
      <vt:lpstr>PowerPoint Presentation</vt:lpstr>
      <vt:lpstr>PowerPoint Presentation</vt:lpstr>
      <vt:lpstr>PowerPoint Presentation</vt:lpstr>
      <vt:lpstr>What do the following mean? </vt:lpstr>
      <vt:lpstr>Generic Frame Formula  </vt:lpstr>
      <vt:lpstr>What will be the Output?</vt:lpstr>
      <vt:lpstr>Targets</vt:lpstr>
      <vt:lpstr>Special Targets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Acer</cp:lastModifiedBy>
  <cp:revision>33</cp:revision>
  <dcterms:created xsi:type="dcterms:W3CDTF">2013-10-16T01:16:09Z</dcterms:created>
  <dcterms:modified xsi:type="dcterms:W3CDTF">2014-05-26T08:58:12Z</dcterms:modified>
</cp:coreProperties>
</file>