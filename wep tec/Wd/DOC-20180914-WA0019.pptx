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8C7A03-74B6-4D9A-AB63-61FD83B71234}" type="datetimeFigureOut">
              <a:rPr lang="en-US" smtClean="0"/>
              <a:t>3/11/2014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7CCFA-65AD-4A4A-B785-69AF299F52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696D0B9-D8C3-4952-9491-57D0B12E7C6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A71DD-D0EC-4926-8ED6-19B5D40D3F29}" type="datetimeFigureOut">
              <a:rPr lang="en-US" smtClean="0"/>
              <a:pPr/>
              <a:t>3/11/2014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34B05-3558-49CA-9E94-A70F1820A0B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link" TargetMode="External"/><Relationship Id="rId2" Type="http://schemas.openxmlformats.org/officeDocument/2006/relationships/hyperlink" Target="http://en.wikipedia.org/wiki/Web_browser" TargetMode="Externa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Terms.html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ltavista.com/" TargetMode="External"/><Relationship Id="rId3" Type="http://schemas.openxmlformats.org/officeDocument/2006/relationships/hyperlink" Target="http://www.excite.com/" TargetMode="External"/><Relationship Id="rId7" Type="http://schemas.openxmlformats.org/officeDocument/2006/relationships/hyperlink" Target="http://www.goto.com/" TargetMode="External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ww.webcrawler.com/" TargetMode="External"/><Relationship Id="rId5" Type="http://schemas.openxmlformats.org/officeDocument/2006/relationships/hyperlink" Target="http://www.infoseek.com/" TargetMode="External"/><Relationship Id="rId4" Type="http://schemas.openxmlformats.org/officeDocument/2006/relationships/hyperlink" Target="http://www.lycos.com/" TargetMode="External"/><Relationship Id="rId9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en.wikipedia.org/wiki/File:First_Web_Server.jpg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Week </a:t>
            </a:r>
            <a:r>
              <a:rPr lang="en-US" dirty="0" smtClean="0"/>
              <a:t>2: Internet Basics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4267200" cy="198119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HNDIT11062 –  Web Development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6963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05000"/>
            <a:ext cx="8229600" cy="4221163"/>
          </a:xfrm>
        </p:spPr>
        <p:txBody>
          <a:bodyPr>
            <a:normAutofit/>
          </a:bodyPr>
          <a:lstStyle/>
          <a:p>
            <a:pPr lvl="2" eaLnBrk="0" hangingPunct="0">
              <a:spcBef>
                <a:spcPts val="1200"/>
              </a:spcBef>
              <a:spcAft>
                <a:spcPts val="300"/>
              </a:spcAft>
              <a:buFontTx/>
              <a:buChar char="•"/>
            </a:pPr>
            <a:r>
              <a:rPr lang="en-US" altLang="zh-TW" sz="3600" dirty="0" smtClean="0">
                <a:ea typeface="新細明體" pitchFamily="18" charset="-120"/>
              </a:rPr>
              <a:t>The </a:t>
            </a:r>
            <a:r>
              <a:rPr lang="en-US" altLang="zh-TW" sz="3600" dirty="0" smtClean="0">
                <a:ea typeface="新細明體" pitchFamily="18" charset="-120"/>
              </a:rPr>
              <a:t>Internet: Then and Now </a:t>
            </a:r>
          </a:p>
          <a:p>
            <a:pPr lvl="2" eaLnBrk="0" hangingPunct="0">
              <a:spcBef>
                <a:spcPts val="1200"/>
              </a:spcBef>
              <a:spcAft>
                <a:spcPts val="300"/>
              </a:spcAft>
              <a:buFontTx/>
              <a:buChar char="•"/>
            </a:pPr>
            <a:r>
              <a:rPr lang="en-US" altLang="zh-TW" sz="3600" dirty="0" smtClean="0">
                <a:ea typeface="新細明體" pitchFamily="18" charset="-120"/>
              </a:rPr>
              <a:t> How </a:t>
            </a:r>
            <a:r>
              <a:rPr lang="en-US" altLang="zh-TW" sz="3600" dirty="0" smtClean="0">
                <a:ea typeface="新細明體" pitchFamily="18" charset="-120"/>
              </a:rPr>
              <a:t>Internet </a:t>
            </a:r>
            <a:r>
              <a:rPr lang="en-US" altLang="zh-TW" sz="3600" dirty="0" smtClean="0">
                <a:ea typeface="新細明體" pitchFamily="18" charset="-120"/>
              </a:rPr>
              <a:t>Works </a:t>
            </a:r>
          </a:p>
          <a:p>
            <a:pPr lvl="2" eaLnBrk="0" hangingPunct="0">
              <a:spcBef>
                <a:spcPts val="1200"/>
              </a:spcBef>
              <a:spcAft>
                <a:spcPts val="300"/>
              </a:spcAft>
              <a:buFontTx/>
              <a:buChar char="•"/>
            </a:pPr>
            <a:r>
              <a:rPr lang="en-US" altLang="zh-TW" sz="3600" dirty="0" smtClean="0">
                <a:ea typeface="新細明體" pitchFamily="18" charset="-120"/>
              </a:rPr>
              <a:t> Major Features of the Internet </a:t>
            </a:r>
          </a:p>
          <a:p>
            <a:pPr lvl="2" eaLnBrk="0" hangingPunct="0">
              <a:spcBef>
                <a:spcPts val="1200"/>
              </a:spcBef>
              <a:spcAft>
                <a:spcPts val="300"/>
              </a:spcAft>
              <a:buFontTx/>
              <a:buChar char="•"/>
            </a:pPr>
            <a:r>
              <a:rPr lang="en-US" altLang="zh-TW" sz="3600" i="1" dirty="0" smtClean="0">
                <a:ea typeface="新細明體" pitchFamily="18" charset="-120"/>
              </a:rPr>
              <a:t> </a:t>
            </a:r>
            <a:r>
              <a:rPr lang="en-US" altLang="zh-TW" sz="3600" dirty="0" smtClean="0">
                <a:ea typeface="新細明體" pitchFamily="18" charset="-120"/>
              </a:rPr>
              <a:t>Online Services </a:t>
            </a:r>
          </a:p>
          <a:p>
            <a:endParaRPr lang="en-US" sz="4800" dirty="0" smtClean="0"/>
          </a:p>
        </p:txBody>
      </p:sp>
    </p:spTree>
    <p:extLst>
      <p:ext uri="{BB962C8B-B14F-4D97-AF65-F5344CB8AC3E}">
        <p14:creationId xmlns:p14="http://schemas.microsoft.com/office/powerpoint/2010/main" xmlns="" val="32225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1219200"/>
            <a:ext cx="8991600" cy="5078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76176" rIns="0" bIns="76176">
            <a:spAutoFit/>
          </a:bodyPr>
          <a:lstStyle/>
          <a:p>
            <a:pPr marL="1379538" indent="-465138" defTabSz="169863">
              <a:buFontTx/>
              <a:buChar char="•"/>
            </a:pPr>
            <a:r>
              <a:rPr lang="en-US" altLang="zh-TW" sz="2000" dirty="0">
                <a:ea typeface="新細明體" pitchFamily="18" charset="-120"/>
              </a:rPr>
              <a:t>The Internet was created by the Advanced Research Projects Agency (ARPA) and the U.S. Department of </a:t>
            </a:r>
            <a:r>
              <a:rPr lang="en-US" altLang="zh-TW" sz="2000" dirty="0" smtClean="0">
                <a:ea typeface="新細明體" pitchFamily="18" charset="-120"/>
              </a:rPr>
              <a:t>Defense (DOD) </a:t>
            </a:r>
            <a:r>
              <a:rPr lang="en-US" altLang="zh-TW" sz="2000" dirty="0">
                <a:ea typeface="新細明體" pitchFamily="18" charset="-120"/>
              </a:rPr>
              <a:t>for scientific and military communications</a:t>
            </a:r>
            <a:r>
              <a:rPr lang="en-US" altLang="zh-TW" sz="2000" dirty="0" smtClean="0">
                <a:ea typeface="新細明體" pitchFamily="18" charset="-120"/>
              </a:rPr>
              <a:t>.</a:t>
            </a:r>
          </a:p>
          <a:p>
            <a:pPr marL="1379538" indent="-465138" defTabSz="169863">
              <a:buFontTx/>
              <a:buChar char="•"/>
            </a:pPr>
            <a:endParaRPr lang="en-US" altLang="zh-TW" sz="2000" dirty="0">
              <a:ea typeface="新細明體" pitchFamily="18" charset="-120"/>
            </a:endParaRPr>
          </a:p>
          <a:p>
            <a:pPr marL="1379538" indent="-465138" defTabSz="169863">
              <a:buFontTx/>
              <a:buChar char="•"/>
            </a:pPr>
            <a:r>
              <a:rPr lang="en-US" altLang="zh-TW" sz="2000" dirty="0">
                <a:ea typeface="新細明體" pitchFamily="18" charset="-120"/>
              </a:rPr>
              <a:t>The Internet is a network of interconnected networks. Even if part of its infrastructure was destroyed, data could flow through the remaining networks</a:t>
            </a:r>
            <a:r>
              <a:rPr lang="en-US" altLang="zh-TW" sz="2000" dirty="0" smtClean="0">
                <a:ea typeface="新細明體" pitchFamily="18" charset="-120"/>
              </a:rPr>
              <a:t>.</a:t>
            </a:r>
          </a:p>
          <a:p>
            <a:pPr marL="1379538" indent="-465138" defTabSz="169863">
              <a:buFontTx/>
              <a:buChar char="•"/>
            </a:pPr>
            <a:endParaRPr lang="en-US" altLang="zh-TW" sz="2000" dirty="0">
              <a:ea typeface="新細明體" pitchFamily="18" charset="-120"/>
            </a:endParaRPr>
          </a:p>
          <a:p>
            <a:pPr marL="1379538" indent="-465138" defTabSz="169863" eaLnBrk="0" hangingPunct="0">
              <a:buFontTx/>
              <a:buChar char="•"/>
            </a:pPr>
            <a:r>
              <a:rPr lang="en-US" altLang="zh-TW" sz="2000" dirty="0">
                <a:ea typeface="新細明體" pitchFamily="18" charset="-120"/>
              </a:rPr>
              <a:t>The Internet uses high-speed data lines, called backbones, to carry data.  Smaller networks connect to the backbone, enabling any user on any network to exchange data with any other user</a:t>
            </a:r>
            <a:r>
              <a:rPr lang="en-US" altLang="zh-TW" sz="2000" dirty="0" smtClean="0">
                <a:ea typeface="新細明體" pitchFamily="18" charset="-120"/>
              </a:rPr>
              <a:t>.</a:t>
            </a:r>
          </a:p>
          <a:p>
            <a:pPr marL="1379538" indent="-465138" defTabSz="169863" eaLnBrk="0" hangingPunct="0">
              <a:buFontTx/>
              <a:buChar char="•"/>
            </a:pPr>
            <a:endParaRPr lang="en-US" altLang="zh-TW" sz="2000" dirty="0">
              <a:ea typeface="新細明體" pitchFamily="18" charset="-120"/>
            </a:endParaRPr>
          </a:p>
          <a:p>
            <a:pPr marL="1379538" indent="-465138" defTabSz="169863" eaLnBrk="0" hangingPunct="0">
              <a:buFontTx/>
              <a:buChar char="•"/>
            </a:pPr>
            <a:r>
              <a:rPr lang="en-US" altLang="zh-TW" sz="2000" dirty="0">
                <a:ea typeface="新細明體" pitchFamily="18" charset="-120"/>
              </a:rPr>
              <a:t>ARPANET, </a:t>
            </a:r>
            <a:r>
              <a:rPr lang="en-US" altLang="zh-TW" sz="2000" dirty="0" err="1">
                <a:ea typeface="新細明體" pitchFamily="18" charset="-120"/>
              </a:rPr>
              <a:t>NSFnet</a:t>
            </a:r>
            <a:r>
              <a:rPr lang="en-US" altLang="zh-TW" sz="2000" dirty="0">
                <a:ea typeface="新細明體" pitchFamily="18" charset="-120"/>
              </a:rPr>
              <a:t>, </a:t>
            </a:r>
            <a:r>
              <a:rPr lang="en-US" altLang="zh-TW" sz="2000" dirty="0" smtClean="0">
                <a:ea typeface="新細明體" pitchFamily="18" charset="-120"/>
              </a:rPr>
              <a:t>Internet</a:t>
            </a:r>
          </a:p>
          <a:p>
            <a:pPr marL="1379538" indent="-465138" defTabSz="169863" eaLnBrk="0" hangingPunct="0">
              <a:buFontTx/>
              <a:buChar char="•"/>
            </a:pPr>
            <a:endParaRPr lang="en-US" altLang="zh-TW" sz="2000" dirty="0">
              <a:ea typeface="新細明體" pitchFamily="18" charset="-120"/>
            </a:endParaRPr>
          </a:p>
          <a:p>
            <a:pPr marL="1379538" indent="-465138" defTabSz="169863" eaLnBrk="0" hangingPunct="0">
              <a:buFontTx/>
              <a:buChar char="•"/>
            </a:pPr>
            <a:r>
              <a:rPr lang="en-US" altLang="zh-TW" sz="2000" b="1" i="1" dirty="0" smtClean="0">
                <a:ea typeface="新細明體" pitchFamily="18" charset="-120"/>
              </a:rPr>
              <a:t>Internetworking</a:t>
            </a:r>
            <a:r>
              <a:rPr lang="en-US" altLang="zh-TW" sz="2000" i="1" dirty="0" smtClean="0">
                <a:ea typeface="新細明體" pitchFamily="18" charset="-120"/>
              </a:rPr>
              <a:t> :</a:t>
            </a:r>
            <a:r>
              <a:rPr lang="en-US" altLang="zh-TW" sz="2000" dirty="0" smtClean="0">
                <a:ea typeface="新細明體" pitchFamily="18" charset="-120"/>
              </a:rPr>
              <a:t>   the </a:t>
            </a:r>
            <a:r>
              <a:rPr lang="en-US" altLang="zh-TW" sz="2000" dirty="0">
                <a:ea typeface="新細明體" pitchFamily="18" charset="-120"/>
              </a:rPr>
              <a:t>process of connecting separate </a:t>
            </a:r>
            <a:r>
              <a:rPr lang="en-US" altLang="zh-TW" sz="2000" dirty="0" smtClean="0">
                <a:ea typeface="新細明體" pitchFamily="18" charset="-120"/>
              </a:rPr>
              <a:t>		 	 								               networks</a:t>
            </a:r>
            <a:endParaRPr lang="en-US" altLang="zh-TW" sz="2000" dirty="0">
              <a:ea typeface="新細明體" pitchFamily="18" charset="-120"/>
            </a:endParaRP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0" y="3338513"/>
            <a:ext cx="91440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-228600" y="457200"/>
            <a:ext cx="914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 lvl="2"/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The Internet: Then and Now </a:t>
            </a:r>
          </a:p>
        </p:txBody>
      </p:sp>
    </p:spTree>
  </p:cSld>
  <p:clrMapOvr>
    <a:masterClrMapping/>
  </p:clrMapOvr>
  <p:transition spd="slow">
    <p:cover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19-1"/>
          <p:cNvPicPr>
            <a:picLocks noChangeAspect="1" noChangeArrowheads="1"/>
          </p:cNvPicPr>
          <p:nvPr/>
        </p:nvPicPr>
        <p:blipFill>
          <a:blip r:embed="rId2"/>
          <a:srcRect t="6738" b="37207"/>
          <a:stretch>
            <a:fillRect/>
          </a:stretch>
        </p:blipFill>
        <p:spPr bwMode="auto">
          <a:xfrm>
            <a:off x="1447800" y="912813"/>
            <a:ext cx="6324600" cy="4427537"/>
          </a:xfrm>
          <a:prstGeom prst="rect">
            <a:avLst/>
          </a:prstGeom>
          <a:noFill/>
        </p:spPr>
      </p:pic>
      <p:pic>
        <p:nvPicPr>
          <p:cNvPr id="5123" name="Picture 3" descr="19-1"/>
          <p:cNvPicPr>
            <a:picLocks noChangeAspect="1" noChangeArrowheads="1"/>
          </p:cNvPicPr>
          <p:nvPr/>
        </p:nvPicPr>
        <p:blipFill>
          <a:blip r:embed="rId2"/>
          <a:srcRect b="93245"/>
          <a:stretch>
            <a:fillRect/>
          </a:stretch>
        </p:blipFill>
        <p:spPr bwMode="auto">
          <a:xfrm>
            <a:off x="1447800" y="381000"/>
            <a:ext cx="6324600" cy="533400"/>
          </a:xfrm>
          <a:prstGeom prst="rect">
            <a:avLst/>
          </a:prstGeom>
          <a:noFill/>
        </p:spPr>
      </p:pic>
      <p:pic>
        <p:nvPicPr>
          <p:cNvPr id="5124" name="Picture 4" descr="19-1"/>
          <p:cNvPicPr>
            <a:picLocks noChangeAspect="1" noChangeArrowheads="1"/>
          </p:cNvPicPr>
          <p:nvPr/>
        </p:nvPicPr>
        <p:blipFill>
          <a:blip r:embed="rId2"/>
          <a:srcRect t="62721" b="26805"/>
          <a:stretch>
            <a:fillRect/>
          </a:stretch>
        </p:blipFill>
        <p:spPr bwMode="auto">
          <a:xfrm>
            <a:off x="1447800" y="5334000"/>
            <a:ext cx="6324600" cy="8270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1676400"/>
            <a:ext cx="8305800" cy="31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pPr marL="1379538" indent="-465138">
              <a:buFontTx/>
              <a:buChar char="•"/>
            </a:pPr>
            <a:r>
              <a:rPr lang="zh-TW" altLang="en-US" sz="2800" dirty="0">
                <a:ea typeface="新細明體" pitchFamily="18" charset="-120"/>
              </a:rPr>
              <a:t> </a:t>
            </a:r>
            <a:r>
              <a:rPr lang="en-US" altLang="zh-TW" sz="2800" dirty="0">
                <a:ea typeface="新細明體" pitchFamily="18" charset="-120"/>
              </a:rPr>
              <a:t>TCP/IP</a:t>
            </a:r>
          </a:p>
          <a:p>
            <a:pPr marL="1379538" indent="-465138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65138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 Routing Traffic Across the Internet</a:t>
            </a:r>
          </a:p>
          <a:p>
            <a:pPr marL="1379538" indent="-465138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65138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 Addressing Schemes</a:t>
            </a:r>
          </a:p>
          <a:p>
            <a:pPr marL="1379538" indent="-465138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65138" eaLnBrk="0" hangingPunct="0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 Domains and </a:t>
            </a:r>
            <a:r>
              <a:rPr lang="en-US" altLang="zh-TW" sz="2800" dirty="0" smtClean="0">
                <a:ea typeface="新細明體" pitchFamily="18" charset="-120"/>
              </a:rPr>
              <a:t>Sub domains</a:t>
            </a:r>
            <a:endParaRPr lang="en-US" altLang="zh-TW" sz="2800" dirty="0">
              <a:ea typeface="新細明體" pitchFamily="18" charset="-120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0" y="3870325"/>
            <a:ext cx="9144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0" y="685800"/>
            <a:ext cx="9144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 lvl="2"/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How </a:t>
            </a:r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 </a:t>
            </a:r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Works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-228600" y="1981200"/>
            <a:ext cx="8610600" cy="3847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76176" rIns="0" bIns="76176">
            <a:spAutoFit/>
          </a:bodyPr>
          <a:lstStyle/>
          <a:p>
            <a:pPr marL="1379538" indent="-465138" defTabSz="234950">
              <a:buFontTx/>
              <a:buChar char="•"/>
            </a:pPr>
            <a:r>
              <a:rPr lang="en-US" altLang="zh-TW" sz="2400" dirty="0">
                <a:ea typeface="新細明體" pitchFamily="18" charset="-120"/>
              </a:rPr>
              <a:t>Every computer and network on the Internet uses 	the same protocols </a:t>
            </a:r>
            <a:r>
              <a:rPr lang="en-US" altLang="zh-TW" sz="2400" dirty="0" smtClean="0">
                <a:ea typeface="新細明體" pitchFamily="18" charset="-120"/>
              </a:rPr>
              <a:t>(set of guidelines or rules </a:t>
            </a:r>
            <a:r>
              <a:rPr lang="en-US" altLang="zh-TW" sz="2400" dirty="0">
                <a:ea typeface="新細明體" pitchFamily="18" charset="-120"/>
              </a:rPr>
              <a:t>and procedures) to 	control timing and data format.</a:t>
            </a:r>
          </a:p>
          <a:p>
            <a:pPr marL="1379538" indent="-465138" defTabSz="234950">
              <a:buFontTx/>
              <a:buChar char="•"/>
            </a:pPr>
            <a:endParaRPr lang="en-US" altLang="zh-TW" sz="2400" dirty="0">
              <a:ea typeface="新細明體" pitchFamily="18" charset="-120"/>
            </a:endParaRPr>
          </a:p>
          <a:p>
            <a:pPr marL="1379538" indent="-465138" defTabSz="234950">
              <a:buFontTx/>
              <a:buChar char="•"/>
            </a:pPr>
            <a:r>
              <a:rPr lang="en-US" altLang="zh-TW" sz="2400" dirty="0">
                <a:ea typeface="新細明體" pitchFamily="18" charset="-120"/>
              </a:rPr>
              <a:t>The protocol used by the Internet is the 	Transmission Control Protocol/Internet Protocol, 	or TCP/IP.</a:t>
            </a:r>
          </a:p>
          <a:p>
            <a:pPr marL="1379538" indent="-465138" defTabSz="234950">
              <a:buFontTx/>
              <a:buChar char="•"/>
            </a:pPr>
            <a:endParaRPr lang="en-US" altLang="zh-TW" sz="2400" dirty="0">
              <a:ea typeface="新細明體" pitchFamily="18" charset="-120"/>
            </a:endParaRPr>
          </a:p>
          <a:p>
            <a:pPr marL="1379538" indent="-465138" defTabSz="234950" eaLnBrk="0" hangingPunct="0">
              <a:buFontTx/>
              <a:buChar char="•"/>
            </a:pPr>
            <a:r>
              <a:rPr lang="en-US" altLang="zh-TW" sz="2400" dirty="0">
                <a:ea typeface="新細明體" pitchFamily="18" charset="-120"/>
              </a:rPr>
              <a:t>No matter what type of computer system you </a:t>
            </a:r>
            <a:r>
              <a:rPr lang="en-US" altLang="zh-TW" sz="2400" dirty="0" smtClean="0">
                <a:ea typeface="新細明體" pitchFamily="18" charset="-120"/>
              </a:rPr>
              <a:t>connect </a:t>
            </a:r>
            <a:r>
              <a:rPr lang="en-US" altLang="zh-TW" sz="2400" dirty="0">
                <a:ea typeface="新細明體" pitchFamily="18" charset="-120"/>
              </a:rPr>
              <a:t>to the Internet, if it uses TCP/IP, it can 	exchange data with any other type of computer.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-304800" y="609600"/>
            <a:ext cx="91440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2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How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Works…</a:t>
            </a:r>
          </a:p>
          <a:p>
            <a:pPr lvl="2" algn="ctr"/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 </a:t>
            </a:r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TCP/IP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43000"/>
            <a:ext cx="8382000" cy="5486400"/>
          </a:xfrm>
        </p:spPr>
        <p:txBody>
          <a:bodyPr>
            <a:normAutofit/>
          </a:bodyPr>
          <a:lstStyle/>
          <a:p>
            <a:pPr lvl="1">
              <a:buNone/>
            </a:pPr>
            <a:endParaRPr lang="en-US" altLang="zh-TW" dirty="0" smtClean="0"/>
          </a:p>
          <a:p>
            <a:pPr lvl="2" eaLnBrk="1" hangingPunct="1"/>
            <a:r>
              <a:rPr lang="en-US" altLang="zh-TW" sz="2300" dirty="0" smtClean="0"/>
              <a:t>Single, common, worldwide standard</a:t>
            </a:r>
          </a:p>
          <a:p>
            <a:pPr lvl="2" eaLnBrk="1" hangingPunct="1"/>
            <a:endParaRPr lang="en-US" altLang="zh-TW" dirty="0" smtClean="0"/>
          </a:p>
          <a:p>
            <a:pPr lvl="2" eaLnBrk="1" hangingPunct="1"/>
            <a:r>
              <a:rPr lang="en-US" altLang="zh-TW" dirty="0" smtClean="0"/>
              <a:t>US Department of Defense</a:t>
            </a:r>
          </a:p>
          <a:p>
            <a:pPr lvl="3" eaLnBrk="1" hangingPunct="1"/>
            <a:r>
              <a:rPr lang="en-US" altLang="zh-TW" sz="2400" dirty="0" smtClean="0"/>
              <a:t>TCP, transmission control protocol</a:t>
            </a:r>
          </a:p>
          <a:p>
            <a:pPr lvl="4" eaLnBrk="1" hangingPunct="1"/>
            <a:r>
              <a:rPr lang="en-US" altLang="zh-TW" sz="2400" dirty="0" smtClean="0"/>
              <a:t>Handle the movement of data</a:t>
            </a:r>
          </a:p>
          <a:p>
            <a:pPr lvl="4"/>
            <a:r>
              <a:rPr lang="en-US" sz="2800" dirty="0" smtClean="0">
                <a:latin typeface="Monotype Corsiva" pitchFamily="66" charset="0"/>
              </a:rPr>
              <a:t>Breaks the original massage in to small packets &amp; sequentially labels them.</a:t>
            </a:r>
            <a:endParaRPr lang="en-US" altLang="zh-TW" sz="2800" dirty="0" smtClean="0"/>
          </a:p>
          <a:p>
            <a:pPr lvl="4" eaLnBrk="1" hangingPunct="1"/>
            <a:endParaRPr lang="en-US" altLang="zh-TW" sz="2400" dirty="0" smtClean="0"/>
          </a:p>
          <a:p>
            <a:pPr lvl="3" eaLnBrk="1" hangingPunct="1"/>
            <a:r>
              <a:rPr lang="en-US" altLang="zh-TW" sz="2400" dirty="0" smtClean="0"/>
              <a:t>IP, Internet Protocol</a:t>
            </a:r>
          </a:p>
          <a:p>
            <a:pPr lvl="4" eaLnBrk="1" hangingPunct="1"/>
            <a:r>
              <a:rPr lang="en-US" altLang="zh-TW" sz="2400" dirty="0" smtClean="0"/>
              <a:t>Delivery of packets</a:t>
            </a:r>
          </a:p>
          <a:p>
            <a:pPr lvl="4" eaLnBrk="1" hangingPunct="1"/>
            <a:r>
              <a:rPr lang="en-US" altLang="zh-TW" sz="2400" dirty="0" smtClean="0"/>
              <a:t>Disassembling and reassembling of packets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-304800" y="5334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2" algn="ctr"/>
            <a:r>
              <a:rPr lang="en-US" altLang="zh-TW" sz="32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TCP/IP  (Cont.) </a:t>
            </a:r>
            <a:endParaRPr lang="en-US" altLang="zh-TW" sz="32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-609600" y="1981200"/>
            <a:ext cx="9372600" cy="4401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76176" rIns="0" bIns="76176">
            <a:spAutoFit/>
          </a:bodyPr>
          <a:lstStyle/>
          <a:p>
            <a:pPr marL="1379538" indent="-465138" defTabSz="23495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Most computers don't connect directly to the 	Internet. Instead, they connect to a smaller network 	that is connected to the Internet backbone.</a:t>
            </a:r>
          </a:p>
          <a:p>
            <a:pPr marL="1379538" indent="-465138" defTabSz="23495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The Internet includes thousands of host computers 	(servers), which provide data and services as 	requested by client systems.</a:t>
            </a:r>
          </a:p>
          <a:p>
            <a:pPr marL="1379538" indent="-465138" defTabSz="23495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 eaLnBrk="0" hangingPunct="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When you use the Internet, your PC (a client) 	requests data from a host system. The request and 	data are broken into packets and travel across 	multiple networks before being reassembled at their 	destination.</a:t>
            </a:r>
          </a:p>
          <a:p>
            <a:pPr marL="1379538" indent="-465138" defTabSz="234950" eaLnBrk="0" hangingPunct="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3338513"/>
            <a:ext cx="91440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0" y="30480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914400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How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Works… </a:t>
            </a:r>
            <a:endParaRPr lang="en-US" altLang="zh-TW" sz="2400" b="1" dirty="0" smtClean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914400"/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/>
            </a:r>
            <a:b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</a:br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          Routing </a:t>
            </a:r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Traffic Across the Internet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Fig070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714356"/>
            <a:ext cx="8111310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547813" y="5734050"/>
            <a:ext cx="5632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/>
              <a:t>Network: consist of two or more connected computers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19-3"/>
          <p:cNvPicPr>
            <a:picLocks noChangeAspect="1" noChangeArrowheads="1"/>
          </p:cNvPicPr>
          <p:nvPr/>
        </p:nvPicPr>
        <p:blipFill>
          <a:blip r:embed="rId2"/>
          <a:srcRect b="24005"/>
          <a:stretch>
            <a:fillRect/>
          </a:stretch>
        </p:blipFill>
        <p:spPr bwMode="auto">
          <a:xfrm>
            <a:off x="340573" y="936624"/>
            <a:ext cx="8498627" cy="5159375"/>
          </a:xfrm>
          <a:prstGeom prst="rect">
            <a:avLst/>
          </a:prstGeom>
          <a:noFill/>
        </p:spPr>
      </p:pic>
      <p:sp>
        <p:nvSpPr>
          <p:cNvPr id="9220" name="Line 4"/>
          <p:cNvSpPr>
            <a:spLocks noChangeShapeType="1"/>
          </p:cNvSpPr>
          <p:nvPr/>
        </p:nvSpPr>
        <p:spPr bwMode="auto">
          <a:xfrm flipH="1">
            <a:off x="6172200" y="1016000"/>
            <a:ext cx="1524000" cy="914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 flipH="1">
            <a:off x="4191000" y="2108200"/>
            <a:ext cx="838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2" name="Line 6"/>
          <p:cNvSpPr>
            <a:spLocks noChangeShapeType="1"/>
          </p:cNvSpPr>
          <p:nvPr/>
        </p:nvSpPr>
        <p:spPr bwMode="auto">
          <a:xfrm flipH="1">
            <a:off x="3505200" y="2286000"/>
            <a:ext cx="152400" cy="8382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3" name="Line 7"/>
          <p:cNvSpPr>
            <a:spLocks noChangeShapeType="1"/>
          </p:cNvSpPr>
          <p:nvPr/>
        </p:nvSpPr>
        <p:spPr bwMode="auto">
          <a:xfrm>
            <a:off x="4038600" y="3352800"/>
            <a:ext cx="152400" cy="9144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4" name="Line 8"/>
          <p:cNvSpPr>
            <a:spLocks noChangeShapeType="1"/>
          </p:cNvSpPr>
          <p:nvPr/>
        </p:nvSpPr>
        <p:spPr bwMode="auto">
          <a:xfrm flipV="1">
            <a:off x="2209800" y="3048000"/>
            <a:ext cx="228600" cy="609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5" name="Line 9"/>
          <p:cNvSpPr>
            <a:spLocks noChangeShapeType="1"/>
          </p:cNvSpPr>
          <p:nvPr/>
        </p:nvSpPr>
        <p:spPr bwMode="auto">
          <a:xfrm flipV="1">
            <a:off x="3505200" y="2286000"/>
            <a:ext cx="152400" cy="8382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6" name="Line 10"/>
          <p:cNvSpPr>
            <a:spLocks noChangeShapeType="1"/>
          </p:cNvSpPr>
          <p:nvPr/>
        </p:nvSpPr>
        <p:spPr bwMode="auto">
          <a:xfrm>
            <a:off x="4267200" y="2108200"/>
            <a:ext cx="7620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7" name="Line 11"/>
          <p:cNvSpPr>
            <a:spLocks noChangeShapeType="1"/>
          </p:cNvSpPr>
          <p:nvPr/>
        </p:nvSpPr>
        <p:spPr bwMode="auto">
          <a:xfrm>
            <a:off x="6248400" y="1955800"/>
            <a:ext cx="2209800" cy="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 flipH="1" flipV="1">
            <a:off x="6172200" y="1981200"/>
            <a:ext cx="1066800" cy="13716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29" name="Line 13"/>
          <p:cNvSpPr>
            <a:spLocks noChangeShapeType="1"/>
          </p:cNvSpPr>
          <p:nvPr/>
        </p:nvSpPr>
        <p:spPr bwMode="auto">
          <a:xfrm flipH="1" flipV="1">
            <a:off x="4114800" y="2108200"/>
            <a:ext cx="914400" cy="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30" name="Line 14"/>
          <p:cNvSpPr>
            <a:spLocks noChangeShapeType="1"/>
          </p:cNvSpPr>
          <p:nvPr/>
        </p:nvSpPr>
        <p:spPr bwMode="auto">
          <a:xfrm flipH="1">
            <a:off x="3505200" y="2362200"/>
            <a:ext cx="152400" cy="7620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231" name="Line 15"/>
          <p:cNvSpPr>
            <a:spLocks noChangeShapeType="1"/>
          </p:cNvSpPr>
          <p:nvPr/>
        </p:nvSpPr>
        <p:spPr bwMode="auto">
          <a:xfrm flipH="1" flipV="1">
            <a:off x="1676400" y="2438400"/>
            <a:ext cx="228600" cy="533400"/>
          </a:xfrm>
          <a:prstGeom prst="line">
            <a:avLst/>
          </a:prstGeom>
          <a:noFill/>
          <a:ln w="76200">
            <a:solidFill>
              <a:schemeClr val="accent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1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3"/>
                                            </p:cond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7"/>
                                            </p:cond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4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70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5"/>
                                            </p:cond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8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9"/>
                                            </p:cond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nimBg="1"/>
      <p:bldP spid="9221" grpId="0" animBg="1"/>
      <p:bldP spid="9222" grpId="0" animBg="1"/>
      <p:bldP spid="9223" grpId="0" animBg="1"/>
      <p:bldP spid="9224" grpId="0" animBg="1"/>
      <p:bldP spid="9225" grpId="0" animBg="1"/>
      <p:bldP spid="9226" grpId="0" animBg="1"/>
      <p:bldP spid="9227" grpId="0" animBg="1"/>
      <p:bldP spid="9228" grpId="0" animBg="1"/>
      <p:bldP spid="9229" grpId="0" animBg="1"/>
      <p:bldP spid="9230" grpId="0" animBg="1"/>
      <p:bldP spid="92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-304800" y="1981200"/>
            <a:ext cx="9144000" cy="4585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76176" rIns="0" bIns="76176">
            <a:spAutoFit/>
          </a:bodyPr>
          <a:lstStyle/>
          <a:p>
            <a:pPr marL="1379538" indent="-465138" defTabSz="234950">
              <a:buFontTx/>
              <a:buChar char="•"/>
            </a:pPr>
            <a:r>
              <a:rPr lang="en-US" altLang="zh-TW" sz="2400" dirty="0">
                <a:ea typeface="新細明體" pitchFamily="18" charset="-120"/>
              </a:rPr>
              <a:t>In order to communicate across the Internet, a </a:t>
            </a:r>
            <a:r>
              <a:rPr lang="en-US" altLang="zh-TW" sz="2400" dirty="0" smtClean="0">
                <a:ea typeface="新細明體" pitchFamily="18" charset="-120"/>
              </a:rPr>
              <a:t>computer </a:t>
            </a:r>
            <a:r>
              <a:rPr lang="en-US" altLang="zh-TW" sz="2400" dirty="0">
                <a:ea typeface="新細明體" pitchFamily="18" charset="-120"/>
              </a:rPr>
              <a:t>must have a unique address.</a:t>
            </a:r>
          </a:p>
          <a:p>
            <a:pPr marL="1379538" indent="-465138" defTabSz="234950">
              <a:buFontTx/>
              <a:buChar char="•"/>
            </a:pPr>
            <a:endParaRPr lang="en-US" altLang="zh-TW" sz="2400" dirty="0">
              <a:ea typeface="新細明體" pitchFamily="18" charset="-120"/>
            </a:endParaRPr>
          </a:p>
          <a:p>
            <a:pPr marL="1379538" indent="-465138" defTabSz="234950">
              <a:buFontTx/>
              <a:buChar char="•"/>
            </a:pPr>
            <a:r>
              <a:rPr lang="en-US" altLang="zh-TW" sz="2400" dirty="0">
                <a:ea typeface="新細明體" pitchFamily="18" charset="-120"/>
              </a:rPr>
              <a:t>Every computer on the Internet has a unique 	numeric identifier, called an Internet Protocol (IP) 	address.</a:t>
            </a:r>
          </a:p>
          <a:p>
            <a:pPr marL="1379538" indent="-465138" defTabSz="234950">
              <a:buFontTx/>
              <a:buChar char="•"/>
            </a:pPr>
            <a:endParaRPr lang="en-US" altLang="zh-TW" sz="2400" dirty="0">
              <a:ea typeface="新細明體" pitchFamily="18" charset="-120"/>
            </a:endParaRPr>
          </a:p>
          <a:p>
            <a:pPr marL="1379538" indent="-465138" defTabSz="234950" eaLnBrk="0" hangingPunct="0">
              <a:buFontTx/>
              <a:buChar char="•"/>
            </a:pPr>
            <a:r>
              <a:rPr lang="en-US" altLang="zh-TW" sz="2400" dirty="0">
                <a:ea typeface="新細明體" pitchFamily="18" charset="-120"/>
              </a:rPr>
              <a:t>Each IP address has four parts – each part a number 	between 0 and 255. An IP address might look like 	this: </a:t>
            </a:r>
            <a:endParaRPr lang="en-US" altLang="zh-TW" sz="2400" dirty="0" smtClean="0">
              <a:ea typeface="新細明體" pitchFamily="18" charset="-120"/>
            </a:endParaRPr>
          </a:p>
          <a:p>
            <a:pPr marL="1379538" indent="-465138" defTabSz="234950" eaLnBrk="0" hangingPunct="0"/>
            <a:r>
              <a:rPr lang="en-US" altLang="zh-TW" sz="2400" dirty="0" smtClean="0">
                <a:ea typeface="新細明體" pitchFamily="18" charset="-120"/>
              </a:rPr>
              <a:t>	        e.g.    205.46.117.104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1379538" indent="-465138" defTabSz="234950" eaLnBrk="0" hangingPunct="0">
              <a:buFontTx/>
              <a:buChar char="•"/>
            </a:pPr>
            <a:endParaRPr lang="zh-TW" altLang="en-US" sz="2400" dirty="0">
              <a:ea typeface="新細明體" pitchFamily="18" charset="-120"/>
            </a:endParaRP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3429000"/>
            <a:ext cx="9144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0" y="381000"/>
            <a:ext cx="9144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 lvl="2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How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Works…</a:t>
            </a:r>
            <a:endParaRPr lang="en-US" altLang="zh-TW" sz="24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855663" lvl="2"/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			</a:t>
            </a:r>
            <a:endParaRPr lang="en-US" altLang="zh-TW" sz="2800" b="1" dirty="0" smtClean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855663" lvl="2" algn="ctr"/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Addressing </a:t>
            </a:r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Schemes </a:t>
            </a: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-685800" y="1371600"/>
            <a:ext cx="9601200" cy="5619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76176" rIns="0" bIns="76176">
            <a:spAutoFit/>
          </a:bodyPr>
          <a:lstStyle/>
          <a:p>
            <a:pPr marL="1322388" indent="-350838" defTabSz="234950">
              <a:buFontTx/>
              <a:buChar char="•"/>
            </a:pPr>
            <a:r>
              <a:rPr lang="zh-TW" altLang="en-US" sz="2400" dirty="0">
                <a:ea typeface="新細明體" pitchFamily="18" charset="-120"/>
              </a:rPr>
              <a:t> </a:t>
            </a:r>
            <a:r>
              <a:rPr lang="en-US" altLang="zh-TW" sz="2400" dirty="0">
                <a:ea typeface="新細明體" pitchFamily="18" charset="-120"/>
              </a:rPr>
              <a:t>In addition to an IP address, most Internet hosts or 	servers have a Domain Name System (DNS) address, 	which uses words</a:t>
            </a:r>
            <a:r>
              <a:rPr lang="en-US" altLang="zh-TW" sz="2400" dirty="0" smtClean="0">
                <a:ea typeface="新細明體" pitchFamily="18" charset="-120"/>
              </a:rPr>
              <a:t>.</a:t>
            </a:r>
          </a:p>
          <a:p>
            <a:pPr marL="1322388" indent="-350838" defTabSz="234950">
              <a:buFontTx/>
              <a:buChar char="•"/>
            </a:pPr>
            <a:endParaRPr lang="en-US" altLang="zh-TW" sz="2400" dirty="0">
              <a:ea typeface="新細明體" pitchFamily="18" charset="-120"/>
            </a:endParaRPr>
          </a:p>
          <a:p>
            <a:pPr marL="1322388" indent="-350838" defTabSz="234950">
              <a:buFontTx/>
              <a:buChar char="•"/>
            </a:pPr>
            <a:r>
              <a:rPr lang="en-US" altLang="zh-TW" sz="2400" dirty="0" smtClean="0">
                <a:ea typeface="新細明體" pitchFamily="18" charset="-120"/>
              </a:rPr>
              <a:t>A </a:t>
            </a:r>
            <a:r>
              <a:rPr lang="en-US" altLang="zh-TW" sz="2400" dirty="0">
                <a:ea typeface="新細明體" pitchFamily="18" charset="-120"/>
              </a:rPr>
              <a:t>domain name identifies the type of institution that 	owns the computer.  An Internet server owned by IBM 	might have the domain name ibm.com</a:t>
            </a:r>
            <a:r>
              <a:rPr lang="en-US" altLang="zh-TW" sz="2400" dirty="0" smtClean="0">
                <a:ea typeface="新細明體" pitchFamily="18" charset="-120"/>
              </a:rPr>
              <a:t>.</a:t>
            </a:r>
          </a:p>
          <a:p>
            <a:pPr marL="1322388" indent="-350838" defTabSz="234950">
              <a:buFontTx/>
              <a:buChar char="•"/>
            </a:pPr>
            <a:endParaRPr lang="en-US" altLang="zh-TW" sz="2400" dirty="0" smtClean="0">
              <a:ea typeface="新細明體" pitchFamily="18" charset="-120"/>
            </a:endParaRPr>
          </a:p>
          <a:p>
            <a:pPr marL="1322388" indent="-350838" defTabSz="234950">
              <a:buFontTx/>
              <a:buChar char="•"/>
            </a:pPr>
            <a:r>
              <a:rPr lang="en-US" altLang="zh-TW" sz="2400" dirty="0" smtClean="0">
                <a:ea typeface="新細明體" pitchFamily="18" charset="-120"/>
              </a:rPr>
              <a:t>The last part of the domain name is called the </a:t>
            </a:r>
            <a:r>
              <a:rPr lang="en-US" altLang="zh-TW" sz="2400" i="1" dirty="0" smtClean="0">
                <a:ea typeface="新細明體" pitchFamily="18" charset="-120"/>
              </a:rPr>
              <a:t>Top-Level Domain (TLD)</a:t>
            </a:r>
            <a:r>
              <a:rPr lang="en-US" altLang="zh-TW" sz="2400" dirty="0" smtClean="0">
                <a:ea typeface="新細明體" pitchFamily="18" charset="-120"/>
              </a:rPr>
              <a:t> or </a:t>
            </a:r>
            <a:r>
              <a:rPr lang="en-US" altLang="zh-TW" sz="2400" i="1" dirty="0" smtClean="0">
                <a:ea typeface="新細明體" pitchFamily="18" charset="-120"/>
              </a:rPr>
              <a:t>Zone</a:t>
            </a:r>
            <a:r>
              <a:rPr lang="en-US" altLang="zh-TW" sz="2400" dirty="0" smtClean="0">
                <a:ea typeface="新細明體" pitchFamily="18" charset="-120"/>
              </a:rPr>
              <a:t>  and is either two or three letters long.</a:t>
            </a:r>
          </a:p>
          <a:p>
            <a:pPr marL="1322388" indent="-350838" defTabSz="234950">
              <a:buFontTx/>
              <a:buChar char="•"/>
            </a:pPr>
            <a:r>
              <a:rPr lang="en-US" altLang="zh-TW" sz="2400" dirty="0" smtClean="0">
                <a:ea typeface="新細明體" pitchFamily="18" charset="-120"/>
              </a:rPr>
              <a:t>The second-to-last part of the domain name is called the </a:t>
            </a:r>
            <a:r>
              <a:rPr lang="en-US" altLang="zh-TW" sz="2400" i="1" dirty="0" smtClean="0">
                <a:ea typeface="新細明體" pitchFamily="18" charset="-120"/>
              </a:rPr>
              <a:t>Second-Level Domain</a:t>
            </a:r>
            <a:r>
              <a:rPr lang="en-US" altLang="zh-TW" sz="2400" dirty="0" smtClean="0">
                <a:ea typeface="新細明體" pitchFamily="18" charset="-120"/>
              </a:rPr>
              <a:t>, and It chosen by the organization that owns the computer</a:t>
            </a:r>
            <a:r>
              <a:rPr lang="en-US" altLang="zh-TW" sz="2400" dirty="0" smtClean="0">
                <a:ea typeface="新細明體" pitchFamily="18" charset="-120"/>
              </a:rPr>
              <a:t>.</a:t>
            </a:r>
            <a:r>
              <a:rPr lang="en-US" altLang="zh-TW" sz="2400" dirty="0" smtClean="0">
                <a:ea typeface="新細明體" pitchFamily="18" charset="-120"/>
              </a:rPr>
              <a:t>									</a:t>
            </a:r>
            <a:r>
              <a:rPr lang="en-US" altLang="zh-TW" sz="2400" i="1" dirty="0" smtClean="0">
                <a:ea typeface="新細明體" pitchFamily="18" charset="-120"/>
              </a:rPr>
              <a:t>e.g.		   whitehouse.gov 				</a:t>
            </a:r>
          </a:p>
          <a:p>
            <a:pPr marL="1779588" lvl="1" indent="-350838" defTabSz="234950"/>
            <a:r>
              <a:rPr lang="en-US" altLang="zh-TW" sz="2400" i="1" dirty="0" smtClean="0">
                <a:ea typeface="新細明體" pitchFamily="18" charset="-120"/>
              </a:rPr>
              <a:t>													</a:t>
            </a:r>
            <a:r>
              <a:rPr lang="en-US" altLang="zh-TW" sz="2400" i="1" dirty="0" smtClean="0">
                <a:ea typeface="新細明體" pitchFamily="18" charset="-120"/>
              </a:rPr>
              <a:t>				ibm.com</a:t>
            </a:r>
            <a:endParaRPr lang="en-US" altLang="zh-TW" sz="2400" i="1" dirty="0" smtClean="0">
              <a:ea typeface="新細明體" pitchFamily="18" charset="-120"/>
            </a:endParaRPr>
          </a:p>
          <a:p>
            <a:pPr marL="1322388" indent="-350838" defTabSz="234950"/>
            <a:r>
              <a:rPr lang="en-US" altLang="zh-TW" sz="2400" dirty="0" smtClean="0">
                <a:ea typeface="新細明體" pitchFamily="18" charset="-120"/>
              </a:rPr>
              <a:t>	 														</a:t>
            </a:r>
            <a:r>
              <a:rPr lang="en-US" altLang="zh-TW" sz="2400" dirty="0" smtClean="0">
                <a:ea typeface="新細明體" pitchFamily="18" charset="-120"/>
              </a:rPr>
              <a:t>				</a:t>
            </a:r>
            <a:r>
              <a:rPr lang="en-US" altLang="zh-TW" sz="2400" i="1" dirty="0" smtClean="0">
                <a:ea typeface="新細明體" pitchFamily="18" charset="-120"/>
              </a:rPr>
              <a:t>slt.net</a:t>
            </a:r>
            <a:endParaRPr lang="en-US" altLang="zh-TW" sz="2400" dirty="0">
              <a:ea typeface="新細明體" pitchFamily="18" charset="-120"/>
            </a:endParaRPr>
          </a:p>
          <a:p>
            <a:pPr marL="1322388" indent="-350838" defTabSz="234950">
              <a:lnSpc>
                <a:spcPct val="80000"/>
              </a:lnSpc>
              <a:buFontTx/>
              <a:buChar char="•"/>
            </a:pPr>
            <a:endParaRPr lang="en-US" altLang="zh-TW" sz="2400" dirty="0">
              <a:ea typeface="新細明體" pitchFamily="18" charset="-120"/>
            </a:endParaRP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381000"/>
            <a:ext cx="91440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2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How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 </a:t>
            </a:r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Works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…</a:t>
            </a:r>
            <a:endParaRPr lang="en-US" altLang="zh-TW" sz="24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lvl="2"/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	     Domains </a:t>
            </a:r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and </a:t>
            </a:r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Sub domains </a:t>
            </a:r>
            <a:endParaRPr lang="en-US" altLang="zh-TW" sz="28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09600" y="1055687"/>
            <a:ext cx="8534400" cy="5802313"/>
            <a:chOff x="288" y="288"/>
            <a:chExt cx="5376" cy="3703"/>
          </a:xfrm>
        </p:grpSpPr>
        <p:pic>
          <p:nvPicPr>
            <p:cNvPr id="12290" name="Picture 2" descr="TABL19-2"/>
            <p:cNvPicPr>
              <a:picLocks noChangeAspect="1" noChangeArrowheads="1"/>
            </p:cNvPicPr>
            <p:nvPr/>
          </p:nvPicPr>
          <p:blipFill>
            <a:blip r:embed="rId2"/>
            <a:srcRect l="928" t="16667" r="15625" b="6696"/>
            <a:stretch>
              <a:fillRect/>
            </a:stretch>
          </p:blipFill>
          <p:spPr bwMode="auto">
            <a:xfrm>
              <a:off x="288" y="288"/>
              <a:ext cx="5376" cy="3703"/>
            </a:xfrm>
            <a:prstGeom prst="rect">
              <a:avLst/>
            </a:prstGeom>
            <a:noFill/>
          </p:spPr>
        </p:pic>
        <p:pic>
          <p:nvPicPr>
            <p:cNvPr id="12291" name="Picture 3" descr="TABL19-2"/>
            <p:cNvPicPr>
              <a:picLocks noChangeAspect="1" noChangeArrowheads="1"/>
            </p:cNvPicPr>
            <p:nvPr/>
          </p:nvPicPr>
          <p:blipFill>
            <a:blip r:embed="rId2"/>
            <a:srcRect l="51591" t="23621" r="22331" b="67438"/>
            <a:stretch>
              <a:fillRect/>
            </a:stretch>
          </p:blipFill>
          <p:spPr bwMode="auto">
            <a:xfrm>
              <a:off x="432" y="608"/>
              <a:ext cx="1680" cy="432"/>
            </a:xfrm>
            <a:prstGeom prst="rect">
              <a:avLst/>
            </a:prstGeom>
            <a:noFill/>
          </p:spPr>
        </p:pic>
      </p:grpSp>
      <p:sp>
        <p:nvSpPr>
          <p:cNvPr id="5" name="TextBox 4"/>
          <p:cNvSpPr txBox="1"/>
          <p:nvPr/>
        </p:nvSpPr>
        <p:spPr>
          <a:xfrm>
            <a:off x="762000" y="381000"/>
            <a:ext cx="8215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Three-letter zones (mainly used in the U.S.) indicate the type of  organization that owns the domain.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1143000"/>
            <a:ext cx="8686800" cy="4678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pPr marL="1322388" indent="-350838" defTabSz="234950">
              <a:buFontTx/>
              <a:buChar char="•"/>
            </a:pPr>
            <a:endParaRPr lang="en-US" altLang="zh-TW" sz="2100" dirty="0">
              <a:ea typeface="新細明體" pitchFamily="18" charset="-120"/>
            </a:endParaRPr>
          </a:p>
          <a:p>
            <a:pPr marL="1322388" indent="-350838" defTabSz="234950" eaLnBrk="0" hangingPunct="0">
              <a:buFontTx/>
              <a:buChar char="•"/>
            </a:pPr>
            <a:r>
              <a:rPr lang="en-US" altLang="zh-TW" sz="2100" dirty="0" smtClean="0">
                <a:ea typeface="新細明體" pitchFamily="18" charset="-120"/>
              </a:rPr>
              <a:t>The two-letter zones indicate the country in which the organization that owns the computer is located. </a:t>
            </a:r>
          </a:p>
          <a:p>
            <a:pPr marL="1322388" indent="-350838" defTabSz="234950" eaLnBrk="0" hangingPunct="0"/>
            <a:r>
              <a:rPr lang="en-US" altLang="zh-TW" sz="2100" dirty="0" smtClean="0">
                <a:ea typeface="新細明體" pitchFamily="18" charset="-120"/>
              </a:rPr>
              <a:t>			e.g. 		U.S. 				-		.us</a:t>
            </a:r>
          </a:p>
          <a:p>
            <a:pPr marL="1322388" indent="-350838" defTabSz="234950" eaLnBrk="0" hangingPunct="0"/>
            <a:r>
              <a:rPr lang="en-US" altLang="zh-TW" sz="2100" dirty="0" smtClean="0">
                <a:ea typeface="新細明體" pitchFamily="18" charset="-120"/>
              </a:rPr>
              <a:t>							Canadian	-		.ca</a:t>
            </a:r>
          </a:p>
          <a:p>
            <a:pPr marL="1322388" indent="-350838" defTabSz="234950" eaLnBrk="0" hangingPunct="0"/>
            <a:r>
              <a:rPr lang="en-US" altLang="zh-TW" sz="2100" dirty="0" smtClean="0">
                <a:ea typeface="新細明體" pitchFamily="18" charset="-120"/>
              </a:rPr>
              <a:t>							Sri Lankan	-		.</a:t>
            </a:r>
            <a:r>
              <a:rPr lang="en-US" altLang="zh-TW" sz="2100" dirty="0" err="1" smtClean="0">
                <a:ea typeface="新細明體" pitchFamily="18" charset="-120"/>
              </a:rPr>
              <a:t>lk</a:t>
            </a:r>
            <a:endParaRPr lang="en-US" altLang="zh-TW" sz="2100" dirty="0" smtClean="0">
              <a:ea typeface="新細明體" pitchFamily="18" charset="-120"/>
            </a:endParaRPr>
          </a:p>
          <a:p>
            <a:pPr marL="1322388" indent="-350838" defTabSz="234950" eaLnBrk="0" hangingPunct="0"/>
            <a:r>
              <a:rPr lang="en-US" altLang="zh-TW" sz="2100" dirty="0" smtClean="0">
                <a:ea typeface="新細明體" pitchFamily="18" charset="-120"/>
              </a:rPr>
              <a:t>  </a:t>
            </a:r>
          </a:p>
          <a:p>
            <a:pPr marL="1322388" indent="-350838" defTabSz="234950" eaLnBrk="0" hangingPunct="0">
              <a:buFontTx/>
              <a:buChar char="•"/>
            </a:pPr>
            <a:r>
              <a:rPr lang="en-US" altLang="zh-TW" sz="2100" dirty="0" smtClean="0">
                <a:ea typeface="新細明體" pitchFamily="18" charset="-120"/>
              </a:rPr>
              <a:t>Some enterprises have multiple servers, and identify 	them with </a:t>
            </a:r>
            <a:r>
              <a:rPr lang="en-US" altLang="zh-TW" sz="2100" dirty="0" smtClean="0">
                <a:ea typeface="新細明體" pitchFamily="18" charset="-120"/>
              </a:rPr>
              <a:t>sub domains</a:t>
            </a:r>
            <a:endParaRPr lang="en-US" altLang="zh-TW" sz="2100" dirty="0" smtClean="0">
              <a:ea typeface="新細明體" pitchFamily="18" charset="-120"/>
            </a:endParaRPr>
          </a:p>
          <a:p>
            <a:pPr marL="1322388" indent="-350838" defTabSz="234950" eaLnBrk="0" hangingPunct="0"/>
            <a:r>
              <a:rPr lang="en-US" altLang="zh-TW" sz="2100" dirty="0" smtClean="0">
                <a:ea typeface="新細明體" pitchFamily="18" charset="-120"/>
              </a:rPr>
              <a:t> 					e.g.		 products.ibm.com. </a:t>
            </a:r>
          </a:p>
          <a:p>
            <a:pPr marL="1322388" indent="-350838" defTabSz="234950" eaLnBrk="0" hangingPunct="0"/>
            <a:endParaRPr lang="en-US" altLang="zh-TW" sz="2100" dirty="0" smtClean="0">
              <a:ea typeface="新細明體" pitchFamily="18" charset="-120"/>
            </a:endParaRPr>
          </a:p>
          <a:p>
            <a:pPr marL="1322388" indent="-350838" defTabSz="234950" eaLnBrk="0" hangingPunct="0">
              <a:buFont typeface="Arial" pitchFamily="34" charset="0"/>
              <a:buChar char="•"/>
            </a:pPr>
            <a:r>
              <a:rPr lang="en-US" altLang="zh-TW" sz="2100" dirty="0" smtClean="0">
                <a:ea typeface="新細明體" pitchFamily="18" charset="-120"/>
              </a:rPr>
              <a:t>Currently, domains in the </a:t>
            </a:r>
            <a:r>
              <a:rPr lang="en-US" altLang="zh-TW" sz="2100" i="1" dirty="0" smtClean="0">
                <a:ea typeface="新細明體" pitchFamily="18" charset="-120"/>
              </a:rPr>
              <a:t>com, </a:t>
            </a:r>
            <a:r>
              <a:rPr lang="en-US" altLang="zh-TW" sz="2100" i="1" dirty="0" err="1" smtClean="0">
                <a:ea typeface="新細明體" pitchFamily="18" charset="-120"/>
              </a:rPr>
              <a:t>edu</a:t>
            </a:r>
            <a:r>
              <a:rPr lang="en-US" altLang="zh-TW" sz="2100" i="1" dirty="0" smtClean="0">
                <a:ea typeface="新細明體" pitchFamily="18" charset="-120"/>
              </a:rPr>
              <a:t>, net  </a:t>
            </a:r>
            <a:r>
              <a:rPr lang="en-US" altLang="zh-TW" sz="2100" dirty="0" smtClean="0">
                <a:ea typeface="新細明體" pitchFamily="18" charset="-120"/>
              </a:rPr>
              <a:t>and </a:t>
            </a:r>
            <a:r>
              <a:rPr lang="en-US" altLang="zh-TW" sz="2100" i="1" dirty="0" smtClean="0">
                <a:ea typeface="新細明體" pitchFamily="18" charset="-120"/>
              </a:rPr>
              <a:t>org</a:t>
            </a:r>
            <a:r>
              <a:rPr lang="en-US" altLang="zh-TW" sz="2100" dirty="0" smtClean="0">
                <a:ea typeface="新細明體" pitchFamily="18" charset="-120"/>
              </a:rPr>
              <a:t>  zones are assigned by Network Solutions’ </a:t>
            </a:r>
            <a:r>
              <a:rPr lang="en-US" altLang="zh-TW" sz="2100" dirty="0" err="1" smtClean="0">
                <a:ea typeface="新細明體" pitchFamily="18" charset="-120"/>
              </a:rPr>
              <a:t>InterNIC</a:t>
            </a:r>
            <a:r>
              <a:rPr lang="en-US" altLang="zh-TW" sz="2100" dirty="0" smtClean="0">
                <a:ea typeface="新細明體" pitchFamily="18" charset="-120"/>
              </a:rPr>
              <a:t> Registration Services, at http://www.internic.net</a:t>
            </a:r>
            <a:endParaRPr lang="en-US" altLang="zh-TW" sz="2100" dirty="0">
              <a:ea typeface="新細明體" pitchFamily="18" charset="-120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0" y="381000"/>
            <a:ext cx="914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2"/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Domains </a:t>
            </a:r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and </a:t>
            </a:r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Sub domains </a:t>
            </a:r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(cont.) </a:t>
            </a:r>
            <a:endParaRPr lang="en-US" altLang="zh-TW" sz="28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676400"/>
            <a:ext cx="8077200" cy="33528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l"/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Principals of name spaces are administered by the </a:t>
            </a:r>
            <a:r>
              <a:rPr lang="en-US" sz="2800" b="0" u="sng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Internet Corporation for Assigned Names and Numbers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(ICANN) . Including  :</a:t>
            </a:r>
            <a:b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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domain names</a:t>
            </a:r>
            <a:b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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Internet Protocol (IP) addresses</a:t>
            </a:r>
            <a:b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  <a:sym typeface="Wingdings"/>
              </a:rPr>
              <a:t>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application port numbers in the transport   	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protocol</a:t>
            </a:r>
            <a:b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800" dirty="0" smtClean="0">
                <a:latin typeface="Arial" pitchFamily="34" charset="0"/>
                <a:cs typeface="Arial" pitchFamily="34" charset="0"/>
              </a:rPr>
              <a:t>	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&amp;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  </a:t>
            </a:r>
            <a:r>
              <a:rPr lang="en-US" sz="2800" dirty="0" smtClean="0">
                <a:latin typeface="Arial" pitchFamily="34" charset="0"/>
                <a:cs typeface="Arial" pitchFamily="34" charset="0"/>
                <a:sym typeface="Wingdings"/>
              </a:rPr>
              <a:t>      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many </a:t>
            </a:r>
            <a:r>
              <a:rPr lang="en-US" sz="2800" b="0" cap="none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other parameters. </a:t>
            </a:r>
            <a:endParaRPr lang="en-US" sz="2800" b="0" cap="non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1000" y="0"/>
            <a:ext cx="8229600" cy="914400"/>
          </a:xfrm>
          <a:prstGeom prst="rect">
            <a:avLst/>
          </a:prstGeo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Internet governances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slow" advTm="17047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accent1">
                    <a:lumMod val="50000"/>
                  </a:schemeClr>
                </a:solidFill>
              </a:rPr>
              <a:t>Internet governances…..</a:t>
            </a:r>
            <a:endParaRPr lang="en-US" sz="3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690872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The internet is a globally distributed network comprising many voluntarily interconnected autonomous network. It operates a central governing…</a:t>
            </a:r>
          </a:p>
          <a:p>
            <a:endParaRPr lang="en-US" sz="2800" dirty="0" smtClean="0"/>
          </a:p>
          <a:p>
            <a:r>
              <a:rPr lang="en-US" sz="2800" dirty="0" smtClean="0"/>
              <a:t>However,                                                       </a:t>
            </a:r>
          </a:p>
          <a:p>
            <a:pPr>
              <a:buNone/>
            </a:pPr>
            <a:r>
              <a:rPr lang="en-US" sz="2800" dirty="0" smtClean="0"/>
              <a:t>         to maintain interoperability, all technical &amp; policy aspects of the underlying core infrastructure &amp; the principal name spaces are administered by the </a:t>
            </a:r>
            <a:r>
              <a:rPr lang="en-US" sz="2800" dirty="0" smtClean="0">
                <a:solidFill>
                  <a:schemeClr val="accent5">
                    <a:lumMod val="75000"/>
                  </a:schemeClr>
                </a:solidFill>
              </a:rPr>
              <a:t>Internet Corporation for Assigned Names &amp; Numbers.. </a:t>
            </a:r>
            <a:r>
              <a:rPr lang="en-US" sz="2800" dirty="0" smtClean="0">
                <a:solidFill>
                  <a:srgbClr val="000099"/>
                </a:solidFill>
              </a:rPr>
              <a:t>(ICANN)</a:t>
            </a:r>
            <a:endParaRPr lang="en-US" sz="2800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0" y="1600200"/>
            <a:ext cx="8153400" cy="5324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pPr marL="1379538" indent="-465138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The World Wide Web</a:t>
            </a:r>
          </a:p>
          <a:p>
            <a:pPr marL="1379538" indent="-465138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65138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E-Mail</a:t>
            </a:r>
          </a:p>
          <a:p>
            <a:pPr marL="1379538" indent="-465138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65138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News</a:t>
            </a:r>
          </a:p>
          <a:p>
            <a:pPr marL="1379538" indent="-465138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65138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Telnet</a:t>
            </a:r>
          </a:p>
          <a:p>
            <a:pPr marL="1379538" indent="-465138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65138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File Transfer Protocol (FTP)</a:t>
            </a:r>
          </a:p>
          <a:p>
            <a:pPr marL="1379538" indent="-465138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65138" eaLnBrk="0" hangingPunct="0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Internet Relay Chat (IRC) </a:t>
            </a:r>
          </a:p>
          <a:p>
            <a:pPr marL="1379538" indent="-465138" eaLnBrk="0" hangingPunct="0">
              <a:buFontTx/>
              <a:buChar char="•"/>
            </a:pPr>
            <a:endParaRPr lang="zh-TW" altLang="en-US" sz="2800" dirty="0">
              <a:ea typeface="新細明體" pitchFamily="18" charset="-120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0" y="2105025"/>
            <a:ext cx="9144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0" y="2987675"/>
            <a:ext cx="9144000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pPr eaLnBrk="0" hangingPunct="0"/>
            <a:endParaRPr lang="zh-TW" altLang="en-US">
              <a:ea typeface="新細明體" pitchFamily="18" charset="-120"/>
            </a:endParaRPr>
          </a:p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pPr eaLnBrk="0" hangingPunct="0"/>
            <a:endParaRPr lang="zh-TW" altLang="en-US">
              <a:ea typeface="新細明體" pitchFamily="18" charset="-120"/>
            </a:endParaRP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0" y="4572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/>
            <a:r>
              <a:rPr lang="en-US" altLang="zh-TW" sz="32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Major Features of the Internet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ChangeArrowheads="1"/>
          </p:cNvSpPr>
          <p:nvPr/>
        </p:nvSpPr>
        <p:spPr bwMode="auto">
          <a:xfrm>
            <a:off x="457200" y="5791200"/>
            <a:ext cx="8686800" cy="84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pPr marL="1379538" lvl="1" indent="-468313" defTabSz="169863">
              <a:lnSpc>
                <a:spcPct val="50000"/>
              </a:lnSpc>
              <a:buFontTx/>
              <a:buChar char="•"/>
            </a:pPr>
            <a:endParaRPr lang="en-US" altLang="zh-TW" b="1" dirty="0">
              <a:solidFill>
                <a:schemeClr val="accent2"/>
              </a:solidFill>
              <a:ea typeface="新細明體" pitchFamily="18" charset="-120"/>
            </a:endParaRPr>
          </a:p>
          <a:p>
            <a:pPr marL="1379538" lvl="1" indent="-468313" defTabSz="169863">
              <a:buFontTx/>
              <a:buChar char="•"/>
            </a:pPr>
            <a:endParaRPr lang="en-US" altLang="zh-TW" b="1" dirty="0">
              <a:solidFill>
                <a:schemeClr val="accent2"/>
              </a:solidFill>
              <a:ea typeface="新細明體" pitchFamily="18" charset="-120"/>
            </a:endParaRPr>
          </a:p>
          <a:p>
            <a:pPr marL="1379538" lvl="1" indent="-468313" defTabSz="169863">
              <a:buFontTx/>
              <a:buChar char="•"/>
            </a:pPr>
            <a:endParaRPr lang="en-US" altLang="zh-TW" b="1" dirty="0">
              <a:solidFill>
                <a:schemeClr val="accent2"/>
              </a:solidFill>
              <a:ea typeface="新細明體" pitchFamily="18" charset="-120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-152400" y="2743200"/>
            <a:ext cx="9144000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pPr eaLnBrk="0" hangingPunct="0"/>
            <a:endParaRPr lang="zh-TW" altLang="en-US">
              <a:ea typeface="新細明體" pitchFamily="18" charset="-120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0" y="381000"/>
            <a:ext cx="9144000" cy="1261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796925" lvl="2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Major Features of the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…</a:t>
            </a:r>
          </a:p>
          <a:p>
            <a:pPr marL="796925" lvl="2"/>
            <a:endParaRPr lang="en-US" altLang="zh-TW" sz="24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796925" lvl="2" algn="ctr"/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The World Wide </a:t>
            </a:r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Web (WWW) </a:t>
            </a:r>
            <a:endParaRPr lang="en-US" altLang="zh-TW" sz="28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0" y="1828800"/>
            <a:ext cx="8839200" cy="4724400"/>
          </a:xfrm>
          <a:prstGeom prst="rect">
            <a:avLst/>
          </a:prstGeom>
        </p:spPr>
        <p:txBody>
          <a:bodyPr/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 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World Wide Web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abbreviated as 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and commonly known as </a:t>
            </a:r>
            <a:r>
              <a:rPr kumimoji="0" lang="en-US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Web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is a system of interlinked </a:t>
            </a:r>
            <a:r>
              <a:rPr kumimoji="0" lang="en-US" sz="22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hypertext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documents accessed via the Internet.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altLang="zh-TW" sz="2200" dirty="0" smtClean="0">
                <a:ea typeface="新細明體" pitchFamily="18" charset="-120"/>
              </a:rPr>
              <a:t>WWW is a part of the Internet, which supports hypertext documents, allowing users to view and navigate different types of data.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altLang="zh-TW" sz="2200" dirty="0" smtClean="0">
              <a:ea typeface="新細明體" pitchFamily="18" charset="-120"/>
            </a:endParaRP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 a 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2" tooltip="Web browser"/>
              </a:rPr>
              <a:t>web browser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one can view web pages that may contain text, images, videos, and other multimedia and navigate between them via 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3" tooltip="Hyperlink"/>
              </a:rPr>
              <a:t>hyperlinks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altLang="zh-TW" sz="2200" dirty="0" smtClean="0">
                <a:ea typeface="新細明體" pitchFamily="18" charset="-120"/>
              </a:rPr>
              <a:t>Every Web page has an address, a Uniform Resource    Locator  (URL). 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Hypertext is text which contains </a:t>
            </a:r>
            <a:r>
              <a:rPr lang="en-US" dirty="0">
                <a:hlinkClick r:id="rId2"/>
              </a:rPr>
              <a:t>links</a:t>
            </a:r>
            <a:r>
              <a:rPr lang="en-US" dirty="0"/>
              <a:t> to other texts. </a:t>
            </a:r>
          </a:p>
          <a:p>
            <a:r>
              <a:rPr lang="en-US" b="1" dirty="0"/>
              <a:t>Hypertext</a:t>
            </a:r>
            <a:r>
              <a:rPr lang="en-US" dirty="0"/>
              <a:t>, made famous by the World Wide Web, is most simply a way of constructing documents that reference other </a:t>
            </a:r>
            <a:r>
              <a:rPr lang="en-US" dirty="0" smtClean="0"/>
              <a:t>documents.</a:t>
            </a:r>
          </a:p>
          <a:p>
            <a:r>
              <a:rPr lang="en-US" altLang="zh-TW" dirty="0" smtClean="0">
                <a:ea typeface="新細明體" pitchFamily="18" charset="-120"/>
              </a:rPr>
              <a:t>Hypertext document is written in HTML Language.</a:t>
            </a:r>
          </a:p>
          <a:p>
            <a:pPr marL="1836738" lvl="2" indent="-468313" defTabSz="169863">
              <a:buFont typeface="Wingdings" pitchFamily="2" charset="2"/>
              <a:buChar char="ü"/>
            </a:pPr>
            <a:r>
              <a:rPr lang="en-US" altLang="zh-TW" dirty="0" smtClean="0">
                <a:ea typeface="新細明體" pitchFamily="18" charset="-120"/>
              </a:rPr>
              <a:t> Hyper Text Markup Language</a:t>
            </a:r>
          </a:p>
          <a:p>
            <a:pPr marL="1836738" lvl="2" indent="-468313" defTabSz="169863">
              <a:buFont typeface="Wingdings" pitchFamily="2" charset="2"/>
              <a:buChar char="ü"/>
            </a:pPr>
            <a:r>
              <a:rPr lang="en-US" altLang="zh-TW" dirty="0" smtClean="0">
                <a:ea typeface="新細明體" pitchFamily="18" charset="-120"/>
              </a:rPr>
              <a:t>Based on SGML </a:t>
            </a:r>
            <a:r>
              <a:rPr lang="en-US" altLang="zh-TW" sz="2000" dirty="0" smtClean="0">
                <a:ea typeface="新細明體" pitchFamily="18" charset="-120"/>
              </a:rPr>
              <a:t>(Standard Generalized Markup Language)</a:t>
            </a:r>
          </a:p>
          <a:p>
            <a:pPr marL="1836738" lvl="2" indent="-468313" defTabSz="169863">
              <a:buFont typeface="Wingdings" pitchFamily="2" charset="2"/>
              <a:buChar char="ü"/>
            </a:pPr>
            <a:r>
              <a:rPr lang="en-US" altLang="zh-TW" dirty="0" smtClean="0">
                <a:ea typeface="新細明體" pitchFamily="18" charset="-120"/>
              </a:rPr>
              <a:t>Describes the Structure of the document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Hypertext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 l="20230" t="22354" r="18915" b="21228"/>
          <a:stretch>
            <a:fillRect/>
          </a:stretch>
        </p:blipFill>
        <p:spPr bwMode="auto">
          <a:xfrm>
            <a:off x="466338" y="285728"/>
            <a:ext cx="8677662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85786" y="357166"/>
          <a:ext cx="2838450" cy="560832"/>
        </p:xfrm>
        <a:graphic>
          <a:graphicData uri="http://schemas.openxmlformats.org/drawingml/2006/table">
            <a:tbl>
              <a:tblPr/>
              <a:tblGrid>
                <a:gridCol w="2838450"/>
              </a:tblGrid>
              <a:tr h="45720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80C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HTML Code </a:t>
                      </a:r>
                      <a:endParaRPr lang="en-US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214414" y="1142984"/>
          <a:ext cx="7786742" cy="5715016"/>
        </p:xfrm>
        <a:graphic>
          <a:graphicData uri="http://schemas.openxmlformats.org/drawingml/2006/table">
            <a:tbl>
              <a:tblPr/>
              <a:tblGrid>
                <a:gridCol w="7786742"/>
              </a:tblGrid>
              <a:tr h="5715016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&lt;HTML&gt;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243205" algn="l">
                        <a:lnSpc>
                          <a:spcPts val="19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&lt;HEAD&gt;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48831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&lt;TITLE&gt;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Nixu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 International&lt;/TITLE&gt;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24320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&lt;/HEAD&gt;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24320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&lt;BODY background="/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gfx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/back1.gif"&gt;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48831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&lt;CENTER&gt;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73342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&lt;IMG SRC="/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gfx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/logo.gif" ALT="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Nixu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Oy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"&gt;&lt;BR&gt;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733425" algn="l">
                        <a:lnSpc>
                          <a:spcPts val="19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&lt;H1&gt;&lt;I&gt;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Nixu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Oy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&lt;/I&gt;&lt;/H1&gt;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73342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&lt;UL&gt;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97726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&lt;LI&gt;&lt;A HREF="/yhteysti.html"&gt;Contact us&lt;/A&gt;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97726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&lt;LI&gt;&lt;A HREF="/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avoimett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/"&gt;Jobs&lt;/A&gt;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97726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&lt;LI&gt;&lt;A HREF="/</a:t>
                      </a: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palvelut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/"&gt;What we do&lt;/A&gt;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97726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&lt;LI&gt;&lt;A HREF="http://www.namesurfer.com/"&gt;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1833880" algn="l">
                        <a:lnSpc>
                          <a:spcPts val="19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Courier New"/>
                          <a:ea typeface="Times New Roman"/>
                          <a:cs typeface="Times New Roman"/>
                        </a:rPr>
                        <a:t>NameSurfer</a:t>
                      </a: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&lt;/A&gt;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73342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&lt;/UL&gt;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48831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&lt;/CENTER&gt;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243205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&lt;/BODY&gt; &lt;/HTML&gt;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000" y="2819400"/>
          <a:ext cx="8501122" cy="3822331"/>
        </p:xfrm>
        <a:graphic>
          <a:graphicData uri="http://schemas.openxmlformats.org/drawingml/2006/table">
            <a:tbl>
              <a:tblPr/>
              <a:tblGrid>
                <a:gridCol w="8501122"/>
              </a:tblGrid>
              <a:tr h="2906788">
                <a:tc>
                  <a:txBody>
                    <a:bodyPr/>
                    <a:lstStyle/>
                    <a:p>
                      <a:pPr marL="0" marR="0" indent="80264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protocol://host[:server port]/path/file.html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802640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protocol://host[:server port]/path/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l">
                        <a:lnSpc>
                          <a:spcPts val="38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8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•</a:t>
                      </a:r>
                      <a:r>
                        <a:rPr lang="en-US" sz="2000" dirty="0">
                          <a:latin typeface="Arial"/>
                          <a:ea typeface="Times New Roman"/>
                          <a:cs typeface="Times New Roman"/>
                        </a:rPr>
                        <a:t>  For example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802640" algn="l">
                        <a:lnSpc>
                          <a:spcPts val="210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http://www.hut.fi/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802640" algn="l">
                        <a:lnSpc>
                          <a:spcPts val="19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http://www.nixu.fi/~kiravuo/etiketti/index.html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802640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news:sfnet.harrastus.retkeily </a:t>
                      </a: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802640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Courier New"/>
                          <a:ea typeface="Times New Roman"/>
                          <a:cs typeface="Times New Roman"/>
                        </a:rPr>
                        <a:t>ftp://ftp.funet.fi/rfc/ </a:t>
                      </a:r>
                      <a:endParaRPr lang="en-US" sz="2000" dirty="0" smtClean="0">
                        <a:latin typeface="Courier New"/>
                        <a:ea typeface="Times New Roman"/>
                        <a:cs typeface="Times New Roman"/>
                      </a:endParaRPr>
                    </a:p>
                    <a:p>
                      <a:pPr marL="0" marR="0" indent="802640" algn="l">
                        <a:lnSpc>
                          <a:spcPts val="192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l">
                        <a:lnSpc>
                          <a:spcPts val="385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8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•</a:t>
                      </a:r>
                      <a:r>
                        <a:rPr lang="en-US" sz="2000" dirty="0">
                          <a:latin typeface="Arial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lang="en-US" sz="2800" dirty="0">
                          <a:latin typeface="Arial"/>
                          <a:ea typeface="Times New Roman"/>
                          <a:cs typeface="Times New Roman"/>
                        </a:rPr>
                        <a:t>WWW browser uses the URL address to retrieve a </a:t>
                      </a:r>
                      <a:endParaRPr lang="en-US" sz="28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298450" algn="l">
                        <a:lnSpc>
                          <a:spcPts val="27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Arial"/>
                          <a:ea typeface="Times New Roman"/>
                          <a:cs typeface="Times New Roman"/>
                        </a:rPr>
                        <a:t>document over the network </a:t>
                      </a:r>
                      <a:endParaRPr lang="en-US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65111">
                <a:tc>
                  <a:txBody>
                    <a:bodyPr/>
                    <a:lstStyle/>
                    <a:p>
                      <a:pPr marL="0" marR="0" indent="298450" algn="l">
                        <a:lnSpc>
                          <a:spcPts val="27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2400"/>
          <a:ext cx="7786742" cy="2500330"/>
        </p:xfrm>
        <a:graphic>
          <a:graphicData uri="http://schemas.openxmlformats.org/drawingml/2006/table">
            <a:tbl>
              <a:tblPr/>
              <a:tblGrid>
                <a:gridCol w="7786742"/>
              </a:tblGrid>
              <a:tr h="2500330">
                <a:tc>
                  <a:txBody>
                    <a:bodyPr/>
                    <a:lstStyle/>
                    <a:p>
                      <a:pPr marL="0" marR="0" indent="27368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dirty="0" smtClean="0">
                        <a:solidFill>
                          <a:srgbClr val="0080C0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 indent="27368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 smtClean="0">
                          <a:solidFill>
                            <a:srgbClr val="0080C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URL</a:t>
                      </a:r>
                      <a:r>
                        <a:rPr lang="en-US" sz="2800" dirty="0" smtClean="0">
                          <a:solidFill>
                            <a:srgbClr val="0080C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 </a:t>
                      </a:r>
                      <a:endParaRPr lang="en-US" sz="2800" dirty="0" smtClean="0">
                        <a:solidFill>
                          <a:srgbClr val="0080C0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  <a:p>
                      <a:pPr marL="0" marR="0" indent="273685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l">
                        <a:lnSpc>
                          <a:spcPts val="3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8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•</a:t>
                      </a:r>
                      <a:r>
                        <a:rPr lang="en-US" sz="2800" dirty="0">
                          <a:latin typeface="Arial"/>
                          <a:ea typeface="Times New Roman"/>
                          <a:cs typeface="Times New Roman"/>
                        </a:rPr>
                        <a:t>  Universal Resource Locator </a:t>
                      </a:r>
                      <a:endParaRPr lang="en-US" sz="28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algn="l">
                        <a:lnSpc>
                          <a:spcPts val="40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80C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•</a:t>
                      </a:r>
                      <a:r>
                        <a:rPr lang="en-US" sz="2800" dirty="0">
                          <a:latin typeface="Arial"/>
                          <a:ea typeface="Times New Roman"/>
                          <a:cs typeface="Times New Roman"/>
                        </a:rPr>
                        <a:t>  URL is an address to the current location of </a:t>
                      </a:r>
                      <a:endParaRPr lang="en-US" sz="2800" dirty="0">
                        <a:latin typeface="Calibri"/>
                        <a:ea typeface="Times New Roman"/>
                        <a:cs typeface="Times New Roman"/>
                      </a:endParaRPr>
                    </a:p>
                    <a:p>
                      <a:pPr marL="0" marR="0" indent="298450" algn="l">
                        <a:lnSpc>
                          <a:spcPts val="273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latin typeface="Arial"/>
                          <a:ea typeface="Times New Roman"/>
                          <a:cs typeface="Times New Roman"/>
                        </a:rPr>
                        <a:t>information </a:t>
                      </a:r>
                      <a:endParaRPr lang="en-US" sz="28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19-8"/>
          <p:cNvPicPr>
            <a:picLocks noChangeAspect="1" noChangeArrowheads="1"/>
          </p:cNvPicPr>
          <p:nvPr/>
        </p:nvPicPr>
        <p:blipFill>
          <a:blip r:embed="rId2"/>
          <a:srcRect t="43141" b="40189"/>
          <a:stretch>
            <a:fillRect/>
          </a:stretch>
        </p:blipFill>
        <p:spPr bwMode="auto">
          <a:xfrm>
            <a:off x="457200" y="2209800"/>
            <a:ext cx="8229600" cy="1371600"/>
          </a:xfrm>
          <a:prstGeom prst="rect">
            <a:avLst/>
          </a:prstGeom>
          <a:noFill/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542925" y="1371600"/>
            <a:ext cx="3267075" cy="835025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This address is for an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Internet server that uses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The hypertext transfer protocol.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4648200" y="1600200"/>
            <a:ext cx="2711450" cy="590550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This site belongs to a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company named Glencoe.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219200" y="3581400"/>
            <a:ext cx="2500313" cy="835025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This site is on the part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of the Internet known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as the World Wide Web.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5181600" y="3581400"/>
            <a:ext cx="3335338" cy="1323975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1"/>
            </a:solidFill>
            <a:miter lim="800000"/>
            <a:headEnd/>
            <a:tailEnd/>
          </a:ln>
          <a:effectLst>
            <a:outerShdw dist="107763" dir="18900000" algn="ctr" rotWithShape="0">
              <a:schemeClr val="bg2"/>
            </a:outerShdw>
          </a:effectLst>
        </p:spPr>
        <p:txBody>
          <a:bodyPr wrap="none">
            <a:spAutoFit/>
          </a:bodyPr>
          <a:lstStyle/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To find the specific Web pages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that accompany this book, your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browser follows the URL’s path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to a folder named “norton,” then</a:t>
            </a:r>
          </a:p>
          <a:p>
            <a:r>
              <a:rPr lang="en-US" altLang="zh-TW" sz="1600" b="1">
                <a:latin typeface="Arial" charset="0"/>
                <a:ea typeface="新細明體" pitchFamily="18" charset="-120"/>
              </a:rPr>
              <a:t>to a subfolder named “online.”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3" presetClass="entr" presetSubtype="52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23" presetClass="entr" presetSubtype="52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8500"/>
                            </p:stCondLst>
                            <p:childTnLst>
                              <p:par>
                                <p:cTn id="26" presetID="23" presetClass="entr" presetSubtype="528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nimBg="1" autoUpdateAnimBg="0"/>
      <p:bldP spid="15364" grpId="0" animBg="1" autoUpdateAnimBg="0"/>
      <p:bldP spid="15365" grpId="0" animBg="1" autoUpdateAnimBg="0"/>
      <p:bldP spid="15366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5181600"/>
          </a:xfrm>
        </p:spPr>
        <p:txBody>
          <a:bodyPr>
            <a:normAutofit fontScale="92500"/>
          </a:bodyPr>
          <a:lstStyle/>
          <a:p>
            <a:r>
              <a:rPr lang="en-US" dirty="0"/>
              <a:t>In computing, a </a:t>
            </a:r>
            <a:r>
              <a:rPr lang="en-US" b="1" dirty="0"/>
              <a:t>hyperlink</a:t>
            </a:r>
            <a:r>
              <a:rPr lang="en-US" dirty="0"/>
              <a:t> (or </a:t>
            </a:r>
            <a:r>
              <a:rPr lang="en-US" i="1" dirty="0"/>
              <a:t>link</a:t>
            </a:r>
            <a:r>
              <a:rPr lang="en-US" dirty="0"/>
              <a:t>) is a reference to a document that the reader can directly follow, or that is followed automatically. 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hyperlink points to a whole document or to a specific element within a document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marL="365760" lvl="1" indent="-256032">
              <a:spcBef>
                <a:spcPts val="400"/>
              </a:spcBef>
              <a:buSzPct val="68000"/>
              <a:buFont typeface="Wingdings 3"/>
              <a:buChar char=""/>
            </a:pPr>
            <a:r>
              <a:rPr lang="en-US" altLang="zh-TW" sz="2700" dirty="0" smtClean="0">
                <a:ea typeface="新細明體" pitchFamily="18" charset="-120"/>
              </a:rPr>
              <a:t>HTML allows designers to link content together via hyperlinks. </a:t>
            </a:r>
          </a:p>
          <a:p>
            <a:pPr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Hyperlink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2420938"/>
          </a:xfrm>
        </p:spPr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web browser</a:t>
            </a:r>
            <a:r>
              <a:rPr lang="en-US" dirty="0"/>
              <a:t> or </a:t>
            </a:r>
            <a:r>
              <a:rPr lang="en-US" b="1" dirty="0"/>
              <a:t>Internet browser</a:t>
            </a:r>
            <a:r>
              <a:rPr lang="en-US" dirty="0"/>
              <a:t> is a </a:t>
            </a:r>
            <a:r>
              <a:rPr lang="en-US" i="1" dirty="0"/>
              <a:t>software application</a:t>
            </a:r>
            <a:r>
              <a:rPr lang="en-US" dirty="0"/>
              <a:t> for retrieving, presenting, and traversing information resources on the World Wide Web. </a:t>
            </a: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Web Browser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86400" y="3733799"/>
            <a:ext cx="3124200" cy="3044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Web Browsers 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763000" cy="5562600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>
                <a:latin typeface="Lucida Sans Unicode (Body)"/>
              </a:rPr>
              <a:t>The very first web browser was written by Tim burners Lee. </a:t>
            </a:r>
          </a:p>
          <a:p>
            <a:endParaRPr lang="en-US" sz="2400" dirty="0" smtClean="0"/>
          </a:p>
          <a:p>
            <a:r>
              <a:rPr lang="en-US" sz="2400" dirty="0" smtClean="0"/>
              <a:t>Mosaic (1993) was first point-and-click browser, </a:t>
            </a:r>
            <a:r>
              <a:rPr lang="en-US" sz="2400" dirty="0" smtClean="0">
                <a:latin typeface="Lucida Sans Unicode (Body)"/>
              </a:rPr>
              <a:t>which was written by Marc Andreessen and other undergraduate students at the National Center for Supercomputing Applications NCSA) in the United States.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E.g.  </a:t>
            </a:r>
          </a:p>
          <a:p>
            <a:pPr lvl="8"/>
            <a:r>
              <a:rPr lang="en-US" sz="2400" dirty="0" smtClean="0"/>
              <a:t>Internet Explore(IE)</a:t>
            </a:r>
          </a:p>
          <a:p>
            <a:pPr lvl="8"/>
            <a:r>
              <a:rPr lang="en-US" sz="2400" dirty="0" smtClean="0"/>
              <a:t>Firefox</a:t>
            </a:r>
          </a:p>
          <a:p>
            <a:pPr lvl="8"/>
            <a:r>
              <a:rPr lang="en-US" sz="2400" dirty="0" smtClean="0"/>
              <a:t>Opera</a:t>
            </a:r>
          </a:p>
          <a:p>
            <a:pPr lvl="8"/>
            <a:r>
              <a:rPr lang="en-US" sz="2400" dirty="0" smtClean="0"/>
              <a:t>Chrome</a:t>
            </a:r>
          </a:p>
          <a:p>
            <a:pPr lvl="8"/>
            <a:r>
              <a:rPr lang="en-US" sz="2400" dirty="0" smtClean="0"/>
              <a:t>Safari</a:t>
            </a:r>
          </a:p>
          <a:p>
            <a:pPr lvl="8"/>
            <a:r>
              <a:rPr lang="en-US" sz="2400" dirty="0" smtClean="0"/>
              <a:t>Netscape Navigator</a:t>
            </a:r>
          </a:p>
        </p:txBody>
      </p:sp>
    </p:spTree>
  </p:cSld>
  <p:clrMapOvr>
    <a:masterClrMapping/>
  </p:clrMapOvr>
  <p:transition advClick="0" advTm="6000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perspectiveFront"/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>
            <a:noAutofit/>
            <a:scene3d>
              <a:camera prst="perspectiveFront"/>
              <a:lightRig rig="soft" dir="t"/>
            </a:scene3d>
            <a:sp3d prstMaterial="softEdge">
              <a:bevelT w="25400" h="25400"/>
            </a:sp3d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b="0" dirty="0" smtClean="0">
                <a:ln>
                  <a:solidFill>
                    <a:schemeClr val="bg1"/>
                  </a:solidFill>
                </a:ln>
                <a:solidFill>
                  <a:schemeClr val="bg1">
                    <a:lumMod val="65000"/>
                    <a:lumOff val="35000"/>
                  </a:schemeClr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  <a:t> Process of web browser </a:t>
            </a:r>
            <a:br>
              <a:rPr lang="en-US" sz="4000" b="0" dirty="0" smtClean="0">
                <a:ln>
                  <a:solidFill>
                    <a:schemeClr val="bg1"/>
                  </a:solidFill>
                </a:ln>
                <a:solidFill>
                  <a:schemeClr val="bg1">
                    <a:lumMod val="65000"/>
                    <a:lumOff val="35000"/>
                  </a:schemeClr>
                </a:solidFill>
                <a:effectLst>
                  <a:innerShdw blurRad="63500" dist="50800" dir="2700000">
                    <a:prstClr val="black">
                      <a:alpha val="50000"/>
                    </a:prstClr>
                  </a:innerShdw>
                </a:effectLst>
              </a:rPr>
            </a:br>
            <a:endParaRPr lang="en-US" sz="4000" b="0" dirty="0">
              <a:ln>
                <a:solidFill>
                  <a:schemeClr val="bg1"/>
                </a:solidFill>
              </a:ln>
              <a:solidFill>
                <a:schemeClr val="bg1">
                  <a:lumMod val="65000"/>
                  <a:lumOff val="35000"/>
                </a:schemeClr>
              </a:solidFill>
              <a:effectLst>
                <a:innerShdw blurRad="63500" dist="50800" dir="2700000">
                  <a:prstClr val="black">
                    <a:alpha val="50000"/>
                  </a:prstClr>
                </a:inn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0" y="1752600"/>
            <a:ext cx="2133600" cy="3124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9800" y="2895600"/>
            <a:ext cx="2286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00" y="2819400"/>
            <a:ext cx="213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6096000" y="2133600"/>
            <a:ext cx="213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6096000" y="2209800"/>
            <a:ext cx="2133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48400" y="2286000"/>
            <a:ext cx="1828800" cy="523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rgbClr val="00B050"/>
                </a:solidFill>
              </a:rPr>
              <a:t>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4800" y="1981200"/>
            <a:ext cx="3429000" cy="17526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09600" y="2438400"/>
            <a:ext cx="2819400" cy="6461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00B050"/>
                </a:solidFill>
              </a:rPr>
              <a:t>BROWSER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733800" y="2743200"/>
            <a:ext cx="22860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endCxn id="19" idx="2"/>
          </p:cNvCxnSpPr>
          <p:nvPr/>
        </p:nvCxnSpPr>
        <p:spPr>
          <a:xfrm rot="10800000">
            <a:off x="2019300" y="3733800"/>
            <a:ext cx="4076700" cy="1066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1066800" y="4495800"/>
            <a:ext cx="3657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dirty="0">
                <a:latin typeface="Gill Sans MT" pitchFamily="34" charset="0"/>
              </a:rPr>
              <a:t>`</a:t>
            </a:r>
            <a:r>
              <a:rPr lang="en-US" sz="2400" b="1" i="1" dirty="0">
                <a:solidFill>
                  <a:srgbClr val="FF0000"/>
                </a:solidFill>
                <a:latin typeface="Gill Sans MT" pitchFamily="34" charset="0"/>
              </a:rPr>
              <a:t>Server searches for the information and sent it to the browser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3962400" y="1143000"/>
            <a:ext cx="2286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Gill Sans MT" pitchFamily="34" charset="0"/>
              </a:rPr>
              <a:t>Browser request for information</a:t>
            </a:r>
          </a:p>
        </p:txBody>
      </p:sp>
    </p:spTree>
  </p:cSld>
  <p:clrMapOvr>
    <a:masterClrMapping/>
  </p:clrMapOvr>
  <p:transition>
    <p:whee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33" grpId="0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  <a:effectLst/>
              </a:rPr>
              <a:t>Search Engines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effectLst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1219200"/>
            <a:ext cx="8229600" cy="2420938"/>
          </a:xfrm>
          <a:prstGeom prst="rect">
            <a:avLst/>
          </a:prstGeom>
        </p:spPr>
        <p:txBody>
          <a:bodyPr/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>
                <a:latin typeface="Gill Sans MT" pitchFamily="34" charset="0"/>
              </a:rPr>
              <a:t>A search engine is a piece of application software that sits on a powerful computer ( a server) on the Internet. 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>
                <a:latin typeface="Gill Sans MT" pitchFamily="34" charset="0"/>
              </a:rPr>
              <a:t>Search engines keep track of information available on the Internet. 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>
                <a:latin typeface="Gill Sans MT" pitchFamily="34" charset="0"/>
              </a:rPr>
              <a:t>E.g.</a:t>
            </a:r>
          </a:p>
          <a:p>
            <a:pPr lvl="6">
              <a:buFont typeface="Arial" pitchFamily="34" charset="0"/>
              <a:buChar char="•"/>
            </a:pPr>
            <a:r>
              <a:rPr lang="en-US" sz="2400" dirty="0" smtClean="0">
                <a:latin typeface="Gill Sans MT" pitchFamily="34" charset="0"/>
                <a:hlinkClick r:id="rId2"/>
              </a:rPr>
              <a:t> </a:t>
            </a:r>
            <a:r>
              <a:rPr lang="en-US" sz="2400" dirty="0" smtClean="0">
                <a:latin typeface="Gill Sans MT" pitchFamily="34" charset="0"/>
              </a:rPr>
              <a:t>Google</a:t>
            </a:r>
            <a:r>
              <a:rPr lang="en-US" sz="2400" dirty="0" smtClean="0">
                <a:latin typeface="Gill Sans MT" pitchFamily="34" charset="0"/>
                <a:hlinkClick r:id="rId2"/>
              </a:rPr>
              <a:t>www.google.com</a:t>
            </a:r>
            <a:r>
              <a:rPr lang="en-US" sz="2400" dirty="0" smtClean="0">
                <a:latin typeface="Gill Sans MT" pitchFamily="34" charset="0"/>
              </a:rPr>
              <a:t>)</a:t>
            </a:r>
          </a:p>
          <a:p>
            <a:pPr lvl="6">
              <a:buFont typeface="Arial" pitchFamily="34" charset="0"/>
              <a:buChar char="•"/>
            </a:pPr>
            <a:r>
              <a:rPr lang="en-US" sz="2400" dirty="0" smtClean="0">
                <a:latin typeface="Gill Sans MT" pitchFamily="34" charset="0"/>
              </a:rPr>
              <a:t> Excite</a:t>
            </a:r>
            <a:r>
              <a:rPr lang="en-US" sz="2400" dirty="0" smtClean="0">
                <a:latin typeface="Gill Sans MT" pitchFamily="34" charset="0"/>
                <a:hlinkClick r:id="rId3"/>
              </a:rPr>
              <a:t>www.excite.com</a:t>
            </a:r>
            <a:r>
              <a:rPr lang="en-US" sz="2400" dirty="0" smtClean="0">
                <a:latin typeface="Gill Sans MT" pitchFamily="34" charset="0"/>
              </a:rPr>
              <a:t>)</a:t>
            </a:r>
          </a:p>
          <a:p>
            <a:pPr lvl="6">
              <a:buFont typeface="Arial" pitchFamily="34" charset="0"/>
              <a:buChar char="•"/>
            </a:pPr>
            <a:r>
              <a:rPr lang="en-US" sz="2400" dirty="0" smtClean="0">
                <a:latin typeface="Gill Sans MT" pitchFamily="34" charset="0"/>
              </a:rPr>
              <a:t> Lycos</a:t>
            </a:r>
            <a:r>
              <a:rPr lang="en-US" sz="2400" dirty="0" smtClean="0">
                <a:latin typeface="Gill Sans MT" pitchFamily="34" charset="0"/>
                <a:hlinkClick r:id="rId4"/>
              </a:rPr>
              <a:t>www.lycos.com</a:t>
            </a:r>
            <a:r>
              <a:rPr lang="en-US" sz="2400" dirty="0" smtClean="0">
                <a:latin typeface="Gill Sans MT" pitchFamily="34" charset="0"/>
              </a:rPr>
              <a:t>)</a:t>
            </a:r>
          </a:p>
          <a:p>
            <a:pPr lvl="6">
              <a:buFont typeface="Arial" pitchFamily="34" charset="0"/>
              <a:buChar char="•"/>
            </a:pPr>
            <a:r>
              <a:rPr lang="en-US" sz="2400" dirty="0" smtClean="0">
                <a:latin typeface="Gill Sans MT" pitchFamily="34" charset="0"/>
              </a:rPr>
              <a:t> Info seek Guide(</a:t>
            </a:r>
            <a:r>
              <a:rPr lang="en-US" sz="2400" dirty="0" smtClean="0">
                <a:latin typeface="Gill Sans MT" pitchFamily="34" charset="0"/>
                <a:hlinkClick r:id="rId5"/>
              </a:rPr>
              <a:t>www.infoseek.com</a:t>
            </a:r>
            <a:r>
              <a:rPr lang="en-US" sz="2400" dirty="0" smtClean="0">
                <a:latin typeface="Gill Sans MT" pitchFamily="34" charset="0"/>
              </a:rPr>
              <a:t>)</a:t>
            </a:r>
          </a:p>
          <a:p>
            <a:pPr lvl="6">
              <a:buFont typeface="Arial" pitchFamily="34" charset="0"/>
              <a:buChar char="•"/>
            </a:pPr>
            <a:r>
              <a:rPr lang="en-US" sz="2400" dirty="0" smtClean="0">
                <a:latin typeface="Gill Sans MT" pitchFamily="34" charset="0"/>
              </a:rPr>
              <a:t> WebCrawler(</a:t>
            </a:r>
            <a:r>
              <a:rPr lang="en-US" sz="2400" dirty="0" smtClean="0">
                <a:latin typeface="Gill Sans MT" pitchFamily="34" charset="0"/>
                <a:hlinkClick r:id="rId6"/>
              </a:rPr>
              <a:t>www.webcrawler.com</a:t>
            </a:r>
            <a:r>
              <a:rPr lang="en-US" sz="2400" dirty="0" smtClean="0">
                <a:latin typeface="Gill Sans MT" pitchFamily="34" charset="0"/>
              </a:rPr>
              <a:t>)</a:t>
            </a:r>
          </a:p>
          <a:p>
            <a:pPr lvl="6">
              <a:buFont typeface="Arial" pitchFamily="34" charset="0"/>
              <a:buChar char="•"/>
            </a:pPr>
            <a:r>
              <a:rPr lang="en-US" sz="2400" dirty="0" smtClean="0">
                <a:latin typeface="Gill Sans MT" pitchFamily="34" charset="0"/>
              </a:rPr>
              <a:t> World wide web worm (</a:t>
            </a:r>
            <a:r>
              <a:rPr lang="en-US" sz="2400" dirty="0" smtClean="0">
                <a:latin typeface="Gill Sans MT" pitchFamily="34" charset="0"/>
                <a:hlinkClick r:id="rId7"/>
              </a:rPr>
              <a:t>www.goto.com</a:t>
            </a:r>
            <a:r>
              <a:rPr lang="en-US" sz="2400" dirty="0" smtClean="0">
                <a:latin typeface="Gill Sans MT" pitchFamily="34" charset="0"/>
              </a:rPr>
              <a:t>)</a:t>
            </a:r>
          </a:p>
          <a:p>
            <a:pPr lvl="6">
              <a:buFont typeface="Arial" pitchFamily="34" charset="0"/>
              <a:buChar char="•"/>
            </a:pPr>
            <a:r>
              <a:rPr lang="en-US" sz="3200" dirty="0" smtClean="0">
                <a:latin typeface="Gill Sans MT" pitchFamily="34" charset="0"/>
              </a:rPr>
              <a:t> </a:t>
            </a:r>
            <a:r>
              <a:rPr lang="en-US" sz="2800" dirty="0" smtClean="0">
                <a:latin typeface="Gill Sans MT" pitchFamily="34" charset="0"/>
              </a:rPr>
              <a:t>AltaVista</a:t>
            </a:r>
            <a:r>
              <a:rPr lang="en-US" sz="3200" dirty="0" smtClean="0">
                <a:latin typeface="Gill Sans MT" pitchFamily="34" charset="0"/>
              </a:rPr>
              <a:t> (</a:t>
            </a:r>
            <a:r>
              <a:rPr lang="en-US" sz="3200" dirty="0" smtClean="0">
                <a:latin typeface="Gill Sans MT" pitchFamily="34" charset="0"/>
                <a:hlinkClick r:id="rId8"/>
              </a:rPr>
              <a:t>www.altavista.com</a:t>
            </a:r>
            <a:r>
              <a:rPr lang="en-US" sz="3200" dirty="0" smtClean="0">
                <a:latin typeface="Gill Sans MT" pitchFamily="34" charset="0"/>
              </a:rPr>
              <a:t>)</a:t>
            </a:r>
          </a:p>
          <a:p>
            <a:pPr marL="822960" lvl="1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800" dirty="0" smtClean="0">
              <a:latin typeface="Gill Sans MT" pitchFamily="34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7391400" y="3124200"/>
            <a:ext cx="1600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685800" y="0"/>
            <a:ext cx="8229600" cy="9906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Search Engines…</a:t>
            </a:r>
            <a:endParaRPr kumimoji="0" lang="en-US" sz="4100" b="1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60000"/>
                  <a:lumOff val="4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381000" y="914400"/>
            <a:ext cx="8534400" cy="6248400"/>
          </a:xfrm>
          <a:prstGeom prst="rect">
            <a:avLst/>
          </a:prstGeom>
        </p:spPr>
        <p:txBody>
          <a:bodyPr/>
          <a:lstStyle/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/>
            </a:pPr>
            <a:r>
              <a:rPr kumimoji="0" lang="en-US" sz="2400" b="0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Advantages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400" dirty="0" smtClean="0">
                <a:latin typeface="Corbel" pitchFamily="34" charset="0"/>
              </a:rPr>
              <a:t>Control over search: search terms can be combined as required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400" dirty="0" smtClean="0">
                <a:latin typeface="Corbel" pitchFamily="34" charset="0"/>
              </a:rPr>
              <a:t>search can be limited to period of time, field, source type etc..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400" dirty="0" smtClean="0">
                <a:latin typeface="Corbel" pitchFamily="34" charset="0"/>
              </a:rPr>
              <a:t>Currency of information made possible by regular addition by web spiders.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400" dirty="0" smtClean="0">
                <a:latin typeface="Corbel" pitchFamily="34" charset="0"/>
              </a:rPr>
              <a:t>Best suited for complex keyword/concept searches.</a:t>
            </a: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400" dirty="0" smtClean="0">
              <a:latin typeface="Corbel" pitchFamily="34" charset="0"/>
            </a:endParaRPr>
          </a:p>
          <a:p>
            <a:pPr marL="365760" lvl="0" indent="-256032">
              <a:spcBef>
                <a:spcPts val="400"/>
              </a:spcBef>
              <a:buClr>
                <a:schemeClr val="accent1"/>
              </a:buClr>
              <a:buSzPct val="68000"/>
            </a:pPr>
            <a:r>
              <a:rPr lang="en-US" sz="2400" dirty="0" smtClean="0">
                <a:latin typeface="Lucida Sans Unicode (Body)"/>
              </a:rPr>
              <a:t>                 </a:t>
            </a:r>
            <a:r>
              <a:rPr lang="en-US" sz="2400" i="1" dirty="0" smtClean="0">
                <a:latin typeface="Lucida Sans Unicode (Body)"/>
              </a:rPr>
              <a:t> Disadvantages</a:t>
            </a:r>
          </a:p>
          <a:p>
            <a:pPr marL="3108960" lvl="6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400" dirty="0" smtClean="0">
                <a:latin typeface="Corbel" pitchFamily="34" charset="0"/>
              </a:rPr>
              <a:t>False positives</a:t>
            </a:r>
          </a:p>
          <a:p>
            <a:pPr marL="3108960" lvl="6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400" dirty="0" smtClean="0">
                <a:latin typeface="Corbel" pitchFamily="34" charset="0"/>
              </a:rPr>
              <a:t>Search engines vary in terms of search techniques/syntax</a:t>
            </a:r>
          </a:p>
          <a:p>
            <a:pPr marL="3108960" lvl="6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400" dirty="0" smtClean="0">
                <a:latin typeface="Corbel" pitchFamily="34" charset="0"/>
              </a:rPr>
              <a:t>Dead links, redundant links(same document gets displayed)</a:t>
            </a:r>
          </a:p>
          <a:p>
            <a:pPr marL="3108960" lvl="6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400" dirty="0" smtClean="0">
                <a:latin typeface="Corbel" pitchFamily="34" charset="0"/>
              </a:rPr>
              <a:t>Spamming (salting of pages)</a:t>
            </a:r>
          </a:p>
          <a:p>
            <a:pPr marL="365760" marR="0" lvl="0" indent="-256032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tabLst/>
              <a:defRPr/>
            </a:pPr>
            <a:endParaRPr kumimoji="0" lang="en-US" sz="2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381000"/>
            <a:ext cx="647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Web Server</a:t>
            </a:r>
            <a:endParaRPr lang="en-US" sz="4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295400"/>
            <a:ext cx="8229600" cy="5181599"/>
          </a:xfrm>
        </p:spPr>
        <p:txBody>
          <a:bodyPr>
            <a:normAutofit/>
          </a:bodyPr>
          <a:lstStyle/>
          <a:p>
            <a:r>
              <a:rPr lang="en-US" sz="2400" dirty="0" smtClean="0"/>
              <a:t>Web servers are computers that deliver (</a:t>
            </a:r>
            <a:r>
              <a:rPr lang="en-US" sz="2400" i="1" dirty="0" smtClean="0"/>
              <a:t>serves up</a:t>
            </a:r>
            <a:r>
              <a:rPr lang="en-US" sz="2400" dirty="0" smtClean="0"/>
              <a:t>) Web pages.</a:t>
            </a:r>
          </a:p>
          <a:p>
            <a:r>
              <a:rPr lang="en-US" sz="2400" dirty="0" smtClean="0"/>
              <a:t>In 1989 Tim Berners-Lee proposed The web servers</a:t>
            </a:r>
          </a:p>
          <a:p>
            <a:r>
              <a:rPr lang="en-US" sz="2400" dirty="0" smtClean="0"/>
              <a:t>Any computer can be turned into a Web server by installing server software and connecting the machine to the Internet.</a:t>
            </a:r>
          </a:p>
          <a:p>
            <a:r>
              <a:rPr lang="en-US" sz="2400" dirty="0" smtClean="0"/>
              <a:t>web server refers to </a:t>
            </a:r>
            <a:r>
              <a:rPr lang="en-US" sz="2400" b="1" i="1" dirty="0" smtClean="0"/>
              <a:t>both hardware and software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E.g.  </a:t>
            </a:r>
          </a:p>
          <a:p>
            <a:pPr lvl="2"/>
            <a:r>
              <a:rPr lang="en-US" sz="2400" dirty="0" smtClean="0">
                <a:latin typeface="Lucida Sans Unicode (Body)"/>
              </a:rPr>
              <a:t>Apache</a:t>
            </a:r>
          </a:p>
          <a:p>
            <a:pPr lvl="2"/>
            <a:r>
              <a:rPr lang="en-US" sz="2400" i="1" dirty="0" smtClean="0">
                <a:latin typeface="Lucida Sans Unicode (Body)"/>
              </a:rPr>
              <a:t>IIS  </a:t>
            </a:r>
            <a:r>
              <a:rPr lang="en-US" sz="2400" dirty="0" smtClean="0">
                <a:latin typeface="Lucida Sans Unicode (Body)"/>
              </a:rPr>
              <a:t>(Internet Information Server)</a:t>
            </a:r>
          </a:p>
          <a:p>
            <a:pPr lvl="2"/>
            <a:r>
              <a:rPr lang="en-US" sz="2400" dirty="0" smtClean="0">
                <a:latin typeface="Lucida Sans Unicode (Body)"/>
              </a:rPr>
              <a:t>Tomcat</a:t>
            </a:r>
          </a:p>
          <a:p>
            <a:pPr lvl="2"/>
            <a:r>
              <a:rPr lang="en-US" sz="2400" i="1" dirty="0" smtClean="0">
                <a:latin typeface="Lucida Sans Unicode (Body)"/>
              </a:rPr>
              <a:t>Glassfish</a:t>
            </a:r>
          </a:p>
          <a:p>
            <a:pPr lvl="2"/>
            <a:endParaRPr lang="en-US" sz="1800" dirty="0" smtClean="0">
              <a:latin typeface="Lucida Sans Unicode (Body)"/>
            </a:endParaRPr>
          </a:p>
          <a:p>
            <a:pPr lvl="2"/>
            <a:endParaRPr lang="en-US" sz="1800" dirty="0"/>
          </a:p>
        </p:txBody>
      </p:sp>
      <p:pic>
        <p:nvPicPr>
          <p:cNvPr id="6" name="Picture 2" descr="http://upload.wikimedia.org/wikipedia/commons/thumb/d/d1/First_Web_Server.jpg/220px-First_Web_Server.jp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91200" y="4572000"/>
            <a:ext cx="3200400" cy="2000250"/>
          </a:xfrm>
          <a:prstGeom prst="rect">
            <a:avLst/>
          </a:prstGeom>
          <a:noFill/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562600" y="6629400"/>
            <a:ext cx="3581400" cy="457200"/>
          </a:xfrm>
        </p:spPr>
        <p:txBody>
          <a:bodyPr>
            <a:noAutofit/>
          </a:bodyPr>
          <a:lstStyle/>
          <a:p>
            <a:pPr algn="ctr"/>
            <a:r>
              <a:rPr lang="en-US" sz="1800" dirty="0" smtClean="0">
                <a:solidFill>
                  <a:schemeClr val="tx1"/>
                </a:solidFill>
                <a:effectLst/>
              </a:rPr>
              <a:t>The world’s first web server</a:t>
            </a:r>
            <a:br>
              <a:rPr lang="en-US" sz="1800" dirty="0" smtClean="0">
                <a:solidFill>
                  <a:schemeClr val="tx1"/>
                </a:solidFill>
                <a:effectLst/>
              </a:rPr>
            </a:br>
            <a:endParaRPr lang="en-US" sz="18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6800" y="381000"/>
            <a:ext cx="670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</a:rPr>
              <a:t>Client  server architecture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457200" y="1447800"/>
            <a:ext cx="8229600" cy="5105400"/>
          </a:xfrm>
          <a:prstGeom prst="rect">
            <a:avLst/>
          </a:prstGeom>
        </p:spPr>
        <p:txBody>
          <a:bodyPr vert="horz">
            <a:normAutofit fontScale="92500"/>
          </a:bodyPr>
          <a:lstStyle/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800" dirty="0" smtClean="0">
                <a:latin typeface="Corbel" pitchFamily="34" charset="0"/>
              </a:rPr>
              <a:t>The </a:t>
            </a:r>
            <a:r>
              <a:rPr lang="en-US" sz="2800" b="1" dirty="0" smtClean="0">
                <a:latin typeface="Corbel" pitchFamily="34" charset="0"/>
              </a:rPr>
              <a:t>client</a:t>
            </a:r>
            <a:r>
              <a:rPr lang="en-US" sz="2800" dirty="0" smtClean="0">
                <a:latin typeface="Corbel" pitchFamily="34" charset="0"/>
              </a:rPr>
              <a:t>-</a:t>
            </a:r>
            <a:r>
              <a:rPr lang="en-US" sz="2800" b="1" dirty="0" smtClean="0">
                <a:latin typeface="Corbel" pitchFamily="34" charset="0"/>
              </a:rPr>
              <a:t>server</a:t>
            </a:r>
            <a:r>
              <a:rPr lang="en-US" sz="2800" dirty="0" smtClean="0">
                <a:latin typeface="Corbel" pitchFamily="34" charset="0"/>
              </a:rPr>
              <a:t> model is a pattern of network communication in which clients send requests to servers over a computer network and the servers send back responses.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800" dirty="0" smtClean="0">
              <a:latin typeface="Corbel" pitchFamily="34" charset="0"/>
            </a:endParaRP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500" b="1" i="1" dirty="0" smtClean="0">
                <a:latin typeface="Corbel" pitchFamily="34" charset="0"/>
              </a:rPr>
              <a:t>Servers</a:t>
            </a:r>
            <a:r>
              <a:rPr lang="en-US" sz="2500" dirty="0" smtClean="0">
                <a:latin typeface="Corbel" pitchFamily="34" charset="0"/>
              </a:rPr>
              <a:t> are powerful computers or processes dedicated to managing disk drives (</a:t>
            </a:r>
            <a:r>
              <a:rPr lang="en-US" sz="2500" i="1" dirty="0" smtClean="0">
                <a:latin typeface="Corbel" pitchFamily="34" charset="0"/>
              </a:rPr>
              <a:t>file servers</a:t>
            </a:r>
            <a:r>
              <a:rPr lang="en-US" sz="2500" dirty="0" smtClean="0">
                <a:latin typeface="Corbel" pitchFamily="34" charset="0"/>
              </a:rPr>
              <a:t>), printers (</a:t>
            </a:r>
            <a:r>
              <a:rPr lang="en-US" sz="2500" i="1" dirty="0" smtClean="0">
                <a:latin typeface="Corbel" pitchFamily="34" charset="0"/>
              </a:rPr>
              <a:t>print servers</a:t>
            </a:r>
            <a:r>
              <a:rPr lang="en-US" sz="2500" dirty="0" smtClean="0">
                <a:latin typeface="Corbel" pitchFamily="34" charset="0"/>
              </a:rPr>
              <a:t>), or network traffic  (</a:t>
            </a:r>
            <a:r>
              <a:rPr lang="en-US" sz="2500" i="1" dirty="0" smtClean="0">
                <a:latin typeface="Corbel" pitchFamily="34" charset="0"/>
              </a:rPr>
              <a:t>network</a:t>
            </a:r>
            <a:r>
              <a:rPr lang="en-US" sz="2500" dirty="0" smtClean="0">
                <a:latin typeface="Corbel" pitchFamily="34" charset="0"/>
              </a:rPr>
              <a:t> </a:t>
            </a:r>
            <a:r>
              <a:rPr lang="en-US" sz="2500" i="1" dirty="0" smtClean="0">
                <a:latin typeface="Corbel" pitchFamily="34" charset="0"/>
              </a:rPr>
              <a:t>servers ).</a:t>
            </a:r>
          </a:p>
          <a:p>
            <a:pPr marL="1462088" lvl="3" indent="-273050">
              <a:buClr>
                <a:schemeClr val="accent2"/>
              </a:buClr>
              <a:buSzPct val="70000"/>
              <a:buFont typeface="Wingdings" pitchFamily="2" charset="2"/>
              <a:buChar char="§"/>
            </a:pPr>
            <a:r>
              <a:rPr lang="en-US" altLang="ja-JP" sz="2400" dirty="0" smtClean="0">
                <a:latin typeface="Corbel" pitchFamily="34" charset="0"/>
                <a:ea typeface="ＭＳ Ｐゴシック" charset="-128"/>
              </a:rPr>
              <a:t>Each Web server has a unique address</a:t>
            </a:r>
            <a:r>
              <a:rPr lang="ja-JP" altLang="en-US" sz="2400" smtClean="0">
                <a:latin typeface="Corbel" pitchFamily="34" charset="0"/>
                <a:ea typeface="ＭＳ Ｐゴシック" charset="-128"/>
              </a:rPr>
              <a:t>　</a:t>
            </a:r>
            <a:r>
              <a:rPr lang="en-US" altLang="ja-JP" sz="2400" dirty="0" smtClean="0">
                <a:latin typeface="Corbel" pitchFamily="34" charset="0"/>
                <a:ea typeface="ＭＳ Ｐゴシック" charset="-128"/>
              </a:rPr>
              <a:t>(IP address) and domain name</a:t>
            </a:r>
          </a:p>
          <a:p>
            <a:pPr marL="1462088" lvl="3" indent="-273050">
              <a:buClr>
                <a:schemeClr val="accent2"/>
              </a:buClr>
              <a:buSzPct val="70000"/>
              <a:buFont typeface="Wingdings" pitchFamily="2" charset="2"/>
              <a:buChar char="§"/>
            </a:pPr>
            <a:r>
              <a:rPr lang="en-US" altLang="ja-JP" sz="2400" dirty="0" smtClean="0">
                <a:latin typeface="Corbel" pitchFamily="34" charset="0"/>
                <a:ea typeface="ＭＳ Ｐゴシック" charset="-128"/>
              </a:rPr>
              <a:t>Provide services such as Web hosting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lang="en-US" sz="2400" i="1" dirty="0" smtClean="0">
              <a:latin typeface="Corbel" pitchFamily="34" charset="0"/>
            </a:endParaRP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r>
              <a:rPr lang="en-US" sz="2500" b="1" i="1" dirty="0" smtClean="0">
                <a:latin typeface="Corbel" pitchFamily="34" charset="0"/>
              </a:rPr>
              <a:t>Clients</a:t>
            </a:r>
            <a:r>
              <a:rPr lang="en-US" sz="2500" i="1" dirty="0" smtClean="0">
                <a:latin typeface="Corbel" pitchFamily="34" charset="0"/>
              </a:rPr>
              <a:t> </a:t>
            </a:r>
            <a:r>
              <a:rPr lang="en-US" sz="2500" dirty="0" smtClean="0">
                <a:latin typeface="Corbel" pitchFamily="34" charset="0"/>
              </a:rPr>
              <a:t>are PCs or workstations on which users run applications.</a:t>
            </a:r>
          </a:p>
          <a:p>
            <a:pPr marL="365760" indent="-256032">
              <a:spcBef>
                <a:spcPts val="400"/>
              </a:spcBef>
              <a:buClr>
                <a:schemeClr val="accent1"/>
              </a:buClr>
              <a:buSzPct val="68000"/>
              <a:buFont typeface="Wingdings 3"/>
              <a:buChar char=""/>
            </a:pPr>
            <a:endParaRPr kumimoji="0" lang="en-US" sz="27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95400" y="228600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accent1">
                    <a:lumMod val="50000"/>
                  </a:schemeClr>
                </a:solidFill>
              </a:rPr>
              <a:t>Main process of web sever</a:t>
            </a:r>
            <a:endParaRPr 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8" name="Picture 4" descr="typical web serv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838200"/>
            <a:ext cx="5791200" cy="586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38200"/>
          </a:xfrm>
        </p:spPr>
        <p:txBody>
          <a:bodyPr>
            <a:noAutofit/>
          </a:bodyPr>
          <a:lstStyle/>
          <a:p>
            <a:r>
              <a:rPr lang="en-US" altLang="ja-JP" sz="4000" dirty="0" smtClean="0">
                <a:solidFill>
                  <a:schemeClr val="accent1">
                    <a:lumMod val="50000"/>
                  </a:schemeClr>
                </a:solidFill>
                <a:effectLst/>
                <a:ea typeface="ＭＳ Ｐゴシック" charset="-128"/>
              </a:rPr>
              <a:t>Client-Side languages/styles </a:t>
            </a:r>
            <a:br>
              <a:rPr lang="en-US" altLang="ja-JP" sz="4000" dirty="0" smtClean="0">
                <a:solidFill>
                  <a:schemeClr val="accent1">
                    <a:lumMod val="50000"/>
                  </a:schemeClr>
                </a:solidFill>
                <a:effectLst/>
                <a:ea typeface="ＭＳ Ｐゴシック" charset="-128"/>
              </a:rPr>
            </a:br>
            <a:endParaRPr lang="en-US" sz="4000" dirty="0">
              <a:solidFill>
                <a:schemeClr val="accent1">
                  <a:lumMod val="50000"/>
                </a:schemeClr>
              </a:soli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905000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u"/>
            </a:pPr>
            <a:r>
              <a:rPr kumimoji="1" lang="en-US" altLang="ja-JP" sz="2400" b="1" dirty="0" smtClean="0">
                <a:latin typeface="Verdana" pitchFamily="34" charset="0"/>
                <a:cs typeface="ＭＳ Ｐ明朝"/>
              </a:rPr>
              <a:t>HTML</a:t>
            </a:r>
            <a:r>
              <a:rPr kumimoji="1" lang="en-US" altLang="ja-JP" sz="2400" dirty="0" smtClean="0">
                <a:latin typeface="Verdana" pitchFamily="34" charset="0"/>
                <a:cs typeface="ＭＳ Ｐ明朝"/>
              </a:rPr>
              <a:t> (Hyper Text Mark up Language) – designing for the statistic web pages </a:t>
            </a:r>
          </a:p>
          <a:p>
            <a:pPr>
              <a:buFont typeface="Wingdings" pitchFamily="2" charset="2"/>
              <a:buChar char="u"/>
            </a:pPr>
            <a:endParaRPr kumimoji="1" lang="en-US" altLang="ja-JP" sz="2400" dirty="0" smtClean="0">
              <a:latin typeface="Verdana" pitchFamily="34" charset="0"/>
              <a:cs typeface="ＭＳ Ｐ明朝"/>
            </a:endParaRPr>
          </a:p>
          <a:p>
            <a:pPr>
              <a:buFont typeface="Wingdings" pitchFamily="2" charset="2"/>
              <a:buChar char="u"/>
            </a:pPr>
            <a:r>
              <a:rPr kumimoji="1" lang="en-US" altLang="ja-JP" sz="2400" b="1" dirty="0" smtClean="0">
                <a:latin typeface="Verdana" pitchFamily="34" charset="0"/>
                <a:cs typeface="ＭＳ Ｐ明朝"/>
              </a:rPr>
              <a:t>CSS</a:t>
            </a:r>
            <a:r>
              <a:rPr kumimoji="1" lang="en-US" altLang="ja-JP" sz="2400" dirty="0" smtClean="0">
                <a:latin typeface="Verdana" pitchFamily="34" charset="0"/>
                <a:cs typeface="ＭＳ Ｐ明朝"/>
              </a:rPr>
              <a:t> (Cascade Style Sheets) – used to add styles for the HTML pages. </a:t>
            </a:r>
          </a:p>
          <a:p>
            <a:pPr>
              <a:buFont typeface="Wingdings" pitchFamily="2" charset="2"/>
              <a:buChar char="u"/>
            </a:pPr>
            <a:endParaRPr kumimoji="1" lang="en-US" altLang="ja-JP" sz="2400" dirty="0" smtClean="0">
              <a:latin typeface="Verdana" pitchFamily="34" charset="0"/>
              <a:cs typeface="ＭＳ Ｐ明朝"/>
            </a:endParaRPr>
          </a:p>
          <a:p>
            <a:pPr>
              <a:buFont typeface="Wingdings" pitchFamily="2" charset="2"/>
              <a:buChar char="u"/>
            </a:pPr>
            <a:r>
              <a:rPr kumimoji="1" lang="en-US" altLang="ja-JP" sz="2400" dirty="0" smtClean="0">
                <a:latin typeface="Verdana" pitchFamily="34" charset="0"/>
                <a:cs typeface="ＭＳ Ｐ明朝"/>
              </a:rPr>
              <a:t> </a:t>
            </a:r>
            <a:r>
              <a:rPr kumimoji="1" lang="en-US" altLang="ja-JP" sz="2400" b="1" dirty="0" smtClean="0">
                <a:latin typeface="Verdana" pitchFamily="34" charset="0"/>
                <a:cs typeface="ＭＳ Ｐ明朝"/>
              </a:rPr>
              <a:t>XML</a:t>
            </a:r>
            <a:r>
              <a:rPr kumimoji="1" lang="en-US" altLang="ja-JP" sz="2400" dirty="0" smtClean="0">
                <a:latin typeface="Verdana" pitchFamily="34" charset="0"/>
                <a:cs typeface="ＭＳ Ｐ明朝"/>
              </a:rPr>
              <a:t> (</a:t>
            </a:r>
            <a:r>
              <a:rPr lang="en-US" altLang="ja-JP" sz="2400" dirty="0" smtClean="0">
                <a:latin typeface="Verdana" pitchFamily="34" charset="0"/>
                <a:ea typeface="ＭＳ Ｐゴシック"/>
                <a:cs typeface="ＭＳ Ｐゴシック"/>
              </a:rPr>
              <a:t>Extensible Markup Language) - XML was designed to transport 	and store data.</a:t>
            </a:r>
          </a:p>
          <a:p>
            <a:pPr>
              <a:buFont typeface="Wingdings" pitchFamily="2" charset="2"/>
              <a:buChar char="u"/>
            </a:pPr>
            <a:endParaRPr kumimoji="1" lang="en-US" altLang="ja-JP" sz="2400" dirty="0" smtClean="0">
              <a:latin typeface="Verdana" pitchFamily="34" charset="0"/>
              <a:cs typeface="ＭＳ Ｐ明朝"/>
            </a:endParaRPr>
          </a:p>
          <a:p>
            <a:pPr>
              <a:buFont typeface="Wingdings" pitchFamily="2" charset="2"/>
              <a:buChar char="u"/>
            </a:pPr>
            <a:r>
              <a:rPr kumimoji="1" lang="en-US" altLang="ja-JP" sz="2400" dirty="0" smtClean="0">
                <a:latin typeface="Verdana" pitchFamily="34" charset="0"/>
                <a:cs typeface="ＭＳ Ｐ明朝"/>
              </a:rPr>
              <a:t> </a:t>
            </a:r>
            <a:r>
              <a:rPr kumimoji="1" lang="en-US" altLang="ja-JP" sz="2400" b="1" dirty="0" smtClean="0">
                <a:latin typeface="Verdana" pitchFamily="34" charset="0"/>
                <a:cs typeface="ＭＳ Ｐ明朝"/>
              </a:rPr>
              <a:t>Java Scripts</a:t>
            </a:r>
            <a:r>
              <a:rPr kumimoji="1" lang="en-US" altLang="ja-JP" sz="2400" dirty="0" smtClean="0">
                <a:latin typeface="Verdana" pitchFamily="34" charset="0"/>
                <a:cs typeface="ＭＳ Ｐ明朝"/>
              </a:rPr>
              <a:t> - </a:t>
            </a:r>
            <a:r>
              <a:rPr lang="en-US" altLang="ja-JP" sz="2400" dirty="0" smtClean="0">
                <a:latin typeface="Verdana" pitchFamily="34" charset="0"/>
                <a:ea typeface="ＭＳ Ｐゴシック"/>
                <a:cs typeface="ＭＳ Ｐゴシック"/>
              </a:rPr>
              <a:t>JavaScript is </a:t>
            </a:r>
            <a:r>
              <a:rPr lang="en-US" altLang="ja-JP" sz="2400" i="1" dirty="0" smtClean="0">
                <a:latin typeface="Verdana" pitchFamily="34" charset="0"/>
                <a:ea typeface="ＭＳ Ｐゴシック"/>
                <a:cs typeface="ＭＳ Ｐゴシック"/>
              </a:rPr>
              <a:t>THE</a:t>
            </a:r>
            <a:r>
              <a:rPr lang="en-US" altLang="ja-JP" sz="2400" dirty="0" smtClean="0">
                <a:latin typeface="Verdana" pitchFamily="34" charset="0"/>
                <a:ea typeface="ＭＳ Ｐゴシック"/>
                <a:cs typeface="ＭＳ Ｐゴシック"/>
              </a:rPr>
              <a:t> scripting language of the Web.</a:t>
            </a:r>
            <a:endParaRPr kumimoji="1" lang="en-US" altLang="ja-JP" sz="2400" dirty="0" smtClean="0">
              <a:latin typeface="Verdana" pitchFamily="34" charset="0"/>
              <a:cs typeface="ＭＳ Ｐ明朝"/>
            </a:endParaRP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Autofit/>
          </a:bodyPr>
          <a:lstStyle/>
          <a:p>
            <a:r>
              <a:rPr lang="en-US" altLang="ja-JP" sz="4000" dirty="0" smtClean="0">
                <a:solidFill>
                  <a:schemeClr val="accent1">
                    <a:lumMod val="50000"/>
                  </a:schemeClr>
                </a:solidFill>
                <a:effectLst/>
                <a:latin typeface="Lucida Sans Unicode (Headings)"/>
                <a:ea typeface="ＭＳ Ｐゴシック" charset="-128"/>
              </a:rPr>
              <a:t>Server-Side languages/styles </a:t>
            </a:r>
            <a:br>
              <a:rPr lang="en-US" altLang="ja-JP" sz="4000" dirty="0" smtClean="0">
                <a:solidFill>
                  <a:schemeClr val="accent1">
                    <a:lumMod val="50000"/>
                  </a:schemeClr>
                </a:solidFill>
                <a:effectLst/>
                <a:latin typeface="Lucida Sans Unicode (Headings)"/>
                <a:ea typeface="ＭＳ Ｐゴシック" charset="-128"/>
              </a:rPr>
            </a:br>
            <a:endParaRPr lang="en-US" sz="4000" dirty="0">
              <a:solidFill>
                <a:schemeClr val="accent1">
                  <a:lumMod val="50000"/>
                </a:schemeClr>
              </a:solidFill>
              <a:effectLst/>
              <a:latin typeface="Lucida Sans Unicode (Headings)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52600"/>
            <a:ext cx="8229600" cy="452596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u"/>
            </a:pPr>
            <a:r>
              <a:rPr kumimoji="1" lang="en-US" altLang="ja-JP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PHP (Personal Home Page)</a:t>
            </a:r>
            <a:r>
              <a:rPr kumimoji="1" lang="en-US" altLang="ja-JP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-</a:t>
            </a:r>
            <a:r>
              <a:rPr lang="en-US" altLang="ja-JP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PHP is a powerful tool for making dynamic and interactive Web pages. Also Provides simple, but powerful database access.</a:t>
            </a:r>
          </a:p>
          <a:p>
            <a:pPr>
              <a:buFont typeface="Wingdings" pitchFamily="2" charset="2"/>
              <a:buNone/>
            </a:pPr>
            <a:r>
              <a:rPr lang="en-US" altLang="ja-JP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</a:t>
            </a:r>
          </a:p>
          <a:p>
            <a:pPr>
              <a:buFont typeface="Wingdings" pitchFamily="2" charset="2"/>
              <a:buChar char="u"/>
            </a:pPr>
            <a:r>
              <a:rPr lang="en-US" altLang="ja-JP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ASP.NET (Active Server Pages)</a:t>
            </a:r>
            <a:r>
              <a:rPr lang="en-US" altLang="ja-JP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- ASP.NET is an entirely new technology for server-side </a:t>
            </a:r>
            <a:r>
              <a:rPr kumimoji="1" lang="en-US" altLang="ja-JP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Programming</a:t>
            </a:r>
            <a:r>
              <a:rPr lang="en-US" altLang="ja-JP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.</a:t>
            </a:r>
          </a:p>
          <a:p>
            <a:pPr>
              <a:buFont typeface="Wingdings" pitchFamily="2" charset="2"/>
              <a:buChar char="u"/>
            </a:pPr>
            <a:endParaRPr kumimoji="1" lang="en-US" altLang="ja-JP" sz="2400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>
              <a:buFont typeface="Wingdings" pitchFamily="2" charset="2"/>
              <a:buChar char="u"/>
            </a:pPr>
            <a:r>
              <a:rPr kumimoji="1" lang="en-US" altLang="ja-JP" sz="2400" b="1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JSP/</a:t>
            </a:r>
            <a:r>
              <a:rPr kumimoji="1" lang="en-US" altLang="ja-JP" sz="2400" b="1" dirty="0" err="1" smtClean="0">
                <a:latin typeface="Verdana" pitchFamily="34" charset="0"/>
                <a:ea typeface="Verdana" pitchFamily="34" charset="0"/>
                <a:cs typeface="Verdana" pitchFamily="34" charset="0"/>
              </a:rPr>
              <a:t>Servlet</a:t>
            </a:r>
            <a:r>
              <a:rPr kumimoji="1" lang="en-US" altLang="ja-JP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 – Server side technologies using the Java Programming languages.</a:t>
            </a:r>
            <a:endParaRPr kumimoji="1" lang="ja-JP" altLang="en-US" sz="2400" smtClean="0">
              <a:latin typeface="Verdana" pitchFamily="34" charset="0"/>
              <a:cs typeface="Verdana" pitchFamily="34" charset="0"/>
            </a:endParaRPr>
          </a:p>
          <a:p>
            <a:endParaRPr lang="en-US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1905000"/>
            <a:ext cx="8763000" cy="475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76176" rIns="0" bIns="76176">
            <a:spAutoFit/>
          </a:bodyPr>
          <a:lstStyle/>
          <a:p>
            <a:pPr marL="1379538" indent="-465138" defTabSz="23495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Electronic mail (e-mail) is the most popular reason </a:t>
            </a:r>
            <a:r>
              <a:rPr lang="en-US" altLang="zh-TW" sz="2300" dirty="0" smtClean="0">
                <a:ea typeface="新細明體" pitchFamily="18" charset="-120"/>
              </a:rPr>
              <a:t>people </a:t>
            </a:r>
            <a:r>
              <a:rPr lang="en-US" altLang="zh-TW" sz="2300" dirty="0">
                <a:ea typeface="新細明體" pitchFamily="18" charset="-120"/>
              </a:rPr>
              <a:t>use the Internet.</a:t>
            </a:r>
          </a:p>
          <a:p>
            <a:pPr marL="1379538" indent="-465138" defTabSz="23495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To create, send, and receive e-mail messages, you need </a:t>
            </a:r>
            <a:r>
              <a:rPr lang="en-US" altLang="zh-TW" sz="2300" dirty="0" smtClean="0">
                <a:ea typeface="新細明體" pitchFamily="18" charset="-120"/>
              </a:rPr>
              <a:t>	an </a:t>
            </a:r>
            <a:r>
              <a:rPr lang="en-US" altLang="zh-TW" sz="2300" dirty="0">
                <a:ea typeface="新細明體" pitchFamily="18" charset="-120"/>
              </a:rPr>
              <a:t>e-mail program and an account on an Internet mail </a:t>
            </a:r>
            <a:r>
              <a:rPr lang="en-US" altLang="zh-TW" sz="2300" dirty="0" smtClean="0">
                <a:ea typeface="新細明體" pitchFamily="18" charset="-120"/>
              </a:rPr>
              <a:t>server </a:t>
            </a:r>
            <a:r>
              <a:rPr lang="en-US" altLang="zh-TW" sz="2300" dirty="0">
                <a:ea typeface="新細明體" pitchFamily="18" charset="-120"/>
              </a:rPr>
              <a:t>with a domain name.</a:t>
            </a:r>
          </a:p>
          <a:p>
            <a:pPr marL="1379538" indent="-465138" defTabSz="23495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 eaLnBrk="0" hangingPunct="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To use e-mail, a user must have an e-mail address, 	which you create by adding your user name to </a:t>
            </a:r>
            <a:r>
              <a:rPr lang="en-US" altLang="zh-TW" sz="2300" dirty="0" smtClean="0">
                <a:ea typeface="新細明體" pitchFamily="18" charset="-120"/>
              </a:rPr>
              <a:t>the </a:t>
            </a:r>
            <a:r>
              <a:rPr lang="en-US" altLang="zh-TW" sz="2300" dirty="0">
                <a:ea typeface="新細明體" pitchFamily="18" charset="-120"/>
              </a:rPr>
              <a:t>	e-mail server's domain name, as in </a:t>
            </a:r>
            <a:r>
              <a:rPr lang="en-US" altLang="zh-TW" sz="2300" dirty="0" smtClean="0">
                <a:ea typeface="新細明體" pitchFamily="18" charset="-120"/>
              </a:rPr>
              <a:t>  </a:t>
            </a:r>
          </a:p>
          <a:p>
            <a:pPr marL="1379538" indent="-465138" defTabSz="234950" eaLnBrk="0" hangingPunct="0"/>
            <a:r>
              <a:rPr lang="en-US" altLang="zh-TW" sz="2300" dirty="0" smtClean="0">
                <a:ea typeface="新細明體" pitchFamily="18" charset="-120"/>
              </a:rPr>
              <a:t>                          </a:t>
            </a:r>
            <a:r>
              <a:rPr lang="en-US" altLang="zh-TW" sz="2300" dirty="0" err="1" smtClean="0">
                <a:ea typeface="新細明體" pitchFamily="18" charset="-120"/>
              </a:rPr>
              <a:t>e.g</a:t>
            </a:r>
            <a:r>
              <a:rPr lang="en-US" altLang="zh-TW" sz="2300" dirty="0" smtClean="0">
                <a:ea typeface="新細明體" pitchFamily="18" charset="-120"/>
              </a:rPr>
              <a:t>  jsmith@gmail.com</a:t>
            </a:r>
            <a:r>
              <a:rPr lang="en-US" altLang="zh-TW" sz="2300" dirty="0">
                <a:ea typeface="新細明體" pitchFamily="18" charset="-120"/>
              </a:rPr>
              <a:t>. </a:t>
            </a:r>
          </a:p>
          <a:p>
            <a:pPr marL="1379538" indent="-465138" defTabSz="23495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 eaLnBrk="0" hangingPunct="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304800"/>
            <a:ext cx="9144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 lvl="2" indent="-58738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Major Features of the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…</a:t>
            </a:r>
          </a:p>
          <a:p>
            <a:pPr marL="855663" lvl="2" indent="-58738" algn="ctr"/>
            <a:endParaRPr lang="en-US" altLang="zh-TW" sz="2400" b="1" dirty="0" smtClean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855663" lvl="2" indent="-58738" algn="ctr"/>
            <a:r>
              <a:rPr lang="en-US" altLang="zh-TW" sz="30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E-Mail </a:t>
            </a:r>
            <a:endParaRPr lang="en-US" altLang="zh-TW" sz="30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  <p:transition spd="slow">
    <p:strips dir="l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152400" y="2102901"/>
            <a:ext cx="8305800" cy="4755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pPr marL="1379538" indent="-465138" defTabSz="169863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One Internet-based service, called news, includes tens of thousands of newsgroups.</a:t>
            </a:r>
          </a:p>
          <a:p>
            <a:pPr marL="1379538" indent="-465138" defTabSz="169863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169863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Each newsgroup hosts discussions on a specific topic. A newsgroup's name indicates its users' </a:t>
            </a:r>
            <a:r>
              <a:rPr lang="en-US" altLang="zh-TW" sz="2300" dirty="0" smtClean="0">
                <a:ea typeface="新細明體" pitchFamily="18" charset="-120"/>
              </a:rPr>
              <a:t>special </a:t>
            </a:r>
            <a:r>
              <a:rPr lang="en-US" altLang="zh-TW" sz="2300" dirty="0">
                <a:ea typeface="新細明體" pitchFamily="18" charset="-120"/>
              </a:rPr>
              <a:t>topic of interest, such as </a:t>
            </a:r>
            <a:r>
              <a:rPr lang="en-US" altLang="zh-TW" sz="2300" dirty="0" err="1">
                <a:ea typeface="新細明體" pitchFamily="18" charset="-120"/>
              </a:rPr>
              <a:t>alt.food.cake</a:t>
            </a:r>
            <a:r>
              <a:rPr lang="en-US" altLang="zh-TW" sz="2300" dirty="0">
                <a:ea typeface="新細明體" pitchFamily="18" charset="-120"/>
              </a:rPr>
              <a:t>.</a:t>
            </a:r>
          </a:p>
          <a:p>
            <a:pPr marL="1379538" indent="-465138" defTabSz="169863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169863" eaLnBrk="0" hangingPunct="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To participate in a newsgroup, you need a newsreader program that lets you read articles that have been posted on a news server.  You can post articles for others to read and respond to. </a:t>
            </a:r>
          </a:p>
          <a:p>
            <a:pPr marL="1379538" indent="-465138" defTabSz="169863" eaLnBrk="0" hangingPunct="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0" y="457200"/>
            <a:ext cx="9144000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Major Features of the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Internet…</a:t>
            </a:r>
          </a:p>
          <a:p>
            <a:pPr marL="855663" algn="ctr"/>
            <a:endParaRPr lang="en-US" altLang="zh-TW" b="1" dirty="0" smtClean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855663" algn="ctr"/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 </a:t>
            </a:r>
            <a:r>
              <a:rPr lang="en-US" altLang="zh-TW" sz="30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News </a:t>
            </a:r>
            <a:endParaRPr lang="en-US" altLang="zh-TW" sz="30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  <p:transition spd="slow">
    <p:strips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" y="228600"/>
            <a:ext cx="7467600" cy="6465888"/>
            <a:chOff x="528" y="144"/>
            <a:chExt cx="4704" cy="4073"/>
          </a:xfrm>
        </p:grpSpPr>
        <p:pic>
          <p:nvPicPr>
            <p:cNvPr id="18434" name="Picture 2" descr="Tabl19-5"/>
            <p:cNvPicPr>
              <a:picLocks noChangeAspect="1" noChangeArrowheads="1"/>
            </p:cNvPicPr>
            <p:nvPr/>
          </p:nvPicPr>
          <p:blipFill>
            <a:blip r:embed="rId2"/>
            <a:srcRect l="6250" t="4167" r="15625" b="5637"/>
            <a:stretch>
              <a:fillRect/>
            </a:stretch>
          </p:blipFill>
          <p:spPr bwMode="auto">
            <a:xfrm>
              <a:off x="528" y="144"/>
              <a:ext cx="4704" cy="4073"/>
            </a:xfrm>
            <a:prstGeom prst="rect">
              <a:avLst/>
            </a:prstGeom>
            <a:noFill/>
          </p:spPr>
        </p:pic>
        <p:pic>
          <p:nvPicPr>
            <p:cNvPr id="18435" name="Picture 3" descr="TABL19-2"/>
            <p:cNvPicPr>
              <a:picLocks noChangeAspect="1" noChangeArrowheads="1"/>
            </p:cNvPicPr>
            <p:nvPr/>
          </p:nvPicPr>
          <p:blipFill>
            <a:blip r:embed="rId3"/>
            <a:srcRect l="51591" t="23621" r="22331" b="67438"/>
            <a:stretch>
              <a:fillRect/>
            </a:stretch>
          </p:blipFill>
          <p:spPr bwMode="auto">
            <a:xfrm>
              <a:off x="768" y="224"/>
              <a:ext cx="1440" cy="208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2286000"/>
            <a:ext cx="8610600" cy="3693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76176" rIns="0" bIns="76176">
            <a:spAutoFit/>
          </a:bodyPr>
          <a:lstStyle/>
          <a:p>
            <a:pPr marL="1379538" indent="-465138" defTabSz="169863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Telnet is a specialized service that lets you use one computer to access the contents of another computer – a Telnet host.</a:t>
            </a:r>
          </a:p>
          <a:p>
            <a:pPr marL="1379538" indent="-465138" defTabSz="169863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169863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A Telnet program creates a "window" into the host 	so you can access files, issue commands, and exchange data.</a:t>
            </a:r>
          </a:p>
          <a:p>
            <a:pPr marL="1379538" indent="-465138" defTabSz="169863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169863" eaLnBrk="0" hangingPunct="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Telnet is widely used by libraries, to allow visitors to look up information, find articles, and so on.</a:t>
            </a:r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3429000"/>
            <a:ext cx="9144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0" y="304800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Major Features of the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Internet…</a:t>
            </a:r>
          </a:p>
          <a:p>
            <a:pPr marL="855663" algn="ctr"/>
            <a:r>
              <a:rPr lang="en-US" altLang="zh-TW" sz="30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 </a:t>
            </a:r>
            <a:endParaRPr lang="en-US" altLang="zh-TW" sz="3000" b="1" dirty="0" smtClean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855663" algn="ctr"/>
            <a:r>
              <a:rPr lang="en-US" altLang="zh-TW" sz="30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Telnet </a:t>
            </a:r>
            <a:endParaRPr lang="en-US" altLang="zh-TW" sz="30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0" y="2209800"/>
            <a:ext cx="8839200" cy="4401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76176" rIns="0" bIns="76176">
            <a:spAutoFit/>
          </a:bodyPr>
          <a:lstStyle/>
          <a:p>
            <a:pPr marL="1379538" indent="-465138" defTabSz="234950">
              <a:buFont typeface="Wingdings" pitchFamily="2" charset="2"/>
              <a:buChar char="q"/>
            </a:pPr>
            <a:r>
              <a:rPr lang="en-US" altLang="zh-TW" sz="2300" dirty="0">
                <a:ea typeface="新細明體" pitchFamily="18" charset="-120"/>
              </a:rPr>
              <a:t>File transfer protocol (FTP) is the Internet tool used to </a:t>
            </a:r>
            <a:r>
              <a:rPr lang="en-US" altLang="zh-TW" sz="2300" dirty="0" smtClean="0">
                <a:ea typeface="新細明體" pitchFamily="18" charset="-120"/>
              </a:rPr>
              <a:t>copy </a:t>
            </a:r>
            <a:r>
              <a:rPr lang="en-US" altLang="zh-TW" sz="2300" dirty="0">
                <a:ea typeface="新細明體" pitchFamily="18" charset="-120"/>
              </a:rPr>
              <a:t>files from one computer to another.</a:t>
            </a:r>
          </a:p>
          <a:p>
            <a:pPr marL="1379538" indent="-465138" defTabSz="234950">
              <a:buFont typeface="Wingdings" pitchFamily="2" charset="2"/>
              <a:buChar char="q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>
              <a:buFont typeface="Wingdings" pitchFamily="2" charset="2"/>
              <a:buChar char="q"/>
            </a:pPr>
            <a:r>
              <a:rPr lang="en-US" altLang="zh-TW" sz="2300" dirty="0">
                <a:ea typeface="新細明體" pitchFamily="18" charset="-120"/>
              </a:rPr>
              <a:t>Using a special FTP program or a Web browser, you </a:t>
            </a:r>
            <a:r>
              <a:rPr lang="en-US" altLang="zh-TW" sz="2300" dirty="0" smtClean="0">
                <a:ea typeface="新細明體" pitchFamily="18" charset="-120"/>
              </a:rPr>
              <a:t>can </a:t>
            </a:r>
            <a:r>
              <a:rPr lang="en-US" altLang="zh-TW" sz="2300" dirty="0">
                <a:ea typeface="新細明體" pitchFamily="18" charset="-120"/>
              </a:rPr>
              <a:t>log into an FTP host computer over the Internet </a:t>
            </a:r>
            <a:r>
              <a:rPr lang="en-US" altLang="zh-TW" sz="2300" dirty="0" smtClean="0">
                <a:ea typeface="新細明體" pitchFamily="18" charset="-120"/>
              </a:rPr>
              <a:t>and </a:t>
            </a:r>
            <a:r>
              <a:rPr lang="en-US" altLang="zh-TW" sz="2300" dirty="0">
                <a:ea typeface="新細明體" pitchFamily="18" charset="-120"/>
              </a:rPr>
              <a:t>copy files onto your computer.</a:t>
            </a:r>
          </a:p>
          <a:p>
            <a:pPr marL="1379538" indent="-465138" defTabSz="234950">
              <a:buFont typeface="Wingdings" pitchFamily="2" charset="2"/>
              <a:buChar char="q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 eaLnBrk="0" hangingPunct="0">
              <a:buFont typeface="Wingdings" pitchFamily="2" charset="2"/>
              <a:buChar char="q"/>
            </a:pPr>
            <a:r>
              <a:rPr lang="en-US" altLang="zh-TW" sz="2300" dirty="0">
                <a:ea typeface="新細明體" pitchFamily="18" charset="-120"/>
              </a:rPr>
              <a:t>FTP is handy for finding and copying software files, 	articles, and other types of data.  Universities and </a:t>
            </a:r>
            <a:r>
              <a:rPr lang="en-US" altLang="zh-TW" sz="2300" dirty="0" smtClean="0">
                <a:ea typeface="新細明體" pitchFamily="18" charset="-120"/>
              </a:rPr>
              <a:t>software </a:t>
            </a:r>
            <a:r>
              <a:rPr lang="en-US" altLang="zh-TW" sz="2300" dirty="0">
                <a:ea typeface="新細明體" pitchFamily="18" charset="-120"/>
              </a:rPr>
              <a:t>companies use FTP servers to provide visitors </a:t>
            </a:r>
            <a:r>
              <a:rPr lang="en-US" altLang="zh-TW" sz="2300" dirty="0" smtClean="0">
                <a:ea typeface="新細明體" pitchFamily="18" charset="-120"/>
              </a:rPr>
              <a:t>with </a:t>
            </a:r>
            <a:r>
              <a:rPr lang="en-US" altLang="zh-TW" sz="2300" dirty="0">
                <a:ea typeface="新細明體" pitchFamily="18" charset="-120"/>
              </a:rPr>
              <a:t>access to data. </a:t>
            </a:r>
          </a:p>
          <a:p>
            <a:pPr marL="1379538" indent="-465138" defTabSz="23495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0" y="381000"/>
            <a:ext cx="9144000" cy="1354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Major Features of the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Internet… </a:t>
            </a:r>
            <a: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/>
            </a:r>
            <a:br>
              <a:rPr lang="en-US" altLang="zh-TW" sz="28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</a:br>
            <a:r>
              <a:rPr lang="en-US" altLang="zh-TW" sz="28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		      </a:t>
            </a:r>
            <a:endParaRPr lang="en-US" altLang="zh-TW" sz="2800" b="1" dirty="0" smtClean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855663" algn="ctr"/>
            <a:r>
              <a:rPr lang="en-US" altLang="zh-TW" sz="30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File </a:t>
            </a:r>
            <a:r>
              <a:rPr lang="en-US" altLang="zh-TW" sz="30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Transfer Protocol (FTP) 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FTP (cont.)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5486400"/>
          </a:xfrm>
        </p:spPr>
        <p:txBody>
          <a:bodyPr>
            <a:normAutofit/>
          </a:bodyPr>
          <a:lstStyle/>
          <a:p>
            <a:r>
              <a:rPr lang="en-US" sz="2400" dirty="0"/>
              <a:t> </a:t>
            </a:r>
            <a:r>
              <a:rPr lang="en-US" sz="2400" b="1" i="1" dirty="0" smtClean="0"/>
              <a:t>FTP</a:t>
            </a:r>
            <a:r>
              <a:rPr lang="en-US" sz="2400" i="1" dirty="0" smtClean="0"/>
              <a:t>, </a:t>
            </a:r>
            <a:r>
              <a:rPr lang="en-US" sz="2400" dirty="0"/>
              <a:t> the protocol for exchanging files over the Internet. </a:t>
            </a:r>
            <a:endParaRPr lang="en-US" sz="2400" dirty="0" smtClean="0"/>
          </a:p>
          <a:p>
            <a:r>
              <a:rPr lang="en-US" sz="2400" dirty="0" smtClean="0"/>
              <a:t>FTP </a:t>
            </a:r>
            <a:r>
              <a:rPr lang="en-US" sz="2400" dirty="0"/>
              <a:t>works in the same way as </a:t>
            </a:r>
            <a:r>
              <a:rPr lang="en-US" sz="2400" i="1" dirty="0"/>
              <a:t>HTTP</a:t>
            </a:r>
            <a:r>
              <a:rPr lang="en-US" sz="2400" dirty="0"/>
              <a:t> for transferring Web pages from a server to a user's browser and </a:t>
            </a:r>
            <a:r>
              <a:rPr lang="en-US" sz="2400" i="1" dirty="0"/>
              <a:t>SMTP</a:t>
            </a:r>
            <a:r>
              <a:rPr lang="en-US" sz="2400" dirty="0"/>
              <a:t> </a:t>
            </a:r>
            <a:r>
              <a:rPr lang="en-US" sz="2400" dirty="0" smtClean="0"/>
              <a:t> for </a:t>
            </a:r>
            <a:r>
              <a:rPr lang="en-US" sz="2400" dirty="0"/>
              <a:t>transferring electronic mail across the Internet in that, like these technologies, FTP uses the Internet's </a:t>
            </a:r>
            <a:r>
              <a:rPr lang="en-US" sz="2400" dirty="0" smtClean="0"/>
              <a:t>TCP/IP protocols </a:t>
            </a:r>
            <a:r>
              <a:rPr lang="en-US" sz="2400" dirty="0"/>
              <a:t>to enable data transfer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dirty="0" smtClean="0"/>
              <a:t> </a:t>
            </a:r>
          </a:p>
          <a:p>
            <a:r>
              <a:rPr lang="en-US" sz="2400" dirty="0" smtClean="0"/>
              <a:t>FTP is most commonly used to download a file from a server using the Internet or to upload a file to a server (e.g., uploading a Web page file to a server). </a:t>
            </a:r>
          </a:p>
          <a:p>
            <a:pPr>
              <a:buNone/>
            </a:pPr>
            <a:endParaRPr lang="en-US" sz="2400" dirty="0" smtClean="0"/>
          </a:p>
          <a:p>
            <a:r>
              <a:rPr lang="en-US" sz="2400" dirty="0" smtClean="0"/>
              <a:t>Transfer data reliably and efficiently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Using the Internet's File Transfer Protocol (FTP), anonymous FTP is a method for giving users access to files so that they don't need to identify themselves to the server. </a:t>
            </a:r>
          </a:p>
          <a:p>
            <a:r>
              <a:rPr lang="en-US" dirty="0" smtClean="0"/>
              <a:t>Using an FTP program or the FTP command interface, the user enters "anonymous" as a user ID. Usually, the password is defaulted or furnished by the FTP server. </a:t>
            </a:r>
          </a:p>
          <a:p>
            <a:r>
              <a:rPr lang="en-US" dirty="0" smtClean="0"/>
              <a:t>Anonymous FTP is a common way to get access to a server in order to view or download files that are publicly available.</a:t>
            </a:r>
          </a:p>
          <a:p>
            <a:r>
              <a:rPr lang="en-US" dirty="0" smtClean="0"/>
              <a:t>If someone tells you to use anonymous FTP and gives you the server name, just remember to use the word "anonymous" for your user ID. Usually, you can enter anything as a password.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Anonymous FTP </a:t>
            </a:r>
            <a:b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7813" y="139700"/>
            <a:ext cx="8534400" cy="1143000"/>
          </a:xfrm>
        </p:spPr>
        <p:txBody>
          <a:bodyPr/>
          <a:lstStyle/>
          <a:p>
            <a:r>
              <a:rPr lang="en-US" sz="27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FTP Client Commands (issued by user interface)</a:t>
            </a:r>
          </a:p>
        </p:txBody>
      </p:sp>
      <p:graphicFrame>
        <p:nvGraphicFramePr>
          <p:cNvPr id="8195" name="Group 3"/>
          <p:cNvGraphicFramePr>
            <a:graphicFrameLocks noGrp="1"/>
          </p:cNvGraphicFramePr>
          <p:nvPr/>
        </p:nvGraphicFramePr>
        <p:xfrm>
          <a:off x="1143000" y="1143000"/>
          <a:ext cx="7620000" cy="502920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98838"/>
                <a:gridCol w="4221162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Command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anchor="ctr" anchorCtr="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Description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anchor="ctr" anchorCtr="1" horzOverflow="overflow"/>
                </a:tc>
              </a:tr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get </a:t>
                      </a:r>
                      <a:r>
                        <a:rPr kumimoji="0" lang="en-US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filename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Retrieve file from server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403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mget</a:t>
                      </a: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kumimoji="0" lang="en-US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filename*</a:t>
                      </a:r>
                      <a:endParaRPr kumimoji="0" lang="en-US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Retrieve multiple files from server*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put </a:t>
                      </a:r>
                      <a:r>
                        <a:rPr kumimoji="0" lang="en-US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filename</a:t>
                      </a:r>
                      <a:endParaRPr kumimoji="0" lang="en-US" sz="2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Copy local file to server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mput</a:t>
                      </a: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 </a:t>
                      </a:r>
                      <a:r>
                        <a:rPr kumimoji="0" lang="en-US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filename*</a:t>
                      </a:r>
                      <a:endParaRPr kumimoji="0" lang="en-US" sz="22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Copy multiple local files to server*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open </a:t>
                      </a:r>
                      <a:r>
                        <a:rPr kumimoji="0" lang="en-US" sz="22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server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Begin login to server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bye / close / exit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Logoff server</a:t>
                      </a:r>
                      <a:endParaRPr kumimoji="0" 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ls / dir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List files in current remote dir on server </a:t>
                      </a:r>
                      <a:endParaRPr kumimoji="0" lang="en-US" sz="1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lcd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Change local directory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cd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Change remote directory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rhelp / remotehelp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Lists commands the server accepts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effectLst/>
                        <a:latin typeface="Tahoma" pitchFamily="34" charset="0"/>
                        <a:cs typeface="Arial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2286000"/>
            <a:ext cx="8458200" cy="404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pPr marL="1379538" indent="-465138" defTabSz="23495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Internet Relay Chat (IRC) is a service that allows users to communicate in real time by typing text in a special 	window.</a:t>
            </a:r>
          </a:p>
          <a:p>
            <a:pPr marL="1379538" indent="-465138" defTabSz="23495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Like news, there are hundreds of IRC "channels," each devoted to a subject or user group.</a:t>
            </a:r>
          </a:p>
          <a:p>
            <a:pPr marL="1379538" indent="-465138" defTabSz="234950">
              <a:buFontTx/>
              <a:buChar char="•"/>
            </a:pPr>
            <a:endParaRPr lang="en-US" altLang="zh-TW" sz="2300" dirty="0">
              <a:ea typeface="新細明體" pitchFamily="18" charset="-120"/>
            </a:endParaRPr>
          </a:p>
          <a:p>
            <a:pPr marL="1379538" indent="-465138" defTabSz="234950" eaLnBrk="0" hangingPunct="0">
              <a:buFontTx/>
              <a:buChar char="•"/>
            </a:pPr>
            <a:r>
              <a:rPr lang="en-US" altLang="zh-TW" sz="2300" dirty="0">
                <a:ea typeface="新細明體" pitchFamily="18" charset="-120"/>
              </a:rPr>
              <a:t>You can use a special IRC program to participate in 	</a:t>
            </a:r>
            <a:r>
              <a:rPr lang="en-US" altLang="zh-TW" sz="2300" dirty="0" err="1">
                <a:ea typeface="新細明體" pitchFamily="18" charset="-120"/>
              </a:rPr>
              <a:t>chatroom</a:t>
            </a:r>
            <a:r>
              <a:rPr lang="en-US" altLang="zh-TW" sz="2300" dirty="0">
                <a:ea typeface="新細明體" pitchFamily="18" charset="-120"/>
              </a:rPr>
              <a:t> discussions, but many </a:t>
            </a:r>
            <a:r>
              <a:rPr lang="en-US" altLang="zh-TW" sz="2300" dirty="0" err="1">
                <a:ea typeface="新細明體" pitchFamily="18" charset="-120"/>
              </a:rPr>
              <a:t>chatrooms</a:t>
            </a:r>
            <a:r>
              <a:rPr lang="en-US" altLang="zh-TW" sz="2300" dirty="0">
                <a:ea typeface="新細明體" pitchFamily="18" charset="-120"/>
              </a:rPr>
              <a:t> are set up in Web sites, enabling visitors to chat directly in their 	browser window. </a:t>
            </a:r>
          </a:p>
        </p:txBody>
      </p:sp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0" y="381000"/>
            <a:ext cx="9144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/>
            <a:r>
              <a:rPr lang="en-US" altLang="zh-TW" sz="24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Major Features of the </a:t>
            </a:r>
            <a:r>
              <a:rPr lang="en-US" altLang="zh-TW" sz="24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Internet… </a:t>
            </a:r>
            <a:endParaRPr lang="en-US" altLang="zh-TW" sz="2400" b="1" dirty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855663" algn="ctr"/>
            <a:endParaRPr lang="en-US" altLang="zh-TW" sz="3000" b="1" u="sng" dirty="0" smtClean="0">
              <a:solidFill>
                <a:srgbClr val="C00000"/>
              </a:solidFill>
              <a:latin typeface="Arial" charset="0"/>
              <a:ea typeface="新細明體" pitchFamily="18" charset="-120"/>
            </a:endParaRPr>
          </a:p>
          <a:p>
            <a:pPr marL="855663" algn="ctr"/>
            <a:r>
              <a:rPr lang="en-US" altLang="zh-TW" sz="3000" b="1" dirty="0" smtClean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Internet </a:t>
            </a:r>
            <a:r>
              <a:rPr lang="en-US" altLang="zh-TW" sz="30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Relay Chat (IRC) </a:t>
            </a:r>
          </a:p>
        </p:txBody>
      </p:sp>
    </p:spTree>
  </p:cSld>
  <p:clrMapOvr>
    <a:masterClrMapping/>
  </p:clrMapOvr>
  <p:transition spd="slow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1600200"/>
            <a:ext cx="8458200" cy="3600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pPr marL="1379538" indent="-407988" defTabSz="169863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An online service is a company that provides access to e-mail, discussion groups, databases on various subjects, and the Internet.</a:t>
            </a:r>
          </a:p>
          <a:p>
            <a:pPr marL="1379538" indent="-407988" defTabSz="169863">
              <a:buFontTx/>
              <a:buChar char="•"/>
            </a:pPr>
            <a:endParaRPr lang="en-US" altLang="zh-TW" sz="2800" dirty="0">
              <a:ea typeface="新細明體" pitchFamily="18" charset="-120"/>
            </a:endParaRPr>
          </a:p>
          <a:p>
            <a:pPr marL="1379538" indent="-407988" defTabSz="169863" eaLnBrk="0" hangingPunct="0">
              <a:buFontTx/>
              <a:buChar char="•"/>
            </a:pPr>
            <a:r>
              <a:rPr lang="en-US" altLang="zh-TW" sz="2800" dirty="0">
                <a:ea typeface="新細明體" pitchFamily="18" charset="-120"/>
              </a:rPr>
              <a:t>America Online, CompuServe, and Prodigy are examples of popular online services. </a:t>
            </a: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533400" y="5334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/>
            <a:r>
              <a:rPr lang="en-US" altLang="zh-TW" sz="3200" b="1" dirty="0">
                <a:solidFill>
                  <a:srgbClr val="C00000"/>
                </a:solidFill>
                <a:latin typeface="Arial" charset="0"/>
                <a:ea typeface="新細明體" pitchFamily="18" charset="-120"/>
              </a:rPr>
              <a:t>Online Services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1447800"/>
            <a:ext cx="8686800" cy="4555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pPr marL="1379538" indent="-465138" defTabSz="169863">
              <a:buFontTx/>
              <a:buChar char="•"/>
            </a:pPr>
            <a:r>
              <a:rPr lang="en-US" altLang="zh-TW" sz="2200" dirty="0">
                <a:ea typeface="新細明體" pitchFamily="18" charset="-120"/>
              </a:rPr>
              <a:t>Name </a:t>
            </a:r>
            <a:r>
              <a:rPr lang="en-US" altLang="zh-TW" sz="2200" dirty="0" smtClean="0">
                <a:ea typeface="新細明體" pitchFamily="18" charset="-120"/>
              </a:rPr>
              <a:t>two </a:t>
            </a:r>
            <a:r>
              <a:rPr lang="en-US" altLang="zh-TW" sz="2200" dirty="0">
                <a:ea typeface="新細明體" pitchFamily="18" charset="-120"/>
              </a:rPr>
              <a:t>organizations that created the network now called the Internet.</a:t>
            </a:r>
          </a:p>
          <a:p>
            <a:pPr marL="1379538" indent="-465138" defTabSz="169863">
              <a:buFontTx/>
              <a:buChar char="•"/>
            </a:pPr>
            <a:endParaRPr lang="en-US" altLang="zh-TW" sz="2200" dirty="0">
              <a:ea typeface="新細明體" pitchFamily="18" charset="-120"/>
            </a:endParaRPr>
          </a:p>
          <a:p>
            <a:pPr marL="1379538" indent="-465138" defTabSz="169863">
              <a:buFontTx/>
              <a:buChar char="•"/>
            </a:pPr>
            <a:r>
              <a:rPr lang="en-US" altLang="zh-TW" sz="2200" dirty="0">
                <a:ea typeface="新細明體" pitchFamily="18" charset="-120"/>
              </a:rPr>
              <a:t>Explain the importance of TCP/IP to the Internet.</a:t>
            </a:r>
          </a:p>
          <a:p>
            <a:pPr marL="1379538" indent="-465138" defTabSz="169863">
              <a:buFontTx/>
              <a:buChar char="•"/>
            </a:pPr>
            <a:endParaRPr lang="en-US" altLang="zh-TW" sz="2200" dirty="0">
              <a:ea typeface="新細明體" pitchFamily="18" charset="-120"/>
            </a:endParaRPr>
          </a:p>
          <a:p>
            <a:pPr marL="1379538" indent="-465138" defTabSz="169863">
              <a:buFontTx/>
              <a:buChar char="•"/>
            </a:pPr>
            <a:r>
              <a:rPr lang="en-US" altLang="zh-TW" sz="2200" dirty="0">
                <a:ea typeface="新細明體" pitchFamily="18" charset="-120"/>
              </a:rPr>
              <a:t>Describe the basic structure of the Internet</a:t>
            </a:r>
            <a:r>
              <a:rPr lang="en-US" altLang="zh-TW" sz="2200" dirty="0" smtClean="0">
                <a:ea typeface="新細明體" pitchFamily="18" charset="-120"/>
              </a:rPr>
              <a:t>.</a:t>
            </a:r>
          </a:p>
          <a:p>
            <a:pPr marL="1379538" indent="-465138" defTabSz="169863">
              <a:buFontTx/>
              <a:buChar char="•"/>
            </a:pPr>
            <a:endParaRPr lang="en-US" altLang="zh-TW" sz="2200" dirty="0" smtClean="0">
              <a:ea typeface="新細明體" pitchFamily="18" charset="-120"/>
            </a:endParaRPr>
          </a:p>
          <a:p>
            <a:pPr marL="1379538" indent="-465138" defTabSz="169863">
              <a:buFontTx/>
              <a:buChar char="•"/>
            </a:pPr>
            <a:r>
              <a:rPr lang="en-US" altLang="zh-TW" sz="2200" dirty="0" smtClean="0">
                <a:ea typeface="新細明體" pitchFamily="18" charset="-120"/>
              </a:rPr>
              <a:t>Describe how Internet operate.</a:t>
            </a:r>
          </a:p>
          <a:p>
            <a:pPr marL="1379538" indent="-465138" defTabSz="169863">
              <a:buFontTx/>
              <a:buChar char="•"/>
            </a:pPr>
            <a:endParaRPr lang="en-US" altLang="zh-TW" sz="2200" dirty="0">
              <a:ea typeface="新細明體" pitchFamily="18" charset="-120"/>
            </a:endParaRPr>
          </a:p>
          <a:p>
            <a:pPr marL="1379538" indent="-465138" defTabSz="169863">
              <a:buFontTx/>
              <a:buChar char="•"/>
            </a:pPr>
            <a:r>
              <a:rPr lang="en-US" altLang="zh-TW" sz="2200" dirty="0">
                <a:ea typeface="新細明體" pitchFamily="18" charset="-120"/>
              </a:rPr>
              <a:t>List the major services the Internet provides to its users.</a:t>
            </a:r>
          </a:p>
          <a:p>
            <a:pPr marL="1379538" indent="-465138" defTabSz="169863">
              <a:buFontTx/>
              <a:buChar char="•"/>
            </a:pPr>
            <a:endParaRPr lang="en-US" altLang="zh-TW" sz="2200" dirty="0">
              <a:ea typeface="新細明體" pitchFamily="18" charset="-120"/>
            </a:endParaRPr>
          </a:p>
          <a:p>
            <a:pPr marL="1379538" indent="-465138" defTabSz="169863">
              <a:buFontTx/>
              <a:buChar char="•"/>
            </a:pPr>
            <a:endParaRPr lang="en-US" altLang="zh-TW" sz="2200" dirty="0">
              <a:ea typeface="新細明體" pitchFamily="18" charset="-120"/>
            </a:endParaRPr>
          </a:p>
          <a:p>
            <a:pPr marL="1379538" indent="-465138" defTabSz="169863" eaLnBrk="0" hangingPunct="0">
              <a:buFontTx/>
              <a:buChar char="•"/>
            </a:pPr>
            <a:endParaRPr lang="en-US" altLang="zh-TW" sz="2200" dirty="0">
              <a:ea typeface="新細明體" pitchFamily="18" charset="-120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0" y="2546350"/>
            <a:ext cx="9144000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pPr eaLnBrk="0" hangingPunct="0"/>
            <a:endParaRPr lang="zh-TW" altLang="en-US">
              <a:ea typeface="新細明體" pitchFamily="18" charset="-120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0" y="4311650"/>
            <a:ext cx="91440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76176" rIns="0" bIns="76176">
            <a:spAutoFit/>
          </a:bodyPr>
          <a:lstStyle/>
          <a:p>
            <a:endParaRPr lang="zh-TW" altLang="en-US" sz="1200" b="1" i="1">
              <a:latin typeface="Arial" charset="0"/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0" y="53340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855663">
              <a:spcBef>
                <a:spcPct val="50000"/>
              </a:spcBef>
            </a:pPr>
            <a:r>
              <a:rPr lang="en-US" altLang="zh-TW" sz="3200" b="1" dirty="0" smtClean="0">
                <a:solidFill>
                  <a:schemeClr val="accent2">
                    <a:lumMod val="50000"/>
                  </a:schemeClr>
                </a:solidFill>
                <a:latin typeface="+mj-lt"/>
                <a:ea typeface="新細明體" pitchFamily="18" charset="-120"/>
              </a:rPr>
              <a:t>lesson </a:t>
            </a:r>
            <a:r>
              <a:rPr lang="en-US" altLang="zh-TW" sz="3200" b="1" dirty="0">
                <a:solidFill>
                  <a:schemeClr val="accent2">
                    <a:lumMod val="50000"/>
                  </a:schemeClr>
                </a:solidFill>
                <a:latin typeface="+mj-lt"/>
                <a:ea typeface="新細明體" pitchFamily="18" charset="-120"/>
              </a:rPr>
              <a:t>review</a:t>
            </a:r>
            <a:r>
              <a:rPr lang="en-US" altLang="zh-TW" sz="3200" dirty="0">
                <a:solidFill>
                  <a:schemeClr val="accent2">
                    <a:lumMod val="50000"/>
                  </a:schemeClr>
                </a:solidFill>
                <a:latin typeface="+mj-lt"/>
                <a:ea typeface="新細明體" pitchFamily="18" charset="-12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 autoUpdateAnimBg="0"/>
    </p:bld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30</TotalTime>
  <Words>1745</Words>
  <Application>Microsoft Office PowerPoint</Application>
  <PresentationFormat>On-screen Show (4:3)</PresentationFormat>
  <Paragraphs>346</Paragraphs>
  <Slides>45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HNDIT</vt:lpstr>
      <vt:lpstr>HNDIT11062 –  Web Development</vt:lpstr>
      <vt:lpstr>Course Content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Principals of name spaces are administered by the Internet Corporation for Assigned Names and Numbers (ICANN) . Including  :       domain names      Internet Protocol (IP) addresses      application port numbers in the transport    protocol  &amp;            many other parameters. </vt:lpstr>
      <vt:lpstr>Internet governances…..</vt:lpstr>
      <vt:lpstr>Slide 17</vt:lpstr>
      <vt:lpstr>Slide 18</vt:lpstr>
      <vt:lpstr>Hypertext</vt:lpstr>
      <vt:lpstr>Slide 20</vt:lpstr>
      <vt:lpstr>Slide 21</vt:lpstr>
      <vt:lpstr>Slide 22</vt:lpstr>
      <vt:lpstr>Slide 23</vt:lpstr>
      <vt:lpstr>Hyperlink</vt:lpstr>
      <vt:lpstr>Web Browser</vt:lpstr>
      <vt:lpstr>Web Browsers  </vt:lpstr>
      <vt:lpstr> Process of web browser  </vt:lpstr>
      <vt:lpstr>Search Engines</vt:lpstr>
      <vt:lpstr>Slide 29</vt:lpstr>
      <vt:lpstr>The world’s first web server </vt:lpstr>
      <vt:lpstr>Slide 31</vt:lpstr>
      <vt:lpstr>Slide 32</vt:lpstr>
      <vt:lpstr>Client-Side languages/styles  </vt:lpstr>
      <vt:lpstr>Server-Side languages/styles  </vt:lpstr>
      <vt:lpstr>Slide 35</vt:lpstr>
      <vt:lpstr>Slide 36</vt:lpstr>
      <vt:lpstr>Slide 37</vt:lpstr>
      <vt:lpstr>Slide 38</vt:lpstr>
      <vt:lpstr>Slide 39</vt:lpstr>
      <vt:lpstr>FTP (cont.)</vt:lpstr>
      <vt:lpstr>Anonymous FTP  </vt:lpstr>
      <vt:lpstr>FTP Client Commands (issued by user interface)</vt:lpstr>
      <vt:lpstr>Slide 43</vt:lpstr>
      <vt:lpstr>Slide 44</vt:lpstr>
      <vt:lpstr>Slide 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2002 – Graphics &amp; Multimedia</dc:title>
  <dc:creator>Dell PC</dc:creator>
  <cp:lastModifiedBy>wathsala</cp:lastModifiedBy>
  <cp:revision>5</cp:revision>
  <dcterms:created xsi:type="dcterms:W3CDTF">2013-10-16T01:16:09Z</dcterms:created>
  <dcterms:modified xsi:type="dcterms:W3CDTF">2014-03-11T17:15:53Z</dcterms:modified>
</cp:coreProperties>
</file>