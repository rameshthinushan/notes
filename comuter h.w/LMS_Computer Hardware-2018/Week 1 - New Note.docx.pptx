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Shape 111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Shape 118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Shape 124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Shape 129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Shape 135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Shape 141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Shape 147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Shape 153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Shape 159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Shape 165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Shape 172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Shape 178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Shape 184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Shape 190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Shape 196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Shape 202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Shape 208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Shape 214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Shape 220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Shape 13"/>
          <p:cNvSpPr txBox="1"/>
          <p:nvPr>
            <p:ph idx="1"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Shape 16"/>
          <p:cNvSpPr txBox="1"/>
          <p:nvPr>
            <p:ph idx="1"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Shape 20"/>
          <p:cNvSpPr txBox="1"/>
          <p:nvPr>
            <p:ph idx="1"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Shape 21"/>
          <p:cNvSpPr txBox="1"/>
          <p:nvPr>
            <p:ph idx="2"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/>
          <p:nvPr>
            <p:ph idx="1"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Shape 28"/>
          <p:cNvSpPr txBox="1"/>
          <p:nvPr>
            <p:ph idx="1"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Shape 29"/>
          <p:cNvSpPr txBox="1"/>
          <p:nvPr>
            <p:ph idx="2"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Shape 30"/>
          <p:cNvSpPr txBox="1"/>
          <p:nvPr>
            <p:ph idx="3"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Shape 33"/>
          <p:cNvSpPr txBox="1"/>
          <p:nvPr>
            <p:ph idx="1"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Shape 34"/>
          <p:cNvSpPr txBox="1"/>
          <p:nvPr>
            <p:ph idx="2"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Shape 35"/>
          <p:cNvSpPr txBox="1"/>
          <p:nvPr>
            <p:ph idx="3"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Shape 38"/>
          <p:cNvSpPr txBox="1"/>
          <p:nvPr>
            <p:ph idx="1"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Shape 40"/>
          <p:cNvSpPr txBox="1"/>
          <p:nvPr>
            <p:ph idx="3"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Shape 44"/>
          <p:cNvSpPr txBox="1"/>
          <p:nvPr>
            <p:ph idx="2"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Shape 47"/>
          <p:cNvSpPr txBox="1"/>
          <p:nvPr>
            <p:ph idx="1"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Shape 48"/>
          <p:cNvSpPr txBox="1"/>
          <p:nvPr>
            <p:ph idx="2"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Shape 49"/>
          <p:cNvSpPr txBox="1"/>
          <p:nvPr>
            <p:ph idx="3"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Shape 50"/>
          <p:cNvSpPr txBox="1"/>
          <p:nvPr>
            <p:ph idx="4"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Shape 54"/>
          <p:cNvSpPr txBox="1"/>
          <p:nvPr>
            <p:ph idx="2"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Shape 55"/>
          <p:cNvSpPr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Shape 56"/>
          <p:cNvSpPr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">
  <p:cSld name="AUTOLAYOUT_3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/>
        </p:nvSpPr>
        <p:spPr>
          <a:xfrm>
            <a:off x="0" y="0"/>
            <a:ext cx="10080600" cy="755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Shape 59"/>
          <p:cNvSpPr/>
          <p:nvPr/>
        </p:nvSpPr>
        <p:spPr>
          <a:xfrm>
            <a:off x="0" y="0"/>
            <a:ext cx="5052900" cy="755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12" type="sldNum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2">
  <p:cSld name="AUTOLAYOUT_4"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/>
        </p:nvSpPr>
        <p:spPr>
          <a:xfrm>
            <a:off x="0" y="0"/>
            <a:ext cx="10080600" cy="755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Shape 65"/>
          <p:cNvSpPr/>
          <p:nvPr/>
        </p:nvSpPr>
        <p:spPr>
          <a:xfrm>
            <a:off x="0" y="0"/>
            <a:ext cx="5052900" cy="755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2" type="sldNum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3">
  <p:cSld name="AUTOLAYOUT_5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0" y="0"/>
            <a:ext cx="10080600" cy="755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Shape 71"/>
          <p:cNvSpPr/>
          <p:nvPr/>
        </p:nvSpPr>
        <p:spPr>
          <a:xfrm>
            <a:off x="2078192" y="0"/>
            <a:ext cx="8002200" cy="755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2746017" y="448642"/>
            <a:ext cx="3194100" cy="6039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Shape 73"/>
          <p:cNvSpPr txBox="1"/>
          <p:nvPr>
            <p:ph idx="2" type="body"/>
          </p:nvPr>
        </p:nvSpPr>
        <p:spPr>
          <a:xfrm>
            <a:off x="6023873" y="448642"/>
            <a:ext cx="3194100" cy="6039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12" type="sldNum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4">
  <p:cSld name="AUTOLAYOUT_6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/>
        </p:nvSpPr>
        <p:spPr>
          <a:xfrm>
            <a:off x="0" y="0"/>
            <a:ext cx="10080600" cy="755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Shape 77"/>
          <p:cNvSpPr/>
          <p:nvPr/>
        </p:nvSpPr>
        <p:spPr>
          <a:xfrm>
            <a:off x="0" y="0"/>
            <a:ext cx="5052900" cy="755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Shape 80"/>
          <p:cNvSpPr txBox="1"/>
          <p:nvPr>
            <p:ph idx="12" type="sldNum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5">
  <p:cSld name="AUTOLAYOUT_7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/>
        </p:nvSpPr>
        <p:spPr>
          <a:xfrm>
            <a:off x="0" y="0"/>
            <a:ext cx="10080600" cy="755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Shape 83"/>
          <p:cNvSpPr/>
          <p:nvPr/>
        </p:nvSpPr>
        <p:spPr>
          <a:xfrm>
            <a:off x="2078192" y="0"/>
            <a:ext cx="8002200" cy="755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2746017" y="448642"/>
            <a:ext cx="3194100" cy="6039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Shape 85"/>
          <p:cNvSpPr txBox="1"/>
          <p:nvPr>
            <p:ph idx="2" type="body"/>
          </p:nvPr>
        </p:nvSpPr>
        <p:spPr>
          <a:xfrm>
            <a:off x="6023873" y="448642"/>
            <a:ext cx="3194100" cy="6039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Shape 86"/>
          <p:cNvSpPr txBox="1"/>
          <p:nvPr>
            <p:ph idx="12" type="sldNum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6">
  <p:cSld name="AUTOLAYOUT_8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>
            <a:off x="0" y="0"/>
            <a:ext cx="10080600" cy="755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Shape 89"/>
          <p:cNvSpPr/>
          <p:nvPr/>
        </p:nvSpPr>
        <p:spPr>
          <a:xfrm>
            <a:off x="0" y="0"/>
            <a:ext cx="5052900" cy="755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Shape 91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Shape 92"/>
          <p:cNvSpPr txBox="1"/>
          <p:nvPr>
            <p:ph idx="12" type="sldNum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7">
  <p:cSld name="AUTOLAYOUT_9"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/>
        </p:nvSpPr>
        <p:spPr>
          <a:xfrm>
            <a:off x="0" y="0"/>
            <a:ext cx="10080600" cy="755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Shape 95"/>
          <p:cNvSpPr/>
          <p:nvPr/>
        </p:nvSpPr>
        <p:spPr>
          <a:xfrm>
            <a:off x="0" y="0"/>
            <a:ext cx="5052900" cy="755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Shape 97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Shape 98"/>
          <p:cNvSpPr txBox="1"/>
          <p:nvPr>
            <p:ph idx="12" type="sldNum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8">
  <p:cSld name="AUTOLAYOUT_10"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0" y="0"/>
            <a:ext cx="10080600" cy="755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Shape 101"/>
          <p:cNvSpPr/>
          <p:nvPr/>
        </p:nvSpPr>
        <p:spPr>
          <a:xfrm>
            <a:off x="0" y="0"/>
            <a:ext cx="5052900" cy="755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Shape 103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" name="Shape 104"/>
          <p:cNvSpPr txBox="1"/>
          <p:nvPr>
            <p:ph idx="12" type="sldNum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9">
  <p:cSld name="AUTOLAYOUT_11"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/>
        </p:nvSpPr>
        <p:spPr>
          <a:xfrm>
            <a:off x="0" y="0"/>
            <a:ext cx="10080600" cy="755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Shape 107"/>
          <p:cNvSpPr txBox="1"/>
          <p:nvPr>
            <p:ph type="title"/>
          </p:nvPr>
        </p:nvSpPr>
        <p:spPr>
          <a:xfrm>
            <a:off x="387615" y="4022494"/>
            <a:ext cx="4407000" cy="2042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400">
                <a:solidFill>
                  <a:srgbClr val="21212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400">
                <a:solidFill>
                  <a:srgbClr val="21212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400">
                <a:solidFill>
                  <a:srgbClr val="21212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400">
                <a:solidFill>
                  <a:srgbClr val="21212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400">
                <a:solidFill>
                  <a:srgbClr val="21212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400">
                <a:solidFill>
                  <a:srgbClr val="21212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400">
                <a:solidFill>
                  <a:srgbClr val="21212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400">
                <a:solidFill>
                  <a:srgbClr val="21212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400">
                <a:solidFill>
                  <a:srgbClr val="212121"/>
                </a:solidFill>
              </a:defRPr>
            </a:lvl9pPr>
          </a:lstStyle>
          <a:p/>
        </p:txBody>
      </p:sp>
      <p:sp>
        <p:nvSpPr>
          <p:cNvPr id="108" name="Shape 108"/>
          <p:cNvSpPr txBox="1"/>
          <p:nvPr>
            <p:ph idx="12" type="sldNum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Shape 8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Shape 9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Shape 10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Shape 113"/>
          <p:cNvPicPr preferRelativeResize="0"/>
          <p:nvPr/>
        </p:nvPicPr>
        <p:blipFill rotWithShape="1">
          <a:blip r:embed="rId3">
            <a:alphaModFix/>
          </a:blip>
          <a:srcRect b="0" l="12496" r="12496" t="0"/>
          <a:stretch/>
        </p:blipFill>
        <p:spPr>
          <a:xfrm>
            <a:off x="1" y="0"/>
            <a:ext cx="10080624" cy="755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Shape 114"/>
          <p:cNvSpPr/>
          <p:nvPr/>
        </p:nvSpPr>
        <p:spPr>
          <a:xfrm>
            <a:off x="0" y="3783732"/>
            <a:ext cx="5036400" cy="2520000"/>
          </a:xfrm>
          <a:prstGeom prst="rect">
            <a:avLst/>
          </a:prstGeom>
          <a:solidFill>
            <a:srgbClr val="FFFFFF">
              <a:alpha val="85490"/>
            </a:srgbClr>
          </a:solidFill>
          <a:ln>
            <a:noFill/>
          </a:ln>
        </p:spPr>
        <p:txBody>
          <a:bodyPr anchorCtr="0" anchor="ctr" bIns="111975" lIns="111975" spcFirstLastPara="1" rIns="111975" wrap="square" tIns="1119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Shape 115"/>
          <p:cNvSpPr txBox="1"/>
          <p:nvPr>
            <p:ph type="title"/>
          </p:nvPr>
        </p:nvSpPr>
        <p:spPr>
          <a:xfrm>
            <a:off x="387615" y="4022494"/>
            <a:ext cx="4407000" cy="2042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u="none" cap="none" strike="noStrike"/>
            </a:br>
            <a:r>
              <a:rPr b="0" i="0" lang="en-US" u="none" cap="none" strike="noStrike"/>
              <a:t>Computer Hardware</a:t>
            </a:r>
            <a:endParaRPr b="0" i="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04000" y="301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 Aims &amp; Objectives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Shape 121"/>
          <p:cNvSpPr txBox="1"/>
          <p:nvPr/>
        </p:nvSpPr>
        <p:spPr>
          <a:xfrm>
            <a:off x="504000" y="1769040"/>
            <a:ext cx="9071700" cy="4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develop the fundamental skills required in installation, configuration, maintenance and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of personal computer systems and simple data communication devices in a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office environment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621000" y="3102840"/>
            <a:ext cx="9071700" cy="13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Computer System and its Classifications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84959" lvl="0" marL="432000" marR="0" rtl="0">
              <a:spcBef>
                <a:spcPts val="0"/>
              </a:spcBef>
              <a:spcAft>
                <a:spcPts val="2000"/>
              </a:spcAft>
              <a:buSzPts val="2400"/>
              <a:buChar char="●"/>
            </a:pPr>
            <a:r>
              <a:rPr b="0" i="0" lang="en-US" u="none" cap="none" strike="noStrike"/>
              <a:t>Versatile electronic device, which is programmable and process data according to a given set of instructions</a:t>
            </a:r>
            <a:endParaRPr b="0" i="0" u="none" cap="none" strike="noStrike"/>
          </a:p>
        </p:txBody>
      </p:sp>
      <p:sp>
        <p:nvSpPr>
          <p:cNvPr id="132" name="Shape 132"/>
          <p:cNvSpPr txBox="1"/>
          <p:nvPr>
            <p:ph idx="2" type="body"/>
          </p:nvPr>
        </p:nvSpPr>
        <p:spPr>
          <a:xfrm>
            <a:off x="5454125" y="815494"/>
            <a:ext cx="4251000" cy="88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2000"/>
              </a:spcAft>
              <a:buNone/>
            </a:pPr>
            <a:r>
              <a:rPr b="0" i="0" lang="en-US" u="none" cap="none" strike="noStrike"/>
              <a:t>Definition of a Computer</a:t>
            </a:r>
            <a:endParaRPr b="0" i="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84959" lvl="0" marL="432000" marR="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u="none" cap="none" strike="noStrike"/>
              <a:t>Speed</a:t>
            </a:r>
            <a:endParaRPr b="0" i="0" u="none" cap="none" strike="noStrike"/>
          </a:p>
          <a:p>
            <a:pPr indent="-384959" lvl="0" marL="432000" marR="0" rtl="0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b="0" i="0" lang="en-US" u="none" cap="none" strike="noStrike"/>
              <a:t>Accuracy</a:t>
            </a:r>
            <a:endParaRPr b="0" i="0" u="none" cap="none" strike="noStrike"/>
          </a:p>
          <a:p>
            <a:pPr indent="-384959" lvl="0" marL="432000" marR="0" rtl="0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b="0" i="0" lang="en-US" u="none" cap="none" strike="noStrike"/>
              <a:t>Storage</a:t>
            </a:r>
            <a:endParaRPr b="0" i="0" u="none" cap="none" strike="noStrike"/>
          </a:p>
          <a:p>
            <a:pPr indent="-384959" lvl="0" marL="432000" marR="0" rtl="0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b="0" i="0" lang="en-US" u="none" cap="none" strike="noStrike"/>
              <a:t>Diligence</a:t>
            </a:r>
            <a:endParaRPr b="0" i="0" u="none" cap="none" strike="noStrike"/>
          </a:p>
          <a:p>
            <a:pPr indent="-384959" lvl="0" marL="432000" marR="0" rtl="0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b="0" i="0" lang="en-US" u="none" cap="none" strike="noStrike"/>
              <a:t>Versatility</a:t>
            </a:r>
            <a:endParaRPr b="0" i="0" u="none" cap="none" strike="noStrike"/>
          </a:p>
          <a:p>
            <a:pPr indent="-384959" lvl="0" marL="432000" marR="0" rtl="0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b="0" i="0" lang="en-US" u="none" cap="none" strike="noStrike"/>
              <a:t>Memory / Power of Memory</a:t>
            </a:r>
            <a:endParaRPr b="0" i="0" u="none" cap="none" strike="noStrike"/>
          </a:p>
          <a:p>
            <a:pPr indent="-384959" lvl="0" marL="432000" marR="0" rtl="0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b="0" i="0" lang="en-US" u="none" cap="none" strike="noStrike"/>
              <a:t>Reliability</a:t>
            </a:r>
            <a:endParaRPr b="0" i="0" u="none" cap="none" strike="noStrike"/>
          </a:p>
          <a:p>
            <a:pPr indent="0" lvl="0" marL="0" marR="0" rtl="0">
              <a:spcBef>
                <a:spcPts val="2000"/>
              </a:spcBef>
              <a:spcAft>
                <a:spcPts val="2000"/>
              </a:spcAft>
              <a:buNone/>
            </a:pPr>
            <a:r>
              <a:rPr b="0" i="0" lang="en-US" u="none" cap="none" strike="noStrike"/>
              <a:t> </a:t>
            </a:r>
            <a:endParaRPr b="0" i="0" u="none" cap="none" strike="noStrike"/>
          </a:p>
        </p:txBody>
      </p:sp>
      <p:sp>
        <p:nvSpPr>
          <p:cNvPr id="138" name="Shape 138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2000"/>
              </a:spcAft>
              <a:buNone/>
            </a:pPr>
            <a:r>
              <a:rPr b="0" i="0" lang="en-US" u="none" cap="none" strike="noStrike"/>
              <a:t>Characteristics of a Computer</a:t>
            </a:r>
            <a:endParaRPr b="0" i="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Characteristics of a Computer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Shape 144"/>
          <p:cNvSpPr txBox="1"/>
          <p:nvPr/>
        </p:nvSpPr>
        <p:spPr>
          <a:xfrm>
            <a:off x="504488" y="1435015"/>
            <a:ext cx="9071700" cy="4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959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human being can compete to solving the complex computation, faster than computer.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Giga Hertz (GHz) – Billion clock cycles per second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959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Eg: 800MHz – 1 instruction in 0.00000000125 second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95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Computer is programmed, so what ever input we give it gives result with accurately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95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can store mass storage of data with appropriate format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Characteristics of a Computer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Shape 150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Diligence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can work for hours without any break and creating error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Versatality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use computer to perform completely different type of work at the same time.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is reliable than a Human especially in repetitive tasks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/>
          <p:nvPr/>
        </p:nvSpPr>
        <p:spPr>
          <a:xfrm>
            <a:off x="504000" y="301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Processing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Shape 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60" y="1657800"/>
            <a:ext cx="9071641" cy="4194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idx="1" type="body"/>
          </p:nvPr>
        </p:nvSpPr>
        <p:spPr>
          <a:xfrm>
            <a:off x="2746017" y="448642"/>
            <a:ext cx="3194100" cy="60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9559" lvl="0" marL="432000" marR="0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i="0" lang="en-US" u="none" cap="none" strike="noStrike"/>
              <a:t>Data</a:t>
            </a:r>
            <a:endParaRPr b="0" i="0" u="none" cap="none" strike="noStrike"/>
          </a:p>
          <a:p>
            <a:pPr indent="-279550" lvl="1" marL="864000" marR="0" rtl="0">
              <a:spcBef>
                <a:spcPts val="2000"/>
              </a:spcBef>
              <a:spcAft>
                <a:spcPts val="0"/>
              </a:spcAft>
              <a:buSzPts val="1400"/>
              <a:buChar char="−"/>
            </a:pPr>
            <a:r>
              <a:rPr b="0" i="0" lang="en-US" u="none" cap="none" strike="noStrike"/>
              <a:t>Data is raw facts</a:t>
            </a:r>
            <a:endParaRPr b="0" i="0" u="none" cap="none" strike="noStrike"/>
          </a:p>
          <a:p>
            <a:pPr indent="-279550" lvl="1" marL="864000" marR="0" rtl="0">
              <a:spcBef>
                <a:spcPts val="2000"/>
              </a:spcBef>
              <a:spcAft>
                <a:spcPts val="0"/>
              </a:spcAft>
              <a:buSzPts val="1400"/>
              <a:buChar char="−"/>
            </a:pPr>
            <a:r>
              <a:rPr b="0" i="0" lang="en-US" u="none" cap="none" strike="noStrike"/>
              <a:t>Meaningless</a:t>
            </a:r>
            <a:endParaRPr b="0" i="0" u="none" cap="none" strike="noStrike"/>
          </a:p>
          <a:p>
            <a:pPr indent="-279549" lvl="1" marL="864000" marR="0" rtl="0">
              <a:spcBef>
                <a:spcPts val="2000"/>
              </a:spcBef>
              <a:spcAft>
                <a:spcPts val="0"/>
              </a:spcAft>
              <a:buSzPts val="1400"/>
              <a:buChar char="−"/>
            </a:pPr>
            <a:r>
              <a:rPr b="0" i="0" lang="en-US" u="none" cap="none" strike="noStrike"/>
              <a:t>Collection of numbers, characters, symbols</a:t>
            </a:r>
            <a:endParaRPr b="0" i="0" u="none" cap="none" strike="noStrike"/>
          </a:p>
          <a:p>
            <a:pPr indent="0" lvl="0" marL="457200" marR="0" rtl="0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9559" lvl="0" marL="432000" marR="0" rtl="0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b="0" i="0" lang="en-US" u="none" cap="none" strike="noStrike"/>
              <a:t>Information</a:t>
            </a:r>
            <a:endParaRPr b="0" i="0" u="none" cap="none" strike="noStrike"/>
          </a:p>
          <a:p>
            <a:pPr indent="-279550" lvl="1" marL="864000" marR="0" rtl="0">
              <a:spcBef>
                <a:spcPts val="2000"/>
              </a:spcBef>
              <a:spcAft>
                <a:spcPts val="0"/>
              </a:spcAft>
              <a:buSzPts val="1400"/>
              <a:buChar char="−"/>
            </a:pPr>
            <a:r>
              <a:rPr b="0" i="0" lang="en-US" u="none" cap="none" strike="noStrike"/>
              <a:t>Processed data</a:t>
            </a:r>
            <a:endParaRPr b="0" i="0" u="none" cap="none" strike="noStrike"/>
          </a:p>
          <a:p>
            <a:pPr indent="-279550" lvl="1" marL="864000" marR="0" rtl="0">
              <a:spcBef>
                <a:spcPts val="2000"/>
              </a:spcBef>
              <a:spcAft>
                <a:spcPts val="0"/>
              </a:spcAft>
              <a:buSzPts val="1400"/>
              <a:buChar char="−"/>
            </a:pPr>
            <a:r>
              <a:rPr b="0" i="0" lang="en-US" u="none" cap="none" strike="noStrike"/>
              <a:t>Meaningful</a:t>
            </a:r>
            <a:endParaRPr b="0" i="0" u="none" cap="none" strike="noStrike"/>
          </a:p>
          <a:p>
            <a:pPr indent="-279550" lvl="1" marL="864000" marR="0" rtl="0">
              <a:spcBef>
                <a:spcPts val="2000"/>
              </a:spcBef>
              <a:spcAft>
                <a:spcPts val="0"/>
              </a:spcAft>
              <a:buSzPts val="1400"/>
              <a:buChar char="−"/>
            </a:pPr>
            <a:r>
              <a:rPr b="0" i="0" lang="en-US" u="none" cap="none" strike="noStrike"/>
              <a:t>Can be used for decision making</a:t>
            </a:r>
            <a:endParaRPr b="0" i="0" u="none" cap="none" strike="noStrike"/>
          </a:p>
          <a:p>
            <a:pPr indent="-279550" lvl="1" marL="864000" marR="0" rtl="0">
              <a:spcBef>
                <a:spcPts val="2000"/>
              </a:spcBef>
              <a:spcAft>
                <a:spcPts val="2000"/>
              </a:spcAft>
              <a:buSzPts val="1400"/>
              <a:buChar char="−"/>
            </a:pPr>
            <a:r>
              <a:rPr b="0" i="0" lang="en-US" u="none" cap="none" strike="noStrike"/>
              <a:t>Valuable than data</a:t>
            </a:r>
            <a:endParaRPr b="0" i="0" u="none" cap="none" strike="noStrike"/>
          </a:p>
        </p:txBody>
      </p:sp>
      <p:sp>
        <p:nvSpPr>
          <p:cNvPr id="162" name="Shape 162"/>
          <p:cNvSpPr txBox="1"/>
          <p:nvPr>
            <p:ph idx="2" type="body"/>
          </p:nvPr>
        </p:nvSpPr>
        <p:spPr>
          <a:xfrm>
            <a:off x="6023873" y="448642"/>
            <a:ext cx="3194100" cy="60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2000"/>
              </a:spcAft>
              <a:buNone/>
            </a:pPr>
            <a:r>
              <a:rPr b="0" i="0" lang="en-US" u="none" cap="none" strike="noStrike"/>
              <a:t>Data Vs Information</a:t>
            </a:r>
            <a:endParaRPr b="0" i="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 Diagram of a Computer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Shape 168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Shape 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000" y="1280160"/>
            <a:ext cx="8879400" cy="585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Memory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Shape 175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99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memory is computer memory that a processor or computer accesses first or directly.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999" lvl="1" marL="864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RAM, Cache, Registers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2399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memory is volatile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memory is faster than Secondary Memory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Secondary Memory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Shape 181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99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Secondary memory is where programs and data are kept on a long-term basis. 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secondary storage devices are the hard disk and optical disks. 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84959" lvl="0" marL="431999" marR="0" rtl="0">
              <a:spcBef>
                <a:spcPts val="0"/>
              </a:spcBef>
              <a:spcAft>
                <a:spcPts val="2000"/>
              </a:spcAft>
              <a:buSzPts val="2400"/>
              <a:buChar char="●"/>
            </a:pPr>
            <a:r>
              <a:rPr b="0" lang="en-US" strike="noStrike"/>
              <a:t>Control unit handles the all operations of processor by sending control signal to devices.</a:t>
            </a:r>
            <a:endParaRPr b="0" strike="noStrike"/>
          </a:p>
        </p:txBody>
      </p:sp>
      <p:sp>
        <p:nvSpPr>
          <p:cNvPr id="187" name="Shape 187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2000"/>
              </a:spcAft>
              <a:buNone/>
            </a:pPr>
            <a:r>
              <a:rPr b="0" lang="en-US" strike="noStrike"/>
              <a:t>Control Unit</a:t>
            </a:r>
            <a:endParaRPr b="0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Shape 193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99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Arithmetic and Logical Operations are performed by the ALU.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 stands for (Arithmetic and Logic Unit)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Arithmatic Operations: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999" lvl="1" marL="864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Addition, substraction, division and multiplication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1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Logical Operations: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And, or, not , greater than and lower than operations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Majour device types in a computer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Shape 199"/>
          <p:cNvSpPr txBox="1"/>
          <p:nvPr/>
        </p:nvSpPr>
        <p:spPr>
          <a:xfrm>
            <a:off x="504000" y="1933715"/>
            <a:ext cx="9071700" cy="4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Devices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Devices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99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Processing Devices</a:t>
            </a:r>
            <a:endParaRPr sz="3200"/>
          </a:p>
          <a:p>
            <a:pPr indent="-32399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Devices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999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>
                <a:solidFill>
                  <a:schemeClr val="dk1"/>
                </a:solidFill>
              </a:rPr>
              <a:t>Networking</a:t>
            </a:r>
            <a:r>
              <a:rPr lang="en-US" sz="3200">
                <a:solidFill>
                  <a:schemeClr val="dk1"/>
                </a:solidFill>
              </a:rPr>
              <a:t> Devices</a:t>
            </a:r>
            <a:endParaRPr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84959" lvl="0" marL="432000" marR="0" rtl="0">
              <a:spcBef>
                <a:spcPts val="0"/>
              </a:spcBef>
              <a:spcAft>
                <a:spcPts val="2000"/>
              </a:spcAft>
              <a:buSzPts val="2400"/>
              <a:buChar char="●"/>
            </a:pPr>
            <a:r>
              <a:rPr b="0" lang="en-US" strike="noStrike"/>
              <a:t>Devices which is capable of input data to the computer are called “Input Devices”</a:t>
            </a:r>
            <a:endParaRPr b="0" strike="noStrike"/>
          </a:p>
        </p:txBody>
      </p:sp>
      <p:sp>
        <p:nvSpPr>
          <p:cNvPr id="205" name="Shape 205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2000"/>
              </a:spcAft>
              <a:buNone/>
            </a:pPr>
            <a:r>
              <a:rPr b="0" lang="en-US" strike="noStrike"/>
              <a:t>Input Devices</a:t>
            </a:r>
            <a:endParaRPr b="0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84959" lvl="0" marL="432000" marR="0" rtl="0">
              <a:spcBef>
                <a:spcPts val="0"/>
              </a:spcBef>
              <a:spcAft>
                <a:spcPts val="2000"/>
              </a:spcAft>
              <a:buSzPts val="2400"/>
              <a:buChar char="●"/>
            </a:pPr>
            <a:r>
              <a:rPr b="0" lang="en-US" strike="noStrike"/>
              <a:t>Devices which are capable of output the processed data to the user are called “Output Devices”</a:t>
            </a:r>
            <a:endParaRPr b="0" strike="noStrike"/>
          </a:p>
        </p:txBody>
      </p:sp>
      <p:sp>
        <p:nvSpPr>
          <p:cNvPr id="211" name="Shape 211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2000"/>
              </a:spcAft>
              <a:buNone/>
            </a:pPr>
            <a:r>
              <a:rPr b="0" lang="en-US" strike="noStrike"/>
              <a:t>Output Devices</a:t>
            </a:r>
            <a:endParaRPr b="0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/>
          <p:nvPr>
            <p:ph idx="1" type="body"/>
          </p:nvPr>
        </p:nvSpPr>
        <p:spPr>
          <a:xfrm>
            <a:off x="2746017" y="448642"/>
            <a:ext cx="3194100" cy="60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9559" lvl="0" marL="432000" marR="0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US" strike="noStrike"/>
              <a:t>Keyboard</a:t>
            </a:r>
            <a:endParaRPr b="0" strike="noStrike"/>
          </a:p>
          <a:p>
            <a:pPr indent="-359559" lvl="0" marL="432000" marR="0" rtl="0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b="0" lang="en-US" strike="noStrike"/>
              <a:t>Mouse</a:t>
            </a:r>
            <a:endParaRPr b="0" strike="noStrike"/>
          </a:p>
          <a:p>
            <a:pPr indent="-359559" lvl="0" marL="432000" marR="0" rtl="0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b="0" lang="en-US" strike="noStrike"/>
              <a:t>Scanner</a:t>
            </a:r>
            <a:endParaRPr b="0" strike="noStrike"/>
          </a:p>
          <a:p>
            <a:pPr indent="-359559" lvl="0" marL="432000" marR="0" rtl="0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b="0" lang="en-US" strike="noStrike"/>
              <a:t>Camera</a:t>
            </a:r>
            <a:endParaRPr b="0" strike="noStrike"/>
          </a:p>
          <a:p>
            <a:pPr indent="-359559" lvl="0" marL="432000" marR="0" rtl="0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b="0" lang="en-US" strike="noStrike"/>
              <a:t>Microphone</a:t>
            </a:r>
            <a:endParaRPr b="0" strike="noStrike"/>
          </a:p>
          <a:p>
            <a:pPr indent="-359559" lvl="0" marL="432000" marR="0" rtl="0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b="0" lang="en-US" strike="noStrike"/>
              <a:t>Finger print scanner</a:t>
            </a:r>
            <a:endParaRPr b="0" strike="noStrike"/>
          </a:p>
          <a:p>
            <a:pPr indent="-359559" lvl="0" marL="432000" marR="0" rtl="0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b="0" lang="en-US" strike="noStrike"/>
              <a:t>Track ball</a:t>
            </a:r>
            <a:endParaRPr b="0" strike="noStrike"/>
          </a:p>
          <a:p>
            <a:pPr indent="-359559" lvl="0" marL="432000" marR="0" rtl="0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b="0" lang="en-US" strike="noStrike"/>
              <a:t>Light pen</a:t>
            </a:r>
            <a:endParaRPr b="0" strike="noStrike"/>
          </a:p>
          <a:p>
            <a:pPr indent="-359559" lvl="0" marL="432000" marR="0" rtl="0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b="0" lang="en-US" strike="noStrike"/>
              <a:t>Optical Character Recognition (OCR)</a:t>
            </a:r>
            <a:endParaRPr b="0" strike="noStrike"/>
          </a:p>
          <a:p>
            <a:pPr indent="-359559" lvl="0" marL="432000" marR="0" rtl="0">
              <a:spcBef>
                <a:spcPts val="2000"/>
              </a:spcBef>
              <a:spcAft>
                <a:spcPts val="0"/>
              </a:spcAft>
              <a:buSzPts val="2000"/>
              <a:buChar char="●"/>
            </a:pPr>
            <a:r>
              <a:rPr b="0" lang="en-US" strike="noStrike"/>
              <a:t>Bar code reader</a:t>
            </a:r>
            <a:endParaRPr b="0" strike="noStrike"/>
          </a:p>
          <a:p>
            <a:pPr indent="0" lvl="0" marL="0" marR="0" rtl="0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b="0" strike="noStrike"/>
          </a:p>
        </p:txBody>
      </p:sp>
      <p:sp>
        <p:nvSpPr>
          <p:cNvPr id="217" name="Shape 217"/>
          <p:cNvSpPr txBox="1"/>
          <p:nvPr>
            <p:ph idx="2" type="body"/>
          </p:nvPr>
        </p:nvSpPr>
        <p:spPr>
          <a:xfrm>
            <a:off x="6023873" y="448642"/>
            <a:ext cx="3194100" cy="60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2000"/>
              </a:spcAft>
              <a:buNone/>
            </a:pPr>
            <a:r>
              <a:rPr b="0" lang="en-US" strike="noStrike"/>
              <a:t>Input Devices</a:t>
            </a:r>
            <a:endParaRPr b="0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/>
          <p:nvPr>
            <p:ph idx="1" type="body"/>
          </p:nvPr>
        </p:nvSpPr>
        <p:spPr>
          <a:xfrm>
            <a:off x="401009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84959" lvl="0" marL="432000" marR="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n-US" strike="noStrike"/>
              <a:t>Monitor</a:t>
            </a:r>
            <a:endParaRPr b="0" strike="noStrike"/>
          </a:p>
          <a:p>
            <a:pPr indent="-384959" lvl="0" marL="432000" marR="0" rtl="0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b="0" lang="en-US" strike="noStrike"/>
              <a:t>Printer</a:t>
            </a:r>
            <a:endParaRPr b="0" strike="noStrike"/>
          </a:p>
          <a:p>
            <a:pPr indent="-384959" lvl="0" marL="432000" marR="0" rtl="0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b="0" lang="en-US" strike="noStrike"/>
              <a:t>Plotter</a:t>
            </a:r>
            <a:endParaRPr b="0" strike="noStrike"/>
          </a:p>
          <a:p>
            <a:pPr indent="-384959" lvl="0" marL="432000" marR="0" rtl="0">
              <a:spcBef>
                <a:spcPts val="2000"/>
              </a:spcBef>
              <a:spcAft>
                <a:spcPts val="2000"/>
              </a:spcAft>
              <a:buSzPts val="2400"/>
              <a:buChar char="●"/>
            </a:pPr>
            <a:r>
              <a:rPr b="0" lang="en-US" strike="noStrike"/>
              <a:t>Speaker</a:t>
            </a:r>
            <a:endParaRPr b="0" strike="noStrike"/>
          </a:p>
        </p:txBody>
      </p:sp>
      <p:sp>
        <p:nvSpPr>
          <p:cNvPr id="223" name="Shape 223"/>
          <p:cNvSpPr txBox="1"/>
          <p:nvPr>
            <p:ph idx="2" type="body"/>
          </p:nvPr>
        </p:nvSpPr>
        <p:spPr>
          <a:xfrm>
            <a:off x="5454137" y="815493"/>
            <a:ext cx="4251000" cy="59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2000"/>
              </a:spcAft>
              <a:buNone/>
            </a:pPr>
            <a:r>
              <a:rPr b="0" lang="en-US" strike="noStrike"/>
              <a:t>Output Devices</a:t>
            </a:r>
            <a:endParaRPr b="0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