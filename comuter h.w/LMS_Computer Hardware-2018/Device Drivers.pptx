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Shape 14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Shape 15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Shape 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Shape 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Shape 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hape 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Shape 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Shape 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Shape 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Shape 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Shape 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Shape 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Shape 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Shape 3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Shape 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Shape 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Shape 4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Shape 4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Shape 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Shape 5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Shape 5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Shape 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Shape 5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Shape 6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Shape 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Shape 6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Shape 6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Shape 6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Shape 7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Shape 7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Shape 7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Shape 77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81">
  <p:cSld name="AUTOLAYOUT_90"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Shape 84"/>
          <p:cNvSpPr txBox="1"/>
          <p:nvPr>
            <p:ph type="title"/>
          </p:nvPr>
        </p:nvSpPr>
        <p:spPr>
          <a:xfrm>
            <a:off x="311700" y="2890625"/>
            <a:ext cx="7434600" cy="587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x="311700" y="3521425"/>
            <a:ext cx="6362400" cy="1141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6" name="Shape 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82">
  <p:cSld name="AUTOLAYOUT_92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Shape 89"/>
          <p:cNvGrpSpPr/>
          <p:nvPr/>
        </p:nvGrpSpPr>
        <p:grpSpPr>
          <a:xfrm>
            <a:off x="-53" y="5079048"/>
            <a:ext cx="9144099" cy="64502"/>
            <a:chOff x="595675" y="2820050"/>
            <a:chExt cx="7952774" cy="64502"/>
          </a:xfrm>
        </p:grpSpPr>
        <p:sp>
          <p:nvSpPr>
            <p:cNvPr id="90" name="Shape 90"/>
            <p:cNvSpPr/>
            <p:nvPr/>
          </p:nvSpPr>
          <p:spPr>
            <a:xfrm>
              <a:off x="2186208" y="2820050"/>
              <a:ext cx="1620000" cy="64500"/>
            </a:xfrm>
            <a:prstGeom prst="rect">
              <a:avLst/>
            </a:prstGeom>
            <a:solidFill>
              <a:srgbClr val="D628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Shape 91"/>
            <p:cNvSpPr/>
            <p:nvPr/>
          </p:nvSpPr>
          <p:spPr>
            <a:xfrm>
              <a:off x="3776784" y="2820050"/>
              <a:ext cx="1620000" cy="64500"/>
            </a:xfrm>
            <a:prstGeom prst="rect">
              <a:avLst/>
            </a:prstGeom>
            <a:solidFill>
              <a:srgbClr val="F77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Shape 92"/>
            <p:cNvSpPr/>
            <p:nvPr/>
          </p:nvSpPr>
          <p:spPr>
            <a:xfrm>
              <a:off x="5373056" y="2820052"/>
              <a:ext cx="1596300" cy="64500"/>
            </a:xfrm>
            <a:prstGeom prst="rect">
              <a:avLst/>
            </a:prstGeom>
            <a:solidFill>
              <a:srgbClr val="FCB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Shape 93"/>
            <p:cNvSpPr/>
            <p:nvPr/>
          </p:nvSpPr>
          <p:spPr>
            <a:xfrm>
              <a:off x="595675" y="2820050"/>
              <a:ext cx="1590600" cy="64500"/>
            </a:xfrm>
            <a:prstGeom prst="rect">
              <a:avLst/>
            </a:prstGeom>
            <a:solidFill>
              <a:srgbClr val="003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Shape 94"/>
            <p:cNvSpPr/>
            <p:nvPr/>
          </p:nvSpPr>
          <p:spPr>
            <a:xfrm>
              <a:off x="6957849" y="2820050"/>
              <a:ext cx="1590600" cy="64500"/>
            </a:xfrm>
            <a:prstGeom prst="rect">
              <a:avLst/>
            </a:prstGeom>
            <a:solidFill>
              <a:srgbClr val="EAE2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Shape 95"/>
          <p:cNvSpPr txBox="1"/>
          <p:nvPr>
            <p:ph type="title"/>
          </p:nvPr>
        </p:nvSpPr>
        <p:spPr>
          <a:xfrm>
            <a:off x="505475" y="451125"/>
            <a:ext cx="3570300" cy="227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4808800" y="451125"/>
            <a:ext cx="3427200" cy="39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7" name="Shape 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80">
  <p:cSld name="AUTOLAYOUT_91"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Shape 100"/>
          <p:cNvSpPr/>
          <p:nvPr/>
        </p:nvSpPr>
        <p:spPr>
          <a:xfrm>
            <a:off x="0" y="0"/>
            <a:ext cx="35850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Shape 101"/>
          <p:cNvSpPr/>
          <p:nvPr/>
        </p:nvSpPr>
        <p:spPr>
          <a:xfrm>
            <a:off x="4108825" y="636500"/>
            <a:ext cx="1944900" cy="5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388425" y="636500"/>
            <a:ext cx="2789700" cy="579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Shape 103"/>
          <p:cNvSpPr txBox="1"/>
          <p:nvPr>
            <p:ph type="title"/>
          </p:nvPr>
        </p:nvSpPr>
        <p:spPr>
          <a:xfrm>
            <a:off x="308775" y="770525"/>
            <a:ext cx="2866800" cy="3753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4" name="Shape 104"/>
          <p:cNvSpPr txBox="1"/>
          <p:nvPr>
            <p:ph idx="1" type="body"/>
          </p:nvPr>
        </p:nvSpPr>
        <p:spPr>
          <a:xfrm>
            <a:off x="4022850" y="770525"/>
            <a:ext cx="4919400" cy="3811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5" name="Shape 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Drivers</a:t>
            </a:r>
            <a:endParaRPr/>
          </a:p>
        </p:txBody>
      </p:sp>
      <p:sp>
        <p:nvSpPr>
          <p:cNvPr id="111" name="Shape 11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Higher National Diploma in Information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driver computer" id="116" name="Shape 116"/>
          <p:cNvPicPr preferRelativeResize="0"/>
          <p:nvPr/>
        </p:nvPicPr>
        <p:blipFill rotWithShape="1">
          <a:blip r:embed="rId3">
            <a:alphaModFix/>
          </a:blip>
          <a:srcRect b="24669" l="0" r="0" t="24664"/>
          <a:stretch/>
        </p:blipFill>
        <p:spPr>
          <a:xfrm>
            <a:off x="405000" y="367401"/>
            <a:ext cx="4147946" cy="23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river computer" id="117" name="Shape 117"/>
          <p:cNvPicPr preferRelativeResize="0"/>
          <p:nvPr/>
        </p:nvPicPr>
        <p:blipFill rotWithShape="1">
          <a:blip r:embed="rId4">
            <a:alphaModFix/>
          </a:blip>
          <a:srcRect b="1578" l="0" r="0" t="1578"/>
          <a:stretch/>
        </p:blipFill>
        <p:spPr>
          <a:xfrm>
            <a:off x="4591050" y="367400"/>
            <a:ext cx="4147949" cy="23285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Shape 118"/>
          <p:cNvSpPr txBox="1"/>
          <p:nvPr>
            <p:ph type="title"/>
          </p:nvPr>
        </p:nvSpPr>
        <p:spPr>
          <a:xfrm>
            <a:off x="311700" y="2890625"/>
            <a:ext cx="7434600" cy="5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Drivers</a:t>
            </a:r>
            <a:endParaRPr/>
          </a:p>
        </p:txBody>
      </p:sp>
      <p:sp>
        <p:nvSpPr>
          <p:cNvPr id="119" name="Shape 119"/>
          <p:cNvSpPr txBox="1"/>
          <p:nvPr>
            <p:ph idx="1" type="body"/>
          </p:nvPr>
        </p:nvSpPr>
        <p:spPr>
          <a:xfrm>
            <a:off x="311700" y="3521425"/>
            <a:ext cx="6362400" cy="11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device driver is a computer program that operates or controls a particular type of device that is attached to a computer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Provide interface to Hardware devices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/>
          <p:nvPr>
            <p:ph type="title"/>
          </p:nvPr>
        </p:nvSpPr>
        <p:spPr>
          <a:xfrm>
            <a:off x="1423450" y="158150"/>
            <a:ext cx="7434600" cy="5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hape 125"/>
          <p:cNvSpPr txBox="1"/>
          <p:nvPr>
            <p:ph idx="1" type="body"/>
          </p:nvPr>
        </p:nvSpPr>
        <p:spPr>
          <a:xfrm>
            <a:off x="5772550" y="840575"/>
            <a:ext cx="2992500" cy="11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Drivers are hardware dependent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– Operating system specific</a:t>
            </a:r>
            <a:endParaRPr/>
          </a:p>
        </p:txBody>
      </p:sp>
      <p:pic>
        <p:nvPicPr>
          <p:cNvPr id="126" name="Shape 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875" y="987513"/>
            <a:ext cx="2852950" cy="291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Shape 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9825" y="2077400"/>
            <a:ext cx="2595228" cy="25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Shape 128"/>
          <p:cNvSpPr txBox="1"/>
          <p:nvPr>
            <p:ph idx="1" type="body"/>
          </p:nvPr>
        </p:nvSpPr>
        <p:spPr>
          <a:xfrm>
            <a:off x="2900600" y="1959263"/>
            <a:ext cx="2992500" cy="28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Calling program invokes a routine in the driver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– Driver issues commands to the device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Device sends data back to the driver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– driver may invoke routines in the calling program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to get Drivers</a:t>
            </a:r>
            <a:endParaRPr/>
          </a:p>
        </p:txBody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Built into the product (Firmware)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Include with operating system (plug and play)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Comes with driver CD provided by vendor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Download from internet or vendor web site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Important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– After installing some device drivers computer may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need to restart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• To read the device drivers in to primary memory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Manager</a:t>
            </a:r>
            <a:endParaRPr/>
          </a:p>
        </p:txBody>
      </p:sp>
      <p:sp>
        <p:nvSpPr>
          <p:cNvPr id="140" name="Shape 1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Change hardware configuration settings.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Obtain information about each device driver.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Install &amp; updated device drivers.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Disable, enable, and uninstall devices.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Reinstall the previous version of a driver.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Identify device conflicts and manually configure resource settings.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• Print a summary of the devices that are installed on your computer.</a:t>
            </a:r>
            <a:endParaRPr/>
          </a:p>
        </p:txBody>
      </p:sp>
      <p:pic>
        <p:nvPicPr>
          <p:cNvPr id="141" name="Shape 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825" y="162971"/>
            <a:ext cx="3560951" cy="291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/>
          <p:nvPr>
            <p:ph type="title"/>
          </p:nvPr>
        </p:nvSpPr>
        <p:spPr>
          <a:xfrm>
            <a:off x="505475" y="451125"/>
            <a:ext cx="3570300" cy="22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Device Manager</a:t>
            </a:r>
            <a:endParaRPr/>
          </a:p>
        </p:txBody>
      </p:sp>
      <p:sp>
        <p:nvSpPr>
          <p:cNvPr id="147" name="Shape 147"/>
          <p:cNvSpPr txBox="1"/>
          <p:nvPr>
            <p:ph idx="1" type="body"/>
          </p:nvPr>
        </p:nvSpPr>
        <p:spPr>
          <a:xfrm>
            <a:off x="4808800" y="451125"/>
            <a:ext cx="3427200" cy="39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XP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– Control panel -&gt; System-&gt; hardware tab - Device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Manager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Windows Vista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– Control Panel -&gt; Device Manager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Windows 7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– Control Panel -&gt; Device Manager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/>
          <p:nvPr>
            <p:ph type="title"/>
          </p:nvPr>
        </p:nvSpPr>
        <p:spPr>
          <a:xfrm>
            <a:off x="308775" y="770525"/>
            <a:ext cx="28668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Plug and Play</a:t>
            </a:r>
            <a:endParaRPr/>
          </a:p>
        </p:txBody>
      </p:sp>
      <p:sp>
        <p:nvSpPr>
          <p:cNvPr id="153" name="Shape 153"/>
          <p:cNvSpPr txBox="1"/>
          <p:nvPr>
            <p:ph idx="1" type="body"/>
          </p:nvPr>
        </p:nvSpPr>
        <p:spPr>
          <a:xfrm>
            <a:off x="4022850" y="770525"/>
            <a:ext cx="4919400" cy="43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known as hot plugging/ hot swapping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Technology to automatically detect the attached HW in a computer system with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minimum user intervention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– Automatically detection is a capability of a computer bus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– It facilitates the discovery of a hardware in a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System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Plug and Play devices: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PS2 mouse or key board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• All USB devices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