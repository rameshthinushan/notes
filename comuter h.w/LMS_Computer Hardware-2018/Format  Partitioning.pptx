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Shape 9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8">
  <p:cSld name="AUTOLAYOUT_21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Shape 52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" name="Shape 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93">
  <p:cSld name="AUTOLAYOUT_105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Shape 57"/>
          <p:cNvCxnSpPr/>
          <p:nvPr/>
        </p:nvCxnSpPr>
        <p:spPr>
          <a:xfrm>
            <a:off x="3027472" y="0"/>
            <a:ext cx="0" cy="513330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</p:cxnSp>
      <p:sp>
        <p:nvSpPr>
          <p:cNvPr id="58" name="Shape 58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Shape 59"/>
          <p:cNvSpPr txBox="1"/>
          <p:nvPr>
            <p:ph type="title"/>
          </p:nvPr>
        </p:nvSpPr>
        <p:spPr>
          <a:xfrm>
            <a:off x="284100" y="307975"/>
            <a:ext cx="2479800" cy="426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3381100" y="307975"/>
            <a:ext cx="5451300" cy="426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98">
  <p:cSld name="AUTOLAYOUT_11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Shape 64"/>
          <p:cNvSpPr/>
          <p:nvPr/>
        </p:nvSpPr>
        <p:spPr>
          <a:xfrm>
            <a:off x="3341300" y="314875"/>
            <a:ext cx="5486400" cy="45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Shape 65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Shape 66"/>
          <p:cNvSpPr/>
          <p:nvPr/>
        </p:nvSpPr>
        <p:spPr>
          <a:xfrm>
            <a:off x="3341300" y="314875"/>
            <a:ext cx="5486400" cy="113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Shape 67"/>
          <p:cNvSpPr txBox="1"/>
          <p:nvPr>
            <p:ph type="title"/>
          </p:nvPr>
        </p:nvSpPr>
        <p:spPr>
          <a:xfrm>
            <a:off x="348300" y="428200"/>
            <a:ext cx="2351400" cy="43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3539325" y="593900"/>
            <a:ext cx="5090400" cy="4011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  <a:defRPr sz="1400">
                <a:solidFill>
                  <a:srgbClr val="666666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○"/>
              <a:defRPr sz="1200">
                <a:solidFill>
                  <a:srgbClr val="666666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■"/>
              <a:defRPr sz="1200">
                <a:solidFill>
                  <a:srgbClr val="666666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●"/>
              <a:defRPr sz="1200">
                <a:solidFill>
                  <a:srgbClr val="666666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○"/>
              <a:defRPr sz="1200">
                <a:solidFill>
                  <a:srgbClr val="666666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■"/>
              <a:defRPr sz="1200">
                <a:solidFill>
                  <a:srgbClr val="666666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●"/>
              <a:defRPr sz="1200">
                <a:solidFill>
                  <a:srgbClr val="666666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○"/>
              <a:defRPr sz="1200">
                <a:solidFill>
                  <a:srgbClr val="666666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66666"/>
              </a:buClr>
              <a:buSzPts val="1200"/>
              <a:buChar char="■"/>
              <a:defRPr sz="12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ommons.wikimedia.org/wiki/File:CubeSpace.jpg" TargetMode="External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Shape 7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>
            <p:ph type="title"/>
          </p:nvPr>
        </p:nvSpPr>
        <p:spPr>
          <a:xfrm>
            <a:off x="348300" y="428200"/>
            <a:ext cx="2351400" cy="43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Formatting</a:t>
            </a:r>
            <a:endParaRPr/>
          </a:p>
        </p:txBody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x="3539325" y="593900"/>
            <a:ext cx="5090400" cy="40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Preparing a storage device for initial use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Formatting process include three steps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– Low-level formatting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– Partitioning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– High-level formatting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Shape 87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/>
              <a:t>Low Level Formatting</a:t>
            </a:r>
            <a:endParaRPr b="1" u="sng"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Basic storage device preparation for data storing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Lays the permanent foundation of the disk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Completed at the factory by manufactures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• Create tracks and sectors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 Partitioning</a:t>
            </a:r>
            <a:endParaRPr/>
          </a:p>
        </p:txBody>
      </p:sp>
      <p:sp>
        <p:nvSpPr>
          <p:cNvPr id="93" name="Shape 93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Creation of one or more regions on a hard disk or other secondary storage</a:t>
            </a:r>
            <a:endParaRPr/>
          </a:p>
          <a:p>
            <a:pPr indent="0" lvl="0" marL="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Operating system can manage information in each region separately.</a:t>
            </a:r>
            <a:endParaRPr/>
          </a:p>
        </p:txBody>
      </p:sp>
      <p:pic>
        <p:nvPicPr>
          <p:cNvPr id="94" name="Shape 9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175" y="211675"/>
            <a:ext cx="3750089" cy="2493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/>
          <p:nvPr>
            <p:ph type="title"/>
          </p:nvPr>
        </p:nvSpPr>
        <p:spPr>
          <a:xfrm>
            <a:off x="4049113" y="307825"/>
            <a:ext cx="4779300" cy="14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Shape 100"/>
          <p:cNvSpPr txBox="1"/>
          <p:nvPr>
            <p:ph idx="1" type="body"/>
          </p:nvPr>
        </p:nvSpPr>
        <p:spPr>
          <a:xfrm>
            <a:off x="4054888" y="1808125"/>
            <a:ext cx="4779300" cy="27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Shape 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050" y="0"/>
            <a:ext cx="68439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/>
          <p:nvPr>
            <p:ph type="title"/>
          </p:nvPr>
        </p:nvSpPr>
        <p:spPr>
          <a:xfrm>
            <a:off x="284100" y="307975"/>
            <a:ext cx="2479800" cy="42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Formatting</a:t>
            </a:r>
            <a:endParaRPr/>
          </a:p>
        </p:txBody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x="3381100" y="307975"/>
            <a:ext cx="5451300" cy="42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on disk are not fully destroyed during high-level formatting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