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handoutMasterIdLst>
    <p:handoutMasterId r:id="rId39"/>
  </p:handoutMasterIdLst>
  <p:sldIdLst>
    <p:sldId id="256" r:id="rId2"/>
    <p:sldId id="262" r:id="rId3"/>
    <p:sldId id="263" r:id="rId4"/>
    <p:sldId id="258" r:id="rId5"/>
    <p:sldId id="259" r:id="rId6"/>
    <p:sldId id="260" r:id="rId7"/>
    <p:sldId id="269" r:id="rId8"/>
    <p:sldId id="270" r:id="rId9"/>
    <p:sldId id="275" r:id="rId10"/>
    <p:sldId id="279" r:id="rId11"/>
    <p:sldId id="271" r:id="rId12"/>
    <p:sldId id="273" r:id="rId13"/>
    <p:sldId id="272" r:id="rId14"/>
    <p:sldId id="280" r:id="rId15"/>
    <p:sldId id="284" r:id="rId16"/>
    <p:sldId id="285" r:id="rId17"/>
    <p:sldId id="286" r:id="rId18"/>
    <p:sldId id="287" r:id="rId19"/>
    <p:sldId id="257" r:id="rId20"/>
    <p:sldId id="264" r:id="rId21"/>
    <p:sldId id="276" r:id="rId22"/>
    <p:sldId id="277" r:id="rId23"/>
    <p:sldId id="281" r:id="rId24"/>
    <p:sldId id="290" r:id="rId25"/>
    <p:sldId id="289" r:id="rId26"/>
    <p:sldId id="291" r:id="rId27"/>
    <p:sldId id="293" r:id="rId28"/>
    <p:sldId id="282" r:id="rId29"/>
    <p:sldId id="283" r:id="rId30"/>
    <p:sldId id="292" r:id="rId31"/>
    <p:sldId id="300" r:id="rId32"/>
    <p:sldId id="297" r:id="rId33"/>
    <p:sldId id="294" r:id="rId34"/>
    <p:sldId id="296" r:id="rId35"/>
    <p:sldId id="301" r:id="rId36"/>
    <p:sldId id="302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51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1094"/>
    </p:cViewPr>
  </p:sorterViewPr>
  <p:notesViewPr>
    <p:cSldViewPr>
      <p:cViewPr varScale="1">
        <p:scale>
          <a:sx n="57" d="100"/>
          <a:sy n="57" d="100"/>
        </p:scale>
        <p:origin x="1806" y="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D98BB5-A5DF-4454-9ABC-93ADC18BCBD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2991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C028C7-D268-4B3A-BE28-55C5A5BED5DB}" type="datetimeFigureOut">
              <a:rPr lang="en-US" smtClean="0"/>
              <a:pPr/>
              <a:t>8/14/2018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smtClean="0"/>
              <a:t>Janaka Rajakaruna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8EC25E-3E72-4910-A92E-65F3C621F4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684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8EC25E-3E72-4910-A92E-65F3C621F4D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775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8/14/2018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Week- 01 - Introduction to computer System and its classifications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2479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IT1102 Computer Hardware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8/14/2018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8/14/2018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8/14/2018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8/14/2018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8/14/2018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8/14/2018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8/14/2018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8/14/2018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8/14/2018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8/14/2018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DD56F-A681-4805-A5A2-3EFEAD22C2F4}" type="datetimeFigureOut">
              <a:rPr lang="en-US" smtClean="0"/>
              <a:pPr/>
              <a:t>8/14/2018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6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5431" y="4800600"/>
            <a:ext cx="8696169" cy="11430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Week 8 - 9 </a:t>
            </a:r>
          </a:p>
          <a:p>
            <a:r>
              <a:rPr lang="en-US" dirty="0" smtClean="0"/>
              <a:t>PC Internal Components And the Structure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IT1102 </a:t>
            </a:r>
            <a:br>
              <a:rPr lang="en-US" dirty="0" smtClean="0"/>
            </a:br>
            <a:r>
              <a:rPr lang="en-US" dirty="0" smtClean="0"/>
              <a:t>Computer Hardware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411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 smtClean="0"/>
              <a:t>Approach that subdivides a system into smaller parts (modules) that can be independently created</a:t>
            </a:r>
          </a:p>
          <a:p>
            <a:endParaRPr lang="en-US" dirty="0" smtClean="0"/>
          </a:p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Flexible structure</a:t>
            </a:r>
          </a:p>
          <a:p>
            <a:pPr lvl="1"/>
            <a:r>
              <a:rPr lang="en-US" dirty="0" smtClean="0"/>
              <a:t>Easy to maintain</a:t>
            </a:r>
          </a:p>
          <a:p>
            <a:pPr lvl="1"/>
            <a:r>
              <a:rPr lang="en-US" dirty="0" smtClean="0"/>
              <a:t>Easy to upgrade </a:t>
            </a:r>
          </a:p>
          <a:p>
            <a:pPr lvl="1"/>
            <a:r>
              <a:rPr lang="en-US" dirty="0" smtClean="0"/>
              <a:t>Customizable</a:t>
            </a:r>
          </a:p>
          <a:p>
            <a:pPr lvl="1"/>
            <a:r>
              <a:rPr lang="en-US" dirty="0" smtClean="0"/>
              <a:t>Changing customer requirements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Modular Design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1. Monitor</a:t>
            </a:r>
            <a:br>
              <a:rPr lang="en-US" dirty="0" smtClean="0"/>
            </a:br>
            <a:r>
              <a:rPr lang="en-US" dirty="0" smtClean="0"/>
              <a:t>2. Motherboard</a:t>
            </a:r>
            <a:br>
              <a:rPr lang="en-US" dirty="0" smtClean="0"/>
            </a:br>
            <a:r>
              <a:rPr lang="en-US" dirty="0" smtClean="0"/>
              <a:t>3. CPU</a:t>
            </a:r>
            <a:br>
              <a:rPr lang="en-US" dirty="0" smtClean="0"/>
            </a:br>
            <a:r>
              <a:rPr lang="en-US" dirty="0" smtClean="0"/>
              <a:t>4. RAM</a:t>
            </a:r>
            <a:br>
              <a:rPr lang="en-US" dirty="0" smtClean="0"/>
            </a:br>
            <a:r>
              <a:rPr lang="en-US" dirty="0" smtClean="0"/>
              <a:t>5. Expansion cards</a:t>
            </a:r>
            <a:br>
              <a:rPr lang="en-US" dirty="0" smtClean="0"/>
            </a:br>
            <a:r>
              <a:rPr lang="en-US" dirty="0" smtClean="0"/>
              <a:t>6. Power supply</a:t>
            </a:r>
            <a:br>
              <a:rPr lang="en-US" dirty="0" smtClean="0"/>
            </a:br>
            <a:r>
              <a:rPr lang="en-US" dirty="0" smtClean="0"/>
              <a:t>7. Optical discs drive</a:t>
            </a:r>
            <a:br>
              <a:rPr lang="en-US" dirty="0" smtClean="0"/>
            </a:br>
            <a:r>
              <a:rPr lang="en-US" dirty="0" smtClean="0"/>
              <a:t>8. Hard disk drive</a:t>
            </a:r>
            <a:br>
              <a:rPr lang="en-US" dirty="0" smtClean="0"/>
            </a:br>
            <a:r>
              <a:rPr lang="en-US" dirty="0" smtClean="0"/>
              <a:t>9. Keyboard</a:t>
            </a:r>
            <a:br>
              <a:rPr lang="en-US" dirty="0" smtClean="0"/>
            </a:br>
            <a:r>
              <a:rPr lang="en-US" dirty="0" smtClean="0"/>
              <a:t>10. Mouse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PC Modules</a:t>
            </a:r>
            <a:endParaRPr lang="en-US" dirty="0"/>
          </a:p>
        </p:txBody>
      </p:sp>
      <p:pic>
        <p:nvPicPr>
          <p:cNvPr id="1026" name="Picture 2" descr="325px-Personal_computer%2C_exploded_5"/>
          <p:cNvPicPr>
            <a:picLocks noChangeAspect="1" noChangeArrowheads="1"/>
          </p:cNvPicPr>
          <p:nvPr/>
        </p:nvPicPr>
        <p:blipFill>
          <a:blip r:embed="rId2" cstate="print">
            <a:lum/>
          </a:blip>
          <a:srcRect/>
          <a:stretch>
            <a:fillRect/>
          </a:stretch>
        </p:blipFill>
        <p:spPr bwMode="auto">
          <a:xfrm>
            <a:off x="3907161" y="1219200"/>
            <a:ext cx="5236839" cy="56235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Main circuit board</a:t>
            </a:r>
          </a:p>
          <a:p>
            <a:r>
              <a:rPr lang="en-US" dirty="0" smtClean="0"/>
              <a:t>System board, Logic board, Baseboard</a:t>
            </a:r>
          </a:p>
          <a:p>
            <a:r>
              <a:rPr lang="en-US" dirty="0" smtClean="0"/>
              <a:t>All other components are connected</a:t>
            </a:r>
          </a:p>
          <a:p>
            <a:r>
              <a:rPr lang="en-US" dirty="0" smtClean="0"/>
              <a:t>Powered by Power supply</a:t>
            </a:r>
          </a:p>
          <a:p>
            <a:r>
              <a:rPr lang="en-US" dirty="0" smtClean="0"/>
              <a:t>Connectors</a:t>
            </a:r>
          </a:p>
          <a:p>
            <a:r>
              <a:rPr lang="en-US" dirty="0" smtClean="0"/>
              <a:t>Determines expansion capability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Mother Board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1" descr="MBoar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13751" y="0"/>
            <a:ext cx="703024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02163"/>
          </a:xfrm>
        </p:spPr>
        <p:txBody>
          <a:bodyPr/>
          <a:lstStyle/>
          <a:p>
            <a:r>
              <a:rPr lang="en-US" dirty="0" smtClean="0"/>
              <a:t>Back panel I/O Connectors</a:t>
            </a:r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Motherboard</a:t>
            </a:r>
            <a:endParaRPr lang="en-US" dirty="0"/>
          </a:p>
        </p:txBody>
      </p:sp>
      <p:pic>
        <p:nvPicPr>
          <p:cNvPr id="22530" name="Picture 2" descr="port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2057400"/>
            <a:ext cx="6951663" cy="2685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7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44062" y="4724401"/>
            <a:ext cx="6283913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CMOS Battery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Complementary Metal Oxide Semiconductor</a:t>
            </a:r>
          </a:p>
          <a:p>
            <a:r>
              <a:rPr lang="en-US" dirty="0" smtClean="0"/>
              <a:t>On-board battery to power semiconductor chip</a:t>
            </a:r>
          </a:p>
          <a:p>
            <a:r>
              <a:rPr lang="en-US" dirty="0" smtClean="0"/>
              <a:t>Battery help to retain system settings, date, and time when the computer is turned off</a:t>
            </a:r>
          </a:p>
          <a:p>
            <a:endParaRPr lang="en-US" dirty="0"/>
          </a:p>
        </p:txBody>
      </p:sp>
      <p:pic>
        <p:nvPicPr>
          <p:cNvPr id="12290" name="Picture 2" descr="http://triponic.com/wp-content/uploads/2007/07/cmos-battery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29400" y="4724400"/>
            <a:ext cx="2000250" cy="19526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Supply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221163"/>
          </a:xfrm>
        </p:spPr>
        <p:txBody>
          <a:bodyPr/>
          <a:lstStyle/>
          <a:p>
            <a:pPr algn="just"/>
            <a:r>
              <a:rPr lang="en-US" dirty="0" smtClean="0"/>
              <a:t>A </a:t>
            </a:r>
            <a:r>
              <a:rPr lang="en-US" b="1" dirty="0" smtClean="0"/>
              <a:t>power supply unit</a:t>
            </a:r>
            <a:r>
              <a:rPr lang="en-US" dirty="0" smtClean="0"/>
              <a:t> (</a:t>
            </a:r>
            <a:r>
              <a:rPr lang="en-US" b="1" dirty="0" smtClean="0"/>
              <a:t>PSU</a:t>
            </a:r>
            <a:r>
              <a:rPr lang="en-US" dirty="0" smtClean="0"/>
              <a:t>) converts mains AC to low-voltage regulated DC power for the internal components of a computer</a:t>
            </a:r>
          </a:p>
          <a:p>
            <a:pPr algn="just"/>
            <a:r>
              <a:rPr lang="en-US" dirty="0" smtClean="0"/>
              <a:t>Most of modern are ATX</a:t>
            </a:r>
            <a:endParaRPr lang="en-US" dirty="0"/>
          </a:p>
        </p:txBody>
      </p:sp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57600" y="3674594"/>
            <a:ext cx="5210175" cy="3183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dirty="0" smtClean="0"/>
              <a:t>Power Supply Connectors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410200"/>
          </a:xfrm>
        </p:spPr>
        <p:txBody>
          <a:bodyPr>
            <a:normAutofit/>
          </a:bodyPr>
          <a:lstStyle/>
          <a:p>
            <a:r>
              <a:rPr lang="en-US" dirty="0" smtClean="0"/>
              <a:t>Use to connect the power supply with mother board and other component</a:t>
            </a:r>
          </a:p>
          <a:p>
            <a:endParaRPr lang="en-US" dirty="0" smtClean="0"/>
          </a:p>
          <a:p>
            <a:pPr lvl="1"/>
            <a:r>
              <a:rPr lang="en-US" dirty="0" smtClean="0"/>
              <a:t>ATX style connector</a:t>
            </a:r>
          </a:p>
          <a:p>
            <a:pPr lvl="2"/>
            <a:r>
              <a:rPr lang="en-US" dirty="0" smtClean="0"/>
              <a:t>Power supply to mother board</a:t>
            </a:r>
          </a:p>
          <a:p>
            <a:pPr lvl="2"/>
            <a:r>
              <a:rPr lang="en-US" dirty="0" smtClean="0"/>
              <a:t>20 pin or 24 pin</a:t>
            </a:r>
          </a:p>
          <a:p>
            <a:pPr lvl="2">
              <a:buNone/>
            </a:pPr>
            <a:endParaRPr lang="en-US" dirty="0" smtClean="0"/>
          </a:p>
          <a:p>
            <a:pPr lvl="1"/>
            <a:r>
              <a:rPr lang="en-US" dirty="0" smtClean="0"/>
              <a:t> ATX-2</a:t>
            </a:r>
          </a:p>
          <a:p>
            <a:pPr lvl="2"/>
            <a:r>
              <a:rPr lang="en-US" dirty="0" smtClean="0"/>
              <a:t>The extra 4 pins </a:t>
            </a:r>
          </a:p>
          <a:p>
            <a:pPr lvl="2"/>
            <a:r>
              <a:rPr lang="en-US" dirty="0" smtClean="0"/>
              <a:t>To power a PCI-E graphics card.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/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6146" name="Picture 2" descr="http://img.tomshardware.com/us/2005/11/23/pc_interfaces_101/conn_atx_classic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2209800"/>
            <a:ext cx="3048000" cy="2237592"/>
          </a:xfrm>
          <a:prstGeom prst="rect">
            <a:avLst/>
          </a:prstGeom>
          <a:noFill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65800" y="4318000"/>
            <a:ext cx="3378200" cy="2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86088" y="4953000"/>
            <a:ext cx="2202312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dirty="0" smtClean="0"/>
              <a:t>Power Supply Connectors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410200"/>
          </a:xfrm>
        </p:spPr>
        <p:txBody>
          <a:bodyPr/>
          <a:lstStyle/>
          <a:p>
            <a:pPr lvl="1"/>
            <a:r>
              <a:rPr lang="en-US" dirty="0" smtClean="0"/>
              <a:t>SATA power connectors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4-pin Floppy  </a:t>
            </a:r>
          </a:p>
          <a:p>
            <a:pPr lvl="2">
              <a:buNone/>
            </a:pPr>
            <a:endParaRPr lang="en-US" dirty="0" smtClean="0"/>
          </a:p>
          <a:p>
            <a:pPr lvl="2">
              <a:buNone/>
            </a:pPr>
            <a:endParaRPr lang="en-US" dirty="0" smtClean="0"/>
          </a:p>
          <a:p>
            <a:pPr lvl="2">
              <a:buNone/>
            </a:pPr>
            <a:endParaRPr lang="en-US" dirty="0" smtClean="0"/>
          </a:p>
          <a:p>
            <a:pPr lvl="1"/>
            <a:r>
              <a:rPr lang="en-US" dirty="0" smtClean="0"/>
              <a:t>Hard  drive / CD/DVD   power connectors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/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04000" y="457200"/>
            <a:ext cx="2540000" cy="2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04000" y="2590800"/>
            <a:ext cx="2540000" cy="201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CPU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 smtClean="0"/>
              <a:t>Central processing unit</a:t>
            </a:r>
            <a:r>
              <a:rPr lang="en-US" dirty="0" smtClean="0"/>
              <a:t> (</a:t>
            </a:r>
            <a:r>
              <a:rPr lang="en-US" b="1" dirty="0" smtClean="0"/>
              <a:t>CPU</a:t>
            </a:r>
            <a:r>
              <a:rPr lang="en-US" dirty="0" smtClean="0"/>
              <a:t>) is the electronic circuitry within a computer that carries out the instructions of a computer program by performing the basic arithmetic, logical, control and input/output (I/O) operations specified by the instructions. 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1143000"/>
          </a:xfrm>
        </p:spPr>
        <p:txBody>
          <a:bodyPr/>
          <a:lstStyle/>
          <a:p>
            <a:r>
              <a:rPr lang="en-US" dirty="0" smtClean="0"/>
              <a:t>CPU Socket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r>
              <a:rPr lang="en-US" dirty="0" smtClean="0"/>
              <a:t>Connector on the motherboard that houses a CPU</a:t>
            </a:r>
          </a:p>
          <a:p>
            <a:pPr lvl="1"/>
            <a:r>
              <a:rPr lang="en-US" dirty="0" smtClean="0"/>
              <a:t>Pin Grid Array (PGA)</a:t>
            </a:r>
          </a:p>
          <a:p>
            <a:pPr lvl="2"/>
            <a:r>
              <a:rPr lang="en-US" dirty="0" smtClean="0"/>
              <a:t>Flat </a:t>
            </a:r>
          </a:p>
          <a:p>
            <a:pPr lvl="2"/>
            <a:r>
              <a:rPr lang="en-US" dirty="0" smtClean="0"/>
              <a:t>Rectangle</a:t>
            </a:r>
          </a:p>
          <a:p>
            <a:pPr lvl="2"/>
            <a:r>
              <a:rPr lang="en-US" dirty="0" smtClean="0"/>
              <a:t>Grid of pins</a:t>
            </a:r>
          </a:p>
          <a:p>
            <a:endParaRPr lang="en-US" dirty="0"/>
          </a:p>
        </p:txBody>
      </p:sp>
      <p:pic>
        <p:nvPicPr>
          <p:cNvPr id="5" name="Picture 2" descr="http://t3.gstatic.com/images?q=tbn:ANd9GcQNFe1Ohsl1VApxZM6yWfgvWSGNa2ZSc9jmKjE1wNHEg6PIwZDUHBuFGlWu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10200" y="3459018"/>
            <a:ext cx="3352800" cy="316411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Random Access Memory</a:t>
            </a:r>
            <a:r>
              <a:rPr lang="en-US" dirty="0" smtClean="0"/>
              <a:t> (</a:t>
            </a:r>
            <a:r>
              <a:rPr lang="en-US" b="1" dirty="0" smtClean="0"/>
              <a:t>RAM</a:t>
            </a:r>
            <a:r>
              <a:rPr lang="en-US" dirty="0" smtClean="0"/>
              <a:t>) is a form of computer data storage</a:t>
            </a:r>
          </a:p>
          <a:p>
            <a:r>
              <a:rPr lang="en-US" dirty="0" smtClean="0"/>
              <a:t>Volatile</a:t>
            </a:r>
          </a:p>
          <a:p>
            <a:r>
              <a:rPr lang="en-US" dirty="0" smtClean="0"/>
              <a:t>Primary or main memory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098" name="Picture 2" descr="http://www.softkolkata.com/image/data/RAM/BUFF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875" y="4086224"/>
            <a:ext cx="5572125" cy="27717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5841" name="Object 1"/>
          <p:cNvGraphicFramePr>
            <a:graphicFrameLocks noChangeAspect="1"/>
          </p:cNvGraphicFramePr>
          <p:nvPr/>
        </p:nvGraphicFramePr>
        <p:xfrm>
          <a:off x="1371600" y="1524000"/>
          <a:ext cx="6140502" cy="461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2" r:id="rId3" imgW="3657600" imgH="2743200" progId="">
                  <p:embed/>
                </p:oleObj>
              </mc:Choice>
              <mc:Fallback>
                <p:oleObj r:id="rId3" imgW="3657600" imgH="274320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4000"/>
                        <a:ext cx="6140502" cy="461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dirty="0" smtClean="0"/>
              <a:t>Hard Disk Drives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638800"/>
          </a:xfrm>
        </p:spPr>
        <p:txBody>
          <a:bodyPr>
            <a:normAutofit/>
          </a:bodyPr>
          <a:lstStyle/>
          <a:p>
            <a:r>
              <a:rPr lang="en-US" dirty="0" smtClean="0"/>
              <a:t>Hard Disk / CD/ DVD</a:t>
            </a:r>
          </a:p>
          <a:p>
            <a:pPr lvl="1"/>
            <a:r>
              <a:rPr lang="en-US" dirty="0" smtClean="0"/>
              <a:t>IDE </a:t>
            </a:r>
          </a:p>
          <a:p>
            <a:pPr lvl="2"/>
            <a:r>
              <a:rPr lang="en-US" dirty="0" smtClean="0"/>
              <a:t>Integrated Drive Electronics </a:t>
            </a:r>
          </a:p>
          <a:p>
            <a:pPr lvl="2"/>
            <a:r>
              <a:rPr lang="en-US" dirty="0" smtClean="0"/>
              <a:t>Standard electronic interface used between a computer motherboard's bus and the computer's disk storage devices.</a:t>
            </a:r>
          </a:p>
          <a:p>
            <a:pPr lvl="2"/>
            <a:r>
              <a:rPr lang="en-US" dirty="0" smtClean="0"/>
              <a:t>Based on the IBM PC Industry Standard Architecture (ISA) 16-bit bus standard, but also used in computers that use other bus standards.</a:t>
            </a:r>
          </a:p>
          <a:p>
            <a:pPr lvl="2"/>
            <a:r>
              <a:rPr lang="en-US" dirty="0" smtClean="0"/>
              <a:t>ATA (Advanced Technology Attachment)</a:t>
            </a:r>
          </a:p>
          <a:p>
            <a:pPr lvl="1"/>
            <a:r>
              <a:rPr lang="en-US" dirty="0" smtClean="0"/>
              <a:t>SATA</a:t>
            </a:r>
          </a:p>
          <a:p>
            <a:pPr lvl="2"/>
            <a:r>
              <a:rPr lang="en-US" dirty="0" smtClean="0"/>
              <a:t>Serial  Advanced Technology Attachment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61" name="Picture 9" descr="http://www.kids-online.net/learn/click/details/idecab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10400" y="3086100"/>
            <a:ext cx="2114550" cy="3771900"/>
          </a:xfrm>
          <a:prstGeom prst="rect">
            <a:avLst/>
          </a:prstGeom>
          <a:noFill/>
        </p:spPr>
      </p:pic>
      <p:pic>
        <p:nvPicPr>
          <p:cNvPr id="23557" name="Picture 5" descr="http://www.talktoanit.com/A+/aplus-website/images/ide-cable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83369" y="-1"/>
            <a:ext cx="4360632" cy="3124201"/>
          </a:xfrm>
          <a:prstGeom prst="rect">
            <a:avLst/>
          </a:prstGeom>
          <a:noFill/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Interface</a:t>
            </a:r>
          </a:p>
          <a:p>
            <a:pPr lvl="1"/>
            <a:r>
              <a:rPr lang="en-US" dirty="0" smtClean="0"/>
              <a:t>IDE</a:t>
            </a:r>
          </a:p>
          <a:p>
            <a:pPr lvl="1"/>
            <a:r>
              <a:rPr lang="en-US" dirty="0" smtClean="0"/>
              <a:t>ATA (Advanced Technology Attachment)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Ribbon Cable</a:t>
            </a:r>
          </a:p>
          <a:p>
            <a:pPr lvl="1"/>
            <a:r>
              <a:rPr lang="en-US" dirty="0" smtClean="0"/>
              <a:t>40-pin ribbon cable</a:t>
            </a:r>
          </a:p>
          <a:p>
            <a:pPr lvl="2"/>
            <a:r>
              <a:rPr lang="en-US" dirty="0" smtClean="0"/>
              <a:t>16-bit parallel data transfer</a:t>
            </a:r>
          </a:p>
          <a:p>
            <a:pPr lvl="2"/>
            <a:r>
              <a:rPr lang="en-US" dirty="0" smtClean="0"/>
              <a:t>Two drives</a:t>
            </a:r>
          </a:p>
          <a:p>
            <a:pPr lvl="2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Connecting IDE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IDE interface</a:t>
            </a:r>
          </a:p>
          <a:p>
            <a:pPr lvl="1"/>
            <a:r>
              <a:rPr lang="en-US" dirty="0" smtClean="0"/>
              <a:t>Support two drives</a:t>
            </a:r>
          </a:p>
          <a:p>
            <a:pPr lvl="1"/>
            <a:r>
              <a:rPr lang="en-US" dirty="0" smtClean="0"/>
              <a:t>Master / Slave</a:t>
            </a:r>
          </a:p>
          <a:p>
            <a:pPr lvl="1"/>
            <a:r>
              <a:rPr lang="en-US" dirty="0" smtClean="0"/>
              <a:t>Limited storage of 528 MB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Connecting IDE</a:t>
            </a:r>
            <a:endParaRPr lang="en-US" dirty="0"/>
          </a:p>
        </p:txBody>
      </p:sp>
      <p:pic>
        <p:nvPicPr>
          <p:cNvPr id="8" name="Picture 7" descr="http://www.talktoanit.com/A+/aplus-website/images/ide-pin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6800" y="457200"/>
            <a:ext cx="3967435" cy="1600200"/>
          </a:xfrm>
          <a:prstGeom prst="rect">
            <a:avLst/>
          </a:prstGeom>
          <a:noFill/>
        </p:spPr>
      </p:pic>
      <p:pic>
        <p:nvPicPr>
          <p:cNvPr id="9" name="Picture 8" descr="ide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3676650"/>
            <a:ext cx="7237012" cy="241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221163"/>
          </a:xfrm>
        </p:spPr>
        <p:txBody>
          <a:bodyPr/>
          <a:lstStyle/>
          <a:p>
            <a:r>
              <a:rPr lang="en-US" dirty="0" smtClean="0"/>
              <a:t>SATA</a:t>
            </a:r>
          </a:p>
          <a:p>
            <a:pPr lvl="1"/>
            <a:r>
              <a:rPr lang="en-US" dirty="0" smtClean="0"/>
              <a:t>Lower signal voltage </a:t>
            </a:r>
          </a:p>
          <a:p>
            <a:pPr lvl="1"/>
            <a:r>
              <a:rPr lang="en-US" dirty="0" smtClean="0"/>
              <a:t>Faster signaling</a:t>
            </a:r>
          </a:p>
          <a:p>
            <a:pPr lvl="1"/>
            <a:r>
              <a:rPr lang="en-US" dirty="0" smtClean="0"/>
              <a:t>Backward-compatible with ATA</a:t>
            </a:r>
          </a:p>
          <a:p>
            <a:pPr lvl="1"/>
            <a:r>
              <a:rPr lang="en-US" dirty="0" smtClean="0"/>
              <a:t>SATA 150 </a:t>
            </a:r>
            <a:r>
              <a:rPr lang="en-US" dirty="0" err="1" smtClean="0"/>
              <a:t>MBps</a:t>
            </a:r>
            <a:endParaRPr lang="en-US" dirty="0" smtClean="0"/>
          </a:p>
          <a:p>
            <a:pPr lvl="1"/>
            <a:r>
              <a:rPr lang="en-US" dirty="0" smtClean="0"/>
              <a:t>SATA-2 300 </a:t>
            </a:r>
            <a:r>
              <a:rPr lang="en-US" dirty="0" err="1" smtClean="0"/>
              <a:t>MBps</a:t>
            </a:r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Connecting SATA</a:t>
            </a:r>
            <a:endParaRPr lang="en-US" dirty="0"/>
          </a:p>
        </p:txBody>
      </p:sp>
      <p:pic>
        <p:nvPicPr>
          <p:cNvPr id="25605" name="Picture 5" descr="http://www.talktoanit.com/A+/aplus-website/images/sata-cable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23163" y="3844636"/>
            <a:ext cx="3762375" cy="28098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dirty="0" smtClean="0"/>
              <a:t>Form Factors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305800" cy="54864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/>
              <a:t>Size, shape, and screw placement on a motherboard</a:t>
            </a:r>
          </a:p>
          <a:p>
            <a:r>
              <a:rPr lang="en-US" dirty="0" smtClean="0"/>
              <a:t>PC/XT </a:t>
            </a:r>
          </a:p>
          <a:p>
            <a:pPr lvl="2"/>
            <a:r>
              <a:rPr lang="en-US" dirty="0" smtClean="0"/>
              <a:t>First standard</a:t>
            </a:r>
          </a:p>
          <a:p>
            <a:pPr lvl="2"/>
            <a:r>
              <a:rPr lang="en-US" dirty="0" smtClean="0"/>
              <a:t>Introduced by IBM</a:t>
            </a:r>
          </a:p>
          <a:p>
            <a:pPr lvl="2"/>
            <a:r>
              <a:rPr lang="en-US" dirty="0" smtClean="0"/>
              <a:t>Extended Technology (XT)</a:t>
            </a:r>
          </a:p>
          <a:p>
            <a:pPr lvl="2"/>
            <a:r>
              <a:rPr lang="en-US" dirty="0" smtClean="0"/>
              <a:t>Followed by clones</a:t>
            </a:r>
          </a:p>
          <a:p>
            <a:r>
              <a:rPr lang="en-US" dirty="0" smtClean="0"/>
              <a:t>PC/AT</a:t>
            </a:r>
          </a:p>
          <a:p>
            <a:pPr lvl="2"/>
            <a:r>
              <a:rPr lang="en-US" dirty="0" smtClean="0"/>
              <a:t>Introduced by IBM</a:t>
            </a:r>
          </a:p>
          <a:p>
            <a:pPr lvl="2"/>
            <a:r>
              <a:rPr lang="en-US" dirty="0" smtClean="0"/>
              <a:t>Technology improvements</a:t>
            </a:r>
          </a:p>
          <a:p>
            <a:pPr lvl="2"/>
            <a:r>
              <a:rPr lang="en-US" dirty="0" smtClean="0"/>
              <a:t>More smaller components</a:t>
            </a:r>
          </a:p>
          <a:p>
            <a:pPr lvl="2"/>
            <a:r>
              <a:rPr lang="en-US" dirty="0" smtClean="0"/>
              <a:t>Smaller power supply</a:t>
            </a:r>
          </a:p>
          <a:p>
            <a:pPr lvl="2"/>
            <a:r>
              <a:rPr lang="en-US" dirty="0" smtClean="0"/>
              <a:t>Better cooling</a:t>
            </a:r>
          </a:p>
          <a:p>
            <a:pPr lvl="2"/>
            <a:r>
              <a:rPr lang="en-US" dirty="0" smtClean="0"/>
              <a:t>13.5" X 12"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 smtClean="0"/>
              <a:t>Form Factors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715000"/>
          </a:xfrm>
        </p:spPr>
        <p:txBody>
          <a:bodyPr>
            <a:normAutofit lnSpcReduction="10000"/>
          </a:bodyPr>
          <a:lstStyle/>
          <a:p>
            <a:pPr lvl="1"/>
            <a:r>
              <a:rPr lang="en-US" dirty="0" smtClean="0"/>
              <a:t>Baby AT</a:t>
            </a:r>
          </a:p>
          <a:p>
            <a:pPr lvl="2"/>
            <a:r>
              <a:rPr lang="en-US" dirty="0" smtClean="0"/>
              <a:t>By Intel</a:t>
            </a:r>
          </a:p>
          <a:p>
            <a:pPr lvl="2"/>
            <a:r>
              <a:rPr lang="en-US" dirty="0" smtClean="0"/>
              <a:t>Technology improvements</a:t>
            </a:r>
          </a:p>
          <a:p>
            <a:pPr lvl="2"/>
            <a:r>
              <a:rPr lang="en-US" dirty="0" smtClean="0"/>
              <a:t>Smaller components</a:t>
            </a:r>
          </a:p>
          <a:p>
            <a:pPr lvl="2"/>
            <a:r>
              <a:rPr lang="en-US" dirty="0" smtClean="0"/>
              <a:t>IDE</a:t>
            </a:r>
          </a:p>
          <a:p>
            <a:pPr lvl="2"/>
            <a:r>
              <a:rPr lang="en-US" dirty="0" smtClean="0"/>
              <a:t>13" X 8.5 or 9" </a:t>
            </a:r>
          </a:p>
          <a:p>
            <a:pPr lvl="1"/>
            <a:r>
              <a:rPr lang="en-US" dirty="0" smtClean="0"/>
              <a:t>ATX</a:t>
            </a:r>
          </a:p>
          <a:p>
            <a:pPr lvl="2"/>
            <a:r>
              <a:rPr lang="en-US" dirty="0" smtClean="0"/>
              <a:t>Advanced Technology </a:t>
            </a:r>
            <a:r>
              <a:rPr lang="en-US" dirty="0" err="1" smtClean="0"/>
              <a:t>eXtended</a:t>
            </a:r>
            <a:endParaRPr lang="en-US" dirty="0" smtClean="0"/>
          </a:p>
          <a:p>
            <a:pPr lvl="2"/>
            <a:r>
              <a:rPr lang="en-US" dirty="0" smtClean="0"/>
              <a:t>Pentium MMX</a:t>
            </a:r>
          </a:p>
          <a:p>
            <a:pPr lvl="2"/>
            <a:r>
              <a:rPr lang="en-US" dirty="0" smtClean="0"/>
              <a:t>Rear panel hardwired directly to the motherboard  </a:t>
            </a:r>
          </a:p>
          <a:p>
            <a:pPr lvl="2"/>
            <a:r>
              <a:rPr lang="en-US" dirty="0" smtClean="0"/>
              <a:t>Power switch connected to motherboard</a:t>
            </a:r>
          </a:p>
          <a:p>
            <a:pPr lvl="1"/>
            <a:r>
              <a:rPr lang="en-US" dirty="0" smtClean="0"/>
              <a:t>Mini ATX</a:t>
            </a:r>
          </a:p>
          <a:p>
            <a:pPr lvl="1"/>
            <a:r>
              <a:rPr lang="en-US" dirty="0" smtClean="0"/>
              <a:t>Micro ATX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Expandability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Most modern ATX motherboards have a maximum of seven PCI or PCI-Express expansion slots, which used to fix additional circuitries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ww.cbtplanet.com/images/expansion-card-install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73518" y="2743200"/>
            <a:ext cx="3870483" cy="4114801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Expansion Cards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Printed circuit board that can be fixed into motherboard for additional capabilities</a:t>
            </a:r>
          </a:p>
          <a:p>
            <a:r>
              <a:rPr lang="en-US" dirty="0" smtClean="0"/>
              <a:t>Sound card, VGA card, Network card,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dirty="0" smtClean="0"/>
              <a:t>Bus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221163"/>
          </a:xfrm>
        </p:spPr>
        <p:txBody>
          <a:bodyPr/>
          <a:lstStyle/>
          <a:p>
            <a:r>
              <a:rPr lang="en-US" dirty="0" smtClean="0"/>
              <a:t>Communication pathway that connect components on the motherboard</a:t>
            </a:r>
          </a:p>
          <a:p>
            <a:r>
              <a:rPr lang="en-US" dirty="0" smtClean="0"/>
              <a:t>Functional classification</a:t>
            </a:r>
          </a:p>
          <a:p>
            <a:pPr lvl="1"/>
            <a:r>
              <a:rPr lang="en-US" dirty="0" smtClean="0"/>
              <a:t>Data bus</a:t>
            </a:r>
          </a:p>
          <a:p>
            <a:pPr lvl="1"/>
            <a:r>
              <a:rPr lang="en-US" dirty="0" smtClean="0"/>
              <a:t>Address bus </a:t>
            </a:r>
          </a:p>
          <a:p>
            <a:pPr lvl="1"/>
            <a:r>
              <a:rPr lang="en-US" dirty="0" smtClean="0"/>
              <a:t>Control bus</a:t>
            </a:r>
          </a:p>
          <a:p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 b="30487"/>
          <a:stretch>
            <a:fillRect/>
          </a:stretch>
        </p:blipFill>
        <p:spPr bwMode="auto">
          <a:xfrm>
            <a:off x="381000" y="4602162"/>
            <a:ext cx="8153400" cy="225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resources-isa-expansio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590800"/>
            <a:ext cx="7924800" cy="3291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dirty="0" smtClean="0"/>
              <a:t>Types of Bus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3340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ISA - Industry Standard Architecture</a:t>
            </a:r>
          </a:p>
          <a:p>
            <a:pPr lvl="1"/>
            <a:r>
              <a:rPr lang="en-US" dirty="0" smtClean="0"/>
              <a:t>Originally 8 bit, </a:t>
            </a:r>
            <a:r>
              <a:rPr lang="en-US" dirty="0" smtClean="0"/>
              <a:t>later </a:t>
            </a:r>
            <a:r>
              <a:rPr lang="en-US" dirty="0" smtClean="0"/>
              <a:t>16 bit</a:t>
            </a:r>
          </a:p>
          <a:p>
            <a:pPr lvl="1"/>
            <a:r>
              <a:rPr lang="en-US" dirty="0" smtClean="0"/>
              <a:t>Introduced by IBM in 1984, later used by IBM clones</a:t>
            </a:r>
          </a:p>
          <a:p>
            <a:r>
              <a:rPr lang="en-US" dirty="0" smtClean="0"/>
              <a:t>MCA - Micro Channel architecture</a:t>
            </a:r>
          </a:p>
          <a:p>
            <a:pPr lvl="1"/>
            <a:r>
              <a:rPr lang="en-US" dirty="0" smtClean="0"/>
              <a:t>1987 by IBM</a:t>
            </a:r>
          </a:p>
          <a:p>
            <a:pPr lvl="1"/>
            <a:r>
              <a:rPr lang="en-US" dirty="0" smtClean="0"/>
              <a:t> 16 bit or 32-bit</a:t>
            </a:r>
          </a:p>
          <a:p>
            <a:r>
              <a:rPr lang="en-US" dirty="0" smtClean="0"/>
              <a:t>EISA – Extended Industry Standard Architecture</a:t>
            </a:r>
          </a:p>
          <a:p>
            <a:pPr lvl="1"/>
            <a:r>
              <a:rPr lang="en-US" dirty="0" smtClean="0"/>
              <a:t>Introduced by IBM clones 1988 </a:t>
            </a:r>
          </a:p>
          <a:p>
            <a:pPr lvl="1"/>
            <a:r>
              <a:rPr lang="en-US" dirty="0" smtClean="0"/>
              <a:t>32 bit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3100" dirty="0" smtClean="0"/>
              <a:t>PCI – Peripheral Component Interconnect</a:t>
            </a:r>
          </a:p>
          <a:p>
            <a:pPr lvl="1"/>
            <a:r>
              <a:rPr lang="en-US" dirty="0" smtClean="0"/>
              <a:t>Introduced in 1992</a:t>
            </a:r>
          </a:p>
          <a:p>
            <a:pPr lvl="1"/>
            <a:r>
              <a:rPr lang="en-US" dirty="0" smtClean="0"/>
              <a:t>32 bit or 64 bit </a:t>
            </a:r>
          </a:p>
          <a:p>
            <a:pPr>
              <a:buNone/>
            </a:pPr>
            <a:r>
              <a:rPr lang="en-US" dirty="0" smtClean="0"/>
              <a:t> 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dirty="0" smtClean="0"/>
              <a:t>Types of Bus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3340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AGP - Advanced Graphic Port</a:t>
            </a:r>
          </a:p>
          <a:p>
            <a:pPr lvl="1"/>
            <a:r>
              <a:rPr lang="en-US" dirty="0" smtClean="0"/>
              <a:t>Introduced by Intel in 1997  for the high demands of 3-D graphics</a:t>
            </a:r>
          </a:p>
          <a:p>
            <a:pPr lvl="1"/>
            <a:r>
              <a:rPr lang="en-US" dirty="0" smtClean="0"/>
              <a:t>32-bit or 64-bit</a:t>
            </a:r>
          </a:p>
          <a:p>
            <a:pPr lvl="1"/>
            <a:r>
              <a:rPr lang="en-US" dirty="0" smtClean="0"/>
              <a:t>Only for video or graphics </a:t>
            </a:r>
          </a:p>
          <a:p>
            <a:r>
              <a:rPr lang="en-US" dirty="0" smtClean="0"/>
              <a:t>PCI-X -  Peripheral Component Interconnect </a:t>
            </a:r>
            <a:r>
              <a:rPr lang="en-US" dirty="0" err="1" smtClean="0"/>
              <a:t>eXtended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1998</a:t>
            </a:r>
          </a:p>
          <a:p>
            <a:pPr lvl="1"/>
            <a:r>
              <a:rPr lang="en-US" dirty="0" smtClean="0"/>
              <a:t>64 bit</a:t>
            </a:r>
          </a:p>
          <a:p>
            <a:pPr lvl="1"/>
            <a:r>
              <a:rPr lang="en-US" dirty="0" smtClean="0"/>
              <a:t>Backward compatible with 32 bit PCI </a:t>
            </a:r>
          </a:p>
          <a:p>
            <a:r>
              <a:rPr lang="en-US" dirty="0" err="1" smtClean="0"/>
              <a:t>PCIe</a:t>
            </a:r>
            <a:r>
              <a:rPr lang="en-US" dirty="0" smtClean="0"/>
              <a:t>  - Peripheral Component Interconnect Express</a:t>
            </a:r>
          </a:p>
          <a:p>
            <a:pPr lvl="1"/>
            <a:r>
              <a:rPr lang="en-US" dirty="0" smtClean="0"/>
              <a:t>2004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dirty="0" smtClean="0"/>
              <a:t>Motherboard Chip 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Chipset is a set of electronic components in an Motherboard that manages the data flow between the processor, memory and peripherals.</a:t>
            </a:r>
          </a:p>
          <a:p>
            <a:pPr algn="just"/>
            <a:r>
              <a:rPr lang="en-US" dirty="0" smtClean="0"/>
              <a:t>North Bridge - Memory Controller Hub</a:t>
            </a:r>
          </a:p>
          <a:p>
            <a:pPr lvl="1" algn="just"/>
            <a:r>
              <a:rPr lang="en-US" dirty="0" smtClean="0"/>
              <a:t>Connected directly to the CPU via the front side bus (FSB)</a:t>
            </a:r>
          </a:p>
          <a:p>
            <a:pPr lvl="1" algn="just"/>
            <a:r>
              <a:rPr lang="en-US" dirty="0" smtClean="0"/>
              <a:t>Connect system memory and video output  </a:t>
            </a:r>
          </a:p>
          <a:p>
            <a:pPr algn="just"/>
            <a:r>
              <a:rPr lang="en-US" dirty="0" smtClean="0"/>
              <a:t>South Bridge - I/O Controller Hub</a:t>
            </a:r>
          </a:p>
          <a:p>
            <a:pPr lvl="1" algn="just"/>
            <a:r>
              <a:rPr lang="en-US" dirty="0" smtClean="0"/>
              <a:t>Connect system clock and I/O devices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Motherboard Chipset &amp; Memory </a:t>
            </a:r>
            <a:endParaRPr lang="en-US" dirty="0"/>
          </a:p>
        </p:txBody>
      </p:sp>
      <p:pic>
        <p:nvPicPr>
          <p:cNvPr id="1026" name="Picture 2" descr="Diagram for modern motherboar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1979" y="838200"/>
            <a:ext cx="8592365" cy="6019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Front Side Bus (FSB)</a:t>
            </a:r>
          </a:p>
          <a:p>
            <a:pPr lvl="1"/>
            <a:r>
              <a:rPr lang="en-US" dirty="0" smtClean="0"/>
              <a:t>Processor and North bridge</a:t>
            </a:r>
          </a:p>
          <a:p>
            <a:pPr lvl="2"/>
            <a:r>
              <a:rPr lang="en-US" dirty="0" smtClean="0"/>
              <a:t>System memory</a:t>
            </a:r>
          </a:p>
          <a:p>
            <a:pPr lvl="2"/>
            <a:r>
              <a:rPr lang="en-US" dirty="0" smtClean="0"/>
              <a:t>VGA</a:t>
            </a:r>
          </a:p>
          <a:p>
            <a:pPr lvl="2"/>
            <a:endParaRPr lang="en-US" dirty="0" smtClean="0"/>
          </a:p>
          <a:p>
            <a:r>
              <a:rPr lang="en-US" dirty="0" smtClean="0"/>
              <a:t>Back Side Bus</a:t>
            </a:r>
          </a:p>
          <a:p>
            <a:pPr lvl="1"/>
            <a:r>
              <a:rPr lang="en-US" dirty="0" smtClean="0"/>
              <a:t>Processor and the Level </a:t>
            </a:r>
            <a:r>
              <a:rPr lang="en-US" smtClean="0"/>
              <a:t>2 cache</a:t>
            </a:r>
            <a:endParaRPr lang="en-US" dirty="0" smtClean="0"/>
          </a:p>
          <a:p>
            <a:pPr lvl="1"/>
            <a:r>
              <a:rPr lang="en-US" dirty="0" smtClean="0"/>
              <a:t>Same speed as processor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Motherboard Chipset &amp; Memory </a:t>
            </a:r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 Mastering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Feature that enables a bus controller (chip set) to communicate directly with other devices on the bus </a:t>
            </a:r>
            <a:r>
              <a:rPr lang="en-US" dirty="0" smtClean="0">
                <a:solidFill>
                  <a:srgbClr val="FF0000"/>
                </a:solidFill>
              </a:rPr>
              <a:t>without going through the CPU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DMA - Direct Memory Access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Method that allows an input/output (I/O) device to send or receive data directly to or from the main memory, </a:t>
            </a:r>
            <a:r>
              <a:rPr lang="en-US" dirty="0" smtClean="0">
                <a:solidFill>
                  <a:srgbClr val="FF0000"/>
                </a:solidFill>
              </a:rPr>
              <a:t>bypassing the CPU </a:t>
            </a:r>
            <a:r>
              <a:rPr lang="en-US" dirty="0" smtClean="0"/>
              <a:t>to </a:t>
            </a:r>
            <a:r>
              <a:rPr lang="en-US" dirty="0" smtClean="0">
                <a:solidFill>
                  <a:srgbClr val="FF0000"/>
                </a:solidFill>
              </a:rPr>
              <a:t>speed up </a:t>
            </a:r>
            <a:r>
              <a:rPr lang="en-US" dirty="0" smtClean="0"/>
              <a:t>memory operations. </a:t>
            </a:r>
          </a:p>
          <a:p>
            <a:pPr algn="just"/>
            <a:r>
              <a:rPr lang="en-US" dirty="0" smtClean="0"/>
              <a:t>The process is managed by a chip known as a DMA controller (DMAC)  in motherboard chipset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48200"/>
          </a:xfrm>
        </p:spPr>
        <p:txBody>
          <a:bodyPr>
            <a:normAutofit/>
          </a:bodyPr>
          <a:lstStyle/>
          <a:p>
            <a:r>
              <a:rPr lang="en-US" dirty="0" smtClean="0"/>
              <a:t>Traditional I/O Memory Access</a:t>
            </a:r>
          </a:p>
          <a:p>
            <a:pPr lvl="1"/>
            <a:r>
              <a:rPr lang="en-US" dirty="0" smtClean="0"/>
              <a:t>CPU controls the data transfer between I/O device &amp; main memory</a:t>
            </a:r>
          </a:p>
          <a:p>
            <a:pPr lvl="1"/>
            <a:r>
              <a:rPr lang="en-US" dirty="0" smtClean="0"/>
              <a:t>Slow</a:t>
            </a:r>
          </a:p>
          <a:p>
            <a:pPr lvl="1"/>
            <a:r>
              <a:rPr lang="en-US" dirty="0" smtClean="0"/>
              <a:t>CPU is busy</a:t>
            </a:r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dirty="0" smtClean="0"/>
              <a:t>Traditional Memory Access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4514" name="Picture 2" descr="http://bucarotechelp.com/computers/anatomy/images/MCH_IC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81000"/>
            <a:ext cx="5551712" cy="3886200"/>
          </a:xfrm>
          <a:prstGeom prst="rect">
            <a:avLst/>
          </a:prstGeom>
          <a:noFill/>
        </p:spPr>
      </p:pic>
      <p:pic>
        <p:nvPicPr>
          <p:cNvPr id="645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0" y="3486150"/>
            <a:ext cx="5705475" cy="337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29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1522388"/>
            <a:ext cx="6858000" cy="43727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Signal from a device interface to processor to get attention</a:t>
            </a:r>
          </a:p>
          <a:p>
            <a:r>
              <a:rPr lang="en-US" dirty="0" smtClean="0"/>
              <a:t>Interrupt Request lines</a:t>
            </a:r>
          </a:p>
          <a:p>
            <a:pPr lvl="1"/>
            <a:r>
              <a:rPr lang="en-US" dirty="0" smtClean="0"/>
              <a:t>Special pathways directly to the processor from device interfaces</a:t>
            </a:r>
          </a:p>
          <a:p>
            <a:pPr lvl="1"/>
            <a:r>
              <a:rPr lang="en-US" dirty="0" smtClean="0"/>
              <a:t>Device get the attention of the CPU</a:t>
            </a:r>
          </a:p>
          <a:p>
            <a:r>
              <a:rPr lang="en-US" dirty="0" smtClean="0"/>
              <a:t>Interrupt handler</a:t>
            </a:r>
          </a:p>
          <a:p>
            <a:pPr lvl="1"/>
            <a:r>
              <a:rPr lang="en-US" dirty="0" smtClean="0"/>
              <a:t>System SW</a:t>
            </a:r>
          </a:p>
          <a:p>
            <a:r>
              <a:rPr lang="en-US" dirty="0" smtClean="0"/>
              <a:t>Interrupt controller</a:t>
            </a:r>
          </a:p>
          <a:p>
            <a:pPr lvl="1"/>
            <a:r>
              <a:rPr lang="en-US" dirty="0" smtClean="0"/>
              <a:t>Part of the mother board chipset</a:t>
            </a:r>
          </a:p>
          <a:p>
            <a:pPr lvl="1"/>
            <a:r>
              <a:rPr lang="en-US" dirty="0" smtClean="0"/>
              <a:t>Checks the interrupt information and source before passing it to the CPU</a:t>
            </a:r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Interrupt Request - IRQ </a:t>
            </a:r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IRQ</a:t>
            </a:r>
            <a:endParaRPr lang="en-US" dirty="0"/>
          </a:p>
        </p:txBody>
      </p:sp>
      <p:pic>
        <p:nvPicPr>
          <p:cNvPr id="3074" name="Picture 2" descr="resources-irq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599" y="1828800"/>
            <a:ext cx="8754555" cy="3989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2651</TotalTime>
  <Words>706</Words>
  <Application>Microsoft Office PowerPoint</Application>
  <PresentationFormat>On-screen Show (4:3)</PresentationFormat>
  <Paragraphs>202</Paragraphs>
  <Slides>36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HNDIT</vt:lpstr>
      <vt:lpstr>IT1102  Computer Hardware</vt:lpstr>
      <vt:lpstr>Modular Design</vt:lpstr>
      <vt:lpstr>PC Modules</vt:lpstr>
      <vt:lpstr>Mother Board</vt:lpstr>
      <vt:lpstr>PowerPoint Presentation</vt:lpstr>
      <vt:lpstr>Motherboard</vt:lpstr>
      <vt:lpstr>CMOS Battery</vt:lpstr>
      <vt:lpstr>Power Supply</vt:lpstr>
      <vt:lpstr>Power Supply Connectors</vt:lpstr>
      <vt:lpstr>Power Supply Connectors</vt:lpstr>
      <vt:lpstr>CPU</vt:lpstr>
      <vt:lpstr>CPU Socket</vt:lpstr>
      <vt:lpstr>RAM</vt:lpstr>
      <vt:lpstr>PowerPoint Presentation</vt:lpstr>
      <vt:lpstr>Hard Disk Drives</vt:lpstr>
      <vt:lpstr>Connecting IDE</vt:lpstr>
      <vt:lpstr>Connecting IDE</vt:lpstr>
      <vt:lpstr>Connecting SATA</vt:lpstr>
      <vt:lpstr>Form Factors</vt:lpstr>
      <vt:lpstr>Form Factors</vt:lpstr>
      <vt:lpstr>Expandability</vt:lpstr>
      <vt:lpstr>Expansion Cards</vt:lpstr>
      <vt:lpstr>Bus</vt:lpstr>
      <vt:lpstr>Bus</vt:lpstr>
      <vt:lpstr>Types of Bus</vt:lpstr>
      <vt:lpstr>Types of Bus</vt:lpstr>
      <vt:lpstr>Motherboard Chip Set</vt:lpstr>
      <vt:lpstr>Motherboard Chipset &amp; Memory </vt:lpstr>
      <vt:lpstr>Motherboard Chipset &amp; Memory </vt:lpstr>
      <vt:lpstr>Bus Mastering</vt:lpstr>
      <vt:lpstr>DMA - Direct Memory Access</vt:lpstr>
      <vt:lpstr>Traditional Memory Access</vt:lpstr>
      <vt:lpstr>PowerPoint Presentation</vt:lpstr>
      <vt:lpstr>PowerPoint Presentation</vt:lpstr>
      <vt:lpstr>Interrupt Request - IRQ </vt:lpstr>
      <vt:lpstr>IRQ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Janaka</dc:creator>
  <cp:lastModifiedBy>Student</cp:lastModifiedBy>
  <cp:revision>409</cp:revision>
  <dcterms:created xsi:type="dcterms:W3CDTF">2016-04-01T06:09:59Z</dcterms:created>
  <dcterms:modified xsi:type="dcterms:W3CDTF">2018-08-14T10:38:19Z</dcterms:modified>
</cp:coreProperties>
</file>