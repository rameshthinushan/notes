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50" autoAdjust="0"/>
    <p:restoredTop sz="94660"/>
  </p:normalViewPr>
  <p:slideViewPr>
    <p:cSldViewPr>
      <p:cViewPr varScale="1">
        <p:scale>
          <a:sx n="67" d="100"/>
          <a:sy n="67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EE0DA-606F-4460-950C-FE2A936A6C10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03174-6EE0-4178-A771-6FAE957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76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C:\Program%20Files\Common%20Files\Microsoft%20Shared\Office10\1033\jetsql40.chm::/dasqlselectinto.htm" TargetMode="External"/><Relationship Id="rId2" Type="http://schemas.openxmlformats.org/officeDocument/2006/relationships/hyperlink" Target="mk:@MSITStore:C:\Program%20Files\Common%20Files\Microsoft%20Shared\Office10\1033\jetsql40.chm::/dasqlselect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k:@MSITStore:C:\Program%20Files\Common%20Files\Microsoft%20Shared\Office10\1033\jetsql40.chm::/dasqlinsertinto.ht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181600" y="2133600"/>
            <a:ext cx="4038600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4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</a:rPr>
              <a:t>Personal Computer Applications</a:t>
            </a:r>
            <a:endParaRPr lang="en-US" sz="4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4682073"/>
            <a:ext cx="3657600" cy="132343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GB" sz="4000" b="1" spc="50" dirty="0" smtClean="0">
                <a:ln w="11430"/>
                <a:solidFill>
                  <a:schemeClr val="bg2">
                    <a:lumMod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HNDIT1101</a:t>
            </a:r>
          </a:p>
          <a:p>
            <a:r>
              <a:rPr lang="en-GB" sz="4000" b="1" spc="50" dirty="0" smtClean="0">
                <a:ln w="11430"/>
                <a:solidFill>
                  <a:schemeClr val="bg2">
                    <a:lumMod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(MS Access)</a:t>
            </a:r>
            <a:endParaRPr lang="en-US" sz="4000" b="1" spc="50" dirty="0">
              <a:ln w="11430"/>
              <a:solidFill>
                <a:schemeClr val="bg2">
                  <a:lumMod val="2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6019800"/>
            <a:ext cx="4114800" cy="70788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GB" sz="4000" b="1" spc="50" smtClean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10</a:t>
            </a:r>
            <a:endParaRPr lang="en-US" sz="4000" b="1" spc="50" dirty="0">
              <a:ln w="1143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157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Microsoft Access?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762001" y="1717675"/>
            <a:ext cx="7772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Microsoft Access is a relational database management system </a:t>
            </a:r>
            <a:r>
              <a:rPr lang="en-US" sz="2000" dirty="0" smtClean="0"/>
              <a:t>(RDBMS</a:t>
            </a:r>
            <a:r>
              <a:rPr lang="en-US" sz="2000" dirty="0"/>
              <a:t>). 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It </a:t>
            </a:r>
            <a:r>
              <a:rPr lang="en-US" sz="2000" dirty="0"/>
              <a:t>is a software “engine” that provides an interface between physical data and user application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Other examples of DBMS applications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Tx/>
              <a:buChar char="•"/>
            </a:pPr>
            <a:r>
              <a:rPr lang="en-US" sz="2000" dirty="0"/>
              <a:t>Oracle</a:t>
            </a:r>
          </a:p>
          <a:p>
            <a:pPr>
              <a:buFontTx/>
              <a:buChar char="•"/>
            </a:pPr>
            <a:r>
              <a:rPr lang="en-US" sz="2000" dirty="0" err="1"/>
              <a:t>mySQL</a:t>
            </a:r>
            <a:endParaRPr lang="en-US" sz="2000" dirty="0"/>
          </a:p>
          <a:p>
            <a:pPr>
              <a:buFontTx/>
              <a:buChar char="•"/>
            </a:pPr>
            <a:r>
              <a:rPr lang="en-US" sz="2000" dirty="0"/>
              <a:t>SQL Server (Microsoft)</a:t>
            </a:r>
          </a:p>
          <a:p>
            <a:pPr>
              <a:buFontTx/>
              <a:buChar char="•"/>
            </a:pPr>
            <a:r>
              <a:rPr lang="en-US" sz="2000" dirty="0"/>
              <a:t>DB2 (IBM)</a:t>
            </a:r>
          </a:p>
          <a:p>
            <a:pPr>
              <a:buFontTx/>
              <a:buChar char="•"/>
            </a:pPr>
            <a:r>
              <a:rPr lang="en-US" sz="2000" dirty="0"/>
              <a:t>Informix</a:t>
            </a:r>
          </a:p>
        </p:txBody>
      </p:sp>
    </p:spTree>
    <p:extLst>
      <p:ext uri="{BB962C8B-B14F-4D97-AF65-F5344CB8AC3E}">
        <p14:creationId xmlns:p14="http://schemas.microsoft.com/office/powerpoint/2010/main" val="187673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choose MS-Access over SPSS / Excel?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723900" y="2209800"/>
            <a:ext cx="7696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MS </a:t>
            </a:r>
            <a:r>
              <a:rPr lang="en-US" sz="2400" dirty="0"/>
              <a:t>Access is best used for long-term data storage and/or data sharing.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MS Excel is best used for minor data collection, manipulation, and especially visualization.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SPSS is best used for minor data collection and especially data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839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choose MS-Access over other DBMS systems?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219200" y="1981200"/>
            <a:ext cx="7696200" cy="5575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Cheap</a:t>
            </a:r>
            <a:r>
              <a:rPr lang="en-US" sz="2400" dirty="0"/>
              <a:t> </a:t>
            </a:r>
            <a:r>
              <a:rPr lang="en-US" sz="2400" dirty="0" smtClean="0"/>
              <a:t>and  available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Easy to use </a:t>
            </a:r>
            <a:r>
              <a:rPr lang="en-US" sz="2400" dirty="0" smtClean="0"/>
              <a:t>(no use of database server management)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Includes front-end tools for rapid application development (</a:t>
            </a:r>
            <a:r>
              <a:rPr lang="en-US" sz="2400" dirty="0" smtClean="0"/>
              <a:t>RAD)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MS-Access can handle a large number of </a:t>
            </a:r>
            <a:r>
              <a:rPr lang="en-US" sz="2400" dirty="0" smtClean="0"/>
              <a:t>records.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Multiple users may use the database </a:t>
            </a:r>
            <a:r>
              <a:rPr lang="en-US" sz="2400" dirty="0" smtClean="0"/>
              <a:t>simultaneously.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93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032" t="35713" r="69913" b="21429"/>
          <a:stretch/>
        </p:blipFill>
        <p:spPr>
          <a:xfrm>
            <a:off x="7620000" y="404239"/>
            <a:ext cx="1828801" cy="2971800"/>
          </a:xfrm>
          <a:prstGeom prst="rect">
            <a:avLst/>
          </a:prstGeo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140970" y="1456750"/>
            <a:ext cx="8241030" cy="5264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Database file</a:t>
            </a:r>
          </a:p>
          <a:p>
            <a:pPr lvl="1"/>
            <a:r>
              <a:rPr lang="en-US" dirty="0" smtClean="0"/>
              <a:t>This is the main file that encompasses the entire database.</a:t>
            </a:r>
          </a:p>
          <a:p>
            <a:r>
              <a:rPr lang="en-US" dirty="0" smtClean="0"/>
              <a:t>Table </a:t>
            </a:r>
          </a:p>
          <a:p>
            <a:pPr lvl="1"/>
            <a:r>
              <a:rPr lang="en-US" dirty="0" smtClean="0"/>
              <a:t>A table is a collection of data about specific topic.</a:t>
            </a:r>
          </a:p>
          <a:p>
            <a:r>
              <a:rPr lang="en-US" dirty="0" smtClean="0"/>
              <a:t>Field</a:t>
            </a:r>
          </a:p>
          <a:p>
            <a:pPr lvl="1"/>
            <a:r>
              <a:rPr lang="en-US" dirty="0" smtClean="0"/>
              <a:t>Fields are the different categories within a Table.  Tables usually contain multiple fields.</a:t>
            </a:r>
          </a:p>
          <a:p>
            <a:r>
              <a:rPr lang="en-US" dirty="0" smtClean="0"/>
              <a:t>Data types: </a:t>
            </a:r>
          </a:p>
          <a:p>
            <a:pPr lvl="1"/>
            <a:r>
              <a:rPr lang="en-US" dirty="0" smtClean="0"/>
              <a:t> Data types are the properties of each field.  A field only has 1 data type.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5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Object types of MS Access.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An Access database contains six types of objects.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Tables – A table is a collection of data about a specific 		topic.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Queries – Queries are used to view, change and 			analyze data in different ways.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Forms – Forms enables you to display and enter data in 		a convenient format.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Report – A report is an effective way to present your 		data in a printed format.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Macro – A macro is a set of instructions that automates 		a task you need to do often.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Modules – In the rare cases where programming is 		necessary, you can write modules.</a:t>
            </a:r>
          </a:p>
        </p:txBody>
      </p:sp>
      <p:sp>
        <p:nvSpPr>
          <p:cNvPr id="819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819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03E3D3E-3F01-4511-BE42-007C105B7924}" type="slidenum">
              <a:rPr lang="en-US" sz="1200">
                <a:solidFill>
                  <a:srgbClr val="B5A788"/>
                </a:solidFill>
              </a:rPr>
              <a:pPr eaLnBrk="1" hangingPunct="1"/>
              <a:t>6</a:t>
            </a:fld>
            <a:endParaRPr lang="en-US" sz="1200">
              <a:solidFill>
                <a:srgbClr val="B5A7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77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Data Types of Microsoft Access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mtClean="0">
                <a:solidFill>
                  <a:schemeClr val="accent2"/>
                </a:solidFill>
              </a:rPr>
              <a:t>1.Text </a:t>
            </a:r>
            <a:r>
              <a:rPr lang="en-US" smtClean="0"/>
              <a:t>:This field stores text and numbers and any combination of characters. It can contain up to 255 characters.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mtClean="0"/>
              <a:t>	The </a:t>
            </a:r>
            <a:r>
              <a:rPr lang="en-US" b="1" smtClean="0"/>
              <a:t>FieldSize</a:t>
            </a:r>
            <a:r>
              <a:rPr lang="en-US" smtClean="0"/>
              <a:t> property controls the maximum number of characters that can be entered.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mtClean="0"/>
              <a:t>	Name :Text(25)</a:t>
            </a:r>
          </a:p>
        </p:txBody>
      </p:sp>
      <p:sp>
        <p:nvSpPr>
          <p:cNvPr id="829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829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8057E0-CBCF-4642-AEDA-59525F5516B0}" type="slidenum">
              <a:rPr lang="en-US" sz="1200">
                <a:solidFill>
                  <a:srgbClr val="B5A788"/>
                </a:solidFill>
              </a:rPr>
              <a:pPr eaLnBrk="1" hangingPunct="1"/>
              <a:t>7</a:t>
            </a:fld>
            <a:endParaRPr lang="en-US" sz="1200">
              <a:solidFill>
                <a:srgbClr val="B5A788"/>
              </a:solidFill>
            </a:endParaRPr>
          </a:p>
        </p:txBody>
      </p:sp>
      <p:pic>
        <p:nvPicPr>
          <p:cNvPr id="6" name="Content Placeholder 6" title="Data types help keep your data accurate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257874"/>
            <a:ext cx="4381500" cy="22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2. Memo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Use for lengthy text and numbers, such as notes or descriptions.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Stores up to 65,536 characters.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3. Number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Use for data to be included in mathematical calculations, except calculations involving money (use Currency type).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Stores 1, 2, 4, or 8 bytes; stores 16 bytes for Replication ID (GUID). The </a:t>
            </a:r>
            <a:r>
              <a:rPr lang="en-US" b="1" smtClean="0"/>
              <a:t>FieldSize</a:t>
            </a:r>
            <a:r>
              <a:rPr lang="en-US" smtClean="0"/>
              <a:t> property defines the specific Number type. </a:t>
            </a:r>
          </a:p>
          <a:p>
            <a:pPr eaLnBrk="1" hangingPunct="1">
              <a:lnSpc>
                <a:spcPct val="80000"/>
              </a:lnSpc>
            </a:pPr>
            <a:endParaRPr lang="en-US" sz="2800" smtClean="0"/>
          </a:p>
        </p:txBody>
      </p:sp>
      <p:sp>
        <p:nvSpPr>
          <p:cNvPr id="839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839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6C3066-0ADC-4A46-80DD-854346D38C34}" type="slidenum">
              <a:rPr lang="en-US" sz="1200">
                <a:solidFill>
                  <a:srgbClr val="B5A788"/>
                </a:solidFill>
              </a:rPr>
              <a:pPr eaLnBrk="1" hangingPunct="1"/>
              <a:t>8</a:t>
            </a:fld>
            <a:endParaRPr lang="en-US" sz="1200">
              <a:solidFill>
                <a:srgbClr val="B5A7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24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381000"/>
            <a:ext cx="8229600" cy="5715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4. Date/Time</a:t>
            </a:r>
            <a:r>
              <a:rPr lang="en-US" sz="2400" smtClean="0">
                <a:solidFill>
                  <a:schemeClr val="accent2"/>
                </a:solidFill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Use for dates and times.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Stores 8 bytes.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6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5. Currency</a:t>
            </a:r>
            <a:r>
              <a:rPr lang="en-US" sz="2400" b="1" smtClean="0">
                <a:solidFill>
                  <a:schemeClr val="accent2"/>
                </a:solidFill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Use for currency values and to prevent rounding off during calculations.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Stores 8 bytes.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6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6. AutoNumber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Use for unique sequential (incrementing by 1) or random numbers that are automatically inserted when a record is added.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Stores 4 bytes; stores 16 bytes for Replication ID (GUID).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600" smtClean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600" smtClean="0"/>
          </a:p>
        </p:txBody>
      </p:sp>
      <p:sp>
        <p:nvSpPr>
          <p:cNvPr id="849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B86A47-A599-46A7-9A05-901973E51939}" type="slidenum">
              <a:rPr lang="en-US" sz="1200">
                <a:solidFill>
                  <a:srgbClr val="B5A788"/>
                </a:solidFill>
              </a:rPr>
              <a:pPr eaLnBrk="1" hangingPunct="1"/>
              <a:t>9</a:t>
            </a:fld>
            <a:endParaRPr lang="en-US" sz="1200">
              <a:solidFill>
                <a:srgbClr val="B5A7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20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7.		Yes/No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600" smtClean="0"/>
              <a:t>Use for data that can be only one of two possible values, such as Yes/No,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600" smtClean="0"/>
              <a:t>True/False, On/Off. </a:t>
            </a:r>
            <a:r>
              <a:rPr lang="en-US" sz="2600" smtClean="0">
                <a:hlinkClick r:id="rId2" action="ppaction://hlinkfile"/>
              </a:rPr>
              <a:t>Null</a:t>
            </a:r>
            <a:r>
              <a:rPr lang="en-US" sz="2600" smtClean="0"/>
              <a:t> values are not allowed.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600" smtClean="0"/>
              <a:t>Stores 1 bit. 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600" smtClean="0"/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8.		OLE Object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400" smtClean="0"/>
              <a:t>Use for OLE objects (such as Microsoft Word documents, Microsoft Excel spreadsheets, pictures, sounds, or other binary data) that were created in other programs using the </a:t>
            </a:r>
            <a:r>
              <a:rPr lang="en-US" sz="2400" smtClean="0">
                <a:hlinkClick r:id="rId3" action="ppaction://hlinkfile"/>
              </a:rPr>
              <a:t>OLE</a:t>
            </a:r>
            <a:r>
              <a:rPr lang="en-US" sz="2400" smtClean="0"/>
              <a:t> protocol.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400" smtClean="0"/>
              <a:t>Stores up to 1 gigabyte (limited by disk space).\\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400" smtClean="0"/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chemeClr val="accent2"/>
                </a:solidFill>
              </a:rPr>
              <a:t>9.		Hyperlink</a:t>
            </a:r>
            <a:r>
              <a:rPr lang="en-US" sz="2800" smtClean="0"/>
              <a:t> 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smtClean="0"/>
              <a:t>A hyperlink can be a  </a:t>
            </a:r>
            <a:r>
              <a:rPr lang="en-US" sz="2800" smtClean="0">
                <a:hlinkClick r:id="rId4" action="ppaction://hlinkfile"/>
              </a:rPr>
              <a:t>URL</a:t>
            </a:r>
            <a:r>
              <a:rPr lang="en-US" sz="2800" smtClean="0"/>
              <a:t>.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400" smtClean="0"/>
              <a:t>Stores up to 64,000 characters. </a:t>
            </a:r>
            <a:endParaRPr lang="en-US" sz="2600" smtClean="0"/>
          </a:p>
          <a:p>
            <a:pPr marL="609600" indent="-609600" eaLnBrk="1" hangingPunct="1">
              <a:lnSpc>
                <a:spcPct val="80000"/>
              </a:lnSpc>
            </a:pPr>
            <a:endParaRPr lang="en-US" sz="800" smtClean="0"/>
          </a:p>
        </p:txBody>
      </p:sp>
      <p:sp>
        <p:nvSpPr>
          <p:cNvPr id="860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860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D6421C2-1757-4A54-991D-56F7F440A817}" type="slidenum">
              <a:rPr lang="en-US" sz="1200">
                <a:solidFill>
                  <a:srgbClr val="B5A788"/>
                </a:solidFill>
              </a:rPr>
              <a:pPr eaLnBrk="1" hangingPunct="1"/>
              <a:t>10</a:t>
            </a:fld>
            <a:endParaRPr lang="en-US" sz="1200">
              <a:solidFill>
                <a:srgbClr val="B5A7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18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Referential </a:t>
            </a:r>
            <a:r>
              <a:rPr lang="en-US" dirty="0"/>
              <a:t>integrity is a database concept that ensures that relationships between tables remain consistent.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one table has a foreign key to another table, the concept of referential integrity states that you may not add a record to the table that contains the foreign key unless there is a corresponding record in the linked table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also includes the techniques known as cascading update and cascading delete, which ensure that changes made to the linked table are reflected in the primary table.</a:t>
            </a:r>
          </a:p>
        </p:txBody>
      </p:sp>
    </p:spTree>
    <p:extLst>
      <p:ext uri="{BB962C8B-B14F-4D97-AF65-F5344CB8AC3E}">
        <p14:creationId xmlns:p14="http://schemas.microsoft.com/office/powerpoint/2010/main" val="104548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https://www.webucator.com/blog/wp-content/uploads/2010/09/092410_0143_CascadeUpda1.png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en-US"/>
          </a:p>
        </p:txBody>
      </p:sp>
      <p:sp>
        <p:nvSpPr>
          <p:cNvPr id="5" name="AutoShape 4" descr="https://www.webucator.com/blog/wp-content/uploads/2010/09/092410_0143_CascadeUpda1.png"/>
          <p:cNvSpPr>
            <a:spLocks noChangeAspect="1" noChangeArrowheads="1"/>
          </p:cNvSpPr>
          <p:nvPr/>
        </p:nvSpPr>
        <p:spPr bwMode="auto">
          <a:xfrm>
            <a:off x="-13684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ttps://www.webucator.com/blog/wp-content/uploads/2010/09/092410_0143_CascadeUpda1.png"/>
          <p:cNvSpPr>
            <a:spLocks noChangeAspect="1" noChangeArrowheads="1"/>
          </p:cNvSpPr>
          <p:nvPr/>
        </p:nvSpPr>
        <p:spPr bwMode="auto">
          <a:xfrm>
            <a:off x="-121602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89" y="1949656"/>
            <a:ext cx="8141423" cy="410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9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Cascade </a:t>
            </a:r>
            <a:r>
              <a:rPr lang="en-US" b="1" smtClean="0"/>
              <a:t>Update/delete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Once you make a change in the </a:t>
            </a:r>
            <a:r>
              <a:rPr lang="en-US" b="1" dirty="0"/>
              <a:t>Primary Table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and save that record, the changes will be made automatically in the </a:t>
            </a:r>
            <a:r>
              <a:rPr lang="en-US" b="1" dirty="0"/>
              <a:t>Related </a:t>
            </a:r>
            <a:r>
              <a:rPr lang="en-US" b="1" dirty="0" smtClean="0"/>
              <a:t>Table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If you click to select the </a:t>
            </a:r>
            <a:r>
              <a:rPr lang="en-US" b="1" dirty="0"/>
              <a:t>Cascade Update Related Fields</a:t>
            </a:r>
            <a:r>
              <a:rPr lang="en-US" dirty="0"/>
              <a:t> check box when you define a relationship, any time that you change the primary key of a record in the primary table, Microsoft Access automatically updates the primary key to the new value in all related records.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if you change a customer's ID in the "Customers" table, the </a:t>
            </a:r>
            <a:r>
              <a:rPr lang="en-US" b="1" dirty="0" err="1"/>
              <a:t>CustomerID</a:t>
            </a:r>
            <a:r>
              <a:rPr lang="en-US" dirty="0"/>
              <a:t> field in the "Orders" table is automatically updated for every one of that customer's orders so that the relationship is not broken. Access cascades updates without displaying any message. </a:t>
            </a:r>
          </a:p>
        </p:txBody>
      </p:sp>
    </p:spTree>
    <p:extLst>
      <p:ext uri="{BB962C8B-B14F-4D97-AF65-F5344CB8AC3E}">
        <p14:creationId xmlns:p14="http://schemas.microsoft.com/office/powerpoint/2010/main" val="118053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952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151450-2BC9-485E-B5A3-94CDCD1BDC1D}" type="slidenum">
              <a:rPr lang="en-US" altLang="en-US" sz="1200">
                <a:solidFill>
                  <a:srgbClr val="B5A788"/>
                </a:solidFill>
              </a:rPr>
              <a:pPr eaLnBrk="1" hangingPunct="1"/>
              <a:t>14</a:t>
            </a:fld>
            <a:endParaRPr lang="en-US" altLang="en-US" sz="1200">
              <a:solidFill>
                <a:srgbClr val="B5A788"/>
              </a:solidFill>
            </a:endParaRPr>
          </a:p>
        </p:txBody>
      </p:sp>
      <p:sp>
        <p:nvSpPr>
          <p:cNvPr id="102404" name="Rectangle 2"/>
          <p:cNvSpPr>
            <a:spLocks noChangeArrowheads="1"/>
          </p:cNvSpPr>
          <p:nvPr/>
        </p:nvSpPr>
        <p:spPr bwMode="auto">
          <a:xfrm>
            <a:off x="457200" y="2209800"/>
            <a:ext cx="822960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600">
                <a:latin typeface="Times New Roman" panose="02020603050405020304" pitchFamily="18" charset="0"/>
              </a:rPr>
              <a:t>The </a:t>
            </a:r>
            <a:r>
              <a:rPr lang="en-US" altLang="en-US" sz="3600" b="1">
                <a:latin typeface="Times New Roman" panose="02020603050405020304" pitchFamily="18" charset="0"/>
              </a:rPr>
              <a:t>ValidationRule</a:t>
            </a:r>
            <a:r>
              <a:rPr lang="en-US" altLang="en-US" sz="3600">
                <a:latin typeface="Times New Roman" panose="02020603050405020304" pitchFamily="18" charset="0"/>
              </a:rPr>
              <a:t> property determines whether or not a field contains valid data. If the data is not valid, a trappable run-time error occurs</a:t>
            </a:r>
            <a:r>
              <a:rPr lang="en-US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. </a:t>
            </a:r>
            <a:br>
              <a:rPr lang="en-US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</a:br>
            <a:endParaRPr lang="en-US" altLang="en-US" sz="3600">
              <a:solidFill>
                <a:schemeClr val="tx2"/>
              </a:solidFill>
            </a:endParaRPr>
          </a:p>
        </p:txBody>
      </p:sp>
      <p:sp>
        <p:nvSpPr>
          <p:cNvPr id="102405" name="Rectangle 3"/>
          <p:cNvSpPr>
            <a:spLocks noChangeArrowheads="1"/>
          </p:cNvSpPr>
          <p:nvPr/>
        </p:nvSpPr>
        <p:spPr bwMode="auto">
          <a:xfrm>
            <a:off x="2209800" y="457200"/>
            <a:ext cx="38179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 b="1">
                <a:solidFill>
                  <a:schemeClr val="tx2"/>
                </a:solidFill>
                <a:latin typeface="Times New Roman" panose="02020603050405020304" pitchFamily="18" charset="0"/>
              </a:rPr>
              <a:t>ValidationRule</a:t>
            </a:r>
          </a:p>
        </p:txBody>
      </p:sp>
    </p:spTree>
    <p:extLst>
      <p:ext uri="{BB962C8B-B14F-4D97-AF65-F5344CB8AC3E}">
        <p14:creationId xmlns:p14="http://schemas.microsoft.com/office/powerpoint/2010/main" val="199903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962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46B683-AD11-4F52-939A-9297A68B4E5F}" type="slidenum">
              <a:rPr lang="en-US" altLang="en-US" sz="1200">
                <a:solidFill>
                  <a:srgbClr val="B5A788"/>
                </a:solidFill>
              </a:rPr>
              <a:pPr eaLnBrk="1" hangingPunct="1"/>
              <a:t>15</a:t>
            </a:fld>
            <a:endParaRPr lang="en-US" altLang="en-US" sz="1200">
              <a:solidFill>
                <a:srgbClr val="B5A788"/>
              </a:solidFill>
            </a:endParaRPr>
          </a:p>
        </p:txBody>
      </p:sp>
      <p:sp>
        <p:nvSpPr>
          <p:cNvPr id="103428" name="Rectangle 2"/>
          <p:cNvSpPr>
            <a:spLocks noChangeArrowheads="1"/>
          </p:cNvSpPr>
          <p:nvPr/>
        </p:nvSpPr>
        <p:spPr bwMode="auto">
          <a:xfrm>
            <a:off x="5334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>
                <a:solidFill>
                  <a:schemeClr val="tx2"/>
                </a:solidFill>
              </a:rPr>
              <a:t>Validation Rule</a:t>
            </a:r>
          </a:p>
        </p:txBody>
      </p:sp>
      <p:sp>
        <p:nvSpPr>
          <p:cNvPr id="103429" name="Rectangle 3"/>
          <p:cNvSpPr>
            <a:spLocks noChangeArrowheads="1"/>
          </p:cNvSpPr>
          <p:nvPr/>
        </p:nvSpPr>
        <p:spPr bwMode="auto">
          <a:xfrm>
            <a:off x="762000" y="1676400"/>
            <a:ext cx="3810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/>
              <a:t>&lt; &gt; 0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/>
              <a:t>&gt; 1000 or is null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800"/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/>
              <a:t>Like “A????”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800"/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/>
              <a:t>&gt;= # 1/1/96 # and           &lt;  # 1/1/97 #</a:t>
            </a:r>
          </a:p>
        </p:txBody>
      </p:sp>
      <p:sp>
        <p:nvSpPr>
          <p:cNvPr id="103430" name="Rectangle 4"/>
          <p:cNvSpPr>
            <a:spLocks noChangeArrowheads="1"/>
          </p:cNvSpPr>
          <p:nvPr/>
        </p:nvSpPr>
        <p:spPr bwMode="auto">
          <a:xfrm>
            <a:off x="4267200" y="1676400"/>
            <a:ext cx="4648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Tx/>
              <a:buChar char="-"/>
            </a:pPr>
            <a:r>
              <a:rPr lang="en-US" altLang="en-US" sz="2800"/>
              <a:t>Entry must be a nonzero value.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Tx/>
              <a:buChar char="-"/>
            </a:pPr>
            <a:r>
              <a:rPr lang="en-US" altLang="en-US" sz="2800"/>
              <a:t>Entry must be blank or greater than 1000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Tx/>
              <a:buChar char="-"/>
            </a:pPr>
            <a:r>
              <a:rPr lang="en-US" altLang="en-US" sz="2800"/>
              <a:t>Entry must be 5 characters and begin with the letter “A”.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Tx/>
              <a:buChar char="-"/>
            </a:pPr>
            <a:r>
              <a:rPr lang="en-US" altLang="en-US" sz="2800"/>
              <a:t>Entry must be a date 1996.</a:t>
            </a:r>
          </a:p>
        </p:txBody>
      </p:sp>
      <p:sp>
        <p:nvSpPr>
          <p:cNvPr id="103431" name="Text Box 5"/>
          <p:cNvSpPr txBox="1">
            <a:spLocks noChangeArrowheads="1"/>
          </p:cNvSpPr>
          <p:nvPr/>
        </p:nvSpPr>
        <p:spPr bwMode="auto">
          <a:xfrm>
            <a:off x="304800" y="5911850"/>
            <a:ext cx="8261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Note :When we use validation rule we can not store null </a:t>
            </a:r>
          </a:p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value in the field</a:t>
            </a:r>
          </a:p>
        </p:txBody>
      </p:sp>
    </p:spTree>
    <p:extLst>
      <p:ext uri="{BB962C8B-B14F-4D97-AF65-F5344CB8AC3E}">
        <p14:creationId xmlns:p14="http://schemas.microsoft.com/office/powerpoint/2010/main" val="368737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ATI,Galle</a:t>
            </a:r>
          </a:p>
        </p:txBody>
      </p:sp>
      <p:sp>
        <p:nvSpPr>
          <p:cNvPr id="9728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5F2F2D-1165-40AC-959A-B064F8B75E62}" type="slidenum">
              <a:rPr lang="en-US" altLang="en-US" sz="1200">
                <a:solidFill>
                  <a:srgbClr val="B5A788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B5A788"/>
              </a:solidFill>
            </a:endParaRPr>
          </a:p>
        </p:txBody>
      </p:sp>
      <p:sp>
        <p:nvSpPr>
          <p:cNvPr id="104452" name="Rectangle 2"/>
          <p:cNvSpPr>
            <a:spLocks noChangeArrowheads="1"/>
          </p:cNvSpPr>
          <p:nvPr/>
        </p:nvSpPr>
        <p:spPr bwMode="auto">
          <a:xfrm>
            <a:off x="83820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>
                <a:solidFill>
                  <a:schemeClr val="tx2"/>
                </a:solidFill>
              </a:rPr>
              <a:t>Input mark property</a:t>
            </a:r>
          </a:p>
        </p:txBody>
      </p:sp>
      <p:sp>
        <p:nvSpPr>
          <p:cNvPr id="104453" name="Rectangle 3"/>
          <p:cNvSpPr>
            <a:spLocks noChangeArrowheads="1"/>
          </p:cNvSpPr>
          <p:nvPr/>
        </p:nvSpPr>
        <p:spPr bwMode="auto">
          <a:xfrm>
            <a:off x="381000" y="1981200"/>
            <a:ext cx="3810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b="1"/>
              <a:t>Characters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0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9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#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L,?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A,a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&amp;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&lt;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&gt;</a:t>
            </a:r>
          </a:p>
        </p:txBody>
      </p:sp>
      <p:sp>
        <p:nvSpPr>
          <p:cNvPr id="104454" name="Rectangle 4"/>
          <p:cNvSpPr>
            <a:spLocks noChangeArrowheads="1"/>
          </p:cNvSpPr>
          <p:nvPr/>
        </p:nvSpPr>
        <p:spPr bwMode="auto">
          <a:xfrm>
            <a:off x="4267200" y="2057400"/>
            <a:ext cx="4267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b="1"/>
              <a:t>Description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Digit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Digit or space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Digit or space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Letter (A to Z ,entry required)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Letter or digit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Any character or space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Character convert to lowercase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/>
              <a:t>Character convert to uppercase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2000"/>
          </a:p>
        </p:txBody>
      </p:sp>
      <p:sp>
        <p:nvSpPr>
          <p:cNvPr id="104455" name="Text Box 5"/>
          <p:cNvSpPr txBox="1">
            <a:spLocks noChangeArrowheads="1"/>
          </p:cNvSpPr>
          <p:nvPr/>
        </p:nvSpPr>
        <p:spPr bwMode="auto">
          <a:xfrm>
            <a:off x="263527" y="990600"/>
            <a:ext cx="88804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It makes data entry easier and to control the values users can </a:t>
            </a:r>
          </a:p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Enter in a text box control.</a:t>
            </a:r>
          </a:p>
        </p:txBody>
      </p:sp>
    </p:spTree>
    <p:extLst>
      <p:ext uri="{BB962C8B-B14F-4D97-AF65-F5344CB8AC3E}">
        <p14:creationId xmlns:p14="http://schemas.microsoft.com/office/powerpoint/2010/main" val="425800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644</TotalTime>
  <Words>733</Words>
  <Application>Microsoft Office PowerPoint</Application>
  <PresentationFormat>On-screen Show (4:3)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Wingdings</vt:lpstr>
      <vt:lpstr>HNDIT</vt:lpstr>
      <vt:lpstr>PowerPoint Presentation</vt:lpstr>
      <vt:lpstr>What is Microsoft Access?</vt:lpstr>
      <vt:lpstr>Why choose MS-Access over SPSS / Excel?</vt:lpstr>
      <vt:lpstr>Why choose MS-Access over other DBMS systems?</vt:lpstr>
      <vt:lpstr>PowerPoint Presentation</vt:lpstr>
      <vt:lpstr>Object types of MS Access.</vt:lpstr>
      <vt:lpstr>Data Types of Microsoft Access</vt:lpstr>
      <vt:lpstr>PowerPoint Presentation</vt:lpstr>
      <vt:lpstr>PowerPoint Presentation</vt:lpstr>
      <vt:lpstr>PowerPoint Presentation</vt:lpstr>
      <vt:lpstr>Referential integrity</vt:lpstr>
      <vt:lpstr>PowerPoint Presentation</vt:lpstr>
      <vt:lpstr>Cascade Update/delete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HNDIT11012: Personal Computer Applications</dc:title>
  <dc:creator>DNP</dc:creator>
  <cp:lastModifiedBy>DNP</cp:lastModifiedBy>
  <cp:revision>32</cp:revision>
  <dcterms:created xsi:type="dcterms:W3CDTF">2018-05-21T10:06:55Z</dcterms:created>
  <dcterms:modified xsi:type="dcterms:W3CDTF">2018-07-19T05:03:04Z</dcterms:modified>
</cp:coreProperties>
</file>