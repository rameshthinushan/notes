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NP"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67" d="100"/>
          <a:sy n="67" d="100"/>
        </p:scale>
        <p:origin x="1416"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11-01T17:13:04.358" idx="1">
    <p:pos x="10" y="10"/>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7C152-92C3-4C6A-93F2-272F35C7C59A}" type="datetimeFigureOut">
              <a:rPr lang="en-US" smtClean="0"/>
              <a:t>5/31/2018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A38B01-8191-4D3D-8FDA-20DC1A1D82F4}" type="slidenum">
              <a:rPr lang="en-US" smtClean="0"/>
              <a:t>‹#›</a:t>
            </a:fld>
            <a:endParaRPr lang="en-US"/>
          </a:p>
        </p:txBody>
      </p:sp>
    </p:spTree>
    <p:extLst>
      <p:ext uri="{BB962C8B-B14F-4D97-AF65-F5344CB8AC3E}">
        <p14:creationId xmlns:p14="http://schemas.microsoft.com/office/powerpoint/2010/main" val="4129203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t>=IF(B9&gt;B11,"over budget",B11-B9)</a:t>
            </a:r>
          </a:p>
          <a:p>
            <a:endParaRPr lang="en-US" dirty="0"/>
          </a:p>
        </p:txBody>
      </p:sp>
      <p:sp>
        <p:nvSpPr>
          <p:cNvPr id="4" name="Slide Number Placeholder 3"/>
          <p:cNvSpPr>
            <a:spLocks noGrp="1"/>
          </p:cNvSpPr>
          <p:nvPr>
            <p:ph type="sldNum" sz="quarter" idx="10"/>
          </p:nvPr>
        </p:nvSpPr>
        <p:spPr/>
        <p:txBody>
          <a:bodyPr/>
          <a:lstStyle/>
          <a:p>
            <a:fld id="{FA677AEE-D46A-4C91-9543-7FBC6ED44F7E}" type="slidenum">
              <a:rPr lang="en-US" smtClean="0"/>
              <a:pPr/>
              <a:t>11</a:t>
            </a:fld>
            <a:endParaRPr lang="en-US" dirty="0"/>
          </a:p>
        </p:txBody>
      </p:sp>
    </p:spTree>
    <p:extLst>
      <p:ext uri="{BB962C8B-B14F-4D97-AF65-F5344CB8AC3E}">
        <p14:creationId xmlns:p14="http://schemas.microsoft.com/office/powerpoint/2010/main" val="3015241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mtClean="0">
                <a:latin typeface="Times New Roman" panose="02020603050405020304" pitchFamily="18" charset="0"/>
              </a:rPr>
              <a:t>It allows you to evaluate one range of cells and based upon the contents of that range, total a different range of cells.</a:t>
            </a:r>
          </a:p>
          <a:p>
            <a:pPr eaLnBrk="1" hangingPunct="1">
              <a:spcBef>
                <a:spcPct val="0"/>
              </a:spcBef>
            </a:pPr>
            <a:r>
              <a:rPr lang="en-US" altLang="en-US" smtClean="0">
                <a:latin typeface="Times New Roman" panose="02020603050405020304" pitchFamily="18" charset="0"/>
              </a:rPr>
              <a:t>Last argument is optional.</a:t>
            </a:r>
          </a:p>
          <a:p>
            <a:endParaRPr lang="en-US" smtClean="0"/>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37304AB-3835-4D2C-8787-9E3F0411F67B}" type="slidenum">
              <a:rPr lang="en-US" altLang="en-US" smtClean="0">
                <a:latin typeface="Times New Roman" panose="02020603050405020304" pitchFamily="18" charset="0"/>
              </a:rPr>
              <a:pPr/>
              <a:t>12</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242812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8DD56F-A681-4805-A5A2-3EFEAD22C2F4}" type="datetimeFigureOut">
              <a:rPr lang="en-US" smtClean="0"/>
              <a:t>5/31/2018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8DD56F-A681-4805-A5A2-3EFEAD22C2F4}" type="datetimeFigureOut">
              <a:rPr lang="en-US" smtClean="0"/>
              <a:t>5/31/2018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5/31/2018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5/31/2018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png"/><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a:t>
            </a:r>
            <a:r>
              <a:rPr lang="en-US" dirty="0" smtClean="0"/>
              <a:t>06 </a:t>
            </a:r>
            <a:endParaRPr lang="en-US" dirty="0"/>
          </a:p>
        </p:txBody>
      </p:sp>
      <p:sp>
        <p:nvSpPr>
          <p:cNvPr id="2" name="Title 1"/>
          <p:cNvSpPr>
            <a:spLocks noGrp="1"/>
          </p:cNvSpPr>
          <p:nvPr>
            <p:ph type="ctrTitle"/>
          </p:nvPr>
        </p:nvSpPr>
        <p:spPr>
          <a:xfrm>
            <a:off x="4953000" y="2514600"/>
            <a:ext cx="3886200" cy="1981199"/>
          </a:xfrm>
        </p:spPr>
        <p:txBody>
          <a:bodyPr>
            <a:normAutofit fontScale="90000"/>
          </a:bodyPr>
          <a:lstStyle/>
          <a:p>
            <a:r>
              <a:rPr lang="en-US" b="1" dirty="0" smtClean="0"/>
              <a:t>HNDIT1101: </a:t>
            </a:r>
            <a:r>
              <a:rPr lang="en-US" b="1" dirty="0"/>
              <a:t>Personal Computer Applications</a:t>
            </a:r>
            <a:r>
              <a:rPr lang="en-US" dirty="0"/>
              <a:t/>
            </a:r>
            <a:br>
              <a:rPr lang="en-US" dirty="0"/>
            </a:br>
            <a:endParaRPr lang="en-US" dirty="0"/>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mtClean="0"/>
              <a:t>Introducing Functions</a:t>
            </a:r>
          </a:p>
        </p:txBody>
      </p:sp>
      <p:sp>
        <p:nvSpPr>
          <p:cNvPr id="3686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4024AE7-5A00-4A74-AA98-A1CC429242BC}" type="slidenum">
              <a:rPr lang="en-US" altLang="en-US" smtClean="0">
                <a:solidFill>
                  <a:srgbClr val="FFFFFF"/>
                </a:solidFill>
                <a:latin typeface="Franklin Gothic Book" panose="020B0503020102020204" pitchFamily="34" charset="0"/>
              </a:rPr>
              <a:pPr/>
              <a:t>2</a:t>
            </a:fld>
            <a:endParaRPr lang="en-US" altLang="en-US" smtClean="0">
              <a:solidFill>
                <a:srgbClr val="FFFFFF"/>
              </a:solidFill>
              <a:latin typeface="Franklin Gothic Book" panose="020B0503020102020204" pitchFamily="34" charset="0"/>
            </a:endParaRPr>
          </a:p>
        </p:txBody>
      </p:sp>
      <p:sp>
        <p:nvSpPr>
          <p:cNvPr id="36868" name="Rectangle 3"/>
          <p:cNvSpPr>
            <a:spLocks noGrp="1" noChangeArrowheads="1"/>
          </p:cNvSpPr>
          <p:nvPr>
            <p:ph sz="quarter" idx="1"/>
          </p:nvPr>
        </p:nvSpPr>
        <p:spPr/>
        <p:txBody>
          <a:bodyPr/>
          <a:lstStyle/>
          <a:p>
            <a:pPr eaLnBrk="1" hangingPunct="1">
              <a:spcBef>
                <a:spcPct val="0"/>
              </a:spcBef>
            </a:pPr>
            <a:r>
              <a:rPr lang="en-US" altLang="en-US" dirty="0" smtClean="0">
                <a:latin typeface="Times New Roman" panose="02020603050405020304" pitchFamily="18" charset="0"/>
              </a:rPr>
              <a:t>Functions are predefined formulas that perform calculations by using specific values, called arguments, in a particular order, or structure</a:t>
            </a:r>
          </a:p>
          <a:p>
            <a:pPr eaLnBrk="1" hangingPunct="1">
              <a:spcBef>
                <a:spcPct val="0"/>
              </a:spcBef>
              <a:buFont typeface="Wingdings" panose="05000000000000000000" pitchFamily="2" charset="2"/>
              <a:buNone/>
            </a:pPr>
            <a:r>
              <a:rPr lang="en-US" altLang="en-US" dirty="0" smtClean="0">
                <a:latin typeface="Times New Roman" panose="02020603050405020304" pitchFamily="18" charset="0"/>
              </a:rPr>
              <a:t> </a:t>
            </a:r>
          </a:p>
          <a:p>
            <a:pPr eaLnBrk="1" hangingPunct="1">
              <a:spcBef>
                <a:spcPct val="0"/>
              </a:spcBef>
              <a:buFont typeface="Wingdings" panose="05000000000000000000" pitchFamily="2" charset="2"/>
              <a:buNone/>
            </a:pPr>
            <a:r>
              <a:rPr lang="en-US" altLang="en-US" dirty="0" smtClean="0">
                <a:latin typeface="Times New Roman" panose="02020603050405020304" pitchFamily="18" charset="0"/>
              </a:rPr>
              <a:t>=sum(A8,B4:B8,50,70)</a:t>
            </a:r>
          </a:p>
          <a:p>
            <a:pPr eaLnBrk="1" hangingPunct="1"/>
            <a:endParaRPr lang="en-US" altLang="en-US" dirty="0" smtClean="0"/>
          </a:p>
        </p:txBody>
      </p:sp>
      <p:sp>
        <p:nvSpPr>
          <p:cNvPr id="36869" name="AutoShape 4"/>
          <p:cNvSpPr>
            <a:spLocks/>
          </p:cNvSpPr>
          <p:nvPr/>
        </p:nvSpPr>
        <p:spPr bwMode="auto">
          <a:xfrm rot="5400000">
            <a:off x="2950579" y="3935245"/>
            <a:ext cx="419100" cy="2438400"/>
          </a:xfrm>
          <a:prstGeom prst="rightBrace">
            <a:avLst>
              <a:gd name="adj1" fmla="val 48485"/>
              <a:gd name="adj2" fmla="val 5138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36870" name="Text Box 5"/>
          <p:cNvSpPr txBox="1">
            <a:spLocks noChangeArrowheads="1"/>
          </p:cNvSpPr>
          <p:nvPr/>
        </p:nvSpPr>
        <p:spPr bwMode="auto">
          <a:xfrm>
            <a:off x="2775451" y="5989637"/>
            <a:ext cx="3803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A comma separates each argument</a:t>
            </a:r>
          </a:p>
        </p:txBody>
      </p:sp>
      <p:sp>
        <p:nvSpPr>
          <p:cNvPr id="36871" name="Text Box 6"/>
          <p:cNvSpPr txBox="1">
            <a:spLocks noChangeArrowheads="1"/>
          </p:cNvSpPr>
          <p:nvPr/>
        </p:nvSpPr>
        <p:spPr bwMode="auto">
          <a:xfrm>
            <a:off x="649872" y="6122152"/>
            <a:ext cx="1920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Function name</a:t>
            </a:r>
          </a:p>
        </p:txBody>
      </p:sp>
      <p:sp>
        <p:nvSpPr>
          <p:cNvPr id="36872" name="Line 7"/>
          <p:cNvSpPr>
            <a:spLocks noChangeShapeType="1"/>
          </p:cNvSpPr>
          <p:nvPr/>
        </p:nvSpPr>
        <p:spPr bwMode="auto">
          <a:xfrm flipV="1">
            <a:off x="1295400" y="5014913"/>
            <a:ext cx="0" cy="114300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943224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878305" y="-4011"/>
            <a:ext cx="7772400" cy="1143000"/>
          </a:xfrm>
        </p:spPr>
        <p:txBody>
          <a:bodyPr/>
          <a:lstStyle/>
          <a:p>
            <a:r>
              <a:rPr lang="en-US" dirty="0" smtClean="0"/>
              <a:t>Functions</a:t>
            </a:r>
          </a:p>
        </p:txBody>
      </p:sp>
      <p:sp>
        <p:nvSpPr>
          <p:cNvPr id="37891" name="Content Placeholder 2"/>
          <p:cNvSpPr>
            <a:spLocks noGrp="1"/>
          </p:cNvSpPr>
          <p:nvPr>
            <p:ph sz="quarter" idx="1"/>
          </p:nvPr>
        </p:nvSpPr>
        <p:spPr>
          <a:xfrm>
            <a:off x="914400" y="990600"/>
            <a:ext cx="7772400" cy="5029200"/>
          </a:xfrm>
        </p:spPr>
        <p:txBody>
          <a:bodyPr/>
          <a:lstStyle/>
          <a:p>
            <a:pPr marL="514350" indent="-514350">
              <a:buFont typeface="Franklin Gothic Book" panose="020B0503020102020204" pitchFamily="34" charset="0"/>
              <a:buAutoNum type="arabicPeriod"/>
            </a:pPr>
            <a:r>
              <a:rPr lang="en-US" smtClean="0"/>
              <a:t> SUM: Adds a range of cells together </a:t>
            </a:r>
          </a:p>
          <a:p>
            <a:pPr marL="274638" lvl="1" indent="0" eaLnBrk="1" hangingPunct="1">
              <a:lnSpc>
                <a:spcPct val="90000"/>
              </a:lnSpc>
              <a:buFont typeface="Wingdings 2" panose="05020102010507070707" pitchFamily="18" charset="2"/>
              <a:buNone/>
            </a:pPr>
            <a:r>
              <a:rPr lang="en-US" altLang="en-US" sz="2200" b="1" smtClean="0"/>
              <a:t>Syntax</a:t>
            </a:r>
            <a:endParaRPr lang="en-US" altLang="en-US" sz="2200" smtClean="0"/>
          </a:p>
          <a:p>
            <a:pPr marL="274638" lvl="1" indent="0" eaLnBrk="1" hangingPunct="1">
              <a:lnSpc>
                <a:spcPct val="90000"/>
              </a:lnSpc>
              <a:buFont typeface="Wingdings 2" panose="05020102010507070707" pitchFamily="18" charset="2"/>
              <a:buNone/>
            </a:pPr>
            <a:r>
              <a:rPr lang="en-US" altLang="en-US" sz="2200" b="1" smtClean="0"/>
              <a:t>=SUM</a:t>
            </a:r>
            <a:r>
              <a:rPr lang="en-US" altLang="en-US" sz="2200" smtClean="0"/>
              <a:t>(</a:t>
            </a:r>
            <a:r>
              <a:rPr lang="en-US" altLang="en-US" sz="2200" b="1" smtClean="0"/>
              <a:t>number1</a:t>
            </a:r>
            <a:r>
              <a:rPr lang="en-US" altLang="en-US" sz="2200" smtClean="0"/>
              <a:t>,number2, ...)</a:t>
            </a:r>
            <a:endParaRPr lang="en-US" altLang="en-US" sz="2200" smtClean="0">
              <a:latin typeface="Times New Roman" panose="02020603050405020304" pitchFamily="18" charset="0"/>
            </a:endParaRPr>
          </a:p>
          <a:p>
            <a:pPr marL="274638" lvl="1" indent="0" eaLnBrk="1" hangingPunct="1">
              <a:lnSpc>
                <a:spcPct val="90000"/>
              </a:lnSpc>
              <a:spcBef>
                <a:spcPct val="0"/>
              </a:spcBef>
              <a:buFont typeface="Wingdings 2" panose="05020102010507070707" pitchFamily="18" charset="2"/>
              <a:buNone/>
            </a:pPr>
            <a:r>
              <a:rPr lang="en-US" altLang="en-US" sz="2200" smtClean="0">
                <a:latin typeface="Times New Roman" panose="02020603050405020304" pitchFamily="18" charset="0"/>
              </a:rPr>
              <a:t>Number1, number2, ...   are 1 to 30 arguments for which you want the total value or sum.</a:t>
            </a:r>
          </a:p>
          <a:p>
            <a:pPr marL="274638" lvl="1" indent="0">
              <a:buFont typeface="Wingdings 2" panose="05020102010507070707" pitchFamily="18" charset="2"/>
              <a:buNone/>
            </a:pPr>
            <a:endParaRPr lang="en-US" smtClean="0"/>
          </a:p>
        </p:txBody>
      </p:sp>
      <p:sp>
        <p:nvSpPr>
          <p:cNvPr id="37892"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FC2BB0-B562-43AF-91FA-9CDF5DF27E24}" type="slidenum">
              <a:rPr lang="en-US" altLang="en-US" smtClean="0">
                <a:solidFill>
                  <a:srgbClr val="FFFFFF"/>
                </a:solidFill>
                <a:latin typeface="Franklin Gothic Book" panose="020B0503020102020204" pitchFamily="34" charset="0"/>
              </a:rPr>
              <a:pPr/>
              <a:t>3</a:t>
            </a:fld>
            <a:endParaRPr lang="en-US" altLang="en-US" smtClean="0">
              <a:solidFill>
                <a:srgbClr val="FFFFFF"/>
              </a:solidFill>
              <a:latin typeface="Franklin Gothic Book" panose="020B0503020102020204" pitchFamily="34" charset="0"/>
            </a:endParaRPr>
          </a:p>
        </p:txBody>
      </p:sp>
      <p:pic>
        <p:nvPicPr>
          <p:cNvPr id="37893" name="Content Placeholder 4"/>
          <p:cNvPicPr>
            <a:picLocks noChangeAspect="1"/>
          </p:cNvPicPr>
          <p:nvPr/>
        </p:nvPicPr>
        <p:blipFill>
          <a:blip r:embed="rId2">
            <a:extLst>
              <a:ext uri="{28A0092B-C50C-407E-A947-70E740481C1C}">
                <a14:useLocalDpi xmlns:a14="http://schemas.microsoft.com/office/drawing/2010/main" val="0"/>
              </a:ext>
            </a:extLst>
          </a:blip>
          <a:srcRect l="13104" t="6250" r="12984" b="13232"/>
          <a:stretch>
            <a:fillRect/>
          </a:stretch>
        </p:blipFill>
        <p:spPr bwMode="auto">
          <a:xfrm>
            <a:off x="1244850" y="2938463"/>
            <a:ext cx="6399213" cy="391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85772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dirty="0" smtClean="0"/>
              <a:t>=Average(number1,number2</a:t>
            </a:r>
            <a:r>
              <a:rPr lang="en-US" altLang="en-US" dirty="0" smtClean="0"/>
              <a:t>,….)</a:t>
            </a:r>
          </a:p>
        </p:txBody>
      </p:sp>
      <p:sp>
        <p:nvSpPr>
          <p:cNvPr id="38916" name="Rectangle 3"/>
          <p:cNvSpPr>
            <a:spLocks noGrp="1" noChangeArrowheads="1"/>
          </p:cNvSpPr>
          <p:nvPr>
            <p:ph idx="1"/>
          </p:nvPr>
        </p:nvSpPr>
        <p:spPr/>
        <p:txBody>
          <a:bodyPr>
            <a:normAutofit lnSpcReduction="10000"/>
          </a:bodyPr>
          <a:lstStyle/>
          <a:p>
            <a:pPr eaLnBrk="1" hangingPunct="1">
              <a:spcBef>
                <a:spcPct val="0"/>
              </a:spcBef>
              <a:buFont typeface="Wingdings" panose="05000000000000000000" pitchFamily="2" charset="2"/>
              <a:buNone/>
            </a:pPr>
            <a:r>
              <a:rPr lang="en-US" altLang="en-US" sz="2400" dirty="0" smtClean="0">
                <a:latin typeface="Times New Roman" panose="02020603050405020304" pitchFamily="18" charset="0"/>
              </a:rPr>
              <a:t>Returns the average (arithmetic mean) of the arguments.</a:t>
            </a:r>
          </a:p>
          <a:p>
            <a:pPr eaLnBrk="1" hangingPunct="1">
              <a:spcBef>
                <a:spcPct val="0"/>
              </a:spcBef>
              <a:buFont typeface="Wingdings" panose="05000000000000000000" pitchFamily="2" charset="2"/>
              <a:buNone/>
            </a:pPr>
            <a:r>
              <a:rPr lang="en-US" altLang="en-US" sz="2000" b="1" dirty="0" smtClean="0">
                <a:latin typeface="Times New Roman" panose="02020603050405020304" pitchFamily="18" charset="0"/>
              </a:rPr>
              <a:t>Syntax</a:t>
            </a:r>
            <a:endParaRPr lang="en-US" altLang="en-US" sz="2000" dirty="0" smtClean="0">
              <a:latin typeface="Times New Roman" panose="02020603050405020304" pitchFamily="18" charset="0"/>
            </a:endParaRPr>
          </a:p>
          <a:p>
            <a:pPr eaLnBrk="1" hangingPunct="1">
              <a:spcBef>
                <a:spcPct val="0"/>
              </a:spcBef>
              <a:buFont typeface="Wingdings" panose="05000000000000000000" pitchFamily="2" charset="2"/>
              <a:buNone/>
            </a:pPr>
            <a:r>
              <a:rPr lang="en-US" altLang="en-US" sz="2000" b="1" dirty="0" smtClean="0">
                <a:latin typeface="Times New Roman" panose="02020603050405020304" pitchFamily="18" charset="0"/>
              </a:rPr>
              <a:t>AVERAGE</a:t>
            </a:r>
            <a:r>
              <a:rPr lang="en-US" altLang="en-US" sz="2000" dirty="0" smtClean="0">
                <a:latin typeface="Times New Roman" panose="02020603050405020304" pitchFamily="18" charset="0"/>
              </a:rPr>
              <a:t>(</a:t>
            </a:r>
            <a:r>
              <a:rPr lang="en-US" altLang="en-US" sz="2000" b="1" dirty="0" smtClean="0">
                <a:latin typeface="Times New Roman" panose="02020603050405020304" pitchFamily="18" charset="0"/>
              </a:rPr>
              <a:t>number1</a:t>
            </a:r>
            <a:r>
              <a:rPr lang="en-US" altLang="en-US" sz="2000" dirty="0" smtClean="0">
                <a:latin typeface="Times New Roman" panose="02020603050405020304" pitchFamily="18" charset="0"/>
              </a:rPr>
              <a:t>,number2, ...)</a:t>
            </a:r>
          </a:p>
          <a:p>
            <a:pPr eaLnBrk="1" hangingPunct="1">
              <a:spcBef>
                <a:spcPct val="0"/>
              </a:spcBef>
              <a:buFont typeface="Wingdings" panose="05000000000000000000" pitchFamily="2" charset="2"/>
              <a:buNone/>
            </a:pPr>
            <a:r>
              <a:rPr lang="en-US" altLang="en-US" sz="2000" dirty="0" smtClean="0">
                <a:latin typeface="Times New Roman" panose="02020603050405020304" pitchFamily="18" charset="0"/>
              </a:rPr>
              <a:t>Number1, number2, ...   are 1 to 30 numeric arguments for which you want the average</a:t>
            </a:r>
            <a:r>
              <a:rPr lang="en-US" altLang="en-US" sz="2800" dirty="0" smtClean="0">
                <a:latin typeface="Times New Roman" panose="02020603050405020304" pitchFamily="18" charset="0"/>
              </a:rPr>
              <a:t>.</a:t>
            </a:r>
          </a:p>
          <a:p>
            <a:pPr eaLnBrk="1" hangingPunct="1">
              <a:spcBef>
                <a:spcPct val="0"/>
              </a:spcBef>
              <a:buFont typeface="Wingdings" panose="05000000000000000000" pitchFamily="2" charset="2"/>
              <a:buNone/>
            </a:pPr>
            <a:r>
              <a:rPr lang="en-US" altLang="en-US" sz="2800" dirty="0" err="1" smtClean="0">
                <a:latin typeface="Times New Roman" panose="02020603050405020304" pitchFamily="18" charset="0"/>
              </a:rPr>
              <a:t>E.g</a:t>
            </a:r>
            <a:endParaRPr lang="en-US" altLang="en-US" sz="2800" dirty="0" smtClean="0">
              <a:latin typeface="Times New Roman" panose="02020603050405020304" pitchFamily="18" charset="0"/>
            </a:endParaRPr>
          </a:p>
          <a:p>
            <a:pPr eaLnBrk="1" hangingPunct="1">
              <a:spcBef>
                <a:spcPct val="0"/>
              </a:spcBef>
              <a:buFont typeface="Wingdings" panose="05000000000000000000" pitchFamily="2" charset="2"/>
              <a:buNone/>
            </a:pPr>
            <a:r>
              <a:rPr lang="en-US" altLang="en-US" sz="2800" dirty="0" smtClean="0">
                <a:latin typeface="Times New Roman" panose="02020603050405020304" pitchFamily="18" charset="0"/>
              </a:rPr>
              <a:t>=</a:t>
            </a:r>
            <a:r>
              <a:rPr lang="en-US" altLang="en-US" sz="2000" dirty="0" smtClean="0">
                <a:latin typeface="Times New Roman" panose="02020603050405020304" pitchFamily="18" charset="0"/>
              </a:rPr>
              <a:t>Average(B4:D4)</a:t>
            </a:r>
          </a:p>
          <a:p>
            <a:pPr eaLnBrk="1" hangingPunct="1">
              <a:buFont typeface="Wingdings" panose="05000000000000000000" pitchFamily="2" charset="2"/>
              <a:buNone/>
            </a:pPr>
            <a:r>
              <a:rPr lang="en-US" altLang="en-US" sz="2000" dirty="0" smtClean="0"/>
              <a:t>=(49+66)/2</a:t>
            </a:r>
          </a:p>
          <a:p>
            <a:pPr eaLnBrk="1" hangingPunct="1">
              <a:buFont typeface="Wingdings" panose="05000000000000000000" pitchFamily="2" charset="2"/>
              <a:buNone/>
            </a:pPr>
            <a:r>
              <a:rPr lang="en-US" altLang="en-US" sz="2000" dirty="0" smtClean="0"/>
              <a:t>=57.5</a:t>
            </a:r>
          </a:p>
          <a:p>
            <a:pPr eaLnBrk="1" hangingPunct="1">
              <a:spcBef>
                <a:spcPct val="0"/>
              </a:spcBef>
              <a:buFont typeface="Wingdings" panose="05000000000000000000" pitchFamily="2" charset="2"/>
              <a:buNone/>
            </a:pPr>
            <a:r>
              <a:rPr lang="en-US" altLang="en-US" sz="2000" dirty="0" smtClean="0">
                <a:latin typeface="Times New Roman" panose="02020603050405020304" pitchFamily="18" charset="0"/>
              </a:rPr>
              <a:t>Average(B2:D2)</a:t>
            </a:r>
          </a:p>
          <a:p>
            <a:pPr eaLnBrk="1" hangingPunct="1">
              <a:buFont typeface="Wingdings" panose="05000000000000000000" pitchFamily="2" charset="2"/>
              <a:buNone/>
            </a:pPr>
            <a:r>
              <a:rPr lang="en-US" altLang="en-US" sz="2000" dirty="0" smtClean="0"/>
              <a:t>=(67+67+45)/3</a:t>
            </a:r>
          </a:p>
          <a:p>
            <a:pPr eaLnBrk="1" hangingPunct="1">
              <a:buFont typeface="Wingdings" panose="05000000000000000000" pitchFamily="2" charset="2"/>
              <a:buNone/>
            </a:pPr>
            <a:r>
              <a:rPr lang="en-US" altLang="en-US" sz="2000" dirty="0" smtClean="0"/>
              <a:t>=59.66	</a:t>
            </a:r>
          </a:p>
          <a:p>
            <a:pPr eaLnBrk="1" hangingPunct="1">
              <a:buFont typeface="Wingdings" panose="05000000000000000000" pitchFamily="2" charset="2"/>
              <a:buNone/>
            </a:pPr>
            <a:endParaRPr lang="en-US" altLang="en-US" sz="2000" dirty="0" smtClean="0"/>
          </a:p>
        </p:txBody>
      </p:sp>
      <p:sp>
        <p:nvSpPr>
          <p:cNvPr id="3891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4C4548-230C-4077-8EA4-1CEA0E6D6858}" type="slidenum">
              <a:rPr lang="en-US" altLang="en-US" smtClean="0">
                <a:solidFill>
                  <a:srgbClr val="FFFFFF"/>
                </a:solidFill>
                <a:latin typeface="Franklin Gothic Book" panose="020B0503020102020204" pitchFamily="34" charset="0"/>
              </a:rPr>
              <a:pPr/>
              <a:t>4</a:t>
            </a:fld>
            <a:endParaRPr lang="en-US" altLang="en-US" smtClean="0">
              <a:solidFill>
                <a:srgbClr val="FFFFFF"/>
              </a:solidFill>
              <a:latin typeface="Franklin Gothic Book" panose="020B0503020102020204" pitchFamily="34" charset="0"/>
            </a:endParaRPr>
          </a:p>
        </p:txBody>
      </p:sp>
      <p:graphicFrame>
        <p:nvGraphicFramePr>
          <p:cNvPr id="38917" name="Object 4"/>
          <p:cNvGraphicFramePr>
            <a:graphicFrameLocks noChangeAspect="1"/>
          </p:cNvGraphicFramePr>
          <p:nvPr>
            <p:extLst/>
          </p:nvPr>
        </p:nvGraphicFramePr>
        <p:xfrm>
          <a:off x="3006725" y="3308350"/>
          <a:ext cx="5816600" cy="1584325"/>
        </p:xfrm>
        <a:graphic>
          <a:graphicData uri="http://schemas.openxmlformats.org/presentationml/2006/ole">
            <mc:AlternateContent xmlns:mc="http://schemas.openxmlformats.org/markup-compatibility/2006">
              <mc:Choice xmlns:v="urn:schemas-microsoft-com:vml" Requires="v">
                <p:oleObj spid="_x0000_s3074" name="Bitmap Image" r:id="rId3" imgW="3952381" imgH="1076475" progId="Paint.Picture">
                  <p:embed/>
                </p:oleObj>
              </mc:Choice>
              <mc:Fallback>
                <p:oleObj name="Bitmap Image" r:id="rId3" imgW="3952381" imgH="107647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6725" y="3308350"/>
                        <a:ext cx="58166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8" name="Text Box 5"/>
          <p:cNvSpPr txBox="1">
            <a:spLocks noChangeArrowheads="1"/>
          </p:cNvSpPr>
          <p:nvPr/>
        </p:nvSpPr>
        <p:spPr bwMode="auto">
          <a:xfrm>
            <a:off x="2667000" y="5029200"/>
            <a:ext cx="62928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t>Note</a:t>
            </a:r>
            <a:r>
              <a:rPr lang="en-US" altLang="en-US"/>
              <a:t>: If an array or reference argument contains text, logical</a:t>
            </a:r>
          </a:p>
          <a:p>
            <a:r>
              <a:rPr lang="en-US" altLang="en-US"/>
              <a:t> values, or empty cells, those values are ignored; however,</a:t>
            </a:r>
          </a:p>
          <a:p>
            <a:r>
              <a:rPr lang="en-US" altLang="en-US"/>
              <a:t> cells with the value zero are included. </a:t>
            </a:r>
          </a:p>
          <a:p>
            <a:endParaRPr lang="en-US" altLang="en-US"/>
          </a:p>
        </p:txBody>
      </p:sp>
    </p:spTree>
    <p:extLst>
      <p:ext uri="{BB962C8B-B14F-4D97-AF65-F5344CB8AC3E}">
        <p14:creationId xmlns:p14="http://schemas.microsoft.com/office/powerpoint/2010/main" val="15715785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smtClean="0"/>
              <a:t>Averagea(value1,value2,…)</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1F7C41-1D08-449E-B28B-40D5E4CA387F}" type="slidenum">
              <a:rPr lang="en-US" altLang="en-US" smtClean="0">
                <a:solidFill>
                  <a:srgbClr val="FFFFFF"/>
                </a:solidFill>
                <a:latin typeface="Franklin Gothic Book" panose="020B0503020102020204" pitchFamily="34" charset="0"/>
              </a:rPr>
              <a:pPr/>
              <a:t>5</a:t>
            </a:fld>
            <a:endParaRPr lang="en-US" altLang="en-US" smtClean="0">
              <a:solidFill>
                <a:srgbClr val="FFFFFF"/>
              </a:solidFill>
              <a:latin typeface="Franklin Gothic Book" panose="020B0503020102020204" pitchFamily="34" charset="0"/>
            </a:endParaRPr>
          </a:p>
        </p:txBody>
      </p:sp>
      <p:sp>
        <p:nvSpPr>
          <p:cNvPr id="39940" name="Rectangle 3"/>
          <p:cNvSpPr>
            <a:spLocks noGrp="1" noChangeArrowheads="1"/>
          </p:cNvSpPr>
          <p:nvPr>
            <p:ph sz="quarter" idx="1"/>
          </p:nvPr>
        </p:nvSpPr>
        <p:spPr/>
        <p:txBody>
          <a:bodyPr/>
          <a:lstStyle/>
          <a:p>
            <a:pPr eaLnBrk="1" hangingPunct="1">
              <a:spcBef>
                <a:spcPct val="0"/>
              </a:spcBef>
              <a:buFont typeface="Wingdings" panose="05000000000000000000" pitchFamily="2" charset="2"/>
              <a:buNone/>
            </a:pPr>
            <a:r>
              <a:rPr lang="en-US" altLang="en-US" sz="2000" smtClean="0">
                <a:latin typeface="Times New Roman" panose="02020603050405020304" pitchFamily="18" charset="0"/>
              </a:rPr>
              <a:t>Calculates the average (arithmetic mean) of the values in the list of arguments. In addition to numbers, text and logical values such as TRUE and FALSE are included in the calculation.</a:t>
            </a:r>
          </a:p>
          <a:p>
            <a:pPr eaLnBrk="1" hangingPunct="1">
              <a:spcBef>
                <a:spcPct val="0"/>
              </a:spcBef>
              <a:buFont typeface="Wingdings" panose="05000000000000000000" pitchFamily="2" charset="2"/>
              <a:buNone/>
            </a:pPr>
            <a:r>
              <a:rPr lang="en-US" altLang="en-US" sz="2000" b="1" smtClean="0">
                <a:latin typeface="Times New Roman" panose="02020603050405020304" pitchFamily="18" charset="0"/>
              </a:rPr>
              <a:t>Syntax</a:t>
            </a:r>
            <a:endParaRPr lang="en-US" altLang="en-US" sz="2000" smtClean="0">
              <a:latin typeface="Times New Roman" panose="02020603050405020304" pitchFamily="18" charset="0"/>
            </a:endParaRPr>
          </a:p>
          <a:p>
            <a:pPr eaLnBrk="1" hangingPunct="1">
              <a:spcBef>
                <a:spcPct val="0"/>
              </a:spcBef>
              <a:buFont typeface="Wingdings" panose="05000000000000000000" pitchFamily="2" charset="2"/>
              <a:buNone/>
            </a:pPr>
            <a:r>
              <a:rPr lang="en-US" altLang="en-US" sz="2000" b="1" smtClean="0">
                <a:latin typeface="Times New Roman" panose="02020603050405020304" pitchFamily="18" charset="0"/>
              </a:rPr>
              <a:t>AVERAGEA</a:t>
            </a:r>
            <a:r>
              <a:rPr lang="en-US" altLang="en-US" sz="2000" smtClean="0">
                <a:latin typeface="Times New Roman" panose="02020603050405020304" pitchFamily="18" charset="0"/>
              </a:rPr>
              <a:t>(</a:t>
            </a:r>
            <a:r>
              <a:rPr lang="en-US" altLang="en-US" sz="2000" b="1" smtClean="0">
                <a:latin typeface="Times New Roman" panose="02020603050405020304" pitchFamily="18" charset="0"/>
              </a:rPr>
              <a:t>value1</a:t>
            </a:r>
            <a:r>
              <a:rPr lang="en-US" altLang="en-US" sz="2000" smtClean="0">
                <a:latin typeface="Times New Roman" panose="02020603050405020304" pitchFamily="18" charset="0"/>
              </a:rPr>
              <a:t>,value2,...)</a:t>
            </a:r>
          </a:p>
          <a:p>
            <a:pPr eaLnBrk="1" hangingPunct="1">
              <a:spcBef>
                <a:spcPct val="0"/>
              </a:spcBef>
              <a:buFont typeface="Wingdings" panose="05000000000000000000" pitchFamily="2" charset="2"/>
              <a:buNone/>
            </a:pPr>
            <a:endParaRPr lang="en-US" altLang="en-US" sz="2000" smtClean="0">
              <a:latin typeface="Times New Roman" panose="02020603050405020304" pitchFamily="18" charset="0"/>
            </a:endParaRPr>
          </a:p>
          <a:p>
            <a:pPr eaLnBrk="1" hangingPunct="1">
              <a:spcBef>
                <a:spcPct val="0"/>
              </a:spcBef>
              <a:buFont typeface="Wingdings" panose="05000000000000000000" pitchFamily="2" charset="2"/>
              <a:buNone/>
            </a:pPr>
            <a:r>
              <a:rPr lang="en-US" altLang="en-US" sz="2000" smtClean="0">
                <a:latin typeface="Times New Roman" panose="02020603050405020304" pitchFamily="18" charset="0"/>
              </a:rPr>
              <a:t>Average(B4:D4)</a:t>
            </a:r>
          </a:p>
          <a:p>
            <a:pPr eaLnBrk="1" hangingPunct="1">
              <a:buFont typeface="Wingdings" panose="05000000000000000000" pitchFamily="2" charset="2"/>
              <a:buNone/>
            </a:pPr>
            <a:r>
              <a:rPr lang="en-US" altLang="en-US" sz="2000" smtClean="0"/>
              <a:t>=(49+66)/3</a:t>
            </a:r>
          </a:p>
          <a:p>
            <a:pPr eaLnBrk="1" hangingPunct="1">
              <a:buFont typeface="Wingdings" panose="05000000000000000000" pitchFamily="2" charset="2"/>
              <a:buNone/>
            </a:pPr>
            <a:r>
              <a:rPr lang="en-US" altLang="en-US" sz="2000" smtClean="0"/>
              <a:t>=38.333</a:t>
            </a:r>
          </a:p>
          <a:p>
            <a:pPr eaLnBrk="1" hangingPunct="1">
              <a:spcBef>
                <a:spcPct val="0"/>
              </a:spcBef>
              <a:buFont typeface="Wingdings" panose="05000000000000000000" pitchFamily="2" charset="2"/>
              <a:buNone/>
            </a:pPr>
            <a:r>
              <a:rPr lang="en-US" altLang="en-US" sz="2000" smtClean="0">
                <a:latin typeface="Times New Roman" panose="02020603050405020304" pitchFamily="18" charset="0"/>
              </a:rPr>
              <a:t>Average(B2:D2)</a:t>
            </a:r>
          </a:p>
          <a:p>
            <a:pPr eaLnBrk="1" hangingPunct="1">
              <a:buFont typeface="Wingdings" panose="05000000000000000000" pitchFamily="2" charset="2"/>
              <a:buNone/>
            </a:pPr>
            <a:r>
              <a:rPr lang="en-US" altLang="en-US" sz="2000" smtClean="0"/>
              <a:t>=(67+67+45)/3</a:t>
            </a:r>
          </a:p>
          <a:p>
            <a:pPr eaLnBrk="1" hangingPunct="1">
              <a:buFont typeface="Wingdings" panose="05000000000000000000" pitchFamily="2" charset="2"/>
              <a:buNone/>
            </a:pPr>
            <a:r>
              <a:rPr lang="en-US" altLang="en-US" sz="2000" smtClean="0"/>
              <a:t>=59.66	</a:t>
            </a:r>
          </a:p>
          <a:p>
            <a:pPr eaLnBrk="1" hangingPunct="1"/>
            <a:endParaRPr lang="en-US" altLang="en-US" sz="2000" smtClean="0"/>
          </a:p>
        </p:txBody>
      </p:sp>
      <p:graphicFrame>
        <p:nvGraphicFramePr>
          <p:cNvPr id="39941" name="Object 4"/>
          <p:cNvGraphicFramePr>
            <a:graphicFrameLocks noChangeAspect="1"/>
          </p:cNvGraphicFramePr>
          <p:nvPr/>
        </p:nvGraphicFramePr>
        <p:xfrm>
          <a:off x="2667000" y="3962400"/>
          <a:ext cx="5867400" cy="1524000"/>
        </p:xfrm>
        <a:graphic>
          <a:graphicData uri="http://schemas.openxmlformats.org/presentationml/2006/ole">
            <mc:AlternateContent xmlns:mc="http://schemas.openxmlformats.org/markup-compatibility/2006">
              <mc:Choice xmlns:v="urn:schemas-microsoft-com:vml" Requires="v">
                <p:oleObj spid="_x0000_s4098" name="Bitmap Image" r:id="rId3" imgW="4877481" imgH="895238" progId="Paint.Picture">
                  <p:embed/>
                </p:oleObj>
              </mc:Choice>
              <mc:Fallback>
                <p:oleObj name="Bitmap Image" r:id="rId3" imgW="4877481" imgH="89523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962400"/>
                        <a:ext cx="58674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455831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82316" y="107449"/>
            <a:ext cx="7772400" cy="1143000"/>
          </a:xfrm>
        </p:spPr>
        <p:txBody>
          <a:bodyPr/>
          <a:lstStyle/>
          <a:p>
            <a:pPr eaLnBrk="1" hangingPunct="1"/>
            <a:r>
              <a:rPr lang="en-US" altLang="en-US" dirty="0" smtClean="0"/>
              <a:t>Count Function</a:t>
            </a:r>
          </a:p>
        </p:txBody>
      </p:sp>
      <p:sp>
        <p:nvSpPr>
          <p:cNvPr id="4096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1469DA9-649A-4DDA-A8AC-9FC567A25E5F}" type="slidenum">
              <a:rPr lang="en-US" altLang="en-US" smtClean="0">
                <a:solidFill>
                  <a:srgbClr val="FFFFFF"/>
                </a:solidFill>
                <a:latin typeface="Franklin Gothic Book" panose="020B0503020102020204" pitchFamily="34" charset="0"/>
              </a:rPr>
              <a:pPr/>
              <a:t>6</a:t>
            </a:fld>
            <a:endParaRPr lang="en-US" altLang="en-US" smtClean="0">
              <a:solidFill>
                <a:srgbClr val="FFFFFF"/>
              </a:solidFill>
              <a:latin typeface="Franklin Gothic Book" panose="020B0503020102020204" pitchFamily="34" charset="0"/>
            </a:endParaRPr>
          </a:p>
        </p:txBody>
      </p:sp>
      <p:sp>
        <p:nvSpPr>
          <p:cNvPr id="40964" name="Rectangle 3"/>
          <p:cNvSpPr>
            <a:spLocks noChangeArrowheads="1"/>
          </p:cNvSpPr>
          <p:nvPr/>
        </p:nvSpPr>
        <p:spPr bwMode="auto">
          <a:xfrm>
            <a:off x="53975" y="1374775"/>
            <a:ext cx="8763000"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584" tIns="0" rIns="0" bIns="0">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2000"/>
              <a:t>Counts the number of chosen data in a range of cells </a:t>
            </a:r>
          </a:p>
          <a:p>
            <a:pPr eaLnBrk="1" hangingPunct="1"/>
            <a:r>
              <a:rPr lang="en-US" altLang="en-US" sz="2000" b="1">
                <a:latin typeface="Times New Roman" panose="02020603050405020304" pitchFamily="18" charset="0"/>
                <a:cs typeface="Times New Roman" panose="02020603050405020304" pitchFamily="18" charset="0"/>
              </a:rPr>
              <a:t>Syntax:</a:t>
            </a:r>
          </a:p>
          <a:p>
            <a:pPr eaLnBrk="1" hangingPunct="1"/>
            <a:r>
              <a:rPr lang="en-US" altLang="en-US" sz="2000" b="1">
                <a:latin typeface="Times New Roman" panose="02020603050405020304" pitchFamily="18" charset="0"/>
                <a:cs typeface="Times New Roman" panose="02020603050405020304" pitchFamily="18" charset="0"/>
              </a:rPr>
              <a:t>= COUNT(data range)</a:t>
            </a:r>
          </a:p>
          <a:p>
            <a:r>
              <a:rPr lang="en-US" altLang="en-US" sz="2000" b="1"/>
              <a:t>COUNT Function Rules:</a:t>
            </a:r>
          </a:p>
          <a:p>
            <a:pPr lvl="1"/>
            <a:r>
              <a:rPr lang="en-US" altLang="en-US" sz="2000">
                <a:solidFill>
                  <a:srgbClr val="7030A0"/>
                </a:solidFill>
              </a:rPr>
              <a:t>It only counts cells containing numbers</a:t>
            </a:r>
          </a:p>
          <a:p>
            <a:pPr lvl="1"/>
            <a:r>
              <a:rPr lang="en-US" altLang="en-US" sz="2000">
                <a:solidFill>
                  <a:srgbClr val="7030A0"/>
                </a:solidFill>
              </a:rPr>
              <a:t>It ignores blank cells</a:t>
            </a:r>
          </a:p>
          <a:p>
            <a:pPr lvl="1"/>
            <a:r>
              <a:rPr lang="en-US" altLang="en-US" sz="2000">
                <a:solidFill>
                  <a:srgbClr val="7030A0"/>
                </a:solidFill>
              </a:rPr>
              <a:t>It ignores cells containing anything but a number</a:t>
            </a:r>
          </a:p>
          <a:p>
            <a:pPr eaLnBrk="1" hangingPunct="1"/>
            <a:r>
              <a:rPr lang="en-US" altLang="en-US" sz="2000" b="1">
                <a:latin typeface="Times New Roman" panose="02020603050405020304" pitchFamily="18" charset="0"/>
                <a:cs typeface="Times New Roman" panose="02020603050405020304" pitchFamily="18" charset="0"/>
              </a:rPr>
              <a:t>Syntax:</a:t>
            </a:r>
          </a:p>
          <a:p>
            <a:pPr eaLnBrk="1" hangingPunct="1"/>
            <a:r>
              <a:rPr lang="en-US" altLang="en-US" sz="2000" b="1">
                <a:latin typeface="Times New Roman" panose="02020603050405020304" pitchFamily="18" charset="0"/>
                <a:cs typeface="Times New Roman" panose="02020603050405020304" pitchFamily="18" charset="0"/>
              </a:rPr>
              <a:t> =COUNTA(data range)</a:t>
            </a:r>
          </a:p>
          <a:p>
            <a:pPr eaLnBrk="1" hangingPunct="1"/>
            <a:endParaRPr lang="en-US" altLang="en-US" sz="2000" b="1">
              <a:latin typeface="Times New Roman" panose="02020603050405020304" pitchFamily="18" charset="0"/>
              <a:cs typeface="Times New Roman" panose="02020603050405020304" pitchFamily="18" charset="0"/>
            </a:endParaRPr>
          </a:p>
          <a:p>
            <a:r>
              <a:rPr lang="en-US" altLang="en-US" sz="2000" b="1"/>
              <a:t> COUNTA function</a:t>
            </a:r>
            <a:r>
              <a:rPr lang="en-US" altLang="en-US" sz="2000"/>
              <a:t> counts cells that are not empty.</a:t>
            </a:r>
          </a:p>
          <a:p>
            <a:r>
              <a:rPr lang="en-US" altLang="en-US" sz="2000"/>
              <a:t>That means it includes error values, like #VALUE!, numbers </a:t>
            </a:r>
          </a:p>
          <a:p>
            <a:pPr eaLnBrk="1" hangingPunct="1"/>
            <a:r>
              <a:rPr lang="en-US" altLang="en-US" sz="2000">
                <a:latin typeface="Tahoma" panose="020B0604030504040204" pitchFamily="34" charset="0"/>
                <a:cs typeface="Times New Roman" panose="02020603050405020304" pitchFamily="18" charset="0"/>
              </a:rPr>
              <a:t>, logical values or text. </a:t>
            </a:r>
          </a:p>
          <a:p>
            <a:pPr eaLnBrk="1" hangingPunct="1"/>
            <a:endParaRPr lang="en-US" altLang="en-US" sz="2400">
              <a:latin typeface="Tahoma" panose="020B0604030504040204" pitchFamily="34" charset="0"/>
            </a:endParaRPr>
          </a:p>
          <a:p>
            <a:endParaRPr lang="en-US" altLang="en-US" sz="2400">
              <a:cs typeface="Times New Roman" panose="02020603050405020304" pitchFamily="18" charset="0"/>
            </a:endParaRPr>
          </a:p>
          <a:p>
            <a:pPr lvl="1"/>
            <a:endParaRPr lang="en-US" altLang="en-US" sz="2400">
              <a:latin typeface="Tahoma" panose="020B0604030504040204" pitchFamily="34" charset="0"/>
            </a:endParaRPr>
          </a:p>
          <a:p>
            <a:pPr eaLnBrk="1" hangingPunct="1"/>
            <a:endParaRPr lang="en-US" altLang="en-US" sz="2000" u="sng">
              <a:latin typeface="Times New Roman" panose="02020603050405020304" pitchFamily="18" charset="0"/>
              <a:cs typeface="Times New Roman" panose="02020603050405020304" pitchFamily="18" charset="0"/>
            </a:endParaRPr>
          </a:p>
          <a:p>
            <a:endParaRPr lang="en-US" altLang="en-US" sz="2400">
              <a:latin typeface="Tahoma" panose="020B0604030504040204" pitchFamily="34" charset="0"/>
            </a:endParaRPr>
          </a:p>
        </p:txBody>
      </p:sp>
      <p:sp>
        <p:nvSpPr>
          <p:cNvPr id="40965" name="Rectangle 45"/>
          <p:cNvSpPr>
            <a:spLocks noChangeArrowheads="1"/>
          </p:cNvSpPr>
          <p:nvPr/>
        </p:nvSpPr>
        <p:spPr bwMode="auto">
          <a:xfrm>
            <a:off x="1322388" y="5622925"/>
            <a:ext cx="37338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ahoma" panose="020B0604030504040204" pitchFamily="34" charset="0"/>
                <a:cs typeface="Times New Roman" panose="02020603050405020304" pitchFamily="18" charset="0"/>
              </a:rPr>
              <a:t>=COUNTA(A1:A6)=5</a:t>
            </a:r>
          </a:p>
          <a:p>
            <a:pPr eaLnBrk="1" hangingPunct="1"/>
            <a:endParaRPr lang="en-US" altLang="en-US" sz="2000">
              <a:latin typeface="Tahoma" panose="020B0604030504040204" pitchFamily="34" charset="0"/>
              <a:cs typeface="Times New Roman" panose="02020603050405020304" pitchFamily="18" charset="0"/>
            </a:endParaRPr>
          </a:p>
          <a:p>
            <a:pPr eaLnBrk="1" hangingPunct="1"/>
            <a:r>
              <a:rPr lang="en-US" altLang="en-US" sz="2000">
                <a:latin typeface="Tahoma" panose="020B0604030504040204" pitchFamily="34" charset="0"/>
                <a:cs typeface="Times New Roman" panose="02020603050405020304" pitchFamily="18" charset="0"/>
              </a:rPr>
              <a:t>=COUNT(A1:A6)=3</a:t>
            </a:r>
          </a:p>
          <a:p>
            <a:endParaRPr lang="en-US" altLang="en-US" sz="2400" b="1">
              <a:latin typeface="Tahoma" panose="020B0604030504040204" pitchFamily="34" charset="0"/>
            </a:endParaRPr>
          </a:p>
        </p:txBody>
      </p:sp>
      <p:pic>
        <p:nvPicPr>
          <p:cNvPr id="40966" name="Picture 1"/>
          <p:cNvPicPr>
            <a:picLocks noChangeAspect="1"/>
          </p:cNvPicPr>
          <p:nvPr/>
        </p:nvPicPr>
        <p:blipFill>
          <a:blip r:embed="rId2">
            <a:extLst>
              <a:ext uri="{28A0092B-C50C-407E-A947-70E740481C1C}">
                <a14:useLocalDpi xmlns:a14="http://schemas.microsoft.com/office/drawing/2010/main" val="0"/>
              </a:ext>
            </a:extLst>
          </a:blip>
          <a:srcRect l="220" t="23914" r="90994" b="45651"/>
          <a:stretch>
            <a:fillRect/>
          </a:stretch>
        </p:blipFill>
        <p:spPr bwMode="auto">
          <a:xfrm>
            <a:off x="7239000" y="1676400"/>
            <a:ext cx="1447800"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24655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0D9934-5DBE-4C31-9679-938E3E195138}" type="slidenum">
              <a:rPr lang="en-US" altLang="en-US" smtClean="0">
                <a:solidFill>
                  <a:srgbClr val="FFFFFF"/>
                </a:solidFill>
                <a:latin typeface="Franklin Gothic Book" panose="020B0503020102020204" pitchFamily="34" charset="0"/>
              </a:rPr>
              <a:pPr/>
              <a:t>7</a:t>
            </a:fld>
            <a:endParaRPr lang="en-US" altLang="en-US" smtClean="0">
              <a:solidFill>
                <a:srgbClr val="FFFFFF"/>
              </a:solidFill>
              <a:latin typeface="Franklin Gothic Book" panose="020B0503020102020204" pitchFamily="34" charset="0"/>
            </a:endParaRPr>
          </a:p>
        </p:txBody>
      </p:sp>
      <p:sp>
        <p:nvSpPr>
          <p:cNvPr id="41987" name="Rectangle 3"/>
          <p:cNvSpPr>
            <a:spLocks noGrp="1" noChangeArrowheads="1"/>
          </p:cNvSpPr>
          <p:nvPr>
            <p:ph sz="quarter" idx="1"/>
          </p:nvPr>
        </p:nvSpPr>
        <p:spPr>
          <a:xfrm>
            <a:off x="838200" y="381000"/>
            <a:ext cx="7772400" cy="4572000"/>
          </a:xfrm>
        </p:spPr>
        <p:txBody>
          <a:bodyPr/>
          <a:lstStyle/>
          <a:p>
            <a:pPr eaLnBrk="1" hangingPunct="1"/>
            <a:r>
              <a:rPr lang="en-US" altLang="en-US" b="1" smtClean="0">
                <a:cs typeface="Times New Roman" panose="02020603050405020304" pitchFamily="18" charset="0"/>
              </a:rPr>
              <a:t>MAX(range)</a:t>
            </a:r>
            <a:endParaRPr lang="en-US" altLang="en-US" smtClean="0">
              <a:cs typeface="Times New Roman" panose="02020603050405020304" pitchFamily="18" charset="0"/>
            </a:endParaRPr>
          </a:p>
          <a:p>
            <a:pPr eaLnBrk="1" hangingPunct="1"/>
            <a:r>
              <a:rPr lang="en-US" altLang="en-US" smtClean="0">
                <a:cs typeface="Times New Roman" panose="02020603050405020304" pitchFamily="18" charset="0"/>
              </a:rPr>
              <a:t>Maximum value in data range</a:t>
            </a:r>
          </a:p>
          <a:p>
            <a:pPr eaLnBrk="1" hangingPunct="1"/>
            <a:endParaRPr lang="en-US" altLang="en-US" smtClean="0"/>
          </a:p>
        </p:txBody>
      </p:sp>
      <p:pic>
        <p:nvPicPr>
          <p:cNvPr id="41988" name="Picture 4"/>
          <p:cNvPicPr>
            <a:picLocks noChangeAspect="1"/>
          </p:cNvPicPr>
          <p:nvPr/>
        </p:nvPicPr>
        <p:blipFill rotWithShape="1">
          <a:blip r:embed="rId2">
            <a:extLst>
              <a:ext uri="{28A0092B-C50C-407E-A947-70E740481C1C}">
                <a14:useLocalDpi xmlns:a14="http://schemas.microsoft.com/office/drawing/2010/main" val="0"/>
              </a:ext>
            </a:extLst>
          </a:blip>
          <a:srcRect l="16761" t="11699" r="33905" b="6068"/>
          <a:stretch/>
        </p:blipFill>
        <p:spPr bwMode="auto">
          <a:xfrm>
            <a:off x="1676400" y="2057400"/>
            <a:ext cx="5029200" cy="47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75178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algn="l" eaLnBrk="1" hangingPunct="1"/>
            <a:r>
              <a:rPr lang="en-US" altLang="en-US" sz="2400" b="1" dirty="0" smtClean="0">
                <a:cs typeface="Times New Roman" panose="02020603050405020304" pitchFamily="18" charset="0"/>
              </a:rPr>
              <a:t>=Min(range)</a:t>
            </a:r>
            <a:r>
              <a:rPr lang="en-US" altLang="en-US" sz="2400" dirty="0" smtClean="0">
                <a:cs typeface="Times New Roman" panose="02020603050405020304" pitchFamily="18" charset="0"/>
              </a:rPr>
              <a:t/>
            </a:r>
            <a:br>
              <a:rPr lang="en-US" altLang="en-US" sz="2400" dirty="0" smtClean="0">
                <a:cs typeface="Times New Roman" panose="02020603050405020304" pitchFamily="18" charset="0"/>
              </a:rPr>
            </a:br>
            <a:r>
              <a:rPr lang="en-US" altLang="en-US" sz="2400" dirty="0" smtClean="0">
                <a:cs typeface="Times New Roman" panose="02020603050405020304" pitchFamily="18" charset="0"/>
              </a:rPr>
              <a:t>Minimum value in data range</a:t>
            </a:r>
            <a:endParaRPr lang="en-US" sz="2400" dirty="0" smtClean="0"/>
          </a:p>
        </p:txBody>
      </p:sp>
      <p:sp>
        <p:nvSpPr>
          <p:cNvPr id="43011" name="Content Placeholder 2"/>
          <p:cNvSpPr>
            <a:spLocks noGrp="1"/>
          </p:cNvSpPr>
          <p:nvPr>
            <p:ph sz="quarter" idx="1"/>
          </p:nvPr>
        </p:nvSpPr>
        <p:spPr/>
        <p:txBody>
          <a:bodyPr/>
          <a:lstStyle/>
          <a:p>
            <a:endParaRPr lang="en-US" smtClean="0"/>
          </a:p>
        </p:txBody>
      </p:sp>
      <p:sp>
        <p:nvSpPr>
          <p:cNvPr id="43012"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0A5BEB-30D9-47BB-8484-B8C567B817C4}" type="slidenum">
              <a:rPr lang="en-US" altLang="en-US" smtClean="0">
                <a:solidFill>
                  <a:srgbClr val="FFFFFF"/>
                </a:solidFill>
                <a:latin typeface="Franklin Gothic Book" panose="020B0503020102020204" pitchFamily="34" charset="0"/>
              </a:rPr>
              <a:pPr/>
              <a:t>8</a:t>
            </a:fld>
            <a:endParaRPr lang="en-US" altLang="en-US" smtClean="0">
              <a:solidFill>
                <a:srgbClr val="FFFFFF"/>
              </a:solidFill>
              <a:latin typeface="Franklin Gothic Book" panose="020B0503020102020204" pitchFamily="34" charset="0"/>
            </a:endParaRPr>
          </a:p>
        </p:txBody>
      </p:sp>
      <p:pic>
        <p:nvPicPr>
          <p:cNvPr id="43013" name="Picture 4"/>
          <p:cNvPicPr>
            <a:picLocks noChangeAspect="1"/>
          </p:cNvPicPr>
          <p:nvPr/>
        </p:nvPicPr>
        <p:blipFill rotWithShape="1">
          <a:blip r:embed="rId2">
            <a:extLst>
              <a:ext uri="{28A0092B-C50C-407E-A947-70E740481C1C}">
                <a14:useLocalDpi xmlns:a14="http://schemas.microsoft.com/office/drawing/2010/main" val="0"/>
              </a:ext>
            </a:extLst>
          </a:blip>
          <a:srcRect l="16293" t="6797" r="22607" b="6771"/>
          <a:stretch/>
        </p:blipFill>
        <p:spPr bwMode="auto">
          <a:xfrm>
            <a:off x="457200" y="1743536"/>
            <a:ext cx="6400800" cy="509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7679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smtClean="0"/>
              <a:t>If function</a:t>
            </a:r>
          </a:p>
        </p:txBody>
      </p:sp>
      <p:sp>
        <p:nvSpPr>
          <p:cNvPr id="4403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41AE5A-0C4E-4AC0-88E4-B1B25B4D1D2A}" type="slidenum">
              <a:rPr lang="en-US" altLang="en-US" smtClean="0">
                <a:solidFill>
                  <a:srgbClr val="FFFFFF"/>
                </a:solidFill>
                <a:latin typeface="Franklin Gothic Book" panose="020B0503020102020204" pitchFamily="34" charset="0"/>
              </a:rPr>
              <a:pPr/>
              <a:t>9</a:t>
            </a:fld>
            <a:endParaRPr lang="en-US" altLang="en-US" smtClean="0">
              <a:solidFill>
                <a:srgbClr val="FFFFFF"/>
              </a:solidFill>
              <a:latin typeface="Franklin Gothic Book" panose="020B0503020102020204" pitchFamily="34" charset="0"/>
            </a:endParaRPr>
          </a:p>
        </p:txBody>
      </p:sp>
      <p:sp>
        <p:nvSpPr>
          <p:cNvPr id="44036" name="Rectangle 3"/>
          <p:cNvSpPr>
            <a:spLocks noGrp="1" noChangeArrowheads="1"/>
          </p:cNvSpPr>
          <p:nvPr>
            <p:ph sz="quarter" idx="1"/>
          </p:nvPr>
        </p:nvSpPr>
        <p:spPr/>
        <p:txBody>
          <a:bodyPr/>
          <a:lstStyle/>
          <a:p>
            <a:pPr eaLnBrk="1" hangingPunct="1"/>
            <a:r>
              <a:rPr lang="en-US" altLang="en-US" smtClean="0"/>
              <a:t>The if function is used to evaluate a condition and to perform one of two operations depend on whether the condition evaluates to TRUE or FALSE.</a:t>
            </a:r>
          </a:p>
          <a:p>
            <a:pPr eaLnBrk="1" hangingPunct="1"/>
            <a:r>
              <a:rPr lang="en-US" altLang="en-US" smtClean="0"/>
              <a:t>Syntax:</a:t>
            </a:r>
          </a:p>
          <a:p>
            <a:pPr marL="319088" lvl="1" indent="0" eaLnBrk="1" hangingPunct="1">
              <a:buFont typeface="Wingdings 2" panose="05020102010507070707" pitchFamily="18" charset="2"/>
              <a:buNone/>
            </a:pPr>
            <a:r>
              <a:rPr lang="en-US" altLang="en-US" smtClean="0"/>
              <a:t>=IF(logical_test, value_if_true, value_if_false)</a:t>
            </a:r>
          </a:p>
        </p:txBody>
      </p:sp>
    </p:spTree>
    <p:extLst>
      <p:ext uri="{BB962C8B-B14F-4D97-AF65-F5344CB8AC3E}">
        <p14:creationId xmlns:p14="http://schemas.microsoft.com/office/powerpoint/2010/main" val="2593500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endParaRPr lang="en-US" smtClean="0"/>
          </a:p>
        </p:txBody>
      </p:sp>
      <p:pic>
        <p:nvPicPr>
          <p:cNvPr id="45059"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rcRect l="16667" t="9892" r="15686" b="8150"/>
          <a:stretch>
            <a:fillRect/>
          </a:stretch>
        </p:blipFill>
        <p:spPr>
          <a:xfrm>
            <a:off x="374650" y="314325"/>
            <a:ext cx="8712200" cy="5934075"/>
          </a:xfrm>
        </p:spPr>
      </p:pic>
      <p:sp>
        <p:nvSpPr>
          <p:cNvPr id="4506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E3DE61-D70C-4352-B12A-FC6CD910EC93}" type="slidenum">
              <a:rPr lang="en-US" altLang="en-US" smtClean="0">
                <a:solidFill>
                  <a:srgbClr val="FFFFFF"/>
                </a:solidFill>
                <a:latin typeface="Franklin Gothic Book" panose="020B0503020102020204" pitchFamily="34" charset="0"/>
              </a:rPr>
              <a:pPr/>
              <a:t>10</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32358200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smtClean="0"/>
              <a:t>Example</a:t>
            </a:r>
          </a:p>
        </p:txBody>
      </p:sp>
      <p:sp>
        <p:nvSpPr>
          <p:cNvPr id="460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5962B5-4D02-4AD2-9645-F29B6E56832F}" type="slidenum">
              <a:rPr lang="en-US" altLang="en-US" smtClean="0">
                <a:solidFill>
                  <a:srgbClr val="FFFFFF"/>
                </a:solidFill>
                <a:latin typeface="Franklin Gothic Book" panose="020B0503020102020204" pitchFamily="34" charset="0"/>
              </a:rPr>
              <a:pPr/>
              <a:t>11</a:t>
            </a:fld>
            <a:endParaRPr lang="en-US" altLang="en-US" smtClean="0">
              <a:solidFill>
                <a:srgbClr val="FFFFFF"/>
              </a:solidFill>
              <a:latin typeface="Franklin Gothic Book" panose="020B0503020102020204" pitchFamily="34" charset="0"/>
            </a:endParaRPr>
          </a:p>
        </p:txBody>
      </p:sp>
      <p:sp>
        <p:nvSpPr>
          <p:cNvPr id="46084" name="Rectangle 4"/>
          <p:cNvSpPr>
            <a:spLocks noGrp="1" noChangeArrowheads="1"/>
          </p:cNvSpPr>
          <p:nvPr>
            <p:ph sz="quarter" idx="1"/>
          </p:nvPr>
        </p:nvSpPr>
        <p:spPr>
          <a:xfrm>
            <a:off x="609600" y="1600200"/>
            <a:ext cx="4267200" cy="4419600"/>
          </a:xfrm>
        </p:spPr>
        <p:txBody>
          <a:bodyPr/>
          <a:lstStyle/>
          <a:p>
            <a:pPr eaLnBrk="1" hangingPunct="1">
              <a:lnSpc>
                <a:spcPct val="90000"/>
              </a:lnSpc>
            </a:pPr>
            <a:r>
              <a:rPr lang="en-US" altLang="en-US" sz="2800" smtClean="0"/>
              <a:t>If total expense are grated than the amount budget, you may want to display a warning. If not you would display the amount of money left in the budget.</a:t>
            </a:r>
          </a:p>
          <a:p>
            <a:pPr eaLnBrk="1" hangingPunct="1">
              <a:lnSpc>
                <a:spcPct val="90000"/>
              </a:lnSpc>
              <a:buFont typeface="Wingdings" panose="05000000000000000000" pitchFamily="2" charset="2"/>
              <a:buNone/>
            </a:pPr>
            <a:r>
              <a:rPr lang="en-US" altLang="en-US" sz="2800" smtClean="0"/>
              <a:t>Write the correct formula to express the given conditions.</a:t>
            </a:r>
          </a:p>
        </p:txBody>
      </p:sp>
      <p:graphicFrame>
        <p:nvGraphicFramePr>
          <p:cNvPr id="46085" name="Object 5"/>
          <p:cNvGraphicFramePr>
            <a:graphicFrameLocks noChangeAspect="1"/>
          </p:cNvGraphicFramePr>
          <p:nvPr>
            <p:extLst/>
          </p:nvPr>
        </p:nvGraphicFramePr>
        <p:xfrm>
          <a:off x="5110162" y="1636295"/>
          <a:ext cx="3576638" cy="4271963"/>
        </p:xfrm>
        <a:graphic>
          <a:graphicData uri="http://schemas.openxmlformats.org/presentationml/2006/ole">
            <mc:AlternateContent xmlns:mc="http://schemas.openxmlformats.org/markup-compatibility/2006">
              <mc:Choice xmlns:v="urn:schemas-microsoft-com:vml" Requires="v">
                <p:oleObj spid="_x0000_s5122" name="Bitmap Image" r:id="rId4" imgW="2305372" imgH="2752381" progId="Paint.Picture">
                  <p:embed/>
                </p:oleObj>
              </mc:Choice>
              <mc:Fallback>
                <p:oleObj name="Bitmap Image" r:id="rId4" imgW="2305372" imgH="2752381"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0162" y="1636295"/>
                        <a:ext cx="3576638" cy="427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Rectangle 1"/>
          <p:cNvSpPr/>
          <p:nvPr/>
        </p:nvSpPr>
        <p:spPr>
          <a:xfrm>
            <a:off x="7448299" y="5553659"/>
            <a:ext cx="1214438" cy="385763"/>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358753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762000" y="609600"/>
            <a:ext cx="7772400" cy="1143000"/>
          </a:xfrm>
        </p:spPr>
        <p:txBody>
          <a:bodyPr/>
          <a:lstStyle/>
          <a:p>
            <a:pPr eaLnBrk="1" hangingPunct="1"/>
            <a:r>
              <a:rPr lang="en-US" altLang="en-US" dirty="0" smtClean="0"/>
              <a:t>Nested if</a:t>
            </a:r>
          </a:p>
        </p:txBody>
      </p:sp>
      <p:sp>
        <p:nvSpPr>
          <p:cNvPr id="4813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6F8EA38-ECF3-4188-BE3B-2E2C388928ED}" type="slidenum">
              <a:rPr lang="en-US" altLang="en-US" smtClean="0">
                <a:solidFill>
                  <a:srgbClr val="FFFFFF"/>
                </a:solidFill>
                <a:latin typeface="Franklin Gothic Book" panose="020B0503020102020204" pitchFamily="34" charset="0"/>
              </a:rPr>
              <a:pPr/>
              <a:t>12</a:t>
            </a:fld>
            <a:endParaRPr lang="en-US" altLang="en-US" smtClean="0">
              <a:solidFill>
                <a:srgbClr val="FFFFFF"/>
              </a:solidFill>
              <a:latin typeface="Franklin Gothic Book" panose="020B0503020102020204" pitchFamily="34" charset="0"/>
            </a:endParaRPr>
          </a:p>
        </p:txBody>
      </p:sp>
      <p:sp>
        <p:nvSpPr>
          <p:cNvPr id="41988" name="Rectangle 3"/>
          <p:cNvSpPr>
            <a:spLocks noGrp="1" noChangeArrowheads="1"/>
          </p:cNvSpPr>
          <p:nvPr>
            <p:ph sz="quarter" idx="1"/>
          </p:nvPr>
        </p:nvSpPr>
        <p:spPr>
          <a:xfrm>
            <a:off x="609600" y="2286000"/>
            <a:ext cx="8077200" cy="4572000"/>
          </a:xfrm>
        </p:spPr>
        <p:txBody>
          <a:bodyPr/>
          <a:lstStyle/>
          <a:p>
            <a:pPr eaLnBrk="1" hangingPunct="1">
              <a:lnSpc>
                <a:spcPct val="90000"/>
              </a:lnSpc>
              <a:defRPr/>
            </a:pPr>
            <a:r>
              <a:rPr lang="en-US" altLang="en-US" sz="2800" dirty="0" smtClean="0"/>
              <a:t>Up to seven IF functions can be nested as </a:t>
            </a:r>
            <a:r>
              <a:rPr lang="en-US" altLang="en-US" sz="2800" dirty="0" err="1" smtClean="0"/>
              <a:t>value_if_true</a:t>
            </a:r>
            <a:r>
              <a:rPr lang="en-US" altLang="en-US" sz="2800" dirty="0" smtClean="0"/>
              <a:t> and </a:t>
            </a:r>
            <a:r>
              <a:rPr lang="en-US" altLang="en-US" sz="2800" dirty="0" err="1" smtClean="0"/>
              <a:t>value_if_false</a:t>
            </a:r>
            <a:r>
              <a:rPr lang="en-US" altLang="en-US" sz="2800" dirty="0" smtClean="0"/>
              <a:t> arguments to construct more elaborate tests.</a:t>
            </a:r>
          </a:p>
          <a:p>
            <a:pPr marL="0" indent="0" eaLnBrk="1" hangingPunct="1">
              <a:lnSpc>
                <a:spcPct val="90000"/>
              </a:lnSpc>
              <a:buFont typeface="Wingdings 2" panose="05020102010507070707" pitchFamily="18" charset="2"/>
              <a:buNone/>
              <a:defRPr/>
            </a:pPr>
            <a:r>
              <a:rPr lang="en-US" altLang="en-US" sz="2800" dirty="0" smtClean="0"/>
              <a:t>Two If syntax </a:t>
            </a:r>
          </a:p>
          <a:p>
            <a:pPr marL="0" indent="0" eaLnBrk="1" hangingPunct="1">
              <a:lnSpc>
                <a:spcPct val="90000"/>
              </a:lnSpc>
              <a:buFont typeface="Wingdings 2" panose="05020102010507070707" pitchFamily="18" charset="2"/>
              <a:buNone/>
              <a:defRPr/>
            </a:pPr>
            <a:r>
              <a:rPr lang="en-US" altLang="en-US" sz="2800" dirty="0" smtClean="0"/>
              <a:t>= IF (Cond 1, IF(Cond 2, X2, Y2)Y1) </a:t>
            </a:r>
          </a:p>
          <a:p>
            <a:pPr marL="0" indent="0" eaLnBrk="1" hangingPunct="1">
              <a:lnSpc>
                <a:spcPct val="90000"/>
              </a:lnSpc>
              <a:buFont typeface="Wingdings 2" panose="05020102010507070707" pitchFamily="18" charset="2"/>
              <a:buNone/>
              <a:defRPr/>
            </a:pPr>
            <a:r>
              <a:rPr lang="en-US" altLang="en-US" sz="2800" dirty="0" smtClean="0"/>
              <a:t> Three If syntax </a:t>
            </a:r>
          </a:p>
          <a:p>
            <a:pPr marL="0" indent="0" eaLnBrk="1" hangingPunct="1">
              <a:lnSpc>
                <a:spcPct val="90000"/>
              </a:lnSpc>
              <a:buFont typeface="Wingdings 2" panose="05020102010507070707" pitchFamily="18" charset="2"/>
              <a:buNone/>
              <a:defRPr/>
            </a:pPr>
            <a:r>
              <a:rPr lang="en-US" altLang="en-US" sz="2800" dirty="0" smtClean="0"/>
              <a:t> =IF(Cond1, IF(Cond2,IF(Cond3,X3,Y3),Y2),Y1) </a:t>
            </a:r>
          </a:p>
        </p:txBody>
      </p:sp>
    </p:spTree>
    <p:extLst>
      <p:ext uri="{BB962C8B-B14F-4D97-AF65-F5344CB8AC3E}">
        <p14:creationId xmlns:p14="http://schemas.microsoft.com/office/powerpoint/2010/main" val="20527017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Example</a:t>
            </a:r>
          </a:p>
        </p:txBody>
      </p:sp>
      <p:sp>
        <p:nvSpPr>
          <p:cNvPr id="3" name="Content Placeholder 2"/>
          <p:cNvSpPr>
            <a:spLocks noGrp="1"/>
          </p:cNvSpPr>
          <p:nvPr>
            <p:ph sz="quarter" idx="1"/>
          </p:nvPr>
        </p:nvSpPr>
        <p:spPr/>
        <p:txBody>
          <a:bodyPr/>
          <a:lstStyle/>
          <a:p>
            <a:pPr marL="0" indent="0" eaLnBrk="1" hangingPunct="1">
              <a:lnSpc>
                <a:spcPct val="90000"/>
              </a:lnSpc>
              <a:buFont typeface="Wingdings 2" panose="05020102010507070707" pitchFamily="18" charset="2"/>
              <a:buNone/>
              <a:defRPr/>
            </a:pPr>
            <a:endParaRPr lang="en-US" altLang="en-US" sz="2400" dirty="0"/>
          </a:p>
          <a:p>
            <a:pPr eaLnBrk="1" hangingPunct="1">
              <a:lnSpc>
                <a:spcPct val="90000"/>
              </a:lnSpc>
              <a:defRPr/>
            </a:pPr>
            <a:r>
              <a:rPr lang="en-US" altLang="en-US" sz="2400" dirty="0" err="1"/>
              <a:t>Dehiwala</a:t>
            </a:r>
            <a:r>
              <a:rPr lang="en-US" altLang="en-US" sz="2400" dirty="0"/>
              <a:t> Zoo gives a number of different discounts based on the age of the visitors. Senior Citizens(over 65 years) pay only Rs.25.00 per tickets. Children from 15</a:t>
            </a:r>
            <a:r>
              <a:rPr lang="en-US" altLang="en-US" sz="2400" baseline="30000" dirty="0"/>
              <a:t>th</a:t>
            </a:r>
            <a:r>
              <a:rPr lang="en-US" altLang="en-US" sz="2400" dirty="0"/>
              <a:t> to 5 years old are Rs.15.00 and children under 5 are free. All others are charged </a:t>
            </a:r>
            <a:r>
              <a:rPr lang="en-US" altLang="en-US" sz="2400" dirty="0" err="1"/>
              <a:t>Rs</a:t>
            </a:r>
            <a:r>
              <a:rPr lang="en-US" altLang="en-US" sz="2400" dirty="0"/>
              <a:t>. 50.00.</a:t>
            </a:r>
          </a:p>
          <a:p>
            <a:pPr>
              <a:defRPr/>
            </a:pPr>
            <a:endParaRPr lang="en-US" dirty="0"/>
          </a:p>
        </p:txBody>
      </p:sp>
      <p:sp>
        <p:nvSpPr>
          <p:cNvPr id="5018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5AE58C-78DF-4941-8593-BC34384E2569}" type="slidenum">
              <a:rPr lang="en-US" altLang="en-US" smtClean="0">
                <a:solidFill>
                  <a:srgbClr val="FFFFFF"/>
                </a:solidFill>
                <a:latin typeface="Franklin Gothic Book" panose="020B0503020102020204" pitchFamily="34" charset="0"/>
              </a:rPr>
              <a:pPr/>
              <a:t>13</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41557813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normAutofit fontScale="90000"/>
          </a:bodyPr>
          <a:lstStyle/>
          <a:p>
            <a:r>
              <a:rPr lang="en-US" smtClean="0"/>
              <a:t>Using compound conditions in IF functions</a:t>
            </a:r>
          </a:p>
        </p:txBody>
      </p:sp>
      <p:sp>
        <p:nvSpPr>
          <p:cNvPr id="3" name="Content Placeholder 2"/>
          <p:cNvSpPr>
            <a:spLocks noGrp="1"/>
          </p:cNvSpPr>
          <p:nvPr>
            <p:ph sz="quarter" idx="1"/>
          </p:nvPr>
        </p:nvSpPr>
        <p:spPr/>
        <p:txBody>
          <a:bodyPr>
            <a:normAutofit fontScale="92500" lnSpcReduction="10000"/>
          </a:bodyPr>
          <a:lstStyle/>
          <a:p>
            <a:pPr>
              <a:defRPr/>
            </a:pPr>
            <a:r>
              <a:rPr lang="en-US" dirty="0" smtClean="0"/>
              <a:t> Conditional logic can be compounded by including the and or </a:t>
            </a:r>
            <a:r>
              <a:rPr lang="en-US" dirty="0" err="1" smtClean="0"/>
              <a:t>or</a:t>
            </a:r>
            <a:r>
              <a:rPr lang="en-US" dirty="0" smtClean="0"/>
              <a:t> functions within the logical text argument of an if function. </a:t>
            </a:r>
          </a:p>
          <a:p>
            <a:pPr>
              <a:defRPr/>
            </a:pPr>
            <a:r>
              <a:rPr lang="en-US" dirty="0" smtClean="0"/>
              <a:t>The syntax of compound and function as follows (if all arguments are true) </a:t>
            </a:r>
          </a:p>
          <a:p>
            <a:pPr marL="0" indent="0">
              <a:buFont typeface="Wingdings 2" panose="05020102010507070707" pitchFamily="18" charset="2"/>
              <a:buNone/>
              <a:defRPr/>
            </a:pPr>
            <a:r>
              <a:rPr lang="en-US" dirty="0" smtClean="0"/>
              <a:t>= IF (AND(</a:t>
            </a:r>
            <a:r>
              <a:rPr lang="en-US" dirty="0" err="1" smtClean="0"/>
              <a:t>cond</a:t>
            </a:r>
            <a:r>
              <a:rPr lang="en-US" dirty="0" smtClean="0"/>
              <a:t> 1, </a:t>
            </a:r>
            <a:r>
              <a:rPr lang="en-US" dirty="0" err="1" smtClean="0"/>
              <a:t>cond</a:t>
            </a:r>
            <a:r>
              <a:rPr lang="en-US" dirty="0" smtClean="0"/>
              <a:t> 2,cond 3,----)X,Y)</a:t>
            </a:r>
          </a:p>
          <a:p>
            <a:pPr>
              <a:defRPr/>
            </a:pPr>
            <a:r>
              <a:rPr lang="en-US" dirty="0" smtClean="0"/>
              <a:t> The syntax of compound or function as follows (only one argument need to be true)</a:t>
            </a:r>
          </a:p>
          <a:p>
            <a:pPr marL="0" indent="0">
              <a:buFont typeface="Wingdings 2" panose="05020102010507070707" pitchFamily="18" charset="2"/>
              <a:buNone/>
              <a:defRPr/>
            </a:pPr>
            <a:r>
              <a:rPr lang="en-US" dirty="0" smtClean="0"/>
              <a:t>=IF (OR(</a:t>
            </a:r>
            <a:r>
              <a:rPr lang="en-US" dirty="0" err="1" smtClean="0"/>
              <a:t>cond</a:t>
            </a:r>
            <a:r>
              <a:rPr lang="en-US" dirty="0" smtClean="0"/>
              <a:t> 1, </a:t>
            </a:r>
            <a:r>
              <a:rPr lang="en-US" dirty="0" err="1" smtClean="0"/>
              <a:t>cond</a:t>
            </a:r>
            <a:r>
              <a:rPr lang="en-US" dirty="0" smtClean="0"/>
              <a:t> 2, </a:t>
            </a:r>
            <a:r>
              <a:rPr lang="en-US" dirty="0" err="1" smtClean="0"/>
              <a:t>cond</a:t>
            </a:r>
            <a:r>
              <a:rPr lang="en-US" dirty="0" smtClean="0"/>
              <a:t> 3,-----) X,Y) </a:t>
            </a:r>
            <a:endParaRPr lang="en-US" dirty="0"/>
          </a:p>
        </p:txBody>
      </p:sp>
      <p:sp>
        <p:nvSpPr>
          <p:cNvPr id="52228"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D19128-74C9-4239-AFFB-7A0A64DE4B8C}" type="slidenum">
              <a:rPr lang="en-US" altLang="en-US" smtClean="0">
                <a:solidFill>
                  <a:srgbClr val="FFFFFF"/>
                </a:solidFill>
                <a:latin typeface="Franklin Gothic Book" panose="020B0503020102020204" pitchFamily="34" charset="0"/>
              </a:rPr>
              <a:pPr/>
              <a:t>14</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1998969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dirty="0" smtClean="0"/>
              <a:t>AND function</a:t>
            </a:r>
          </a:p>
        </p:txBody>
      </p:sp>
      <p:sp>
        <p:nvSpPr>
          <p:cNvPr id="3" name="Content Placeholder 2"/>
          <p:cNvSpPr>
            <a:spLocks noGrp="1"/>
          </p:cNvSpPr>
          <p:nvPr>
            <p:ph sz="quarter" idx="1"/>
          </p:nvPr>
        </p:nvSpPr>
        <p:spPr>
          <a:xfrm>
            <a:off x="477253" y="2317749"/>
            <a:ext cx="8229600" cy="4221163"/>
          </a:xfrm>
        </p:spPr>
        <p:txBody>
          <a:bodyPr>
            <a:normAutofit/>
          </a:bodyPr>
          <a:lstStyle/>
          <a:p>
            <a:pPr>
              <a:defRPr/>
            </a:pPr>
            <a:r>
              <a:rPr lang="en-US" dirty="0" smtClean="0"/>
              <a:t>Returns TRUE if all its arguments evaluate to TRUE; returns FALSE if one or more arguments evaluate to FALSE.</a:t>
            </a:r>
          </a:p>
          <a:p>
            <a:pPr marL="0" indent="0">
              <a:spcBef>
                <a:spcPct val="0"/>
              </a:spcBef>
              <a:buClrTx/>
              <a:buSzTx/>
              <a:buFont typeface="Wingdings 2" panose="05020102010507070707" pitchFamily="18" charset="2"/>
              <a:buNone/>
              <a:defRPr/>
            </a:pPr>
            <a:r>
              <a:rPr lang="en-US" dirty="0" smtClean="0">
                <a:solidFill>
                  <a:srgbClr val="444444"/>
                </a:solidFill>
                <a:latin typeface="Arial" panose="020B0604020202020204" pitchFamily="34" charset="0"/>
              </a:rPr>
              <a:t>	</a:t>
            </a:r>
          </a:p>
          <a:p>
            <a:pPr>
              <a:spcBef>
                <a:spcPct val="0"/>
              </a:spcBef>
              <a:buClrTx/>
              <a:buSzTx/>
              <a:defRPr/>
            </a:pPr>
            <a:r>
              <a:rPr lang="en-US" dirty="0" smtClean="0">
                <a:solidFill>
                  <a:srgbClr val="444444"/>
                </a:solidFill>
                <a:latin typeface="Arial" panose="020B0604020202020204" pitchFamily="34" charset="0"/>
              </a:rPr>
              <a:t>Syntax</a:t>
            </a:r>
          </a:p>
          <a:p>
            <a:pPr marL="0" indent="0">
              <a:spcBef>
                <a:spcPct val="0"/>
              </a:spcBef>
              <a:buClrTx/>
              <a:buSzTx/>
              <a:buFont typeface="Wingdings 2" panose="05020102010507070707" pitchFamily="18" charset="2"/>
              <a:buNone/>
              <a:defRPr/>
            </a:pPr>
            <a:r>
              <a:rPr lang="en-US" sz="2800" dirty="0" smtClean="0">
                <a:latin typeface="Arial Unicode MS" panose="020B0604020202020204" pitchFamily="34" charset="-128"/>
              </a:rPr>
              <a:t>	=AND(logical1, [logical2], ...)</a:t>
            </a:r>
          </a:p>
          <a:p>
            <a:pPr marL="0" indent="0">
              <a:spcBef>
                <a:spcPct val="0"/>
              </a:spcBef>
              <a:buClrTx/>
              <a:buSzTx/>
              <a:buFont typeface="Wingdings 2" panose="05020102010507070707" pitchFamily="18" charset="2"/>
              <a:buNone/>
              <a:defRPr/>
            </a:pPr>
            <a:endParaRPr lang="en-US" sz="2800" dirty="0" smtClean="0">
              <a:latin typeface="Arial Unicode MS" panose="020B0604020202020204" pitchFamily="34" charset="-128"/>
            </a:endParaRPr>
          </a:p>
          <a:p>
            <a:pPr>
              <a:defRPr/>
            </a:pPr>
            <a:endParaRPr lang="en-US" sz="2800" dirty="0" smtClean="0"/>
          </a:p>
          <a:p>
            <a:pPr>
              <a:defRPr/>
            </a:pPr>
            <a:endParaRPr lang="en-US" sz="2800" dirty="0" smtClean="0"/>
          </a:p>
          <a:p>
            <a:pPr marL="0" indent="0">
              <a:spcBef>
                <a:spcPct val="0"/>
              </a:spcBef>
              <a:buClrTx/>
              <a:buSzTx/>
              <a:buFont typeface="Wingdings 2" panose="05020102010507070707" pitchFamily="18" charset="2"/>
              <a:buNone/>
              <a:defRPr/>
            </a:pPr>
            <a:endParaRPr lang="en-US" sz="2800" dirty="0">
              <a:solidFill>
                <a:srgbClr val="444444"/>
              </a:solidFill>
              <a:latin typeface="Arial" panose="020B0604020202020204" pitchFamily="34" charset="0"/>
            </a:endParaRPr>
          </a:p>
          <a:p>
            <a:pPr marL="0" indent="0">
              <a:spcBef>
                <a:spcPct val="0"/>
              </a:spcBef>
              <a:buClrTx/>
              <a:buSzTx/>
              <a:buFont typeface="Wingdings 2" panose="05020102010507070707" pitchFamily="18" charset="2"/>
              <a:buNone/>
              <a:defRPr/>
            </a:pPr>
            <a:endParaRPr lang="en-US" sz="2800" dirty="0" smtClean="0">
              <a:latin typeface="Arial Unicode MS" panose="020B0604020202020204" pitchFamily="34" charset="-128"/>
            </a:endParaRPr>
          </a:p>
          <a:p>
            <a:pPr>
              <a:spcBef>
                <a:spcPct val="0"/>
              </a:spcBef>
              <a:buClrTx/>
              <a:buSzTx/>
              <a:defRPr/>
            </a:pPr>
            <a:endParaRPr lang="en-US" sz="5400" dirty="0" smtClean="0">
              <a:latin typeface="Arial" panose="020B0604020202020204" pitchFamily="34" charset="0"/>
            </a:endParaRPr>
          </a:p>
          <a:p>
            <a:pPr>
              <a:defRPr/>
            </a:pPr>
            <a:endParaRPr lang="en-US" dirty="0" smtClean="0"/>
          </a:p>
          <a:p>
            <a:pPr>
              <a:defRPr/>
            </a:pPr>
            <a:endParaRPr lang="en-US" dirty="0"/>
          </a:p>
        </p:txBody>
      </p:sp>
      <p:sp>
        <p:nvSpPr>
          <p:cNvPr id="53252"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F0D4106-7700-4501-BBCE-1D7D71622BF6}" type="slidenum">
              <a:rPr lang="en-US" altLang="en-US" smtClean="0">
                <a:solidFill>
                  <a:srgbClr val="FFFFFF"/>
                </a:solidFill>
                <a:latin typeface="Franklin Gothic Book" panose="020B0503020102020204" pitchFamily="34" charset="0"/>
              </a:rPr>
              <a:pPr/>
              <a:t>15</a:t>
            </a:fld>
            <a:endParaRPr lang="en-US" altLang="en-US" smtClean="0">
              <a:solidFill>
                <a:srgbClr val="FFFFFF"/>
              </a:solidFill>
              <a:latin typeface="Franklin Gothic Book" panose="020B0503020102020204" pitchFamily="34" charset="0"/>
            </a:endParaRPr>
          </a:p>
        </p:txBody>
      </p:sp>
      <p:sp>
        <p:nvSpPr>
          <p:cNvPr id="53253" name="Rectangle 1"/>
          <p:cNvSpPr>
            <a:spLocks noChangeArrowheads="1"/>
          </p:cNvSpPr>
          <p:nvPr/>
        </p:nvSpPr>
        <p:spPr bwMode="auto">
          <a:xfrm>
            <a:off x="0" y="73025"/>
            <a:ext cx="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7457" rIns="0" bIns="17457"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7" name="Title 1"/>
          <p:cNvSpPr txBox="1">
            <a:spLocks/>
          </p:cNvSpPr>
          <p:nvPr/>
        </p:nvSpPr>
        <p:spPr bwMode="auto">
          <a:xfrm>
            <a:off x="445169" y="104465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91440" anchor="b"/>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547688" indent="-2286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sz="4000" dirty="0" smtClean="0">
                <a:solidFill>
                  <a:schemeClr val="tx2"/>
                </a:solidFill>
                <a:latin typeface="Franklin Gothic Book" panose="020B0503020102020204" pitchFamily="34" charset="0"/>
              </a:rPr>
              <a:t>AND </a:t>
            </a:r>
            <a:r>
              <a:rPr lang="en-US" sz="4000" dirty="0">
                <a:solidFill>
                  <a:schemeClr val="tx2"/>
                </a:solidFill>
                <a:latin typeface="Franklin Gothic Book" panose="020B0503020102020204" pitchFamily="34" charset="0"/>
              </a:rPr>
              <a:t>function</a:t>
            </a:r>
          </a:p>
        </p:txBody>
      </p:sp>
    </p:spTree>
    <p:extLst>
      <p:ext uri="{BB962C8B-B14F-4D97-AF65-F5344CB8AC3E}">
        <p14:creationId xmlns:p14="http://schemas.microsoft.com/office/powerpoint/2010/main" val="2626943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smtClean="0"/>
              <a:t>01 Example</a:t>
            </a:r>
          </a:p>
        </p:txBody>
      </p:sp>
      <p:sp>
        <p:nvSpPr>
          <p:cNvPr id="54275" name="Content Placeholder 2"/>
          <p:cNvSpPr>
            <a:spLocks noGrp="1"/>
          </p:cNvSpPr>
          <p:nvPr>
            <p:ph sz="quarter" idx="1"/>
          </p:nvPr>
        </p:nvSpPr>
        <p:spPr/>
        <p:txBody>
          <a:bodyPr/>
          <a:lstStyle/>
          <a:p>
            <a:r>
              <a:rPr lang="en-US" smtClean="0"/>
              <a:t>Find the products, product is sold by Tom </a:t>
            </a:r>
            <a:r>
              <a:rPr lang="en-US" u="sng" smtClean="0"/>
              <a:t>AND</a:t>
            </a:r>
            <a:r>
              <a:rPr lang="en-US" smtClean="0"/>
              <a:t> quantity grater than 5.</a:t>
            </a:r>
          </a:p>
        </p:txBody>
      </p:sp>
      <p:sp>
        <p:nvSpPr>
          <p:cNvPr id="5427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554B65-1453-4915-9629-0C0C7699EE29}" type="slidenum">
              <a:rPr lang="en-US" altLang="en-US" smtClean="0">
                <a:solidFill>
                  <a:srgbClr val="FFFFFF"/>
                </a:solidFill>
                <a:latin typeface="Franklin Gothic Book" panose="020B0503020102020204" pitchFamily="34" charset="0"/>
              </a:rPr>
              <a:pPr/>
              <a:t>16</a:t>
            </a:fld>
            <a:endParaRPr lang="en-US" altLang="en-US" smtClean="0">
              <a:solidFill>
                <a:srgbClr val="FFFFFF"/>
              </a:solidFill>
              <a:latin typeface="Franklin Gothic Book" panose="020B0503020102020204" pitchFamily="34" charset="0"/>
            </a:endParaRPr>
          </a:p>
        </p:txBody>
      </p:sp>
      <p:pic>
        <p:nvPicPr>
          <p:cNvPr id="54277" name="Picture 4"/>
          <p:cNvPicPr>
            <a:picLocks noChangeAspect="1"/>
          </p:cNvPicPr>
          <p:nvPr/>
        </p:nvPicPr>
        <p:blipFill>
          <a:blip r:embed="rId2">
            <a:extLst>
              <a:ext uri="{28A0092B-C50C-407E-A947-70E740481C1C}">
                <a14:useLocalDpi xmlns:a14="http://schemas.microsoft.com/office/drawing/2010/main" val="0"/>
              </a:ext>
            </a:extLst>
          </a:blip>
          <a:srcRect t="23914" r="78697" b="48914"/>
          <a:stretch>
            <a:fillRect/>
          </a:stretch>
        </p:blipFill>
        <p:spPr bwMode="auto">
          <a:xfrm>
            <a:off x="2590800" y="2956176"/>
            <a:ext cx="464820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92749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smtClean="0"/>
              <a:t>02 Example</a:t>
            </a:r>
          </a:p>
        </p:txBody>
      </p:sp>
      <p:sp>
        <p:nvSpPr>
          <p:cNvPr id="56323" name="Content Placeholder 2"/>
          <p:cNvSpPr>
            <a:spLocks noGrp="1"/>
          </p:cNvSpPr>
          <p:nvPr>
            <p:ph sz="quarter" idx="1"/>
          </p:nvPr>
        </p:nvSpPr>
        <p:spPr/>
        <p:txBody>
          <a:bodyPr/>
          <a:lstStyle/>
          <a:p>
            <a:r>
              <a:rPr lang="en-US" smtClean="0"/>
              <a:t>Find the products, product is sold by Sarah </a:t>
            </a:r>
            <a:r>
              <a:rPr lang="en-US" u="sng" smtClean="0"/>
              <a:t>AND</a:t>
            </a:r>
            <a:r>
              <a:rPr lang="en-US" smtClean="0"/>
              <a:t> quantity less  than 10.</a:t>
            </a:r>
          </a:p>
        </p:txBody>
      </p:sp>
      <p:sp>
        <p:nvSpPr>
          <p:cNvPr id="56324"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E3643A-FA62-464F-AE67-9230EAFCCFCB}" type="slidenum">
              <a:rPr lang="en-US" altLang="en-US" smtClean="0">
                <a:solidFill>
                  <a:srgbClr val="FFFFFF"/>
                </a:solidFill>
                <a:latin typeface="Franklin Gothic Book" panose="020B0503020102020204" pitchFamily="34" charset="0"/>
              </a:rPr>
              <a:pPr/>
              <a:t>17</a:t>
            </a:fld>
            <a:endParaRPr lang="en-US" altLang="en-US" smtClean="0">
              <a:solidFill>
                <a:srgbClr val="FFFFFF"/>
              </a:solidFill>
              <a:latin typeface="Franklin Gothic Book" panose="020B0503020102020204" pitchFamily="34" charset="0"/>
            </a:endParaRPr>
          </a:p>
        </p:txBody>
      </p:sp>
      <p:pic>
        <p:nvPicPr>
          <p:cNvPr id="56325" name="Picture 4"/>
          <p:cNvPicPr>
            <a:picLocks noChangeAspect="1"/>
          </p:cNvPicPr>
          <p:nvPr/>
        </p:nvPicPr>
        <p:blipFill>
          <a:blip r:embed="rId2">
            <a:extLst>
              <a:ext uri="{28A0092B-C50C-407E-A947-70E740481C1C}">
                <a14:useLocalDpi xmlns:a14="http://schemas.microsoft.com/office/drawing/2010/main" val="0"/>
              </a:ext>
            </a:extLst>
          </a:blip>
          <a:srcRect t="23914" r="78697" b="48914"/>
          <a:stretch>
            <a:fillRect/>
          </a:stretch>
        </p:blipFill>
        <p:spPr bwMode="auto">
          <a:xfrm>
            <a:off x="2819400" y="3162300"/>
            <a:ext cx="464820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2657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smtClean="0"/>
              <a:t>OR function</a:t>
            </a:r>
          </a:p>
        </p:txBody>
      </p:sp>
      <p:sp>
        <p:nvSpPr>
          <p:cNvPr id="3" name="Content Placeholder 2"/>
          <p:cNvSpPr>
            <a:spLocks noGrp="1"/>
          </p:cNvSpPr>
          <p:nvPr>
            <p:ph sz="quarter" idx="1"/>
          </p:nvPr>
        </p:nvSpPr>
        <p:spPr/>
        <p:txBody>
          <a:bodyPr/>
          <a:lstStyle/>
          <a:p>
            <a:pPr>
              <a:defRPr/>
            </a:pPr>
            <a:r>
              <a:rPr lang="en-US" dirty="0" smtClean="0"/>
              <a:t>Returns TRUE if any argument is TRUE; returns FALSE if all arguments are FALSE.</a:t>
            </a:r>
          </a:p>
          <a:p>
            <a:pPr marL="0" indent="0">
              <a:spcBef>
                <a:spcPct val="0"/>
              </a:spcBef>
              <a:buClrTx/>
              <a:buSzTx/>
              <a:buFont typeface="Wingdings 2" panose="05020102010507070707" pitchFamily="18" charset="2"/>
              <a:buNone/>
              <a:defRPr/>
            </a:pPr>
            <a:endParaRPr lang="en-US" dirty="0" smtClean="0">
              <a:solidFill>
                <a:srgbClr val="444444"/>
              </a:solidFill>
              <a:latin typeface="Arial" panose="020B0604020202020204" pitchFamily="34" charset="0"/>
            </a:endParaRPr>
          </a:p>
          <a:p>
            <a:pPr marL="0" indent="0">
              <a:spcBef>
                <a:spcPct val="0"/>
              </a:spcBef>
              <a:buClrTx/>
              <a:buSzTx/>
              <a:buFont typeface="Wingdings 2" panose="05020102010507070707" pitchFamily="18" charset="2"/>
              <a:buNone/>
              <a:defRPr/>
            </a:pPr>
            <a:r>
              <a:rPr lang="en-US" dirty="0" smtClean="0">
                <a:solidFill>
                  <a:srgbClr val="444444"/>
                </a:solidFill>
                <a:latin typeface="Arial" panose="020B0604020202020204" pitchFamily="34" charset="0"/>
              </a:rPr>
              <a:t>Syntax</a:t>
            </a:r>
          </a:p>
          <a:p>
            <a:pPr marL="0" indent="0">
              <a:spcBef>
                <a:spcPct val="0"/>
              </a:spcBef>
              <a:buClrTx/>
              <a:buSzTx/>
              <a:buFont typeface="Wingdings 2" panose="05020102010507070707" pitchFamily="18" charset="2"/>
              <a:buNone/>
              <a:defRPr/>
            </a:pPr>
            <a:r>
              <a:rPr lang="en-US" sz="2800" dirty="0" smtClean="0">
                <a:latin typeface="Arial Unicode MS" panose="020B0604020202020204" pitchFamily="34" charset="-128"/>
              </a:rPr>
              <a:t>=OR(logical1, [logical2], ...)</a:t>
            </a:r>
            <a:endParaRPr lang="en-US" sz="5400" dirty="0" smtClean="0">
              <a:latin typeface="Arial" panose="020B0604020202020204" pitchFamily="34" charset="0"/>
            </a:endParaRPr>
          </a:p>
          <a:p>
            <a:pPr>
              <a:defRPr/>
            </a:pPr>
            <a:endParaRPr lang="en-US" dirty="0" smtClean="0"/>
          </a:p>
          <a:p>
            <a:pPr>
              <a:defRPr/>
            </a:pPr>
            <a:endParaRPr lang="en-US" dirty="0"/>
          </a:p>
        </p:txBody>
      </p:sp>
      <p:sp>
        <p:nvSpPr>
          <p:cNvPr id="57348"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72ADD08-0EA8-4104-B184-6719DEAB4926}" type="slidenum">
              <a:rPr lang="en-US" altLang="en-US" smtClean="0">
                <a:solidFill>
                  <a:srgbClr val="FFFFFF"/>
                </a:solidFill>
                <a:latin typeface="Franklin Gothic Book" panose="020B0503020102020204" pitchFamily="34" charset="0"/>
              </a:rPr>
              <a:pPr/>
              <a:t>18</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9702175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smtClean="0"/>
              <a:t>01 Example</a:t>
            </a:r>
          </a:p>
        </p:txBody>
      </p:sp>
      <p:sp>
        <p:nvSpPr>
          <p:cNvPr id="58371" name="Content Placeholder 2"/>
          <p:cNvSpPr>
            <a:spLocks noGrp="1"/>
          </p:cNvSpPr>
          <p:nvPr>
            <p:ph sz="quarter" idx="1"/>
          </p:nvPr>
        </p:nvSpPr>
        <p:spPr/>
        <p:txBody>
          <a:bodyPr/>
          <a:lstStyle/>
          <a:p>
            <a:pPr marL="514350" indent="-514350">
              <a:buFont typeface="Franklin Gothic Book" panose="020B0503020102020204" pitchFamily="34" charset="0"/>
              <a:buAutoNum type="arabicPeriod"/>
            </a:pPr>
            <a:r>
              <a:rPr lang="en-US" smtClean="0"/>
              <a:t>Find the products, product is sold by Tom </a:t>
            </a:r>
            <a:r>
              <a:rPr lang="en-US" u="sng" smtClean="0"/>
              <a:t>OR</a:t>
            </a:r>
            <a:r>
              <a:rPr lang="en-US" smtClean="0"/>
              <a:t> quantity grater than 5.</a:t>
            </a:r>
          </a:p>
          <a:p>
            <a:pPr marL="514350" indent="-514350">
              <a:buFont typeface="Franklin Gothic Book" panose="020B0503020102020204" pitchFamily="34" charset="0"/>
              <a:buAutoNum type="arabicPeriod"/>
            </a:pPr>
            <a:r>
              <a:rPr lang="en-US" smtClean="0"/>
              <a:t>Find the products, product is sold by Sarah </a:t>
            </a:r>
            <a:r>
              <a:rPr lang="en-US" u="sng" smtClean="0"/>
              <a:t>OR </a:t>
            </a:r>
            <a:r>
              <a:rPr lang="en-US" smtClean="0"/>
              <a:t> quantity less  than 10.</a:t>
            </a:r>
          </a:p>
          <a:p>
            <a:pPr marL="514350" indent="-514350">
              <a:buFont typeface="Franklin Gothic Book" panose="020B0503020102020204" pitchFamily="34" charset="0"/>
              <a:buAutoNum type="arabicPeriod"/>
            </a:pPr>
            <a:endParaRPr lang="en-US" smtClean="0"/>
          </a:p>
          <a:p>
            <a:pPr marL="514350" indent="-514350">
              <a:buFont typeface="Franklin Gothic Book" panose="020B0503020102020204" pitchFamily="34" charset="0"/>
              <a:buAutoNum type="arabicPeriod"/>
            </a:pPr>
            <a:endParaRPr lang="en-US" smtClean="0"/>
          </a:p>
        </p:txBody>
      </p:sp>
      <p:sp>
        <p:nvSpPr>
          <p:cNvPr id="58372"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3F8E8D-C1EB-4E67-A624-091449590F10}" type="slidenum">
              <a:rPr lang="en-US" altLang="en-US" smtClean="0">
                <a:solidFill>
                  <a:srgbClr val="FFFFFF"/>
                </a:solidFill>
                <a:latin typeface="Franklin Gothic Book" panose="020B0503020102020204" pitchFamily="34" charset="0"/>
              </a:rPr>
              <a:pPr/>
              <a:t>19</a:t>
            </a:fld>
            <a:endParaRPr lang="en-US" altLang="en-US" smtClean="0">
              <a:solidFill>
                <a:srgbClr val="FFFFFF"/>
              </a:solidFill>
              <a:latin typeface="Franklin Gothic Book" panose="020B0503020102020204" pitchFamily="34" charset="0"/>
            </a:endParaRPr>
          </a:p>
        </p:txBody>
      </p:sp>
      <p:pic>
        <p:nvPicPr>
          <p:cNvPr id="58373" name="Picture 4"/>
          <p:cNvPicPr>
            <a:picLocks noChangeAspect="1"/>
          </p:cNvPicPr>
          <p:nvPr/>
        </p:nvPicPr>
        <p:blipFill>
          <a:blip r:embed="rId2">
            <a:extLst>
              <a:ext uri="{28A0092B-C50C-407E-A947-70E740481C1C}">
                <a14:useLocalDpi xmlns:a14="http://schemas.microsoft.com/office/drawing/2010/main" val="0"/>
              </a:ext>
            </a:extLst>
          </a:blip>
          <a:srcRect t="23914" r="78697" b="48914"/>
          <a:stretch>
            <a:fillRect/>
          </a:stretch>
        </p:blipFill>
        <p:spPr bwMode="auto">
          <a:xfrm>
            <a:off x="4038600" y="4120734"/>
            <a:ext cx="3429000" cy="2356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0413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b="1" smtClean="0"/>
              <a:t>Conditional formatting</a:t>
            </a:r>
            <a:endParaRPr lang="en-US" smtClean="0"/>
          </a:p>
        </p:txBody>
      </p:sp>
      <p:sp>
        <p:nvSpPr>
          <p:cNvPr id="3" name="Content Placeholder 2"/>
          <p:cNvSpPr>
            <a:spLocks noGrp="1"/>
          </p:cNvSpPr>
          <p:nvPr>
            <p:ph sz="quarter" idx="1"/>
          </p:nvPr>
        </p:nvSpPr>
        <p:spPr>
          <a:xfrm>
            <a:off x="635000" y="1625600"/>
            <a:ext cx="7772400" cy="4572000"/>
          </a:xfrm>
        </p:spPr>
        <p:txBody>
          <a:bodyPr/>
          <a:lstStyle/>
          <a:p>
            <a:pPr>
              <a:defRPr/>
            </a:pPr>
            <a:r>
              <a:rPr lang="en-US" b="1" dirty="0" smtClean="0"/>
              <a:t>Conditional formatting</a:t>
            </a:r>
            <a:r>
              <a:rPr lang="en-US" dirty="0" smtClean="0"/>
              <a:t> in </a:t>
            </a:r>
            <a:r>
              <a:rPr lang="en-US" b="1" dirty="0" smtClean="0"/>
              <a:t>Excel</a:t>
            </a:r>
            <a:r>
              <a:rPr lang="en-US" dirty="0" smtClean="0"/>
              <a:t> enables you to highlight cells with a certain color, depending on the cell's value.</a:t>
            </a:r>
          </a:p>
          <a:p>
            <a:pPr marL="0" indent="0">
              <a:buFont typeface="Wingdings 2" panose="05020102010507070707" pitchFamily="18" charset="2"/>
              <a:buNone/>
              <a:defRPr/>
            </a:pPr>
            <a:r>
              <a:rPr lang="en-US" b="1" dirty="0" smtClean="0"/>
              <a:t>Highlight Cells Rules</a:t>
            </a:r>
          </a:p>
          <a:p>
            <a:pPr>
              <a:defRPr/>
            </a:pPr>
            <a:r>
              <a:rPr lang="en-US" dirty="0" smtClean="0"/>
              <a:t>To highlight cells that are greater than a value, execute the following steps.</a:t>
            </a:r>
          </a:p>
          <a:p>
            <a:pPr>
              <a:defRPr/>
            </a:pPr>
            <a:r>
              <a:rPr lang="en-US" dirty="0" smtClean="0"/>
              <a:t>1. Select the range A1:A10.</a:t>
            </a:r>
          </a:p>
          <a:p>
            <a:pPr>
              <a:defRPr/>
            </a:pPr>
            <a:endParaRPr lang="en-US" dirty="0"/>
          </a:p>
        </p:txBody>
      </p:sp>
      <p:sp>
        <p:nvSpPr>
          <p:cNvPr id="3379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97D98C-3BFE-4FCD-85E7-0055DF9274F5}" type="slidenum">
              <a:rPr lang="en-US" altLang="en-US" smtClean="0">
                <a:solidFill>
                  <a:srgbClr val="FFFFFF"/>
                </a:solidFill>
                <a:latin typeface="Franklin Gothic Book" panose="020B0503020102020204" pitchFamily="34" charset="0"/>
              </a:rPr>
              <a:pPr/>
              <a:t>20</a:t>
            </a:fld>
            <a:endParaRPr lang="en-US" altLang="en-US" smtClean="0">
              <a:solidFill>
                <a:srgbClr val="FFFFFF"/>
              </a:solidFill>
              <a:latin typeface="Franklin Gothic Book" panose="020B0503020102020204" pitchFamily="34" charset="0"/>
            </a:endParaRPr>
          </a:p>
        </p:txBody>
      </p:sp>
      <p:pic>
        <p:nvPicPr>
          <p:cNvPr id="33797" name="Picture 2" descr="Excel Conditional Formatting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4308838"/>
            <a:ext cx="1676400" cy="223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367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endParaRPr lang="en-US" smtClean="0"/>
          </a:p>
        </p:txBody>
      </p:sp>
      <p:sp>
        <p:nvSpPr>
          <p:cNvPr id="34819" name="Content Placeholder 2"/>
          <p:cNvSpPr>
            <a:spLocks noGrp="1"/>
          </p:cNvSpPr>
          <p:nvPr>
            <p:ph sz="quarter" idx="1"/>
          </p:nvPr>
        </p:nvSpPr>
        <p:spPr/>
        <p:txBody>
          <a:bodyPr/>
          <a:lstStyle/>
          <a:p>
            <a:r>
              <a:rPr lang="en-US" smtClean="0"/>
              <a:t>2. On the Home tab, click Conditional Formatting, Highlight Cells Rules, Greater Than...</a:t>
            </a:r>
          </a:p>
        </p:txBody>
      </p:sp>
      <p:sp>
        <p:nvSpPr>
          <p:cNvPr id="3482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715E60-63E0-424A-9E0E-8CD7D26BB2FA}" type="slidenum">
              <a:rPr lang="en-US" altLang="en-US" smtClean="0">
                <a:solidFill>
                  <a:srgbClr val="FFFFFF"/>
                </a:solidFill>
                <a:latin typeface="Franklin Gothic Book" panose="020B0503020102020204" pitchFamily="34" charset="0"/>
              </a:rPr>
              <a:pPr/>
              <a:t>21</a:t>
            </a:fld>
            <a:endParaRPr lang="en-US" altLang="en-US" smtClean="0">
              <a:solidFill>
                <a:srgbClr val="FFFFFF"/>
              </a:solidFill>
              <a:latin typeface="Franklin Gothic Book" panose="020B0503020102020204" pitchFamily="34" charset="0"/>
            </a:endParaRPr>
          </a:p>
        </p:txBody>
      </p:sp>
      <p:pic>
        <p:nvPicPr>
          <p:cNvPr id="34821" name="Picture 2" descr="Highlight Cells Ru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322066"/>
            <a:ext cx="3438525" cy="3116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4144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endParaRPr lang="en-US" smtClean="0"/>
          </a:p>
        </p:txBody>
      </p:sp>
      <p:sp>
        <p:nvSpPr>
          <p:cNvPr id="35843" name="Content Placeholder 2"/>
          <p:cNvSpPr>
            <a:spLocks noGrp="1"/>
          </p:cNvSpPr>
          <p:nvPr>
            <p:ph sz="quarter" idx="1"/>
          </p:nvPr>
        </p:nvSpPr>
        <p:spPr>
          <a:xfrm>
            <a:off x="457200" y="1905000"/>
            <a:ext cx="8229600" cy="4816475"/>
          </a:xfrm>
        </p:spPr>
        <p:txBody>
          <a:bodyPr>
            <a:normAutofit lnSpcReduction="10000"/>
          </a:bodyPr>
          <a:lstStyle/>
          <a:p>
            <a:r>
              <a:rPr lang="en-US" dirty="0" smtClean="0"/>
              <a:t>Enter the value 80 and select a formatting style.</a:t>
            </a:r>
          </a:p>
          <a:p>
            <a:endParaRPr lang="en-US" dirty="0" smtClean="0"/>
          </a:p>
          <a:p>
            <a:endParaRPr lang="en-US" dirty="0" smtClean="0"/>
          </a:p>
          <a:p>
            <a:endParaRPr lang="en-US" dirty="0" smtClean="0"/>
          </a:p>
          <a:p>
            <a:endParaRPr lang="en-US" dirty="0" smtClean="0"/>
          </a:p>
          <a:p>
            <a:r>
              <a:rPr lang="en-US" dirty="0" smtClean="0"/>
              <a:t>Click OK.</a:t>
            </a:r>
          </a:p>
          <a:p>
            <a:r>
              <a:rPr lang="en-US" dirty="0" smtClean="0"/>
              <a:t>Result. Excel highlights the cells that are greater than 80.</a:t>
            </a:r>
          </a:p>
          <a:p>
            <a:endParaRPr lang="en-US" dirty="0" smtClean="0"/>
          </a:p>
        </p:txBody>
      </p:sp>
      <p:sp>
        <p:nvSpPr>
          <p:cNvPr id="35844"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1E015A0-F719-4F79-9B8B-5B5071A0B282}" type="slidenum">
              <a:rPr lang="en-US" altLang="en-US" smtClean="0">
                <a:solidFill>
                  <a:srgbClr val="FFFFFF"/>
                </a:solidFill>
                <a:latin typeface="Franklin Gothic Book" panose="020B0503020102020204" pitchFamily="34" charset="0"/>
              </a:rPr>
              <a:pPr/>
              <a:t>22</a:t>
            </a:fld>
            <a:endParaRPr lang="en-US" altLang="en-US" smtClean="0">
              <a:solidFill>
                <a:srgbClr val="FFFFFF"/>
              </a:solidFill>
              <a:latin typeface="Franklin Gothic Book" panose="020B0503020102020204" pitchFamily="34" charset="0"/>
            </a:endParaRPr>
          </a:p>
        </p:txBody>
      </p:sp>
      <p:pic>
        <p:nvPicPr>
          <p:cNvPr id="35845" name="Picture 2" descr="Greater Th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238" y="2474495"/>
            <a:ext cx="43910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4" descr="Greater Than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2458453"/>
            <a:ext cx="20764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1206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5"/>
          <p:cNvSpPr>
            <a:spLocks noGrp="1"/>
          </p:cNvSpPr>
          <p:nvPr>
            <p:ph type="title"/>
          </p:nvPr>
        </p:nvSpPr>
        <p:spPr/>
        <p:txBody>
          <a:bodyPr/>
          <a:lstStyle/>
          <a:p>
            <a:r>
              <a:rPr lang="en-US" smtClean="0"/>
              <a:t>The sumif function</a:t>
            </a:r>
          </a:p>
        </p:txBody>
      </p:sp>
      <p:sp>
        <p:nvSpPr>
          <p:cNvPr id="7" name="Content Placeholder 6"/>
          <p:cNvSpPr>
            <a:spLocks noGrp="1"/>
          </p:cNvSpPr>
          <p:nvPr>
            <p:ph sz="quarter" idx="1"/>
          </p:nvPr>
        </p:nvSpPr>
        <p:spPr>
          <a:xfrm>
            <a:off x="381000" y="1447800"/>
            <a:ext cx="8305800" cy="4572000"/>
          </a:xfrm>
        </p:spPr>
        <p:txBody>
          <a:bodyPr>
            <a:normAutofit lnSpcReduction="10000"/>
          </a:bodyPr>
          <a:lstStyle/>
          <a:p>
            <a:pPr>
              <a:defRPr/>
            </a:pPr>
            <a:r>
              <a:rPr lang="en-US" sz="4000" dirty="0" smtClean="0"/>
              <a:t>Using this function you can sum all the entries in one column or row that match the given criteria that depend on another column or row.</a:t>
            </a:r>
          </a:p>
          <a:p>
            <a:pPr marL="0" indent="0">
              <a:buFont typeface="Wingdings 2" panose="05020102010507070707" pitchFamily="18" charset="2"/>
              <a:buNone/>
              <a:defRPr/>
            </a:pPr>
            <a:r>
              <a:rPr lang="en-US" sz="4000" dirty="0" smtClean="0"/>
              <a:t>Syntax:</a:t>
            </a:r>
          </a:p>
          <a:p>
            <a:pPr marL="0" indent="0">
              <a:buFont typeface="Wingdings 2" panose="05020102010507070707" pitchFamily="18" charset="2"/>
              <a:buNone/>
              <a:defRPr/>
            </a:pPr>
            <a:r>
              <a:rPr lang="en-US" sz="4000" dirty="0" smtClean="0"/>
              <a:t>=</a:t>
            </a:r>
            <a:r>
              <a:rPr lang="en-US" sz="4000" dirty="0" err="1" smtClean="0"/>
              <a:t>sumif</a:t>
            </a:r>
            <a:r>
              <a:rPr lang="en-US" sz="4000" dirty="0" smtClean="0"/>
              <a:t>( criteria range, criteria, sum range)</a:t>
            </a:r>
          </a:p>
          <a:p>
            <a:pPr marL="514350" indent="-514350">
              <a:buFont typeface="Wingdings 2" panose="05020102010507070707" pitchFamily="18" charset="2"/>
              <a:buAutoNum type="arabicParenR"/>
              <a:defRPr/>
            </a:pPr>
            <a:endParaRPr lang="en-US" altLang="en-US" dirty="0" smtClean="0">
              <a:cs typeface="Times New Roman" panose="02020603050405020304" pitchFamily="18" charset="0"/>
            </a:endParaRPr>
          </a:p>
          <a:p>
            <a:pPr marL="514350" indent="-514350">
              <a:buFont typeface="Wingdings 2" panose="05020102010507070707" pitchFamily="18" charset="2"/>
              <a:buAutoNum type="arabicParenR"/>
              <a:defRPr/>
            </a:pPr>
            <a:endParaRPr lang="en-US" altLang="en-US" dirty="0" smtClean="0">
              <a:cs typeface="Times New Roman" panose="02020603050405020304" pitchFamily="18" charset="0"/>
            </a:endParaRPr>
          </a:p>
          <a:p>
            <a:pPr marL="0" indent="0">
              <a:buFont typeface="Wingdings 2" panose="05020102010507070707" pitchFamily="18" charset="2"/>
              <a:buNone/>
              <a:defRPr/>
            </a:pPr>
            <a:endParaRPr lang="en-US" dirty="0"/>
          </a:p>
        </p:txBody>
      </p:sp>
      <p:sp>
        <p:nvSpPr>
          <p:cNvPr id="5939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2289D6-50BC-4887-9A8E-4F816AB31964}" type="slidenum">
              <a:rPr lang="en-US" altLang="en-US" smtClean="0">
                <a:solidFill>
                  <a:srgbClr val="FFFFFF"/>
                </a:solidFill>
                <a:latin typeface="Franklin Gothic Book" panose="020B0503020102020204" pitchFamily="34" charset="0"/>
              </a:rPr>
              <a:pPr/>
              <a:t>23</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38653327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340895" y="914400"/>
            <a:ext cx="8229600" cy="1143000"/>
          </a:xfrm>
        </p:spPr>
        <p:txBody>
          <a:bodyPr>
            <a:normAutofit fontScale="90000"/>
          </a:bodyPr>
          <a:lstStyle/>
          <a:p>
            <a:pPr algn="l"/>
            <a:r>
              <a:rPr lang="en-US" altLang="en-US" dirty="0">
                <a:cs typeface="Times New Roman" panose="02020603050405020304" pitchFamily="18" charset="0"/>
              </a:rPr>
              <a:t>Select sum of discount where amount less than 5000</a:t>
            </a:r>
            <a:endParaRPr lang="en-US" dirty="0" smtClean="0"/>
          </a:p>
        </p:txBody>
      </p:sp>
      <p:sp>
        <p:nvSpPr>
          <p:cNvPr id="3" name="Content Placeholder 2"/>
          <p:cNvSpPr>
            <a:spLocks noGrp="1"/>
          </p:cNvSpPr>
          <p:nvPr>
            <p:ph sz="quarter" idx="1"/>
          </p:nvPr>
        </p:nvSpPr>
        <p:spPr>
          <a:xfrm>
            <a:off x="762000" y="223838"/>
            <a:ext cx="7772400" cy="4572000"/>
          </a:xfrm>
        </p:spPr>
        <p:txBody>
          <a:bodyPr/>
          <a:lstStyle/>
          <a:p>
            <a:pPr marL="0" indent="0">
              <a:buFont typeface="Wingdings 2" panose="05020102010507070707" pitchFamily="18" charset="2"/>
              <a:buNone/>
              <a:defRPr/>
            </a:pPr>
            <a:r>
              <a:rPr lang="en-US" altLang="en-US" b="1" dirty="0" smtClean="0">
                <a:cs typeface="Times New Roman" panose="02020603050405020304" pitchFamily="18" charset="0"/>
              </a:rPr>
              <a:t>Example:</a:t>
            </a:r>
          </a:p>
          <a:p>
            <a:pPr marL="0" indent="0">
              <a:buNone/>
              <a:defRPr/>
            </a:pPr>
            <a:endParaRPr lang="en-US" altLang="en-US" sz="3600" dirty="0" smtClean="0">
              <a:cs typeface="Times New Roman" panose="02020603050405020304" pitchFamily="18" charset="0"/>
            </a:endParaRPr>
          </a:p>
          <a:p>
            <a:pPr marL="0" indent="0">
              <a:buFont typeface="Wingdings 2" panose="05020102010507070707" pitchFamily="18" charset="2"/>
              <a:buNone/>
              <a:defRPr/>
            </a:pPr>
            <a:endParaRPr lang="en-US" altLang="en-US" sz="2400" dirty="0" smtClean="0">
              <a:cs typeface="Times New Roman" panose="02020603050405020304" pitchFamily="18" charset="0"/>
            </a:endParaRPr>
          </a:p>
          <a:p>
            <a:pPr>
              <a:defRPr/>
            </a:pPr>
            <a:endParaRPr lang="en-US" dirty="0"/>
          </a:p>
        </p:txBody>
      </p:sp>
      <p:sp>
        <p:nvSpPr>
          <p:cNvPr id="6042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81B2713-975F-4635-BBF4-2761DA3773FB}" type="slidenum">
              <a:rPr lang="en-US" altLang="en-US" smtClean="0">
                <a:solidFill>
                  <a:srgbClr val="FFFFFF"/>
                </a:solidFill>
                <a:latin typeface="Franklin Gothic Book" panose="020B0503020102020204" pitchFamily="34" charset="0"/>
              </a:rPr>
              <a:pPr/>
              <a:t>24</a:t>
            </a:fld>
            <a:endParaRPr lang="en-US" altLang="en-US" smtClean="0">
              <a:solidFill>
                <a:srgbClr val="FFFFFF"/>
              </a:solidFill>
              <a:latin typeface="Franklin Gothic Book" panose="020B0503020102020204" pitchFamily="34" charset="0"/>
            </a:endParaRPr>
          </a:p>
        </p:txBody>
      </p:sp>
      <p:graphicFrame>
        <p:nvGraphicFramePr>
          <p:cNvPr id="60421" name="Object 4"/>
          <p:cNvGraphicFramePr>
            <a:graphicFrameLocks noChangeAspect="1"/>
          </p:cNvGraphicFramePr>
          <p:nvPr>
            <p:extLst/>
          </p:nvPr>
        </p:nvGraphicFramePr>
        <p:xfrm>
          <a:off x="2590800" y="2458672"/>
          <a:ext cx="4953000" cy="4170727"/>
        </p:xfrm>
        <a:graphic>
          <a:graphicData uri="http://schemas.openxmlformats.org/presentationml/2006/ole">
            <mc:AlternateContent xmlns:mc="http://schemas.openxmlformats.org/markup-compatibility/2006">
              <mc:Choice xmlns:v="urn:schemas-microsoft-com:vml" Requires="v">
                <p:oleObj spid="_x0000_s6146" name="Bitmap Image" r:id="rId3" imgW="0" imgH="0" progId="Paint.Picture">
                  <p:embed/>
                </p:oleObj>
              </mc:Choice>
              <mc:Fallback>
                <p:oleObj name="Bitmap Image" r:id="rId3" imgW="0" imgH="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458672"/>
                        <a:ext cx="4953000" cy="417072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710045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t>=sumifs()</a:t>
            </a:r>
          </a:p>
        </p:txBody>
      </p:sp>
      <p:sp>
        <p:nvSpPr>
          <p:cNvPr id="3" name="Content Placeholder 2"/>
          <p:cNvSpPr>
            <a:spLocks noGrp="1"/>
          </p:cNvSpPr>
          <p:nvPr>
            <p:ph sz="quarter" idx="1"/>
          </p:nvPr>
        </p:nvSpPr>
        <p:spPr/>
        <p:txBody>
          <a:bodyPr/>
          <a:lstStyle/>
          <a:p>
            <a:pPr>
              <a:defRPr/>
            </a:pPr>
            <a:r>
              <a:rPr lang="en-US" dirty="0" smtClean="0"/>
              <a:t>The SUMIFS function, one of the math functions, adds all of its arguments that meet multiple criteria</a:t>
            </a:r>
          </a:p>
          <a:p>
            <a:pPr>
              <a:defRPr/>
            </a:pPr>
            <a:r>
              <a:rPr lang="en-US" dirty="0" smtClean="0"/>
              <a:t>Syntax: </a:t>
            </a:r>
          </a:p>
          <a:p>
            <a:pPr marL="0" indent="0">
              <a:buFont typeface="Wingdings 2" panose="05020102010507070707" pitchFamily="18" charset="2"/>
              <a:buNone/>
              <a:defRPr/>
            </a:pPr>
            <a:r>
              <a:rPr lang="en-US" b="1" dirty="0"/>
              <a:t>=</a:t>
            </a:r>
            <a:r>
              <a:rPr lang="en-US" b="1" dirty="0" smtClean="0"/>
              <a:t>SUMIFS(</a:t>
            </a:r>
            <a:r>
              <a:rPr lang="en-US" b="1" dirty="0" err="1" smtClean="0"/>
              <a:t>sum_range</a:t>
            </a:r>
            <a:r>
              <a:rPr lang="en-US" b="1" dirty="0" smtClean="0"/>
              <a:t>, criteria_range1, criteria1, [criteria_range2, criteria2], ...)</a:t>
            </a:r>
            <a:endParaRPr lang="en-US" dirty="0"/>
          </a:p>
        </p:txBody>
      </p:sp>
      <p:sp>
        <p:nvSpPr>
          <p:cNvPr id="62468"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B943779-947A-47C9-BE2A-A4870B3D8372}" type="slidenum">
              <a:rPr lang="en-US" altLang="en-US" smtClean="0">
                <a:solidFill>
                  <a:srgbClr val="FFFFFF"/>
                </a:solidFill>
                <a:latin typeface="Franklin Gothic Book" panose="020B0503020102020204" pitchFamily="34" charset="0"/>
              </a:rPr>
              <a:pPr/>
              <a:t>25</a:t>
            </a:fld>
            <a:endParaRPr lang="en-US" altLang="en-US"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6741484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5800" y="304800"/>
            <a:ext cx="7772400" cy="4572000"/>
          </a:xfrm>
        </p:spPr>
        <p:txBody>
          <a:bodyPr/>
          <a:lstStyle/>
          <a:p>
            <a:pPr marL="0" indent="0">
              <a:buFont typeface="Wingdings 2" panose="05020102010507070707" pitchFamily="18" charset="2"/>
              <a:buNone/>
              <a:defRPr/>
            </a:pPr>
            <a:r>
              <a:rPr lang="en-US" altLang="en-US" b="1" dirty="0" smtClean="0">
                <a:cs typeface="Times New Roman" panose="02020603050405020304" pitchFamily="18" charset="0"/>
              </a:rPr>
              <a:t>Example:</a:t>
            </a:r>
          </a:p>
          <a:p>
            <a:pPr marL="514350" indent="-514350">
              <a:buFont typeface="Wingdings 2" panose="05020102010507070707" pitchFamily="18" charset="2"/>
              <a:buAutoNum type="arabicParenR"/>
              <a:defRPr/>
            </a:pPr>
            <a:r>
              <a:rPr lang="en-US" altLang="en-US" sz="3600" dirty="0" smtClean="0">
                <a:cs typeface="Times New Roman" panose="02020603050405020304" pitchFamily="18" charset="0"/>
              </a:rPr>
              <a:t>Find the   sum of discount which amount is  grater than 5000 and name is </a:t>
            </a:r>
            <a:r>
              <a:rPr lang="en-US" altLang="en-US" sz="3600" dirty="0" err="1" smtClean="0">
                <a:cs typeface="Times New Roman" panose="02020603050405020304" pitchFamily="18" charset="0"/>
              </a:rPr>
              <a:t>Anuradi</a:t>
            </a:r>
            <a:r>
              <a:rPr lang="en-US" altLang="en-US" sz="3600" dirty="0" smtClean="0">
                <a:cs typeface="Times New Roman" panose="02020603050405020304" pitchFamily="18" charset="0"/>
              </a:rPr>
              <a:t>.</a:t>
            </a:r>
          </a:p>
          <a:p>
            <a:pPr>
              <a:defRPr/>
            </a:pPr>
            <a:endParaRPr lang="en-US" sz="3600" dirty="0"/>
          </a:p>
        </p:txBody>
      </p:sp>
      <p:sp>
        <p:nvSpPr>
          <p:cNvPr id="63491"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ABA869-E3D6-4016-8ED3-8D3838B75FCF}" type="slidenum">
              <a:rPr lang="en-US" altLang="en-US" smtClean="0">
                <a:solidFill>
                  <a:srgbClr val="FFFFFF"/>
                </a:solidFill>
                <a:latin typeface="Franklin Gothic Book" panose="020B0503020102020204" pitchFamily="34" charset="0"/>
              </a:rPr>
              <a:pPr/>
              <a:t>26</a:t>
            </a:fld>
            <a:endParaRPr lang="en-US" altLang="en-US" smtClean="0">
              <a:solidFill>
                <a:srgbClr val="FFFFFF"/>
              </a:solidFill>
              <a:latin typeface="Franklin Gothic Book" panose="020B0503020102020204" pitchFamily="34" charset="0"/>
            </a:endParaRPr>
          </a:p>
        </p:txBody>
      </p:sp>
      <p:graphicFrame>
        <p:nvGraphicFramePr>
          <p:cNvPr id="63492" name="Object 4"/>
          <p:cNvGraphicFramePr>
            <a:graphicFrameLocks noChangeAspect="1"/>
          </p:cNvGraphicFramePr>
          <p:nvPr>
            <p:extLst/>
          </p:nvPr>
        </p:nvGraphicFramePr>
        <p:xfrm>
          <a:off x="3581400" y="2751220"/>
          <a:ext cx="4876800" cy="4106779"/>
        </p:xfrm>
        <a:graphic>
          <a:graphicData uri="http://schemas.openxmlformats.org/presentationml/2006/ole">
            <mc:AlternateContent xmlns:mc="http://schemas.openxmlformats.org/markup-compatibility/2006">
              <mc:Choice xmlns:v="urn:schemas-microsoft-com:vml" Requires="v">
                <p:oleObj spid="_x0000_s7170" name="Bitmap Image" r:id="rId3" imgW="0" imgH="0" progId="Paint.Picture">
                  <p:embed/>
                </p:oleObj>
              </mc:Choice>
              <mc:Fallback>
                <p:oleObj name="Bitmap Image" r:id="rId3" imgW="0" imgH="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751220"/>
                        <a:ext cx="4876800" cy="410677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072250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endParaRPr lang="en-US" altLang="en-US" smtClean="0"/>
          </a:p>
        </p:txBody>
      </p:sp>
      <p:pic>
        <p:nvPicPr>
          <p:cNvPr id="65539"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752475" y="282769"/>
            <a:ext cx="7639050" cy="5838631"/>
          </a:xfrm>
        </p:spPr>
      </p:pic>
      <p:sp>
        <p:nvSpPr>
          <p:cNvPr id="6554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7775586-94F9-40E0-9F8D-672A25125A11}" type="slidenum">
              <a:rPr lang="en-US" altLang="en-US" smtClean="0">
                <a:solidFill>
                  <a:srgbClr val="FFFFFF"/>
                </a:solidFill>
                <a:latin typeface="Franklin Gothic Book" panose="020B0503020102020204" pitchFamily="34" charset="0"/>
              </a:rPr>
              <a:pPr/>
              <a:t>27</a:t>
            </a:fld>
            <a:endParaRPr lang="en-US" altLang="en-US" smtClean="0">
              <a:solidFill>
                <a:srgbClr val="FFFFFF"/>
              </a:solidFill>
              <a:latin typeface="Franklin Gothic Book" panose="020B0503020102020204" pitchFamily="34" charset="0"/>
            </a:endParaRPr>
          </a:p>
        </p:txBody>
      </p:sp>
      <p:sp>
        <p:nvSpPr>
          <p:cNvPr id="65541" name="Rectangle 5"/>
          <p:cNvSpPr>
            <a:spLocks noChangeArrowheads="1"/>
          </p:cNvSpPr>
          <p:nvPr/>
        </p:nvSpPr>
        <p:spPr bwMode="auto">
          <a:xfrm>
            <a:off x="914400" y="6073775"/>
            <a:ext cx="685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Find the number of products that begin with letter </a:t>
            </a:r>
            <a:r>
              <a:rPr lang="en-US" altLang="en-US" b="1" dirty="0"/>
              <a:t>A</a:t>
            </a:r>
            <a:r>
              <a:rPr lang="en-US" altLang="en-US" dirty="0"/>
              <a:t> and product sold by </a:t>
            </a:r>
            <a:r>
              <a:rPr lang="en-US" altLang="en-US" b="1" dirty="0"/>
              <a:t>Tom</a:t>
            </a:r>
            <a:r>
              <a:rPr lang="en-US" altLang="en-US" dirty="0"/>
              <a:t>.</a:t>
            </a:r>
          </a:p>
        </p:txBody>
      </p:sp>
    </p:spTree>
    <p:extLst>
      <p:ext uri="{BB962C8B-B14F-4D97-AF65-F5344CB8AC3E}">
        <p14:creationId xmlns:p14="http://schemas.microsoft.com/office/powerpoint/2010/main" val="10767024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en-US" dirty="0" smtClean="0"/>
              <a:t>Example</a:t>
            </a:r>
          </a:p>
        </p:txBody>
      </p:sp>
      <p:sp>
        <p:nvSpPr>
          <p:cNvPr id="67587"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63D9A7-5C47-4B7B-B4BC-39360D6D9752}" type="slidenum">
              <a:rPr lang="en-US" altLang="en-US" smtClean="0">
                <a:solidFill>
                  <a:srgbClr val="FFFFFF"/>
                </a:solidFill>
                <a:latin typeface="Franklin Gothic Book" panose="020B0503020102020204" pitchFamily="34" charset="0"/>
              </a:rPr>
              <a:pPr/>
              <a:t>28</a:t>
            </a:fld>
            <a:endParaRPr lang="en-US" altLang="en-US" smtClean="0">
              <a:solidFill>
                <a:srgbClr val="FFFFFF"/>
              </a:solidFill>
              <a:latin typeface="Franklin Gothic Book" panose="020B0503020102020204" pitchFamily="34" charset="0"/>
            </a:endParaRPr>
          </a:p>
        </p:txBody>
      </p:sp>
      <p:graphicFrame>
        <p:nvGraphicFramePr>
          <p:cNvPr id="67588" name="Object 3"/>
          <p:cNvGraphicFramePr>
            <a:graphicFrameLocks noGrp="1" noChangeAspect="1"/>
          </p:cNvGraphicFramePr>
          <p:nvPr>
            <p:ph sz="quarter" idx="1"/>
            <p:extLst/>
          </p:nvPr>
        </p:nvGraphicFramePr>
        <p:xfrm>
          <a:off x="526256" y="2119312"/>
          <a:ext cx="3595688" cy="4419600"/>
        </p:xfrm>
        <a:graphic>
          <a:graphicData uri="http://schemas.openxmlformats.org/presentationml/2006/ole">
            <mc:AlternateContent xmlns:mc="http://schemas.openxmlformats.org/markup-compatibility/2006">
              <mc:Choice xmlns:v="urn:schemas-microsoft-com:vml" Requires="v">
                <p:oleObj spid="_x0000_s8194" name="Bitmap Image" r:id="rId3" imgW="3115110" imgH="3828571" progId="Paint.Picture">
                  <p:embed/>
                </p:oleObj>
              </mc:Choice>
              <mc:Fallback>
                <p:oleObj name="Bitmap Image" r:id="rId3" imgW="3115110" imgH="3828571"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256" y="2119312"/>
                        <a:ext cx="359568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89" name="Rectangle 5"/>
          <p:cNvSpPr>
            <a:spLocks noGrp="1" noChangeArrowheads="1"/>
          </p:cNvSpPr>
          <p:nvPr>
            <p:ph sz="quarter" idx="2"/>
          </p:nvPr>
        </p:nvSpPr>
        <p:spPr>
          <a:xfrm>
            <a:off x="4191000" y="2087228"/>
            <a:ext cx="4495800" cy="4419600"/>
          </a:xfrm>
        </p:spPr>
        <p:txBody>
          <a:bodyPr/>
          <a:lstStyle/>
          <a:p>
            <a:pPr eaLnBrk="1" hangingPunct="1"/>
            <a:r>
              <a:rPr lang="en-US" altLang="en-US" dirty="0" smtClean="0"/>
              <a:t>Evaluate the profits to determine what percentage of their profits come from small orders those with a revenue less that </a:t>
            </a:r>
            <a:r>
              <a:rPr lang="en-US" altLang="en-US" dirty="0" err="1" smtClean="0"/>
              <a:t>Rs</a:t>
            </a:r>
            <a:r>
              <a:rPr lang="en-US" altLang="en-US" dirty="0" smtClean="0"/>
              <a:t> 100.00 and what percentage come from large orders.</a:t>
            </a:r>
          </a:p>
        </p:txBody>
      </p:sp>
    </p:spTree>
    <p:extLst>
      <p:ext uri="{BB962C8B-B14F-4D97-AF65-F5344CB8AC3E}">
        <p14:creationId xmlns:p14="http://schemas.microsoft.com/office/powerpoint/2010/main" val="37004545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en-US" smtClean="0"/>
              <a:t>Count if</a:t>
            </a:r>
          </a:p>
        </p:txBody>
      </p:sp>
      <p:sp>
        <p:nvSpPr>
          <p:cNvPr id="6963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739DD9-5D00-49D1-B2B9-48C8E56F999B}" type="slidenum">
              <a:rPr lang="en-US" altLang="en-US" smtClean="0">
                <a:solidFill>
                  <a:srgbClr val="FFFFFF"/>
                </a:solidFill>
                <a:latin typeface="Franklin Gothic Book" panose="020B0503020102020204" pitchFamily="34" charset="0"/>
              </a:rPr>
              <a:pPr/>
              <a:t>29</a:t>
            </a:fld>
            <a:endParaRPr lang="en-US" altLang="en-US" smtClean="0">
              <a:solidFill>
                <a:srgbClr val="FFFFFF"/>
              </a:solidFill>
              <a:latin typeface="Franklin Gothic Book" panose="020B0503020102020204" pitchFamily="34" charset="0"/>
            </a:endParaRPr>
          </a:p>
        </p:txBody>
      </p:sp>
      <p:sp>
        <p:nvSpPr>
          <p:cNvPr id="50180" name="Rectangle 3"/>
          <p:cNvSpPr>
            <a:spLocks noGrp="1" noChangeArrowheads="1"/>
          </p:cNvSpPr>
          <p:nvPr>
            <p:ph sz="quarter" idx="1"/>
          </p:nvPr>
        </p:nvSpPr>
        <p:spPr/>
        <p:txBody>
          <a:bodyPr/>
          <a:lstStyle/>
          <a:p>
            <a:pPr marL="0" indent="0" eaLnBrk="1" hangingPunct="1">
              <a:buFont typeface="Wingdings 2" panose="05020102010507070707" pitchFamily="18" charset="2"/>
              <a:buNone/>
              <a:defRPr/>
            </a:pPr>
            <a:r>
              <a:rPr lang="en-US" altLang="en-US" dirty="0" smtClean="0"/>
              <a:t>=</a:t>
            </a:r>
            <a:r>
              <a:rPr lang="en-US" altLang="en-US" dirty="0" err="1" smtClean="0"/>
              <a:t>Countif</a:t>
            </a:r>
            <a:r>
              <a:rPr lang="en-US" altLang="en-US" dirty="0" smtClean="0"/>
              <a:t> (</a:t>
            </a:r>
            <a:r>
              <a:rPr lang="en-US" altLang="en-US" dirty="0" err="1" smtClean="0"/>
              <a:t>range,criteria</a:t>
            </a:r>
            <a:r>
              <a:rPr lang="en-US" altLang="en-US" dirty="0" smtClean="0"/>
              <a:t>)</a:t>
            </a:r>
          </a:p>
          <a:p>
            <a:pPr eaLnBrk="1" hangingPunct="1">
              <a:buFont typeface="Wingdings" panose="05000000000000000000" pitchFamily="2" charset="2"/>
              <a:buNone/>
              <a:defRPr/>
            </a:pPr>
            <a:r>
              <a:rPr lang="en-US" altLang="en-US" dirty="0" smtClean="0"/>
              <a:t>Count the number of cells within a range the meet the given criteria. </a:t>
            </a:r>
          </a:p>
          <a:p>
            <a:pPr eaLnBrk="1" hangingPunct="1">
              <a:defRPr/>
            </a:pPr>
            <a:r>
              <a:rPr lang="en-US" altLang="en-US" dirty="0" smtClean="0"/>
              <a:t>Example:</a:t>
            </a:r>
          </a:p>
          <a:p>
            <a:pPr marL="0" indent="0" eaLnBrk="1" hangingPunct="1">
              <a:buFont typeface="Wingdings 2" panose="05020102010507070707" pitchFamily="18" charset="2"/>
              <a:buNone/>
              <a:defRPr/>
            </a:pPr>
            <a:r>
              <a:rPr lang="en-US" altLang="en-US" dirty="0" smtClean="0"/>
              <a:t>Count the number of cells that</a:t>
            </a:r>
          </a:p>
          <a:p>
            <a:pPr marL="0" indent="0" eaLnBrk="1" hangingPunct="1">
              <a:buFont typeface="Wingdings 2" panose="05020102010507070707" pitchFamily="18" charset="2"/>
              <a:buNone/>
              <a:defRPr/>
            </a:pPr>
            <a:r>
              <a:rPr lang="en-US" altLang="en-US" dirty="0" smtClean="0"/>
              <a:t> cell value is grater than 400</a:t>
            </a:r>
          </a:p>
        </p:txBody>
      </p:sp>
      <p:sp>
        <p:nvSpPr>
          <p:cNvPr id="2" name="Rectangle 1"/>
          <p:cNvSpPr/>
          <p:nvPr/>
        </p:nvSpPr>
        <p:spPr>
          <a:xfrm>
            <a:off x="5334000" y="3505200"/>
            <a:ext cx="2522538" cy="457200"/>
          </a:xfrm>
          <a:prstGeom prst="rect">
            <a:avLst/>
          </a:prstGeom>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graphicFrame>
        <p:nvGraphicFramePr>
          <p:cNvPr id="7" name="Object 7"/>
          <p:cNvGraphicFramePr>
            <a:graphicFrameLocks noChangeAspect="1"/>
          </p:cNvGraphicFramePr>
          <p:nvPr>
            <p:extLst/>
          </p:nvPr>
        </p:nvGraphicFramePr>
        <p:xfrm>
          <a:off x="6218359" y="3505200"/>
          <a:ext cx="2636716" cy="3019425"/>
        </p:xfrm>
        <a:graphic>
          <a:graphicData uri="http://schemas.openxmlformats.org/presentationml/2006/ole">
            <mc:AlternateContent xmlns:mc="http://schemas.openxmlformats.org/markup-compatibility/2006">
              <mc:Choice xmlns:v="urn:schemas-microsoft-com:vml" Requires="v">
                <p:oleObj spid="_x0000_s9218" name="Bitmap Image" r:id="rId3" imgW="1704762" imgH="1952898" progId="Paint.Picture">
                  <p:embed/>
                </p:oleObj>
              </mc:Choice>
              <mc:Fallback>
                <p:oleObj name="Bitmap Image" r:id="rId3" imgW="1704762" imgH="195289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8359" y="3505200"/>
                        <a:ext cx="2636716" cy="30194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93651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Effect transition="in" filter="circle(in)">
                                      <p:cBhvr>
                                        <p:cTn id="7" dur="2000"/>
                                        <p:tgtEl>
                                          <p:spTgt spid="50180">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0180">
                                            <p:txEl>
                                              <p:pRg st="1" end="1"/>
                                            </p:txEl>
                                          </p:spTgt>
                                        </p:tgtEl>
                                        <p:attrNameLst>
                                          <p:attrName>style.visibility</p:attrName>
                                        </p:attrNameLst>
                                      </p:cBhvr>
                                      <p:to>
                                        <p:strVal val="visible"/>
                                      </p:to>
                                    </p:set>
                                    <p:animEffect transition="in" filter="circle(in)">
                                      <p:cBhvr>
                                        <p:cTn id="10" dur="2000"/>
                                        <p:tgtEl>
                                          <p:spTgt spid="50180">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nodeType="click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animEffect transition="in" filter="barn(inVertical)">
                                      <p:cBhvr>
                                        <p:cTn id="15" dur="500"/>
                                        <p:tgtEl>
                                          <p:spTgt spid="50180">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50180">
                                            <p:txEl>
                                              <p:pRg st="3" end="3"/>
                                            </p:txEl>
                                          </p:spTgt>
                                        </p:tgtEl>
                                        <p:attrNameLst>
                                          <p:attrName>style.visibility</p:attrName>
                                        </p:attrNameLst>
                                      </p:cBhvr>
                                      <p:to>
                                        <p:strVal val="visible"/>
                                      </p:to>
                                    </p:set>
                                    <p:animEffect transition="in" filter="barn(inVertical)">
                                      <p:cBhvr>
                                        <p:cTn id="18" dur="500"/>
                                        <p:tgtEl>
                                          <p:spTgt spid="50180">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50180">
                                            <p:txEl>
                                              <p:pRg st="4" end="4"/>
                                            </p:txEl>
                                          </p:spTgt>
                                        </p:tgtEl>
                                        <p:attrNameLst>
                                          <p:attrName>style.visibility</p:attrName>
                                        </p:attrNameLst>
                                      </p:cBhvr>
                                      <p:to>
                                        <p:strVal val="visible"/>
                                      </p:to>
                                    </p:set>
                                    <p:animEffect transition="in" filter="barn(inVertical)">
                                      <p:cBhvr>
                                        <p:cTn id="21" dur="500"/>
                                        <p:tgtEl>
                                          <p:spTgt spid="50180">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smtClean="0"/>
              <a:t>=countifs()</a:t>
            </a:r>
          </a:p>
        </p:txBody>
      </p:sp>
      <p:sp>
        <p:nvSpPr>
          <p:cNvPr id="70659" name="Content Placeholder 2"/>
          <p:cNvSpPr>
            <a:spLocks noGrp="1"/>
          </p:cNvSpPr>
          <p:nvPr>
            <p:ph sz="quarter" idx="1"/>
          </p:nvPr>
        </p:nvSpPr>
        <p:spPr/>
        <p:txBody>
          <a:bodyPr/>
          <a:lstStyle/>
          <a:p>
            <a:pPr marL="0" indent="0">
              <a:spcBef>
                <a:spcPct val="0"/>
              </a:spcBef>
              <a:buClrTx/>
              <a:buSzTx/>
              <a:buFont typeface="Wingdings 2" panose="05020102010507070707" pitchFamily="18" charset="2"/>
              <a:buNone/>
            </a:pPr>
            <a:r>
              <a:rPr lang="en-US" smtClean="0">
                <a:solidFill>
                  <a:srgbClr val="444444"/>
                </a:solidFill>
                <a:latin typeface="Arial" panose="020B0604020202020204" pitchFamily="34" charset="0"/>
              </a:rPr>
              <a:t>Applies criteria to cells across multiple ranges and counts the number of times all criteria are met. </a:t>
            </a:r>
          </a:p>
          <a:p>
            <a:pPr marL="0" indent="0">
              <a:spcBef>
                <a:spcPct val="0"/>
              </a:spcBef>
              <a:buClrTx/>
              <a:buSzTx/>
              <a:buFont typeface="Wingdings 2" panose="05020102010507070707" pitchFamily="18" charset="2"/>
              <a:buNone/>
            </a:pPr>
            <a:endParaRPr lang="en-US" smtClean="0">
              <a:solidFill>
                <a:srgbClr val="444444"/>
              </a:solidFill>
              <a:latin typeface="Arial" panose="020B0604020202020204" pitchFamily="34" charset="0"/>
            </a:endParaRPr>
          </a:p>
          <a:p>
            <a:pPr marL="0" indent="0">
              <a:spcBef>
                <a:spcPct val="0"/>
              </a:spcBef>
              <a:buClrTx/>
              <a:buSzTx/>
              <a:buFont typeface="Wingdings 2" panose="05020102010507070707" pitchFamily="18" charset="2"/>
              <a:buNone/>
            </a:pPr>
            <a:r>
              <a:rPr lang="en-US" smtClean="0">
                <a:solidFill>
                  <a:srgbClr val="444444"/>
                </a:solidFill>
                <a:latin typeface="Arial" panose="020B0604020202020204" pitchFamily="34" charset="0"/>
              </a:rPr>
              <a:t>Syntax</a:t>
            </a:r>
          </a:p>
          <a:p>
            <a:pPr marL="0" indent="0">
              <a:spcBef>
                <a:spcPct val="0"/>
              </a:spcBef>
              <a:buClrTx/>
              <a:buSzTx/>
              <a:buFont typeface="Wingdings 2" panose="05020102010507070707" pitchFamily="18" charset="2"/>
              <a:buNone/>
            </a:pPr>
            <a:r>
              <a:rPr lang="en-US" sz="2400" smtClean="0">
                <a:solidFill>
                  <a:srgbClr val="444444"/>
                </a:solidFill>
                <a:latin typeface="Arial Unicode MS" panose="020B0604020202020204" pitchFamily="34" charset="-128"/>
              </a:rPr>
              <a:t>=COUNTIFS(criteria_range1, criteria1, [criteria_range2, criteria2]</a:t>
            </a:r>
            <a:r>
              <a:rPr lang="en-US" sz="2400" smtClean="0">
                <a:solidFill>
                  <a:srgbClr val="444444"/>
                </a:solidFill>
                <a:latin typeface="Arial" panose="020B0604020202020204" pitchFamily="34" charset="0"/>
              </a:rPr>
              <a:t>…</a:t>
            </a:r>
            <a:endParaRPr lang="en-US" sz="2400" smtClean="0"/>
          </a:p>
        </p:txBody>
      </p:sp>
      <p:sp>
        <p:nvSpPr>
          <p:cNvPr id="70660"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0D60718-97D4-40BD-8994-1D7F92C06BD9}" type="slidenum">
              <a:rPr lang="en-US" altLang="en-US" smtClean="0">
                <a:solidFill>
                  <a:srgbClr val="FFFFFF"/>
                </a:solidFill>
                <a:latin typeface="Franklin Gothic Book" panose="020B0503020102020204" pitchFamily="34" charset="0"/>
              </a:rPr>
              <a:pPr/>
              <a:t>30</a:t>
            </a:fld>
            <a:endParaRPr lang="en-US" altLang="en-US" smtClean="0">
              <a:solidFill>
                <a:srgbClr val="FFFFFF"/>
              </a:solidFill>
              <a:latin typeface="Franklin Gothic Book" panose="020B0503020102020204" pitchFamily="34" charset="0"/>
            </a:endParaRPr>
          </a:p>
        </p:txBody>
      </p:sp>
      <p:sp>
        <p:nvSpPr>
          <p:cNvPr id="70661" name="Rectangle 1"/>
          <p:cNvSpPr>
            <a:spLocks noChangeArrowheads="1"/>
          </p:cNvSpPr>
          <p:nvPr/>
        </p:nvSpPr>
        <p:spPr bwMode="auto">
          <a:xfrm>
            <a:off x="0" y="-142875"/>
            <a:ext cx="903288"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7457" rIns="0" bIns="17457"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ctr"/>
            <a:r>
              <a:rPr lang="en-US">
                <a:solidFill>
                  <a:srgbClr val="FFFFFF"/>
                </a:solidFill>
              </a:rPr>
              <a:t>  </a:t>
            </a:r>
            <a:r>
              <a:rPr lang="en-US" sz="500">
                <a:solidFill>
                  <a:srgbClr val="FFFFFF"/>
                </a:solidFill>
              </a:rPr>
              <a:t>S</a:t>
            </a:r>
            <a:r>
              <a:rPr lang="en-US">
                <a:solidFill>
                  <a:srgbClr val="FFFFFF"/>
                </a:solidFill>
              </a:rPr>
              <a:t>how All</a:t>
            </a:r>
            <a:endParaRPr lang="en-US">
              <a:solidFill>
                <a:srgbClr val="444444"/>
              </a:solidFill>
            </a:endParaRPr>
          </a:p>
          <a:p>
            <a:pPr fontAlgn="ctr"/>
            <a:r>
              <a:rPr lang="en-US">
                <a:solidFill>
                  <a:srgbClr val="FFFFFF"/>
                </a:solidFill>
              </a:rPr>
              <a:t>  </a:t>
            </a:r>
            <a:r>
              <a:rPr lang="en-US" sz="500">
                <a:solidFill>
                  <a:srgbClr val="FFFFFF"/>
                </a:solidFill>
              </a:rPr>
              <a:t>H</a:t>
            </a:r>
            <a:r>
              <a:rPr lang="en-US">
                <a:solidFill>
                  <a:srgbClr val="FFFFFF"/>
                </a:solidFill>
              </a:rPr>
              <a:t>ide All</a:t>
            </a:r>
            <a:endParaRPr lang="en-US">
              <a:solidFill>
                <a:srgbClr val="444444"/>
              </a:solidFill>
            </a:endParaRPr>
          </a:p>
          <a:p>
            <a:r>
              <a:rPr lang="en-US" sz="1000">
                <a:solidFill>
                  <a:srgbClr val="444444"/>
                </a:solidFill>
                <a:latin typeface="Arial Unicode MS" panose="020B0604020202020204" pitchFamily="34" charset="-128"/>
              </a:rPr>
              <a:t>)</a:t>
            </a:r>
            <a:endParaRPr lang="en-US">
              <a:solidFill>
                <a:srgbClr val="FFFFFF"/>
              </a:solidFill>
            </a:endParaRPr>
          </a:p>
        </p:txBody>
      </p:sp>
      <p:pic>
        <p:nvPicPr>
          <p:cNvPr id="70662" name="Picture 2" descr="Show 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85725" cy="8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3" descr="Hide 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400"/>
            <a:ext cx="85725" cy="8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44794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smtClean="0"/>
              <a:t>Eg:</a:t>
            </a:r>
          </a:p>
        </p:txBody>
      </p:sp>
      <p:sp>
        <p:nvSpPr>
          <p:cNvPr id="3" name="Content Placeholder 2"/>
          <p:cNvSpPr>
            <a:spLocks noGrp="1"/>
          </p:cNvSpPr>
          <p:nvPr>
            <p:ph sz="quarter" idx="1"/>
          </p:nvPr>
        </p:nvSpPr>
        <p:spPr/>
        <p:txBody>
          <a:bodyPr/>
          <a:lstStyle/>
          <a:p>
            <a:pPr marL="0" indent="0" eaLnBrk="1" hangingPunct="1">
              <a:buFont typeface="Wingdings 2" panose="05020102010507070707" pitchFamily="18" charset="2"/>
              <a:buNone/>
              <a:defRPr/>
            </a:pPr>
            <a:r>
              <a:rPr lang="en-US" altLang="en-US" dirty="0"/>
              <a:t>Count the number of cells </a:t>
            </a:r>
            <a:r>
              <a:rPr lang="en-US" altLang="en-US" dirty="0" smtClean="0"/>
              <a:t>that quantity is </a:t>
            </a:r>
            <a:r>
              <a:rPr lang="en-US" altLang="en-US" dirty="0"/>
              <a:t>grater than </a:t>
            </a:r>
            <a:r>
              <a:rPr lang="en-US" altLang="en-US" dirty="0" smtClean="0"/>
              <a:t>10 and Sales person  is Tom</a:t>
            </a:r>
          </a:p>
          <a:p>
            <a:pPr marL="0" indent="0" eaLnBrk="1" hangingPunct="1">
              <a:buFont typeface="Wingdings 2" panose="05020102010507070707" pitchFamily="18" charset="2"/>
              <a:buNone/>
              <a:defRPr/>
            </a:pPr>
            <a:r>
              <a:rPr lang="en-US" altLang="en-US" dirty="0" smtClean="0"/>
              <a:t>=</a:t>
            </a:r>
            <a:r>
              <a:rPr lang="en-US" altLang="en-US" dirty="0" err="1" smtClean="0"/>
              <a:t>countifs</a:t>
            </a:r>
            <a:r>
              <a:rPr lang="en-US" altLang="en-US" dirty="0" smtClean="0"/>
              <a:t>(A2:A8;”&gt;10”,C2:C8,”Tom”)</a:t>
            </a:r>
            <a:endParaRPr lang="en-US" altLang="en-US" dirty="0"/>
          </a:p>
          <a:p>
            <a:pPr>
              <a:defRPr/>
            </a:pPr>
            <a:endParaRPr lang="en-US" dirty="0"/>
          </a:p>
        </p:txBody>
      </p:sp>
      <p:sp>
        <p:nvSpPr>
          <p:cNvPr id="71684"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CC1E263-0AB3-4586-AF2F-CAC5A6AA2783}" type="slidenum">
              <a:rPr lang="en-US" altLang="en-US" smtClean="0">
                <a:solidFill>
                  <a:srgbClr val="FFFFFF"/>
                </a:solidFill>
                <a:latin typeface="Franklin Gothic Book" panose="020B0503020102020204" pitchFamily="34" charset="0"/>
              </a:rPr>
              <a:pPr/>
              <a:t>31</a:t>
            </a:fld>
            <a:endParaRPr lang="en-US" altLang="en-US" smtClean="0">
              <a:solidFill>
                <a:srgbClr val="FFFFFF"/>
              </a:solidFill>
              <a:latin typeface="Franklin Gothic Book" panose="020B0503020102020204" pitchFamily="34" charset="0"/>
            </a:endParaRPr>
          </a:p>
        </p:txBody>
      </p:sp>
      <p:pic>
        <p:nvPicPr>
          <p:cNvPr id="71685" name="Picture 4"/>
          <p:cNvPicPr>
            <a:picLocks noChangeAspect="1"/>
          </p:cNvPicPr>
          <p:nvPr/>
        </p:nvPicPr>
        <p:blipFill>
          <a:blip r:embed="rId2">
            <a:extLst>
              <a:ext uri="{28A0092B-C50C-407E-A947-70E740481C1C}">
                <a14:useLocalDpi xmlns:a14="http://schemas.microsoft.com/office/drawing/2010/main" val="0"/>
              </a:ext>
            </a:extLst>
          </a:blip>
          <a:srcRect t="23914" r="78697" b="48914"/>
          <a:stretch>
            <a:fillRect/>
          </a:stretch>
        </p:blipFill>
        <p:spPr bwMode="auto">
          <a:xfrm>
            <a:off x="3276600" y="3559018"/>
            <a:ext cx="4191000" cy="2879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9519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en-US" smtClean="0"/>
              <a:t>Countblank(rage)</a:t>
            </a:r>
          </a:p>
        </p:txBody>
      </p:sp>
      <p:sp>
        <p:nvSpPr>
          <p:cNvPr id="7270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EA2237-CFE5-4879-A759-7146DEED529D}" type="slidenum">
              <a:rPr lang="en-US" altLang="en-US" smtClean="0">
                <a:solidFill>
                  <a:srgbClr val="FFFFFF"/>
                </a:solidFill>
                <a:latin typeface="Franklin Gothic Book" panose="020B0503020102020204" pitchFamily="34" charset="0"/>
              </a:rPr>
              <a:pPr/>
              <a:t>32</a:t>
            </a:fld>
            <a:endParaRPr lang="en-US" altLang="en-US" smtClean="0">
              <a:solidFill>
                <a:srgbClr val="FFFFFF"/>
              </a:solidFill>
              <a:latin typeface="Franklin Gothic Book" panose="020B0503020102020204" pitchFamily="34" charset="0"/>
            </a:endParaRPr>
          </a:p>
        </p:txBody>
      </p:sp>
      <p:sp>
        <p:nvSpPr>
          <p:cNvPr id="72708" name="Rectangle 5"/>
          <p:cNvSpPr>
            <a:spLocks noGrp="1" noChangeArrowheads="1"/>
          </p:cNvSpPr>
          <p:nvPr>
            <p:ph sz="quarter" idx="1"/>
          </p:nvPr>
        </p:nvSpPr>
        <p:spPr/>
        <p:txBody>
          <a:bodyPr/>
          <a:lstStyle/>
          <a:p>
            <a:pPr eaLnBrk="1" hangingPunct="1"/>
            <a:r>
              <a:rPr lang="en-US" altLang="en-US" smtClean="0">
                <a:latin typeface="Times New Roman" panose="02020603050405020304" pitchFamily="18" charset="0"/>
                <a:cs typeface="Times New Roman" panose="02020603050405020304" pitchFamily="18" charset="0"/>
              </a:rPr>
              <a:t>Count the number of empty cell.</a:t>
            </a:r>
          </a:p>
          <a:p>
            <a:pPr eaLnBrk="1" hangingPunct="1"/>
            <a:endParaRPr lang="en-US" altLang="en-US" b="1" smtClean="0">
              <a:latin typeface="Times New Roman" panose="02020603050405020304" pitchFamily="18" charset="0"/>
              <a:cs typeface="Times New Roman" panose="02020603050405020304" pitchFamily="18" charset="0"/>
            </a:endParaRPr>
          </a:p>
          <a:p>
            <a:pPr eaLnBrk="1" hangingPunct="1"/>
            <a:r>
              <a:rPr lang="en-US" altLang="en-US" b="1" smtClean="0">
                <a:latin typeface="Times New Roman" panose="02020603050405020304" pitchFamily="18" charset="0"/>
                <a:cs typeface="Times New Roman" panose="02020603050405020304" pitchFamily="18" charset="0"/>
              </a:rPr>
              <a:t>Example </a:t>
            </a:r>
          </a:p>
          <a:p>
            <a:pPr lvl="1" eaLnBrk="1" hangingPunct="1"/>
            <a:r>
              <a:rPr lang="en-US" altLang="en-US" smtClean="0">
                <a:latin typeface="Times New Roman" panose="02020603050405020304" pitchFamily="18" charset="0"/>
                <a:cs typeface="Times New Roman" panose="02020603050405020304" pitchFamily="18" charset="0"/>
              </a:rPr>
              <a:t>Find the number of empty cells.</a:t>
            </a:r>
          </a:p>
          <a:p>
            <a:pPr eaLnBrk="1" hangingPunct="1">
              <a:buFont typeface="Wingdings" panose="05000000000000000000" pitchFamily="2" charset="2"/>
              <a:buNone/>
            </a:pPr>
            <a:endParaRPr lang="en-US" altLang="en-US" b="1" smtClean="0">
              <a:latin typeface="Times New Roman" panose="02020603050405020304" pitchFamily="18" charset="0"/>
              <a:cs typeface="Times New Roman" panose="02020603050405020304" pitchFamily="18" charset="0"/>
            </a:endParaRPr>
          </a:p>
          <a:p>
            <a:pPr eaLnBrk="1" hangingPunct="1"/>
            <a:endParaRPr lang="en-US" altLang="en-US" smtClean="0"/>
          </a:p>
        </p:txBody>
      </p:sp>
      <p:graphicFrame>
        <p:nvGraphicFramePr>
          <p:cNvPr id="72709" name="Object 6"/>
          <p:cNvGraphicFramePr>
            <a:graphicFrameLocks noChangeAspect="1"/>
          </p:cNvGraphicFramePr>
          <p:nvPr/>
        </p:nvGraphicFramePr>
        <p:xfrm>
          <a:off x="6096000" y="3200400"/>
          <a:ext cx="2259013" cy="2590800"/>
        </p:xfrm>
        <a:graphic>
          <a:graphicData uri="http://schemas.openxmlformats.org/presentationml/2006/ole">
            <mc:AlternateContent xmlns:mc="http://schemas.openxmlformats.org/markup-compatibility/2006">
              <mc:Choice xmlns:v="urn:schemas-microsoft-com:vml" Requires="v">
                <p:oleObj spid="_x0000_s10242" name="Bitmap Image" r:id="rId3" imgW="1685714" imgH="1933333" progId="Paint.Picture">
                  <p:embed/>
                </p:oleObj>
              </mc:Choice>
              <mc:Fallback>
                <p:oleObj name="Bitmap Image" r:id="rId3" imgW="1685714" imgH="193333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200400"/>
                        <a:ext cx="225901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491798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7"/>
          <p:cNvSpPr>
            <a:spLocks noGrp="1"/>
          </p:cNvSpPr>
          <p:nvPr>
            <p:ph type="title"/>
          </p:nvPr>
        </p:nvSpPr>
        <p:spPr/>
        <p:txBody>
          <a:bodyPr/>
          <a:lstStyle/>
          <a:p>
            <a:r>
              <a:rPr lang="en-US" altLang="en-US" smtClean="0"/>
              <a:t>Averageif()</a:t>
            </a:r>
          </a:p>
        </p:txBody>
      </p:sp>
      <p:sp>
        <p:nvSpPr>
          <p:cNvPr id="73731" name="Content Placeholder 6"/>
          <p:cNvSpPr>
            <a:spLocks noGrp="1"/>
          </p:cNvSpPr>
          <p:nvPr>
            <p:ph sz="quarter" idx="1"/>
          </p:nvPr>
        </p:nvSpPr>
        <p:spPr/>
        <p:txBody>
          <a:bodyPr/>
          <a:lstStyle/>
          <a:p>
            <a:pPr marL="0" indent="0">
              <a:spcBef>
                <a:spcPct val="0"/>
              </a:spcBef>
              <a:buClrTx/>
              <a:buSzTx/>
              <a:buFont typeface="Wingdings 2" panose="05020102010507070707" pitchFamily="18" charset="2"/>
              <a:buNone/>
            </a:pPr>
            <a:r>
              <a:rPr lang="en-US" altLang="en-US" sz="2800" smtClean="0">
                <a:latin typeface="Arial" panose="020B0604020202020204" pitchFamily="34" charset="0"/>
              </a:rPr>
              <a:t>Returns the average (arithmetic mean) of all the cells in a range that meet a given criteria.</a:t>
            </a:r>
          </a:p>
          <a:p>
            <a:pPr marL="0" indent="0">
              <a:spcBef>
                <a:spcPct val="0"/>
              </a:spcBef>
              <a:buClrTx/>
              <a:buSzTx/>
              <a:buFont typeface="Wingdings 2" panose="05020102010507070707" pitchFamily="18" charset="2"/>
              <a:buNone/>
            </a:pPr>
            <a:endParaRPr lang="en-US" altLang="en-US" sz="2800" smtClean="0">
              <a:latin typeface="Arial" panose="020B0604020202020204" pitchFamily="34" charset="0"/>
            </a:endParaRPr>
          </a:p>
          <a:p>
            <a:pPr marL="0" indent="0">
              <a:spcBef>
                <a:spcPct val="0"/>
              </a:spcBef>
              <a:buClrTx/>
              <a:buSzTx/>
              <a:buFont typeface="Wingdings 2" panose="05020102010507070707" pitchFamily="18" charset="2"/>
              <a:buNone/>
            </a:pPr>
            <a:r>
              <a:rPr lang="en-US" altLang="en-US" smtClean="0">
                <a:solidFill>
                  <a:srgbClr val="444444"/>
                </a:solidFill>
                <a:latin typeface="Arial" panose="020B0604020202020204" pitchFamily="34" charset="0"/>
              </a:rPr>
              <a:t>Syntax</a:t>
            </a:r>
          </a:p>
          <a:p>
            <a:pPr marL="0" indent="0">
              <a:spcBef>
                <a:spcPct val="0"/>
              </a:spcBef>
              <a:buClrTx/>
              <a:buSzTx/>
              <a:buFont typeface="Wingdings 2" panose="05020102010507070707" pitchFamily="18" charset="2"/>
              <a:buNone/>
            </a:pPr>
            <a:r>
              <a:rPr lang="en-US" altLang="en-US" sz="2800" smtClean="0">
                <a:latin typeface="Arial Unicode MS" panose="020B0604020202020204" pitchFamily="34" charset="-128"/>
              </a:rPr>
              <a:t>=AVERAGEIF(range, criteria, [average_range])</a:t>
            </a:r>
          </a:p>
          <a:p>
            <a:pPr marL="0" indent="0">
              <a:spcBef>
                <a:spcPct val="0"/>
              </a:spcBef>
              <a:buClrTx/>
              <a:buSzTx/>
              <a:buFont typeface="Wingdings 2" panose="05020102010507070707" pitchFamily="18" charset="2"/>
              <a:buNone/>
            </a:pPr>
            <a:endParaRPr lang="en-US" altLang="en-US" sz="2000" smtClean="0">
              <a:latin typeface="Arial" panose="020B0604020202020204" pitchFamily="34" charset="0"/>
            </a:endParaRPr>
          </a:p>
          <a:p>
            <a:pPr marL="0" indent="0">
              <a:spcBef>
                <a:spcPct val="0"/>
              </a:spcBef>
              <a:buClrTx/>
              <a:buSzTx/>
              <a:buFont typeface="Wingdings 2" panose="05020102010507070707" pitchFamily="18" charset="2"/>
              <a:buNone/>
            </a:pPr>
            <a:r>
              <a:rPr lang="en-US" altLang="en-US" sz="2000" smtClean="0">
                <a:latin typeface="Arial" panose="020B0604020202020204" pitchFamily="34" charset="0"/>
              </a:rPr>
              <a:t>Example:</a:t>
            </a:r>
          </a:p>
          <a:p>
            <a:pPr marL="0" indent="0">
              <a:spcBef>
                <a:spcPct val="0"/>
              </a:spcBef>
              <a:buClrTx/>
              <a:buSzTx/>
              <a:buFont typeface="Wingdings 2" panose="05020102010507070707" pitchFamily="18" charset="2"/>
              <a:buNone/>
            </a:pPr>
            <a:r>
              <a:rPr lang="en-US" altLang="en-US" sz="2000" smtClean="0">
                <a:latin typeface="Arial" panose="020B0604020202020204" pitchFamily="34" charset="0"/>
              </a:rPr>
              <a:t>Find the average salary of employees who’s</a:t>
            </a:r>
          </a:p>
          <a:p>
            <a:pPr marL="0" indent="0">
              <a:spcBef>
                <a:spcPct val="0"/>
              </a:spcBef>
              <a:buClrTx/>
              <a:buSzTx/>
              <a:buFont typeface="Wingdings 2" panose="05020102010507070707" pitchFamily="18" charset="2"/>
              <a:buNone/>
            </a:pPr>
            <a:r>
              <a:rPr lang="en-US" altLang="en-US" sz="2000" smtClean="0">
                <a:latin typeface="Arial" panose="020B0604020202020204" pitchFamily="34" charset="0"/>
              </a:rPr>
              <a:t> salary is grater than 50,000.</a:t>
            </a:r>
          </a:p>
          <a:p>
            <a:pPr marL="0" indent="0">
              <a:spcBef>
                <a:spcPct val="0"/>
              </a:spcBef>
              <a:buClrTx/>
              <a:buSzTx/>
              <a:buFont typeface="Wingdings 2" panose="05020102010507070707" pitchFamily="18" charset="2"/>
              <a:buNone/>
            </a:pPr>
            <a:endParaRPr lang="en-US" altLang="en-US" smtClean="0"/>
          </a:p>
        </p:txBody>
      </p:sp>
      <p:sp>
        <p:nvSpPr>
          <p:cNvPr id="73732"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3694165-E90D-4B0E-BAE2-61EB016B3A95}" type="slidenum">
              <a:rPr lang="en-US" altLang="en-US" smtClean="0">
                <a:solidFill>
                  <a:srgbClr val="FFFFFF"/>
                </a:solidFill>
                <a:latin typeface="Franklin Gothic Book" panose="020B0503020102020204" pitchFamily="34" charset="0"/>
              </a:rPr>
              <a:pPr/>
              <a:t>33</a:t>
            </a:fld>
            <a:endParaRPr lang="en-US" altLang="en-US" smtClean="0">
              <a:solidFill>
                <a:srgbClr val="FFFFFF"/>
              </a:solidFill>
              <a:latin typeface="Franklin Gothic Book" panose="020B0503020102020204" pitchFamily="34" charset="0"/>
            </a:endParaRPr>
          </a:p>
        </p:txBody>
      </p:sp>
      <p:pic>
        <p:nvPicPr>
          <p:cNvPr id="73733" name="Picture 1"/>
          <p:cNvPicPr>
            <a:picLocks noChangeAspect="1"/>
          </p:cNvPicPr>
          <p:nvPr/>
        </p:nvPicPr>
        <p:blipFill>
          <a:blip r:embed="rId2">
            <a:extLst>
              <a:ext uri="{28A0092B-C50C-407E-A947-70E740481C1C}">
                <a14:useLocalDpi xmlns:a14="http://schemas.microsoft.com/office/drawing/2010/main" val="0"/>
              </a:ext>
            </a:extLst>
          </a:blip>
          <a:srcRect l="220" t="20651" r="84554" b="54349"/>
          <a:stretch>
            <a:fillRect/>
          </a:stretch>
        </p:blipFill>
        <p:spPr bwMode="auto">
          <a:xfrm>
            <a:off x="6324600" y="4241800"/>
            <a:ext cx="261302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4" name="Rectangle 2"/>
          <p:cNvSpPr>
            <a:spLocks noChangeArrowheads="1"/>
          </p:cNvSpPr>
          <p:nvPr/>
        </p:nvSpPr>
        <p:spPr bwMode="auto">
          <a:xfrm>
            <a:off x="1516063" y="6196013"/>
            <a:ext cx="4102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t>=AVERAGEIF(B2:B6,"&gt;50000",B2:B6)</a:t>
            </a:r>
          </a:p>
        </p:txBody>
      </p:sp>
    </p:spTree>
    <p:extLst>
      <p:ext uri="{BB962C8B-B14F-4D97-AF65-F5344CB8AC3E}">
        <p14:creationId xmlns:p14="http://schemas.microsoft.com/office/powerpoint/2010/main" val="8794456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ltLang="en-US" smtClean="0"/>
              <a:t>=Averageifs()</a:t>
            </a:r>
          </a:p>
        </p:txBody>
      </p:sp>
      <p:sp>
        <p:nvSpPr>
          <p:cNvPr id="3" name="Content Placeholder 2"/>
          <p:cNvSpPr>
            <a:spLocks noGrp="1"/>
          </p:cNvSpPr>
          <p:nvPr>
            <p:ph sz="quarter" idx="1"/>
          </p:nvPr>
        </p:nvSpPr>
        <p:spPr/>
        <p:txBody>
          <a:bodyPr>
            <a:normAutofit lnSpcReduction="10000"/>
          </a:bodyPr>
          <a:lstStyle/>
          <a:p>
            <a:pPr>
              <a:defRPr/>
            </a:pPr>
            <a:r>
              <a:rPr lang="en-US" dirty="0" smtClean="0"/>
              <a:t>Returns the average (arithmetic mean) of all cells that meet multiple criteria.</a:t>
            </a:r>
          </a:p>
          <a:p>
            <a:pPr marL="0" indent="0">
              <a:spcBef>
                <a:spcPct val="0"/>
              </a:spcBef>
              <a:buClrTx/>
              <a:buSzTx/>
              <a:buFont typeface="Wingdings 2" panose="05020102010507070707" pitchFamily="18" charset="2"/>
              <a:buNone/>
              <a:defRPr/>
            </a:pPr>
            <a:r>
              <a:rPr lang="en-US" altLang="en-US" sz="2000" dirty="0" smtClean="0">
                <a:solidFill>
                  <a:srgbClr val="444444"/>
                </a:solidFill>
                <a:latin typeface="Arial" panose="020B0604020202020204" pitchFamily="34" charset="0"/>
              </a:rPr>
              <a:t>Syntax</a:t>
            </a:r>
          </a:p>
          <a:p>
            <a:pPr marL="0" indent="0">
              <a:spcBef>
                <a:spcPct val="0"/>
              </a:spcBef>
              <a:buClrTx/>
              <a:buSzTx/>
              <a:buFont typeface="Wingdings 2" panose="05020102010507070707" pitchFamily="18" charset="2"/>
              <a:buNone/>
              <a:defRPr/>
            </a:pPr>
            <a:endParaRPr lang="en-US" altLang="en-US" sz="2000" dirty="0" smtClean="0">
              <a:solidFill>
                <a:srgbClr val="444444"/>
              </a:solidFill>
              <a:latin typeface="Arial" panose="020B0604020202020204" pitchFamily="34" charset="0"/>
            </a:endParaRPr>
          </a:p>
          <a:p>
            <a:pPr marL="0" indent="0">
              <a:spcBef>
                <a:spcPct val="0"/>
              </a:spcBef>
              <a:buClrTx/>
              <a:buSzTx/>
              <a:buFont typeface="Wingdings 2" panose="05020102010507070707" pitchFamily="18" charset="2"/>
              <a:buNone/>
              <a:defRPr/>
            </a:pPr>
            <a:r>
              <a:rPr lang="en-US" altLang="en-US" sz="2000" dirty="0" smtClean="0">
                <a:latin typeface="Arial Unicode MS" panose="020B0604020202020204" pitchFamily="34" charset="-128"/>
              </a:rPr>
              <a:t>=AVERAGEIFS(</a:t>
            </a:r>
            <a:r>
              <a:rPr lang="en-US" altLang="en-US" sz="2000" dirty="0" err="1" smtClean="0">
                <a:latin typeface="Arial Unicode MS" panose="020B0604020202020204" pitchFamily="34" charset="-128"/>
              </a:rPr>
              <a:t>average_range</a:t>
            </a:r>
            <a:r>
              <a:rPr lang="en-US" altLang="en-US" sz="2000" dirty="0" smtClean="0">
                <a:latin typeface="Arial Unicode MS" panose="020B0604020202020204" pitchFamily="34" charset="-128"/>
              </a:rPr>
              <a:t>, criteria_range1, criteria1, [criteria_range2, criteria2,………………..)</a:t>
            </a:r>
          </a:p>
          <a:p>
            <a:pPr marL="0" indent="0">
              <a:spcBef>
                <a:spcPct val="0"/>
              </a:spcBef>
              <a:buClrTx/>
              <a:buSzTx/>
              <a:buFont typeface="Wingdings 2" panose="05020102010507070707" pitchFamily="18" charset="2"/>
              <a:buNone/>
              <a:defRPr/>
            </a:pPr>
            <a:r>
              <a:rPr lang="en-US" altLang="en-US" sz="2000" smtClean="0">
                <a:latin typeface="Arial Unicode MS" panose="020B0604020202020204" pitchFamily="34" charset="-128"/>
              </a:rPr>
              <a:t>Example:</a:t>
            </a:r>
            <a:endParaRPr lang="en-US" altLang="en-US" sz="2000" dirty="0">
              <a:latin typeface="Arial Unicode MS" panose="020B0604020202020204" pitchFamily="34" charset="-128"/>
            </a:endParaRPr>
          </a:p>
          <a:p>
            <a:pPr marL="0" lvl="1" indent="0">
              <a:spcBef>
                <a:spcPct val="0"/>
              </a:spcBef>
              <a:buClrTx/>
              <a:buSzTx/>
              <a:buFont typeface="Wingdings 2" panose="05020102010507070707" pitchFamily="18" charset="2"/>
              <a:buNone/>
              <a:defRPr/>
            </a:pPr>
            <a:r>
              <a:rPr lang="en-US" dirty="0"/>
              <a:t>Calculate the average net salary of employee who earn more than 50 000 basic salary and more than 60000 net salary.</a:t>
            </a:r>
          </a:p>
          <a:p>
            <a:pPr marL="0" indent="0">
              <a:spcBef>
                <a:spcPct val="0"/>
              </a:spcBef>
              <a:buClrTx/>
              <a:buSzTx/>
              <a:buFont typeface="Wingdings 2" panose="05020102010507070707" pitchFamily="18" charset="2"/>
              <a:buNone/>
              <a:defRPr/>
            </a:pPr>
            <a:endParaRPr lang="en-US" altLang="en-US" sz="1600" dirty="0" smtClean="0">
              <a:latin typeface="Arial" panose="020B0604020202020204" pitchFamily="34" charset="0"/>
            </a:endParaRPr>
          </a:p>
          <a:p>
            <a:pPr marL="0" indent="0">
              <a:spcBef>
                <a:spcPct val="0"/>
              </a:spcBef>
              <a:buClrTx/>
              <a:buSzTx/>
              <a:buFont typeface="Wingdings 2" panose="05020102010507070707" pitchFamily="18" charset="2"/>
              <a:buNone/>
              <a:defRPr/>
            </a:pPr>
            <a:r>
              <a:rPr lang="en-US" altLang="en-US" sz="1600" dirty="0" smtClean="0">
                <a:latin typeface="Arial" panose="020B0604020202020204" pitchFamily="34" charset="0"/>
              </a:rPr>
              <a:t>=</a:t>
            </a:r>
            <a:r>
              <a:rPr lang="en-US" altLang="en-US" sz="1600" dirty="0">
                <a:latin typeface="Arial" panose="020B0604020202020204" pitchFamily="34" charset="0"/>
              </a:rPr>
              <a:t>AVERAGEIFS(C2:C6,B2:B6,"&gt;45000",C2:C6,"&gt;60000")</a:t>
            </a:r>
            <a:endParaRPr lang="en-US" altLang="en-US" sz="1600" dirty="0" smtClean="0">
              <a:latin typeface="Arial" panose="020B0604020202020204" pitchFamily="34" charset="0"/>
            </a:endParaRPr>
          </a:p>
          <a:p>
            <a:pPr>
              <a:defRPr/>
            </a:pPr>
            <a:endParaRPr lang="en-US" sz="1600" dirty="0" smtClean="0"/>
          </a:p>
          <a:p>
            <a:pPr>
              <a:defRPr/>
            </a:pPr>
            <a:endParaRPr lang="en-US" sz="2000" dirty="0"/>
          </a:p>
        </p:txBody>
      </p:sp>
      <p:sp>
        <p:nvSpPr>
          <p:cNvPr id="7475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60F59BF-01AC-4347-90C2-580730DD6889}" type="slidenum">
              <a:rPr lang="en-US" altLang="en-US" smtClean="0">
                <a:solidFill>
                  <a:srgbClr val="FFFFFF"/>
                </a:solidFill>
                <a:latin typeface="Franklin Gothic Book" panose="020B0503020102020204" pitchFamily="34" charset="0"/>
              </a:rPr>
              <a:pPr/>
              <a:t>34</a:t>
            </a:fld>
            <a:endParaRPr lang="en-US" altLang="en-US" smtClean="0">
              <a:solidFill>
                <a:srgbClr val="FFFFFF"/>
              </a:solidFill>
              <a:latin typeface="Franklin Gothic Book" panose="020B0503020102020204" pitchFamily="34" charset="0"/>
            </a:endParaRPr>
          </a:p>
        </p:txBody>
      </p:sp>
      <p:pic>
        <p:nvPicPr>
          <p:cNvPr id="74757" name="Picture 4"/>
          <p:cNvPicPr>
            <a:picLocks noChangeAspect="1" noChangeArrowheads="1"/>
          </p:cNvPicPr>
          <p:nvPr/>
        </p:nvPicPr>
        <p:blipFill>
          <a:blip r:embed="rId2">
            <a:extLst>
              <a:ext uri="{28A0092B-C50C-407E-A947-70E740481C1C}">
                <a14:useLocalDpi xmlns:a14="http://schemas.microsoft.com/office/drawing/2010/main" val="0"/>
              </a:ext>
            </a:extLst>
          </a:blip>
          <a:srcRect l="162" t="24043" r="77904" b="54230"/>
          <a:stretch>
            <a:fillRect/>
          </a:stretch>
        </p:blipFill>
        <p:spPr bwMode="auto">
          <a:xfrm>
            <a:off x="5943600" y="5000625"/>
            <a:ext cx="2895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98991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ltLang="en-US" sz="2400" b="1" smtClean="0">
                <a:solidFill>
                  <a:schemeClr val="bg1"/>
                </a:solidFill>
              </a:rPr>
              <a:t>PRODUCT</a:t>
            </a:r>
            <a:r>
              <a:rPr lang="en-US" altLang="en-US" sz="2400" smtClean="0">
                <a:solidFill>
                  <a:schemeClr val="bg1"/>
                </a:solidFill>
              </a:rPr>
              <a:t>(</a:t>
            </a:r>
            <a:r>
              <a:rPr lang="en-US" altLang="en-US" sz="2400" b="1" smtClean="0">
                <a:solidFill>
                  <a:schemeClr val="bg1"/>
                </a:solidFill>
              </a:rPr>
              <a:t>number1</a:t>
            </a:r>
            <a:r>
              <a:rPr lang="en-US" altLang="en-US" sz="2400" smtClean="0">
                <a:solidFill>
                  <a:schemeClr val="bg1"/>
                </a:solidFill>
              </a:rPr>
              <a:t>,number2, ...)</a:t>
            </a:r>
          </a:p>
        </p:txBody>
      </p:sp>
      <p:sp>
        <p:nvSpPr>
          <p:cNvPr id="7577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05040A-9E46-4230-846A-5711B27A5A7A}" type="slidenum">
              <a:rPr lang="en-US" altLang="en-US" smtClean="0">
                <a:solidFill>
                  <a:srgbClr val="FFFFFF"/>
                </a:solidFill>
                <a:latin typeface="Franklin Gothic Book" panose="020B0503020102020204" pitchFamily="34" charset="0"/>
              </a:rPr>
              <a:pPr/>
              <a:t>35</a:t>
            </a:fld>
            <a:endParaRPr lang="en-US" altLang="en-US" smtClean="0">
              <a:solidFill>
                <a:srgbClr val="FFFFFF"/>
              </a:solidFill>
              <a:latin typeface="Franklin Gothic Book" panose="020B0503020102020204" pitchFamily="34" charset="0"/>
            </a:endParaRPr>
          </a:p>
        </p:txBody>
      </p:sp>
      <p:sp>
        <p:nvSpPr>
          <p:cNvPr id="75780" name="Rectangle 3"/>
          <p:cNvSpPr>
            <a:spLocks noGrp="1" noChangeArrowheads="1"/>
          </p:cNvSpPr>
          <p:nvPr>
            <p:ph sz="quarter" idx="1"/>
          </p:nvPr>
        </p:nvSpPr>
        <p:spPr>
          <a:xfrm>
            <a:off x="457200" y="1524000"/>
            <a:ext cx="7924800" cy="4419600"/>
          </a:xfrm>
        </p:spPr>
        <p:txBody>
          <a:bodyPr/>
          <a:lstStyle/>
          <a:p>
            <a:pPr eaLnBrk="1" hangingPunct="1"/>
            <a:r>
              <a:rPr lang="en-US" altLang="en-US" smtClean="0"/>
              <a:t>The </a:t>
            </a:r>
            <a:r>
              <a:rPr lang="en-US" altLang="en-US" b="1" smtClean="0"/>
              <a:t>PRODUCT</a:t>
            </a:r>
            <a:r>
              <a:rPr lang="en-US" altLang="en-US" smtClean="0"/>
              <a:t> function multiplies all the numbers given as arguments and returns the product. </a:t>
            </a:r>
          </a:p>
        </p:txBody>
      </p:sp>
      <p:graphicFrame>
        <p:nvGraphicFramePr>
          <p:cNvPr id="75781" name="Object 4"/>
          <p:cNvGraphicFramePr>
            <a:graphicFrameLocks noChangeAspect="1"/>
          </p:cNvGraphicFramePr>
          <p:nvPr/>
        </p:nvGraphicFramePr>
        <p:xfrm>
          <a:off x="3581400" y="4419600"/>
          <a:ext cx="4038600" cy="1817688"/>
        </p:xfrm>
        <a:graphic>
          <a:graphicData uri="http://schemas.openxmlformats.org/presentationml/2006/ole">
            <mc:AlternateContent xmlns:mc="http://schemas.openxmlformats.org/markup-compatibility/2006">
              <mc:Choice xmlns:v="urn:schemas-microsoft-com:vml" Requires="v">
                <p:oleObj spid="_x0000_s11266" name="Bitmap Image" r:id="rId3" imgW="2943636" imgH="1057423" progId="Paint.Picture">
                  <p:embed/>
                </p:oleObj>
              </mc:Choice>
              <mc:Fallback>
                <p:oleObj name="Bitmap Image" r:id="rId3" imgW="2943636" imgH="105742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419600"/>
                        <a:ext cx="4038600" cy="181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82" name="Rectangle 5"/>
          <p:cNvSpPr>
            <a:spLocks noChangeArrowheads="1"/>
          </p:cNvSpPr>
          <p:nvPr/>
        </p:nvSpPr>
        <p:spPr bwMode="auto">
          <a:xfrm>
            <a:off x="533400" y="2743200"/>
            <a:ext cx="80772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latin typeface="Times New Roman" panose="02020603050405020304" pitchFamily="18" charset="0"/>
              </a:rPr>
              <a:t/>
            </a:r>
            <a:br>
              <a:rPr lang="en-US" altLang="en-US" sz="2400">
                <a:latin typeface="Times New Roman" panose="02020603050405020304" pitchFamily="18" charset="0"/>
              </a:rPr>
            </a:br>
            <a:r>
              <a:rPr lang="en-US" altLang="en-US" sz="2400"/>
              <a:t>Number1, number2, ...   are 1 to 30 numbers that you want to multiply</a:t>
            </a:r>
            <a:r>
              <a:rPr lang="en-US" altLang="en-US" sz="4200"/>
              <a:t>.</a:t>
            </a:r>
            <a:br>
              <a:rPr lang="en-US" altLang="en-US" sz="4200"/>
            </a:br>
            <a:endParaRPr lang="en-US" altLang="en-US" sz="4200"/>
          </a:p>
        </p:txBody>
      </p:sp>
      <p:sp>
        <p:nvSpPr>
          <p:cNvPr id="75783" name="Rectangle 6"/>
          <p:cNvSpPr>
            <a:spLocks noChangeArrowheads="1"/>
          </p:cNvSpPr>
          <p:nvPr/>
        </p:nvSpPr>
        <p:spPr bwMode="auto">
          <a:xfrm>
            <a:off x="603250" y="457200"/>
            <a:ext cx="5118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t>Syntax</a:t>
            </a:r>
            <a:r>
              <a:rPr lang="en-US" altLang="en-US" sz="2400"/>
              <a:t/>
            </a:r>
            <a:br>
              <a:rPr lang="en-US" altLang="en-US" sz="2400"/>
            </a:br>
            <a:r>
              <a:rPr lang="en-US" altLang="en-US" sz="2400"/>
              <a:t>=</a:t>
            </a:r>
            <a:r>
              <a:rPr lang="en-US" altLang="en-US" sz="2400" b="1"/>
              <a:t>PRODUCT</a:t>
            </a:r>
            <a:r>
              <a:rPr lang="en-US" altLang="en-US" sz="2400"/>
              <a:t>(</a:t>
            </a:r>
            <a:r>
              <a:rPr lang="en-US" altLang="en-US" sz="2400" b="1"/>
              <a:t>number1</a:t>
            </a:r>
            <a:r>
              <a:rPr lang="en-US" altLang="en-US" sz="2400"/>
              <a:t>,number2, ...)</a:t>
            </a:r>
            <a:br>
              <a:rPr lang="en-US" altLang="en-US" sz="2400"/>
            </a:br>
            <a:endParaRPr lang="en-US" altLang="en-US" sz="2400"/>
          </a:p>
        </p:txBody>
      </p:sp>
    </p:spTree>
    <p:extLst>
      <p:ext uri="{BB962C8B-B14F-4D97-AF65-F5344CB8AC3E}">
        <p14:creationId xmlns:p14="http://schemas.microsoft.com/office/powerpoint/2010/main" val="16767516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307976"/>
            <a:ext cx="8229600" cy="1143000"/>
          </a:xfrm>
        </p:spPr>
        <p:txBody>
          <a:bodyPr/>
          <a:lstStyle/>
          <a:p>
            <a:pPr eaLnBrk="1" hangingPunct="1"/>
            <a:r>
              <a:rPr lang="en-US" altLang="en-US" dirty="0" smtClean="0">
                <a:solidFill>
                  <a:schemeClr val="tx1"/>
                </a:solidFill>
                <a:cs typeface="Times New Roman" panose="02020603050405020304" pitchFamily="18" charset="0"/>
              </a:rPr>
              <a:t>=</a:t>
            </a:r>
            <a:r>
              <a:rPr lang="en-US" altLang="en-US" dirty="0" err="1" smtClean="0">
                <a:solidFill>
                  <a:schemeClr val="tx1"/>
                </a:solidFill>
                <a:cs typeface="Times New Roman" panose="02020603050405020304" pitchFamily="18" charset="0"/>
              </a:rPr>
              <a:t>Sumproduct</a:t>
            </a:r>
            <a:r>
              <a:rPr lang="en-US" altLang="en-US" dirty="0" smtClean="0">
                <a:solidFill>
                  <a:schemeClr val="tx1"/>
                </a:solidFill>
                <a:cs typeface="Times New Roman" panose="02020603050405020304" pitchFamily="18" charset="0"/>
              </a:rPr>
              <a:t>(array 1,array,....)</a:t>
            </a:r>
          </a:p>
        </p:txBody>
      </p:sp>
      <p:sp>
        <p:nvSpPr>
          <p:cNvPr id="7680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8799698-687A-457B-A033-D302CAB971BC}" type="slidenum">
              <a:rPr lang="en-US" altLang="en-US" smtClean="0">
                <a:solidFill>
                  <a:srgbClr val="FFFFFF"/>
                </a:solidFill>
                <a:latin typeface="Franklin Gothic Book" panose="020B0503020102020204" pitchFamily="34" charset="0"/>
              </a:rPr>
              <a:pPr/>
              <a:t>36</a:t>
            </a:fld>
            <a:endParaRPr lang="en-US" altLang="en-US" smtClean="0">
              <a:solidFill>
                <a:srgbClr val="FFFFFF"/>
              </a:solidFill>
              <a:latin typeface="Franklin Gothic Book" panose="020B0503020102020204" pitchFamily="34" charset="0"/>
            </a:endParaRPr>
          </a:p>
        </p:txBody>
      </p:sp>
      <p:sp>
        <p:nvSpPr>
          <p:cNvPr id="76804" name="Rectangle 3"/>
          <p:cNvSpPr>
            <a:spLocks noGrp="1" noChangeArrowheads="1"/>
          </p:cNvSpPr>
          <p:nvPr>
            <p:ph sz="quarter" idx="1"/>
          </p:nvPr>
        </p:nvSpPr>
        <p:spPr>
          <a:xfrm>
            <a:off x="609600" y="1219200"/>
            <a:ext cx="7924800" cy="4800600"/>
          </a:xfrm>
        </p:spPr>
        <p:txBody>
          <a:bodyPr>
            <a:normAutofit/>
          </a:bodyPr>
          <a:lstStyle/>
          <a:p>
            <a:pPr eaLnBrk="1" hangingPunct="1"/>
            <a:r>
              <a:rPr lang="en-US" altLang="en-US" sz="2400" dirty="0" smtClean="0"/>
              <a:t>Multiplies corresponding components in the given arrays, and returns the sum of those products.</a:t>
            </a:r>
          </a:p>
          <a:p>
            <a:pPr lvl="1" eaLnBrk="1" hangingPunct="1"/>
            <a:r>
              <a:rPr lang="en-US" altLang="en-US" sz="2200" dirty="0" smtClean="0">
                <a:cs typeface="Times New Roman" panose="02020603050405020304" pitchFamily="18" charset="0"/>
              </a:rPr>
              <a:t>Array1, array2, array3, ...   are 2 to 30 arrays whose components you want to multiply and then add. </a:t>
            </a:r>
          </a:p>
          <a:p>
            <a:pPr lvl="1" eaLnBrk="1" hangingPunct="1"/>
            <a:r>
              <a:rPr lang="en-US" altLang="en-US" sz="2200" dirty="0" smtClean="0">
                <a:cs typeface="Times New Roman" panose="02020603050405020304" pitchFamily="18" charset="0"/>
              </a:rPr>
              <a:t>The array arguments must have the same dimensions. If they do not, SUMPRODUCT returns the #VALUE! error value.</a:t>
            </a:r>
            <a:r>
              <a:rPr lang="en-US" altLang="en-US" dirty="0" smtClean="0">
                <a:cs typeface="Times New Roman" panose="02020603050405020304" pitchFamily="18" charset="0"/>
              </a:rPr>
              <a:t/>
            </a:r>
            <a:br>
              <a:rPr lang="en-US" altLang="en-US" dirty="0" smtClean="0">
                <a:cs typeface="Times New Roman" panose="02020603050405020304" pitchFamily="18" charset="0"/>
              </a:rPr>
            </a:br>
            <a:endParaRPr lang="en-US" altLang="en-US" dirty="0" smtClean="0">
              <a:cs typeface="Times New Roman" panose="02020603050405020304" pitchFamily="18" charset="0"/>
            </a:endParaRPr>
          </a:p>
        </p:txBody>
      </p:sp>
      <p:sp>
        <p:nvSpPr>
          <p:cNvPr id="76805" name="Rectangle 5"/>
          <p:cNvSpPr>
            <a:spLocks noChangeArrowheads="1"/>
          </p:cNvSpPr>
          <p:nvPr/>
        </p:nvSpPr>
        <p:spPr bwMode="auto">
          <a:xfrm>
            <a:off x="2857500" y="2428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graphicFrame>
        <p:nvGraphicFramePr>
          <p:cNvPr id="76806" name="Object 4"/>
          <p:cNvGraphicFramePr>
            <a:graphicFrameLocks noChangeAspect="1"/>
          </p:cNvGraphicFramePr>
          <p:nvPr/>
        </p:nvGraphicFramePr>
        <p:xfrm>
          <a:off x="4191000" y="3978275"/>
          <a:ext cx="4343400" cy="2533650"/>
        </p:xfrm>
        <a:graphic>
          <a:graphicData uri="http://schemas.openxmlformats.org/presentationml/2006/ole">
            <mc:AlternateContent xmlns:mc="http://schemas.openxmlformats.org/markup-compatibility/2006">
              <mc:Choice xmlns:v="urn:schemas-microsoft-com:vml" Requires="v">
                <p:oleObj spid="_x0000_s12290" r:id="rId3" imgW="3895238" imgH="2276793" progId="Paint.Picture">
                  <p:embed/>
                </p:oleObj>
              </mc:Choice>
              <mc:Fallback>
                <p:oleObj r:id="rId3" imgW="3895238" imgH="227679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978275"/>
                        <a:ext cx="43434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598977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END</a:t>
            </a:r>
            <a:endParaRPr lang="en-US"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37</a:t>
            </a:fld>
            <a:endParaRPr lang="en-US" dirty="0"/>
          </a:p>
        </p:txBody>
      </p:sp>
    </p:spTree>
    <p:extLst>
      <p:ext uri="{BB962C8B-B14F-4D97-AF65-F5344CB8AC3E}">
        <p14:creationId xmlns:p14="http://schemas.microsoft.com/office/powerpoint/2010/main" val="3699609016"/>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12496</TotalTime>
  <Words>1233</Words>
  <Application>Microsoft Office PowerPoint</Application>
  <PresentationFormat>On-screen Show (4:3)</PresentationFormat>
  <Paragraphs>229</Paragraphs>
  <Slides>37</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7" baseType="lpstr">
      <vt:lpstr>Arial Unicode MS</vt:lpstr>
      <vt:lpstr>Arial</vt:lpstr>
      <vt:lpstr>Calibri</vt:lpstr>
      <vt:lpstr>Franklin Gothic Book</vt:lpstr>
      <vt:lpstr>Tahoma</vt:lpstr>
      <vt:lpstr>Times New Roman</vt:lpstr>
      <vt:lpstr>Wingdings</vt:lpstr>
      <vt:lpstr>Wingdings 2</vt:lpstr>
      <vt:lpstr>HNDIT</vt:lpstr>
      <vt:lpstr>Bitmap Image</vt:lpstr>
      <vt:lpstr>HNDIT1101: Personal Computer Applications </vt:lpstr>
      <vt:lpstr>Introducing Functions</vt:lpstr>
      <vt:lpstr>Functions</vt:lpstr>
      <vt:lpstr>=Average(number1,number2,….)</vt:lpstr>
      <vt:lpstr>Averagea(value1,value2,…)</vt:lpstr>
      <vt:lpstr>Count Function</vt:lpstr>
      <vt:lpstr>PowerPoint Presentation</vt:lpstr>
      <vt:lpstr>=Min(range) Minimum value in data range</vt:lpstr>
      <vt:lpstr>If function</vt:lpstr>
      <vt:lpstr>PowerPoint Presentation</vt:lpstr>
      <vt:lpstr>Example</vt:lpstr>
      <vt:lpstr>Nested if</vt:lpstr>
      <vt:lpstr>Example</vt:lpstr>
      <vt:lpstr>Using compound conditions in IF functions</vt:lpstr>
      <vt:lpstr>AND function</vt:lpstr>
      <vt:lpstr>01 Example</vt:lpstr>
      <vt:lpstr>02 Example</vt:lpstr>
      <vt:lpstr>OR function</vt:lpstr>
      <vt:lpstr>01 Example</vt:lpstr>
      <vt:lpstr>Conditional formatting</vt:lpstr>
      <vt:lpstr>PowerPoint Presentation</vt:lpstr>
      <vt:lpstr>PowerPoint Presentation</vt:lpstr>
      <vt:lpstr>The sumif function</vt:lpstr>
      <vt:lpstr>Select sum of discount where amount less than 5000</vt:lpstr>
      <vt:lpstr>=sumifs()</vt:lpstr>
      <vt:lpstr>PowerPoint Presentation</vt:lpstr>
      <vt:lpstr>PowerPoint Presentation</vt:lpstr>
      <vt:lpstr>Example</vt:lpstr>
      <vt:lpstr>Count if</vt:lpstr>
      <vt:lpstr>=countifs()</vt:lpstr>
      <vt:lpstr>Eg:</vt:lpstr>
      <vt:lpstr>Countblank(rage)</vt:lpstr>
      <vt:lpstr>Averageif()</vt:lpstr>
      <vt:lpstr>=Averageifs()</vt:lpstr>
      <vt:lpstr>PRODUCT(number1,number2, ...)</vt:lpstr>
      <vt:lpstr>=Sumproduct(array 1,array,....)</vt:lpstr>
      <vt:lpstr>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HNDIT11012: Personal Computer Applications</dc:title>
  <dc:creator>DNP</dc:creator>
  <cp:lastModifiedBy>DNP</cp:lastModifiedBy>
  <cp:revision>17</cp:revision>
  <dcterms:created xsi:type="dcterms:W3CDTF">2018-05-21T10:06:55Z</dcterms:created>
  <dcterms:modified xsi:type="dcterms:W3CDTF">2018-06-09T08:48:40Z</dcterms:modified>
</cp:coreProperties>
</file>