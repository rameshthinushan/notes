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94" r:id="rId2"/>
    <p:sldId id="295" r:id="rId3"/>
    <p:sldId id="296" r:id="rId4"/>
    <p:sldId id="297" r:id="rId5"/>
    <p:sldId id="298" r:id="rId6"/>
    <p:sldId id="299" r:id="rId7"/>
    <p:sldId id="300" r:id="rId8"/>
    <p:sldId id="301" r:id="rId9"/>
    <p:sldId id="302" r:id="rId10"/>
    <p:sldId id="303" r:id="rId11"/>
    <p:sldId id="304" r:id="rId12"/>
    <p:sldId id="305" r:id="rId13"/>
    <p:sldId id="306" r:id="rId14"/>
    <p:sldId id="307" r:id="rId15"/>
    <p:sldId id="308" r:id="rId16"/>
    <p:sldId id="309" r:id="rId17"/>
    <p:sldId id="293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NP" initials="D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>
      <p:cViewPr varScale="1">
        <p:scale>
          <a:sx n="67" d="100"/>
          <a:sy n="67" d="100"/>
        </p:scale>
        <p:origin x="1416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47C152-92C3-4C6A-93F2-272F35C7C59A}" type="datetimeFigureOut">
              <a:rPr lang="en-US" smtClean="0"/>
              <a:t>7/3/2018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A38B01-8191-4D3D-8FDA-20DC1A1D82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203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57400"/>
            <a:ext cx="9144000" cy="2566851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7/3/2018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Chapter 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53000" y="23622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Course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1274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7/3/2018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1728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7/3/2018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4108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7/3/2018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8156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7/3/2018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612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7/3/2018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19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7/3/2018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640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7/3/2018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9323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7/3/2018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7184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7/3/2018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74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7/3/2018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135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8DD56F-A681-4805-A5A2-3EFEAD22C2F4}" type="datetimeFigureOut">
              <a:rPr lang="en-US" smtClean="0"/>
              <a:t>7/3/2018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excelfunctions.net/ExcelConcatenate.htm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133975" y="2286000"/>
            <a:ext cx="4038600" cy="19389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GB" sz="4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chemeClr val="accent2">
                    <a:lumMod val="50000"/>
                  </a:schemeClr>
                </a:solidFill>
              </a:rPr>
              <a:t>Personal Computer Applications</a:t>
            </a:r>
            <a:endParaRPr lang="en-US" sz="40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76800" y="4648200"/>
            <a:ext cx="3657600" cy="707886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en-GB" sz="4000" b="1" spc="50" dirty="0" smtClean="0">
                <a:ln w="11430"/>
                <a:solidFill>
                  <a:schemeClr val="bg2">
                    <a:lumMod val="25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HNDIT1101</a:t>
            </a:r>
            <a:endParaRPr lang="en-US" sz="4000" b="1" spc="50" dirty="0">
              <a:ln w="11430"/>
              <a:solidFill>
                <a:schemeClr val="bg2">
                  <a:lumMod val="25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8600" y="6019800"/>
            <a:ext cx="4114800" cy="707886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en-GB" sz="4000" b="1" spc="50" dirty="0" smtClean="0">
                <a:ln w="11430"/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Lecture 07</a:t>
            </a:r>
            <a:endParaRPr lang="en-US" sz="4000" b="1" spc="50" dirty="0">
              <a:ln w="11430"/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94229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Text Function</a:t>
            </a:r>
          </a:p>
        </p:txBody>
      </p:sp>
      <p:sp>
        <p:nvSpPr>
          <p:cNvPr id="84995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en-US" smtClean="0"/>
              <a:t>CLEAN, TRIM</a:t>
            </a:r>
          </a:p>
          <a:p>
            <a:r>
              <a:rPr lang="en-US" altLang="en-US" smtClean="0">
                <a:hlinkClick r:id="rId2"/>
              </a:rPr>
              <a:t>CONCATENATE</a:t>
            </a:r>
            <a:r>
              <a:rPr lang="en-US" altLang="en-US" smtClean="0"/>
              <a:t>, LEFT, RIGHT, MID</a:t>
            </a:r>
          </a:p>
          <a:p>
            <a:r>
              <a:rPr lang="en-US" altLang="en-US" smtClean="0"/>
              <a:t>LOWER, PROPER, UPPER</a:t>
            </a:r>
          </a:p>
          <a:p>
            <a:r>
              <a:rPr lang="en-US" altLang="en-US" smtClean="0"/>
              <a:t>LEN, FIND, SEARCH, EXACT</a:t>
            </a:r>
          </a:p>
        </p:txBody>
      </p:sp>
      <p:sp>
        <p:nvSpPr>
          <p:cNvPr id="84996" name="Slide Number Placeholder 3"/>
          <p:cNvSpPr>
            <a:spLocks noGrp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F85166B-37BD-47C5-8F5B-E742115EC65E}" type="slidenum">
              <a:rPr lang="en-US" altLang="en-US" smtClean="0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2</a:t>
            </a:fld>
            <a:endParaRPr lang="en-US" altLang="en-US" smtClean="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0644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 smtClean="0"/>
          </a:p>
        </p:txBody>
      </p:sp>
      <p:sp>
        <p:nvSpPr>
          <p:cNvPr id="65539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 smtClean="0"/>
              <a:t>CLEAN, TRIM</a:t>
            </a:r>
          </a:p>
          <a:p>
            <a:pPr marL="0" indent="0">
              <a:buFont typeface="Wingdings 2" panose="05020102010507070707" pitchFamily="18" charset="2"/>
              <a:buNone/>
              <a:defRPr/>
            </a:pPr>
            <a:r>
              <a:rPr lang="en-US" dirty="0" smtClean="0"/>
              <a:t>Removes all nonprintable characters from text.</a:t>
            </a:r>
            <a:endParaRPr lang="en-US" altLang="en-US" dirty="0" smtClean="0"/>
          </a:p>
          <a:p>
            <a:pPr>
              <a:defRPr/>
            </a:pPr>
            <a:endParaRPr lang="en-US" altLang="en-US" dirty="0" smtClean="0"/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FD70EC0-27F7-4506-A03E-A4A975AEF581}" type="slidenum">
              <a:rPr lang="en-US" altLang="en-US" smtClean="0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3</a:t>
            </a:fld>
            <a:endParaRPr lang="en-US" altLang="en-US" smtClean="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  <p:pic>
        <p:nvPicPr>
          <p:cNvPr id="86021" name="Picture 6" descr="https://exceljet.net/sites/default/files/styles/function_screen/public/images/functions/main/exceljet_clean_1.png?itok=0eEFV2Y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238" y="2443163"/>
            <a:ext cx="7391400" cy="422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28466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itle 1"/>
          <p:cNvSpPr>
            <a:spLocks noGrp="1"/>
          </p:cNvSpPr>
          <p:nvPr>
            <p:ph type="title"/>
          </p:nvPr>
        </p:nvSpPr>
        <p:spPr>
          <a:xfrm>
            <a:off x="914400" y="228600"/>
            <a:ext cx="7772400" cy="1143000"/>
          </a:xfrm>
        </p:spPr>
        <p:txBody>
          <a:bodyPr/>
          <a:lstStyle/>
          <a:p>
            <a:r>
              <a:rPr lang="en-US" altLang="en-US" b="1" smtClean="0"/>
              <a:t>TRIM Function</a:t>
            </a:r>
            <a:endParaRPr lang="en-US" altLang="en-US" smtClean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383632"/>
            <a:ext cx="8229600" cy="4221163"/>
          </a:xfrm>
        </p:spPr>
        <p:txBody>
          <a:bodyPr/>
          <a:lstStyle/>
          <a:p>
            <a:pPr>
              <a:defRPr/>
            </a:pPr>
            <a:r>
              <a:rPr lang="en-US" b="1" dirty="0" smtClean="0"/>
              <a:t>Description</a:t>
            </a:r>
          </a:p>
          <a:p>
            <a:pPr marL="0" indent="0">
              <a:buFont typeface="Wingdings 2" panose="05020102010507070707" pitchFamily="18" charset="2"/>
              <a:buNone/>
              <a:defRPr/>
            </a:pPr>
            <a:r>
              <a:rPr lang="en-US" dirty="0" smtClean="0"/>
              <a:t> TRIM function returns a text value with the leading and trailing spaces removed.</a:t>
            </a:r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dirty="0" smtClean="0"/>
          </a:p>
          <a:p>
            <a:pPr marL="0" indent="0">
              <a:spcBef>
                <a:spcPct val="0"/>
              </a:spcBef>
              <a:buClrTx/>
              <a:buSzTx/>
              <a:buFont typeface="Wingdings 2" panose="05020102010507070707" pitchFamily="18" charset="2"/>
              <a:buNone/>
              <a:defRPr/>
            </a:pPr>
            <a:r>
              <a:rPr lang="en-US" altLang="en-US" sz="2800" dirty="0" smtClean="0">
                <a:latin typeface="Arial" panose="020B0604020202020204" pitchFamily="34" charset="0"/>
              </a:rPr>
              <a:t>The syntax :</a:t>
            </a:r>
            <a:endParaRPr lang="en-US" altLang="en-US" sz="1200" dirty="0" smtClean="0">
              <a:latin typeface="Arial Unicode MS" panose="020B0604020202020204" pitchFamily="34" charset="-128"/>
            </a:endParaRPr>
          </a:p>
          <a:p>
            <a:pPr marL="0" indent="0">
              <a:spcBef>
                <a:spcPct val="0"/>
              </a:spcBef>
              <a:buClrTx/>
              <a:buSzTx/>
              <a:buFont typeface="Wingdings 2" panose="05020102010507070707" pitchFamily="18" charset="2"/>
              <a:buNone/>
              <a:defRPr/>
            </a:pPr>
            <a:r>
              <a:rPr lang="en-US" altLang="en-US" sz="2400" dirty="0" smtClean="0">
                <a:latin typeface="Arial Unicode MS" panose="020B0604020202020204" pitchFamily="34" charset="-128"/>
              </a:rPr>
              <a:t>=TRIM( text )</a:t>
            </a:r>
            <a:endParaRPr lang="en-US" sz="2400" dirty="0"/>
          </a:p>
        </p:txBody>
      </p:sp>
      <p:sp>
        <p:nvSpPr>
          <p:cNvPr id="87044" name="Slide Number Placeholder 3"/>
          <p:cNvSpPr>
            <a:spLocks noGrp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93954BB-E43E-407F-A0E5-0C340C7DEBB4}" type="slidenum">
              <a:rPr lang="en-US" altLang="en-US" smtClean="0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4</a:t>
            </a:fld>
            <a:endParaRPr lang="en-US" altLang="en-US" smtClean="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  <p:pic>
        <p:nvPicPr>
          <p:cNvPr id="87045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4397038"/>
            <a:ext cx="6329363" cy="2460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29206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smtClean="0"/>
              <a:t>CONCATENATE function</a:t>
            </a:r>
            <a:endParaRPr lang="en-US" altLang="en-US" smtClean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Font typeface="Wingdings 2" panose="05020102010507070707" pitchFamily="18" charset="2"/>
              <a:buNone/>
              <a:defRPr/>
            </a:pPr>
            <a:r>
              <a:rPr lang="en-US" dirty="0" smtClean="0"/>
              <a:t>Use </a:t>
            </a:r>
            <a:r>
              <a:rPr lang="en-US" b="1" dirty="0" smtClean="0"/>
              <a:t>CONCATENATE</a:t>
            </a:r>
            <a:r>
              <a:rPr lang="en-US" dirty="0"/>
              <a:t> </a:t>
            </a:r>
            <a:r>
              <a:rPr lang="en-US" dirty="0" smtClean="0"/>
              <a:t>function to join two or more text strings into one string. </a:t>
            </a:r>
          </a:p>
          <a:p>
            <a:pPr>
              <a:defRPr/>
            </a:pPr>
            <a:r>
              <a:rPr lang="en-US" dirty="0" smtClean="0"/>
              <a:t>Syntax:</a:t>
            </a:r>
          </a:p>
          <a:p>
            <a:pPr marL="0" indent="0">
              <a:buFont typeface="Wingdings 2" panose="05020102010507070707" pitchFamily="18" charset="2"/>
              <a:buNone/>
              <a:defRPr/>
            </a:pPr>
            <a:r>
              <a:rPr lang="en-US" b="1" dirty="0"/>
              <a:t>=</a:t>
            </a:r>
            <a:r>
              <a:rPr lang="en-US" b="1" dirty="0" smtClean="0"/>
              <a:t>CONCATENATE(text1, [text2], ...)</a:t>
            </a:r>
            <a:endParaRPr lang="en-US" dirty="0" smtClean="0"/>
          </a:p>
          <a:p>
            <a:pPr>
              <a:defRPr/>
            </a:pPr>
            <a:endParaRPr lang="en-US" dirty="0"/>
          </a:p>
        </p:txBody>
      </p:sp>
      <p:sp>
        <p:nvSpPr>
          <p:cNvPr id="88068" name="Slide Number Placeholder 3"/>
          <p:cNvSpPr>
            <a:spLocks noGrp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D206200-FFA7-4591-A356-099AE3A62EFD}" type="slidenum">
              <a:rPr lang="en-US" altLang="en-US" smtClean="0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5</a:t>
            </a:fld>
            <a:endParaRPr lang="en-US" altLang="en-US" smtClean="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  <p:pic>
        <p:nvPicPr>
          <p:cNvPr id="88069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4403163"/>
            <a:ext cx="5129212" cy="245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15865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=LEFT(text, [num_chars])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b="1" dirty="0" smtClean="0"/>
              <a:t>Description</a:t>
            </a:r>
          </a:p>
          <a:p>
            <a:pPr marL="0" indent="0">
              <a:buFont typeface="Wingdings 2" panose="05020102010507070707" pitchFamily="18" charset="2"/>
              <a:buNone/>
              <a:defRPr/>
            </a:pPr>
            <a:r>
              <a:rPr lang="en-US" dirty="0" smtClean="0"/>
              <a:t>LEFT returns the first character or characters in a text string, based on the number of characters you specify.</a:t>
            </a:r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dirty="0"/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dirty="0" smtClean="0"/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dirty="0"/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dirty="0" smtClean="0"/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dirty="0"/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dirty="0" smtClean="0"/>
          </a:p>
          <a:p>
            <a:pPr marL="0" indent="0">
              <a:buFont typeface="Wingdings 2" panose="05020102010507070707" pitchFamily="18" charset="2"/>
              <a:buNone/>
              <a:defRPr/>
            </a:pPr>
            <a:r>
              <a:rPr lang="en-US" dirty="0" smtClean="0"/>
              <a:t>Result :Sale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89092" name="Slide Number Placeholder 3"/>
          <p:cNvSpPr>
            <a:spLocks noGrp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46D125D-05BC-462C-9CDB-BD8253CCE0E1}" type="slidenum">
              <a:rPr lang="en-US" altLang="en-US" smtClean="0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6</a:t>
            </a:fld>
            <a:endParaRPr lang="en-US" altLang="en-US" smtClean="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  <p:pic>
        <p:nvPicPr>
          <p:cNvPr id="89093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581400"/>
            <a:ext cx="4948238" cy="162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25880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=RIGHT(text,[num_chars])</a:t>
            </a:r>
          </a:p>
        </p:txBody>
      </p:sp>
      <p:sp>
        <p:nvSpPr>
          <p:cNvPr id="90115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altLang="en-US" smtClean="0"/>
              <a:t>RIGHT returns the last character or characters in a text string, based on the number of characters you specify.</a:t>
            </a:r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r>
              <a:rPr lang="en-US" altLang="en-US" smtClean="0"/>
              <a:t>Note:  rice</a:t>
            </a:r>
          </a:p>
        </p:txBody>
      </p:sp>
      <p:sp>
        <p:nvSpPr>
          <p:cNvPr id="90116" name="Slide Number Placeholder 3"/>
          <p:cNvSpPr>
            <a:spLocks noGrp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8E4A8B6-373E-48B3-81DE-E717FEC7FB2B}" type="slidenum">
              <a:rPr lang="en-US" altLang="en-US" smtClean="0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7</a:t>
            </a:fld>
            <a:endParaRPr lang="en-US" altLang="en-US" smtClean="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  <p:pic>
        <p:nvPicPr>
          <p:cNvPr id="90117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250" y="3352800"/>
            <a:ext cx="8467725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83158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=MID(text, start_num, num_chars)</a:t>
            </a:r>
          </a:p>
        </p:txBody>
      </p:sp>
      <p:sp>
        <p:nvSpPr>
          <p:cNvPr id="91139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en-US" b="1" smtClean="0"/>
              <a:t>Description</a:t>
            </a:r>
          </a:p>
          <a:p>
            <a:r>
              <a:rPr lang="en-US" altLang="en-US" smtClean="0"/>
              <a:t>MID returns a specific number of characters from a text string, starting at the position you specify, based on the number of characters you specify.</a:t>
            </a:r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r>
              <a:rPr lang="en-US" altLang="en-US" smtClean="0"/>
              <a:t>Result: ale</a:t>
            </a:r>
          </a:p>
          <a:p>
            <a:endParaRPr lang="en-US" altLang="en-US" smtClean="0"/>
          </a:p>
        </p:txBody>
      </p:sp>
      <p:sp>
        <p:nvSpPr>
          <p:cNvPr id="91140" name="Slide Number Placeholder 3"/>
          <p:cNvSpPr>
            <a:spLocks noGrp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D9014C9-A738-45D7-A9F5-B058F61375F1}" type="slidenum">
              <a:rPr lang="en-US" altLang="en-US" smtClean="0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8</a:t>
            </a:fld>
            <a:endParaRPr lang="en-US" altLang="en-US" smtClean="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  <p:pic>
        <p:nvPicPr>
          <p:cNvPr id="91141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3702050"/>
            <a:ext cx="507682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81258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=LOWER()</a:t>
            </a:r>
          </a:p>
        </p:txBody>
      </p:sp>
      <p:sp>
        <p:nvSpPr>
          <p:cNvPr id="92163" name="Rectangle 1"/>
          <p:cNvSpPr>
            <a:spLocks noGrp="1" noChangeArrowheads="1"/>
          </p:cNvSpPr>
          <p:nvPr>
            <p:ph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17457" rIns="0" bIns="17457" anchor="ctr">
            <a:spAutoFit/>
          </a:bodyPr>
          <a:lstStyle/>
          <a:p>
            <a:pPr mar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smtClean="0">
                <a:latin typeface="Arial" panose="020B0604020202020204" pitchFamily="34" charset="0"/>
              </a:rPr>
              <a:t>Converts all uppercase letters in a text string to lowercase.</a:t>
            </a:r>
          </a:p>
          <a:p>
            <a:pPr marL="0" indent="0">
              <a:spcBef>
                <a:spcPct val="0"/>
              </a:spcBef>
              <a:buClrTx/>
              <a:buSzTx/>
              <a:buFontTx/>
              <a:buNone/>
            </a:pPr>
            <a:endParaRPr lang="en-US" altLang="en-US" smtClean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mtClean="0">
                <a:solidFill>
                  <a:srgbClr val="444444"/>
                </a:solidFill>
                <a:latin typeface="Arial" panose="020B0604020202020204" pitchFamily="34" charset="0"/>
              </a:rPr>
              <a:t>Syntax</a:t>
            </a:r>
          </a:p>
          <a:p>
            <a:pPr mar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smtClean="0">
                <a:latin typeface="Arial Unicode MS" panose="020B0604020202020204" pitchFamily="34" charset="-128"/>
              </a:rPr>
              <a:t>=LOWER(text)</a:t>
            </a:r>
          </a:p>
          <a:p>
            <a:pPr marL="0" indent="0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smtClean="0">
              <a:latin typeface="Arial Unicode MS" panose="020B0604020202020204" pitchFamily="34" charset="-128"/>
            </a:endParaRPr>
          </a:p>
          <a:p>
            <a:pPr marL="0" indent="0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smtClean="0">
              <a:latin typeface="Arial Unicode MS" panose="020B0604020202020204" pitchFamily="34" charset="-128"/>
            </a:endParaRPr>
          </a:p>
          <a:p>
            <a:pPr marL="0" indent="0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smtClean="0">
              <a:latin typeface="Arial Unicode MS" panose="020B0604020202020204" pitchFamily="34" charset="-128"/>
            </a:endParaRPr>
          </a:p>
          <a:p>
            <a:pPr marL="0" indent="0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smtClean="0">
              <a:latin typeface="Arial Unicode MS" panose="020B0604020202020204" pitchFamily="34" charset="-128"/>
            </a:endParaRPr>
          </a:p>
          <a:p>
            <a:pPr marL="0" indent="0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smtClean="0">
              <a:latin typeface="Arial Unicode MS" panose="020B0604020202020204" pitchFamily="34" charset="-128"/>
            </a:endParaRPr>
          </a:p>
          <a:p>
            <a:pPr mar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smtClean="0">
                <a:latin typeface="Arial Unicode MS" panose="020B0604020202020204" pitchFamily="34" charset="-128"/>
              </a:rPr>
              <a:t>RESULT:</a:t>
            </a:r>
          </a:p>
          <a:p>
            <a:pPr marL="0" indent="0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smtClean="0">
              <a:latin typeface="Arial Unicode MS" panose="020B0604020202020204" pitchFamily="34" charset="-128"/>
            </a:endParaRPr>
          </a:p>
          <a:p>
            <a:pPr marL="0" indent="0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smtClean="0">
              <a:latin typeface="Arial" panose="020B0604020202020204" pitchFamily="34" charset="0"/>
            </a:endParaRPr>
          </a:p>
        </p:txBody>
      </p:sp>
      <p:sp>
        <p:nvSpPr>
          <p:cNvPr id="92164" name="Slide Number Placeholder 3"/>
          <p:cNvSpPr>
            <a:spLocks noGrp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ED3E22E-6F4F-4DCF-B96D-7BA4081582C9}" type="slidenum">
              <a:rPr lang="en-US" altLang="en-US" smtClean="0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9</a:t>
            </a:fld>
            <a:endParaRPr lang="en-US" altLang="en-US" smtClean="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  <p:pic>
        <p:nvPicPr>
          <p:cNvPr id="92165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440113"/>
            <a:ext cx="3771900" cy="125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66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5332413"/>
            <a:ext cx="2362200" cy="84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06811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Title 5"/>
          <p:cNvSpPr>
            <a:spLocks noGrp="1"/>
          </p:cNvSpPr>
          <p:nvPr>
            <p:ph type="title"/>
          </p:nvPr>
        </p:nvSpPr>
        <p:spPr>
          <a:xfrm>
            <a:off x="914400" y="6096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US" altLang="en-US" dirty="0" smtClean="0">
                <a:solidFill>
                  <a:srgbClr val="444444"/>
                </a:solidFill>
                <a:latin typeface="Arial" panose="020B0604020202020204" pitchFamily="34" charset="0"/>
              </a:rPr>
              <a:t/>
            </a:r>
            <a:br>
              <a:rPr lang="en-US" altLang="en-US" dirty="0" smtClean="0">
                <a:solidFill>
                  <a:srgbClr val="444444"/>
                </a:solidFill>
                <a:latin typeface="Arial" panose="020B0604020202020204" pitchFamily="34" charset="0"/>
              </a:rPr>
            </a:br>
            <a:r>
              <a:rPr lang="en-US" altLang="en-US" dirty="0" smtClean="0">
                <a:solidFill>
                  <a:srgbClr val="444444"/>
                </a:solidFill>
                <a:latin typeface="Arial" panose="020B0604020202020204" pitchFamily="34" charset="0"/>
              </a:rPr>
              <a:t/>
            </a:r>
            <a:br>
              <a:rPr lang="en-US" altLang="en-US" dirty="0" smtClean="0">
                <a:solidFill>
                  <a:srgbClr val="444444"/>
                </a:solidFill>
                <a:latin typeface="Arial" panose="020B0604020202020204" pitchFamily="34" charset="0"/>
              </a:rPr>
            </a:br>
            <a:r>
              <a:rPr lang="en-US" altLang="en-US" dirty="0" smtClean="0">
                <a:solidFill>
                  <a:srgbClr val="444444"/>
                </a:solidFill>
                <a:latin typeface="Arial" panose="020B0604020202020204" pitchFamily="34" charset="0"/>
              </a:rPr>
              <a:t/>
            </a:r>
            <a:br>
              <a:rPr lang="en-US" altLang="en-US" dirty="0" smtClean="0">
                <a:solidFill>
                  <a:srgbClr val="444444"/>
                </a:solidFill>
                <a:latin typeface="Arial" panose="020B0604020202020204" pitchFamily="34" charset="0"/>
              </a:rPr>
            </a:br>
            <a:r>
              <a:rPr lang="en-US" altLang="en-US" dirty="0">
                <a:latin typeface="Arial Unicode MS" panose="020B0604020202020204" pitchFamily="34" charset="-128"/>
              </a:rPr>
              <a:t>=PROPER(text)</a:t>
            </a:r>
            <a:r>
              <a:rPr lang="en-US" altLang="en-US" sz="7200" dirty="0">
                <a:latin typeface="Arial" panose="020B0604020202020204" pitchFamily="34" charset="0"/>
              </a:rPr>
              <a:t/>
            </a:r>
            <a:br>
              <a:rPr lang="en-US" altLang="en-US" sz="7200" dirty="0">
                <a:latin typeface="Arial" panose="020B0604020202020204" pitchFamily="34" charset="0"/>
              </a:rPr>
            </a:br>
            <a:r>
              <a:rPr lang="en-US" altLang="en-US" dirty="0" smtClean="0">
                <a:solidFill>
                  <a:srgbClr val="444444"/>
                </a:solidFill>
                <a:latin typeface="Arial" panose="020B0604020202020204" pitchFamily="34" charset="0"/>
              </a:rPr>
              <a:t/>
            </a:r>
            <a:br>
              <a:rPr lang="en-US" altLang="en-US" dirty="0" smtClean="0">
                <a:solidFill>
                  <a:srgbClr val="444444"/>
                </a:solidFill>
                <a:latin typeface="Arial" panose="020B0604020202020204" pitchFamily="34" charset="0"/>
              </a:rPr>
            </a:br>
            <a:r>
              <a:rPr lang="en-US" altLang="en-US" dirty="0" smtClean="0">
                <a:solidFill>
                  <a:srgbClr val="444444"/>
                </a:solidFill>
                <a:latin typeface="Arial" panose="020B0604020202020204" pitchFamily="34" charset="0"/>
              </a:rPr>
              <a:t/>
            </a:r>
            <a:br>
              <a:rPr lang="en-US" altLang="en-US" dirty="0" smtClean="0">
                <a:solidFill>
                  <a:srgbClr val="444444"/>
                </a:solidFill>
                <a:latin typeface="Arial" panose="020B0604020202020204" pitchFamily="34" charset="0"/>
              </a:rPr>
            </a:br>
            <a:r>
              <a:rPr lang="en-US" altLang="en-US" dirty="0" smtClean="0">
                <a:solidFill>
                  <a:srgbClr val="444444"/>
                </a:solidFill>
                <a:latin typeface="Arial" panose="020B0604020202020204" pitchFamily="34" charset="0"/>
              </a:rPr>
              <a:t/>
            </a:r>
            <a:br>
              <a:rPr lang="en-US" altLang="en-US" dirty="0" smtClean="0">
                <a:solidFill>
                  <a:srgbClr val="444444"/>
                </a:solidFill>
                <a:latin typeface="Arial" panose="020B0604020202020204" pitchFamily="34" charset="0"/>
              </a:rPr>
            </a:br>
            <a:endParaRPr lang="en-US" altLang="en-US" dirty="0" smtClean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>
          <a:xfrm>
            <a:off x="457200" y="1578768"/>
            <a:ext cx="8229600" cy="4221163"/>
          </a:xfrm>
        </p:spPr>
        <p:txBody>
          <a:bodyPr>
            <a:normAutofit lnSpcReduction="10000"/>
          </a:bodyPr>
          <a:lstStyle/>
          <a:p>
            <a:pPr marL="0" indent="0">
              <a:spcBef>
                <a:spcPct val="0"/>
              </a:spcBef>
              <a:buClrTx/>
              <a:buSzTx/>
              <a:buFont typeface="Wingdings 2" panose="05020102010507070707" pitchFamily="18" charset="2"/>
              <a:buNone/>
              <a:defRPr/>
            </a:pPr>
            <a:r>
              <a:rPr lang="en-US" altLang="en-US" dirty="0" smtClean="0">
                <a:solidFill>
                  <a:srgbClr val="444444"/>
                </a:solidFill>
                <a:latin typeface="Arial" panose="020B0604020202020204" pitchFamily="34" charset="0"/>
              </a:rPr>
              <a:t>Description</a:t>
            </a:r>
          </a:p>
          <a:p>
            <a:pPr marL="0" indent="0">
              <a:spcBef>
                <a:spcPct val="0"/>
              </a:spcBef>
              <a:buClrTx/>
              <a:buSzTx/>
              <a:buFont typeface="Wingdings 2" panose="05020102010507070707" pitchFamily="18" charset="2"/>
              <a:buNone/>
              <a:defRPr/>
            </a:pPr>
            <a:r>
              <a:rPr lang="en-US" altLang="en-US" sz="2800" dirty="0" smtClean="0">
                <a:latin typeface="Arial" panose="020B0604020202020204" pitchFamily="34" charset="0"/>
              </a:rPr>
              <a:t>Capitalizes the first letter in a text string and any other letters in text that follow any character other than a letter. Converts all other letters to lowercase letters.</a:t>
            </a:r>
            <a:endParaRPr lang="en-US" altLang="en-US" dirty="0" smtClean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buClrTx/>
              <a:buSzTx/>
              <a:buFont typeface="Wingdings 2" panose="05020102010507070707" pitchFamily="18" charset="2"/>
              <a:buNone/>
              <a:defRPr/>
            </a:pPr>
            <a:endParaRPr lang="en-US" altLang="en-US" dirty="0" smtClean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buClrTx/>
              <a:buSzTx/>
              <a:buFont typeface="Wingdings 2" panose="05020102010507070707" pitchFamily="18" charset="2"/>
              <a:buNone/>
              <a:defRPr/>
            </a:pPr>
            <a:endParaRPr lang="en-US" altLang="en-US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buClrTx/>
              <a:buSzTx/>
              <a:buFont typeface="Wingdings 2" panose="05020102010507070707" pitchFamily="18" charset="2"/>
              <a:buNone/>
              <a:defRPr/>
            </a:pPr>
            <a:r>
              <a:rPr lang="en-US" altLang="en-US" dirty="0" smtClean="0">
                <a:solidFill>
                  <a:srgbClr val="444444"/>
                </a:solidFill>
                <a:latin typeface="Arial" panose="020B0604020202020204" pitchFamily="34" charset="0"/>
              </a:rPr>
              <a:t>Syntax</a:t>
            </a:r>
          </a:p>
          <a:p>
            <a:pPr marL="0" indent="0">
              <a:spcBef>
                <a:spcPct val="0"/>
              </a:spcBef>
              <a:buClrTx/>
              <a:buSzTx/>
              <a:buFont typeface="Wingdings 2" panose="05020102010507070707" pitchFamily="18" charset="2"/>
              <a:buNone/>
              <a:defRPr/>
            </a:pPr>
            <a:r>
              <a:rPr lang="en-US" altLang="en-US" sz="2000" dirty="0" smtClean="0">
                <a:latin typeface="Arial Unicode MS" panose="020B0604020202020204" pitchFamily="34" charset="-128"/>
              </a:rPr>
              <a:t>=PROPER(text)</a:t>
            </a:r>
            <a:endParaRPr lang="en-US" altLang="en-US" sz="4400" dirty="0" smtClean="0">
              <a:latin typeface="Arial" panose="020B0604020202020204" pitchFamily="34" charset="0"/>
            </a:endParaRPr>
          </a:p>
          <a:p>
            <a:pPr>
              <a:defRPr/>
            </a:pPr>
            <a:r>
              <a:rPr lang="en-US" dirty="0" smtClean="0"/>
              <a:t>RESULT: </a:t>
            </a:r>
            <a:endParaRPr lang="en-US" dirty="0"/>
          </a:p>
        </p:txBody>
      </p:sp>
      <p:sp>
        <p:nvSpPr>
          <p:cNvPr id="93188" name="Slide Number Placeholder 3"/>
          <p:cNvSpPr>
            <a:spLocks noGrp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1AC4836-7C14-412C-95E4-91F156A6C809}" type="slidenum">
              <a:rPr lang="en-US" altLang="en-US" smtClean="0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10</a:t>
            </a:fld>
            <a:endParaRPr lang="en-US" altLang="en-US" smtClean="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  <p:pic>
        <p:nvPicPr>
          <p:cNvPr id="93189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3810000"/>
            <a:ext cx="4021138" cy="143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3190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5548313"/>
            <a:ext cx="3124200" cy="137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69132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solidFill>
                  <a:schemeClr val="tx1"/>
                </a:solidFill>
                <a:latin typeface="Arial Unicode MS" panose="020B0604020202020204" pitchFamily="34" charset="-128"/>
              </a:rPr>
              <a:t>=UPPER(text)</a:t>
            </a:r>
            <a:endParaRPr lang="en-US" altLang="en-US" smtClean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spcBef>
                <a:spcPct val="0"/>
              </a:spcBef>
              <a:buClrTx/>
              <a:buSzTx/>
              <a:buFont typeface="Wingdings 2" panose="05020102010507070707" pitchFamily="18" charset="2"/>
              <a:buNone/>
              <a:defRPr/>
            </a:pPr>
            <a:r>
              <a:rPr lang="en-US" altLang="en-US" dirty="0" smtClean="0">
                <a:solidFill>
                  <a:srgbClr val="444444"/>
                </a:solidFill>
                <a:latin typeface="Arial" panose="020B0604020202020204" pitchFamily="34" charset="0"/>
              </a:rPr>
              <a:t>Description</a:t>
            </a:r>
          </a:p>
          <a:p>
            <a:pPr marL="0" indent="0">
              <a:spcBef>
                <a:spcPct val="0"/>
              </a:spcBef>
              <a:buClrTx/>
              <a:buSzTx/>
              <a:buFont typeface="Wingdings 2" panose="05020102010507070707" pitchFamily="18" charset="2"/>
              <a:buNone/>
              <a:defRPr/>
            </a:pPr>
            <a:r>
              <a:rPr lang="en-US" altLang="en-US" sz="2800" dirty="0" smtClean="0">
                <a:latin typeface="Arial" panose="020B0604020202020204" pitchFamily="34" charset="0"/>
              </a:rPr>
              <a:t>Converts text to uppercase.</a:t>
            </a:r>
            <a:endParaRPr lang="en-US" altLang="en-US" dirty="0" smtClean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marL="0" indent="0">
              <a:spcBef>
                <a:spcPct val="0"/>
              </a:spcBef>
              <a:buClrTx/>
              <a:buSzTx/>
              <a:buFont typeface="Wingdings 2" panose="05020102010507070707" pitchFamily="18" charset="2"/>
              <a:buNone/>
              <a:defRPr/>
            </a:pPr>
            <a:r>
              <a:rPr lang="en-US" altLang="en-US" dirty="0" smtClean="0">
                <a:solidFill>
                  <a:srgbClr val="444444"/>
                </a:solidFill>
                <a:latin typeface="Arial" panose="020B0604020202020204" pitchFamily="34" charset="0"/>
              </a:rPr>
              <a:t>Syntax</a:t>
            </a:r>
          </a:p>
          <a:p>
            <a:pPr marL="0" indent="0">
              <a:spcBef>
                <a:spcPct val="0"/>
              </a:spcBef>
              <a:buClrTx/>
              <a:buSzTx/>
              <a:buFont typeface="Wingdings 2" panose="05020102010507070707" pitchFamily="18" charset="2"/>
              <a:buNone/>
              <a:defRPr/>
            </a:pPr>
            <a:r>
              <a:rPr lang="en-US" altLang="en-US" sz="2400" dirty="0" smtClean="0">
                <a:latin typeface="Arial Unicode MS" panose="020B0604020202020204" pitchFamily="34" charset="-128"/>
              </a:rPr>
              <a:t>=UPPER(text)</a:t>
            </a:r>
          </a:p>
          <a:p>
            <a:pPr marL="0" indent="0">
              <a:spcBef>
                <a:spcPct val="0"/>
              </a:spcBef>
              <a:buClrTx/>
              <a:buSzTx/>
              <a:buFont typeface="Wingdings 2" panose="05020102010507070707" pitchFamily="18" charset="2"/>
              <a:buNone/>
              <a:defRPr/>
            </a:pPr>
            <a:endParaRPr lang="en-US" altLang="en-US" sz="2000" dirty="0">
              <a:latin typeface="Arial Unicode MS" panose="020B0604020202020204" pitchFamily="34" charset="-128"/>
            </a:endParaRPr>
          </a:p>
          <a:p>
            <a:pPr marL="0" indent="0">
              <a:spcBef>
                <a:spcPct val="0"/>
              </a:spcBef>
              <a:buClrTx/>
              <a:buSzTx/>
              <a:buFont typeface="Wingdings 2" panose="05020102010507070707" pitchFamily="18" charset="2"/>
              <a:buNone/>
              <a:defRPr/>
            </a:pPr>
            <a:endParaRPr lang="en-US" altLang="en-US" sz="2000" dirty="0" smtClean="0">
              <a:latin typeface="Arial Unicode MS" panose="020B0604020202020204" pitchFamily="34" charset="-128"/>
            </a:endParaRPr>
          </a:p>
          <a:p>
            <a:pPr marL="0" indent="0">
              <a:spcBef>
                <a:spcPct val="0"/>
              </a:spcBef>
              <a:buClrTx/>
              <a:buSzTx/>
              <a:buFont typeface="Wingdings 2" panose="05020102010507070707" pitchFamily="18" charset="2"/>
              <a:buNone/>
              <a:defRPr/>
            </a:pPr>
            <a:endParaRPr lang="en-US" altLang="en-US" sz="2000" dirty="0">
              <a:latin typeface="Arial Unicode MS" panose="020B0604020202020204" pitchFamily="34" charset="-128"/>
            </a:endParaRPr>
          </a:p>
          <a:p>
            <a:pPr marL="0" indent="0">
              <a:spcBef>
                <a:spcPct val="0"/>
              </a:spcBef>
              <a:buClrTx/>
              <a:buSzTx/>
              <a:buFont typeface="Wingdings 2" panose="05020102010507070707" pitchFamily="18" charset="2"/>
              <a:buNone/>
              <a:defRPr/>
            </a:pPr>
            <a:endParaRPr lang="en-US" altLang="en-US" sz="2000" dirty="0" smtClean="0">
              <a:latin typeface="Arial Unicode MS" panose="020B0604020202020204" pitchFamily="34" charset="-128"/>
            </a:endParaRPr>
          </a:p>
          <a:p>
            <a:pPr marL="0" indent="0">
              <a:spcBef>
                <a:spcPct val="0"/>
              </a:spcBef>
              <a:buClrTx/>
              <a:buSzTx/>
              <a:buFont typeface="Wingdings 2" panose="05020102010507070707" pitchFamily="18" charset="2"/>
              <a:buNone/>
              <a:defRPr/>
            </a:pPr>
            <a:endParaRPr lang="en-US" altLang="en-US" sz="2000" dirty="0">
              <a:latin typeface="Arial Unicode MS" panose="020B0604020202020204" pitchFamily="34" charset="-128"/>
            </a:endParaRPr>
          </a:p>
          <a:p>
            <a:pPr marL="0" indent="0">
              <a:spcBef>
                <a:spcPct val="0"/>
              </a:spcBef>
              <a:buClrTx/>
              <a:buSzTx/>
              <a:buFont typeface="Wingdings 2" panose="05020102010507070707" pitchFamily="18" charset="2"/>
              <a:buNone/>
              <a:defRPr/>
            </a:pPr>
            <a:endParaRPr lang="en-US" altLang="en-US" sz="2000" dirty="0" smtClean="0">
              <a:latin typeface="Arial Unicode MS" panose="020B0604020202020204" pitchFamily="34" charset="-128"/>
            </a:endParaRPr>
          </a:p>
          <a:p>
            <a:pPr marL="0" indent="0">
              <a:spcBef>
                <a:spcPct val="0"/>
              </a:spcBef>
              <a:buClrTx/>
              <a:buSzTx/>
              <a:buFont typeface="Wingdings 2" panose="05020102010507070707" pitchFamily="18" charset="2"/>
              <a:buNone/>
              <a:defRPr/>
            </a:pPr>
            <a:endParaRPr lang="en-US" altLang="en-US" sz="2000" dirty="0">
              <a:latin typeface="Arial Unicode MS" panose="020B0604020202020204" pitchFamily="34" charset="-128"/>
            </a:endParaRPr>
          </a:p>
          <a:p>
            <a:pPr marL="0" indent="0">
              <a:spcBef>
                <a:spcPct val="0"/>
              </a:spcBef>
              <a:buClrTx/>
              <a:buSzTx/>
              <a:buFont typeface="Wingdings 2" panose="05020102010507070707" pitchFamily="18" charset="2"/>
              <a:buNone/>
              <a:defRPr/>
            </a:pPr>
            <a:r>
              <a:rPr lang="en-US" altLang="en-US" sz="2000" dirty="0" smtClean="0">
                <a:latin typeface="Arial Unicode MS" panose="020B0604020202020204" pitchFamily="34" charset="-128"/>
              </a:rPr>
              <a:t>Result:  KUMARA</a:t>
            </a:r>
          </a:p>
          <a:p>
            <a:pPr marL="0" indent="0">
              <a:spcBef>
                <a:spcPct val="0"/>
              </a:spcBef>
              <a:buClrTx/>
              <a:buSzTx/>
              <a:buFont typeface="Wingdings 2" panose="05020102010507070707" pitchFamily="18" charset="2"/>
              <a:buNone/>
              <a:defRPr/>
            </a:pPr>
            <a:endParaRPr lang="en-US" altLang="en-US" sz="4400" dirty="0" smtClean="0">
              <a:latin typeface="Arial" panose="020B0604020202020204" pitchFamily="34" charset="0"/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94212" name="Slide Number Placeholder 3"/>
          <p:cNvSpPr>
            <a:spLocks noGrp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978550D-C090-4F92-9685-6EE322106C38}" type="slidenum">
              <a:rPr lang="en-US" altLang="en-US" smtClean="0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11</a:t>
            </a:fld>
            <a:endParaRPr lang="en-US" altLang="en-US" smtClean="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  <p:pic>
        <p:nvPicPr>
          <p:cNvPr id="94213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3505200"/>
            <a:ext cx="3257550" cy="133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92027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 smtClean="0"/>
              <a:t> </a:t>
            </a:r>
            <a:br>
              <a:rPr lang="en-US" altLang="en-US" dirty="0" smtClean="0"/>
            </a:br>
            <a:r>
              <a:rPr lang="en-US" altLang="en-US" dirty="0" smtClean="0"/>
              <a:t>=LEN(text)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10000"/>
          </a:bodyPr>
          <a:lstStyle/>
          <a:p>
            <a:pPr>
              <a:defRPr/>
            </a:pPr>
            <a:r>
              <a:rPr lang="en-US" b="1" dirty="0" smtClean="0"/>
              <a:t>Description</a:t>
            </a:r>
          </a:p>
          <a:p>
            <a:pPr>
              <a:defRPr/>
            </a:pPr>
            <a:r>
              <a:rPr lang="en-US" dirty="0" smtClean="0"/>
              <a:t>LEN returns the number of characters in a text string.</a:t>
            </a:r>
          </a:p>
          <a:p>
            <a:pPr>
              <a:defRPr/>
            </a:pPr>
            <a:r>
              <a:rPr lang="en-US" b="1" dirty="0" smtClean="0"/>
              <a:t> Important </a:t>
            </a:r>
            <a:r>
              <a:rPr lang="en-US" dirty="0" smtClean="0"/>
              <a:t>  LEN, counting 1 byte per character.</a:t>
            </a:r>
          </a:p>
          <a:p>
            <a:pPr marL="0" indent="0">
              <a:buFont typeface="Wingdings 2" panose="05020102010507070707" pitchFamily="18" charset="2"/>
              <a:buNone/>
              <a:defRPr/>
            </a:pPr>
            <a:r>
              <a:rPr lang="en-US" dirty="0" smtClean="0"/>
              <a:t>=LEN(text)</a:t>
            </a:r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dirty="0"/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dirty="0" smtClean="0"/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dirty="0"/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dirty="0" smtClean="0"/>
          </a:p>
          <a:p>
            <a:pPr marL="0" indent="0">
              <a:buFont typeface="Wingdings 2" panose="05020102010507070707" pitchFamily="18" charset="2"/>
              <a:buNone/>
              <a:defRPr/>
            </a:pPr>
            <a:r>
              <a:rPr lang="en-US" dirty="0" smtClean="0"/>
              <a:t>Return:5</a:t>
            </a:r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dirty="0"/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dirty="0" smtClean="0"/>
          </a:p>
        </p:txBody>
      </p:sp>
      <p:sp>
        <p:nvSpPr>
          <p:cNvPr id="95236" name="Slide Number Placeholder 3"/>
          <p:cNvSpPr>
            <a:spLocks noGrp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E0E757C-746B-4A7B-8335-964F63FEAA9F}" type="slidenum">
              <a:rPr lang="en-US" altLang="en-US" smtClean="0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12</a:t>
            </a:fld>
            <a:endParaRPr lang="en-US" altLang="en-US" smtClean="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  <p:pic>
        <p:nvPicPr>
          <p:cNvPr id="95237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4562475"/>
            <a:ext cx="2895600" cy="111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4098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mtClean="0"/>
              <a:t>=FIND(find_text, within_text, [start_num])</a:t>
            </a:r>
          </a:p>
        </p:txBody>
      </p:sp>
      <p:sp>
        <p:nvSpPr>
          <p:cNvPr id="96259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en-US" smtClean="0"/>
              <a:t>FIND locate one text string within a second text string, and return the number of the starting position of the first text string from the first character of the second text string. </a:t>
            </a:r>
          </a:p>
          <a:p>
            <a:r>
              <a:rPr lang="en-US" altLang="en-US" b="1" smtClean="0"/>
              <a:t>Find_text</a:t>
            </a:r>
            <a:r>
              <a:rPr lang="en-US" altLang="en-US" smtClean="0"/>
              <a:t>    Required. The text you want to find. </a:t>
            </a:r>
          </a:p>
          <a:p>
            <a:r>
              <a:rPr lang="en-US" altLang="en-US" b="1" smtClean="0"/>
              <a:t>Within_text</a:t>
            </a:r>
            <a:r>
              <a:rPr lang="en-US" altLang="en-US" smtClean="0"/>
              <a:t>    Required. The text containing the text you want to find. </a:t>
            </a:r>
          </a:p>
          <a:p>
            <a:r>
              <a:rPr lang="en-US" altLang="en-US" b="1" smtClean="0"/>
              <a:t>Start_num</a:t>
            </a:r>
            <a:r>
              <a:rPr lang="en-US" altLang="en-US" smtClean="0"/>
              <a:t>    Optional. Specifies the character at which to start the search. The first character in within_text is character number 1. If you omit start_num, it is assumed to be 1. </a:t>
            </a:r>
          </a:p>
          <a:p>
            <a:endParaRPr lang="en-US" altLang="en-US" smtClean="0"/>
          </a:p>
        </p:txBody>
      </p:sp>
      <p:sp>
        <p:nvSpPr>
          <p:cNvPr id="96260" name="Slide Number Placeholder 3"/>
          <p:cNvSpPr>
            <a:spLocks noGrp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A760DE9-23A7-45C4-931E-383F681EC44F}" type="slidenum">
              <a:rPr lang="en-US" altLang="en-US" smtClean="0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13</a:t>
            </a:fld>
            <a:endParaRPr lang="en-US" altLang="en-US" smtClean="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421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 smtClean="0"/>
          </a:p>
        </p:txBody>
      </p:sp>
      <p:pic>
        <p:nvPicPr>
          <p:cNvPr id="97283" name="Content Placeholder 4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2057400"/>
            <a:ext cx="4068763" cy="1933575"/>
          </a:xfrm>
        </p:spPr>
      </p:pic>
      <p:sp>
        <p:nvSpPr>
          <p:cNvPr id="97284" name="Content Placeholder 6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675" cy="4572000"/>
          </a:xfrm>
        </p:spPr>
        <p:txBody>
          <a:bodyPr/>
          <a:lstStyle/>
          <a:p>
            <a:r>
              <a:rPr lang="en-US" altLang="en-US" smtClean="0"/>
              <a:t>Position of the first “o" in cell </a:t>
            </a:r>
            <a:r>
              <a:rPr lang="en-US" altLang="en-US" b="1" smtClean="0"/>
              <a:t>B</a:t>
            </a:r>
            <a:r>
              <a:rPr lang="en-US" altLang="en-US" smtClean="0"/>
              <a:t>1, starting with the sixth character </a:t>
            </a:r>
          </a:p>
        </p:txBody>
      </p:sp>
      <p:sp>
        <p:nvSpPr>
          <p:cNvPr id="97285" name="Slide Number Placeholder 3"/>
          <p:cNvSpPr>
            <a:spLocks noGrp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7C78BDA-17F6-410E-A419-EFC269B2829A}" type="slidenum">
              <a:rPr lang="en-US" altLang="en-US" smtClean="0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14</a:t>
            </a:fld>
            <a:endParaRPr lang="en-US" altLang="en-US" smtClean="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5246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Title 7"/>
          <p:cNvSpPr>
            <a:spLocks noGrp="1"/>
          </p:cNvSpPr>
          <p:nvPr>
            <p:ph type="title"/>
          </p:nvPr>
        </p:nvSpPr>
        <p:spPr>
          <a:xfrm>
            <a:off x="914400" y="0"/>
            <a:ext cx="7772400" cy="1143000"/>
          </a:xfrm>
        </p:spPr>
        <p:txBody>
          <a:bodyPr/>
          <a:lstStyle/>
          <a:p>
            <a:r>
              <a:rPr lang="en-US" altLang="en-US" smtClean="0"/>
              <a:t>SEARCH()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77888" y="1139825"/>
            <a:ext cx="7772400" cy="4572000"/>
          </a:xfrm>
        </p:spPr>
        <p:txBody>
          <a:bodyPr/>
          <a:lstStyle/>
          <a:p>
            <a:pPr>
              <a:defRPr/>
            </a:pPr>
            <a:r>
              <a:rPr lang="en-US" altLang="en-US" sz="2400" dirty="0" smtClean="0">
                <a:latin typeface="Arial" panose="020B0604020202020204" pitchFamily="34" charset="0"/>
              </a:rPr>
              <a:t>The </a:t>
            </a:r>
            <a:r>
              <a:rPr lang="en-US" altLang="en-US" sz="2400" b="1" dirty="0" smtClean="0">
                <a:latin typeface="Arial" panose="020B0604020202020204" pitchFamily="34" charset="0"/>
              </a:rPr>
              <a:t>SEARCH</a:t>
            </a:r>
            <a:r>
              <a:rPr lang="en-US" altLang="en-US" sz="2400" dirty="0" smtClean="0">
                <a:latin typeface="Arial" panose="020B0604020202020204" pitchFamily="34" charset="0"/>
              </a:rPr>
              <a:t>  functions locate one text string within a second text string, and return the number of the starting position of the first text string from the first character of the second text string. </a:t>
            </a:r>
          </a:p>
          <a:p>
            <a:pPr>
              <a:defRPr/>
            </a:pPr>
            <a:r>
              <a:rPr lang="en-US" altLang="en-US" sz="2400" dirty="0" smtClean="0">
                <a:latin typeface="Arial" panose="020B0604020202020204" pitchFamily="34" charset="0"/>
              </a:rPr>
              <a:t>For example, to find the position of the letter "n" in the word "printer", you can use the following function: </a:t>
            </a:r>
          </a:p>
          <a:p>
            <a:pPr marL="0" indent="0">
              <a:buFont typeface="Wingdings 2" panose="05020102010507070707" pitchFamily="18" charset="2"/>
              <a:buNone/>
              <a:defRPr/>
            </a:pPr>
            <a:r>
              <a:rPr lang="en-US" sz="3600" dirty="0" smtClean="0"/>
              <a:t>=SEARCH("</a:t>
            </a:r>
            <a:r>
              <a:rPr lang="en-US" sz="3600" dirty="0" err="1" smtClean="0"/>
              <a:t>n","printer</a:t>
            </a:r>
            <a:r>
              <a:rPr lang="en-US" sz="3600" dirty="0" smtClean="0"/>
              <a:t>") return 4</a:t>
            </a:r>
          </a:p>
          <a:p>
            <a:pPr marL="0" indent="0">
              <a:spcBef>
                <a:spcPct val="0"/>
              </a:spcBef>
              <a:buClrTx/>
              <a:buSzTx/>
              <a:buFont typeface="Wingdings 2" panose="05020102010507070707" pitchFamily="18" charset="2"/>
              <a:buNone/>
              <a:defRPr/>
            </a:pPr>
            <a:r>
              <a:rPr lang="en-US" altLang="en-US" sz="2800" dirty="0" smtClean="0">
                <a:solidFill>
                  <a:srgbClr val="444444"/>
                </a:solidFill>
                <a:latin typeface="Arial" panose="020B0604020202020204" pitchFamily="34" charset="0"/>
              </a:rPr>
              <a:t>Syntax</a:t>
            </a:r>
          </a:p>
          <a:p>
            <a:pPr marL="0" indent="0">
              <a:spcBef>
                <a:spcPct val="0"/>
              </a:spcBef>
              <a:buClrTx/>
              <a:buSzTx/>
              <a:buFont typeface="Wingdings 2" panose="05020102010507070707" pitchFamily="18" charset="2"/>
              <a:buNone/>
              <a:defRPr/>
            </a:pPr>
            <a:r>
              <a:rPr lang="en-US" altLang="en-US" sz="2800" dirty="0" smtClean="0">
                <a:latin typeface="Arial Unicode MS" panose="020B0604020202020204" pitchFamily="34" charset="-128"/>
              </a:rPr>
              <a:t>=SEARCH(</a:t>
            </a:r>
            <a:r>
              <a:rPr lang="en-US" altLang="en-US" sz="2800" dirty="0" err="1" smtClean="0">
                <a:latin typeface="Arial Unicode MS" panose="020B0604020202020204" pitchFamily="34" charset="-128"/>
              </a:rPr>
              <a:t>find_text,within_text</a:t>
            </a:r>
            <a:r>
              <a:rPr lang="en-US" altLang="en-US" sz="2800" dirty="0" smtClean="0">
                <a:latin typeface="Arial Unicode MS" panose="020B0604020202020204" pitchFamily="34" charset="-128"/>
              </a:rPr>
              <a:t>,[</a:t>
            </a:r>
            <a:r>
              <a:rPr lang="en-US" altLang="en-US" sz="2800" dirty="0" err="1" smtClean="0">
                <a:latin typeface="Arial Unicode MS" panose="020B0604020202020204" pitchFamily="34" charset="-128"/>
              </a:rPr>
              <a:t>start_num</a:t>
            </a:r>
            <a:r>
              <a:rPr lang="en-US" altLang="en-US" sz="2800" dirty="0" smtClean="0">
                <a:latin typeface="Arial Unicode MS" panose="020B0604020202020204" pitchFamily="34" charset="-128"/>
              </a:rPr>
              <a:t>])</a:t>
            </a:r>
            <a:endParaRPr lang="en-US" altLang="en-US" sz="2800" dirty="0" smtClean="0">
              <a:latin typeface="Arial" panose="020B0604020202020204" pitchFamily="34" charset="0"/>
            </a:endParaRPr>
          </a:p>
          <a:p>
            <a:pPr>
              <a:defRPr/>
            </a:pPr>
            <a:endParaRPr lang="en-US" sz="3600" dirty="0" smtClean="0"/>
          </a:p>
          <a:p>
            <a:pPr>
              <a:defRPr/>
            </a:pPr>
            <a:endParaRPr lang="en-US" altLang="en-US" sz="3600" dirty="0" smtClean="0">
              <a:latin typeface="Arial Unicode MS" panose="020B0604020202020204" pitchFamily="34" charset="-128"/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98308" name="Slide Number Placeholder 3"/>
          <p:cNvSpPr>
            <a:spLocks noGrp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6AFD4F1-BC57-4583-828B-84EC59972344}" type="slidenum">
              <a:rPr lang="en-US" altLang="en-US" smtClean="0">
                <a:solidFill>
                  <a:srgbClr val="FFFFFF"/>
                </a:solidFill>
                <a:latin typeface="Franklin Gothic Book" panose="020B0503020102020204" pitchFamily="34" charset="0"/>
              </a:rPr>
              <a:pPr/>
              <a:t>15</a:t>
            </a:fld>
            <a:endParaRPr lang="en-US" altLang="en-US" smtClean="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  <p:pic>
        <p:nvPicPr>
          <p:cNvPr id="98309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5019675"/>
            <a:ext cx="3962400" cy="143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41751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END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1890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END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9609016"/>
      </p:ext>
    </p:extLst>
  </p:cSld>
  <p:clrMapOvr>
    <a:masterClrMapping/>
  </p:clrMapOvr>
</p:sld>
</file>

<file path=ppt/theme/theme1.xml><?xml version="1.0" encoding="utf-8"?>
<a:theme xmlns:a="http://schemas.openxmlformats.org/drawingml/2006/main" name="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7D6EB70-AC5D-4C93-8EC9-DDBA92A97C78}" vid="{AD4A3A70-3E62-4EFF-A645-92967231B9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SLIATE LMS Template Powerpoint</Template>
  <TotalTime>12498</TotalTime>
  <Words>433</Words>
  <Application>Microsoft Office PowerPoint</Application>
  <PresentationFormat>On-screen Show (4:3)</PresentationFormat>
  <Paragraphs>120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 Unicode MS</vt:lpstr>
      <vt:lpstr>Arial</vt:lpstr>
      <vt:lpstr>Calibri</vt:lpstr>
      <vt:lpstr>Franklin Gothic Book</vt:lpstr>
      <vt:lpstr>Wingdings 2</vt:lpstr>
      <vt:lpstr>HNDIT</vt:lpstr>
      <vt:lpstr>PowerPoint Presentation</vt:lpstr>
      <vt:lpstr>Text Function</vt:lpstr>
      <vt:lpstr>PowerPoint Presentation</vt:lpstr>
      <vt:lpstr>TRIM Function</vt:lpstr>
      <vt:lpstr>CONCATENATE function</vt:lpstr>
      <vt:lpstr>=LEFT(text, [num_chars])</vt:lpstr>
      <vt:lpstr>=RIGHT(text,[num_chars])</vt:lpstr>
      <vt:lpstr>=MID(text, start_num, num_chars)</vt:lpstr>
      <vt:lpstr>=LOWER()</vt:lpstr>
      <vt:lpstr>   =PROPER(text)    </vt:lpstr>
      <vt:lpstr>=UPPER(text)</vt:lpstr>
      <vt:lpstr>  =LEN(text)  </vt:lpstr>
      <vt:lpstr>=FIND(find_text, within_text, [start_num])</vt:lpstr>
      <vt:lpstr>PowerPoint Presentation</vt:lpstr>
      <vt:lpstr>SEARCH()</vt:lpstr>
      <vt:lpstr>END</vt:lpstr>
      <vt:lpstr>END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HNDIT11012: Personal Computer Applications</dc:title>
  <dc:creator>DNP</dc:creator>
  <cp:lastModifiedBy>DNP</cp:lastModifiedBy>
  <cp:revision>18</cp:revision>
  <dcterms:created xsi:type="dcterms:W3CDTF">2018-05-21T10:06:55Z</dcterms:created>
  <dcterms:modified xsi:type="dcterms:W3CDTF">2018-07-03T09:16:29Z</dcterms:modified>
</cp:coreProperties>
</file>