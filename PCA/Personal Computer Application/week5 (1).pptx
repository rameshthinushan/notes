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306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>
      <p:cViewPr varScale="1">
        <p:scale>
          <a:sx n="67" d="100"/>
          <a:sy n="67" d="100"/>
        </p:scale>
        <p:origin x="141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47C152-92C3-4C6A-93F2-272F35C7C59A}" type="datetimeFigureOut">
              <a:rPr lang="en-US" smtClean="0"/>
              <a:t>5/31/2018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A38B01-8191-4D3D-8FDA-20DC1A1D8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203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E35D32-8C88-4F90-94CB-EF1D4E37DF98}" type="slidenum">
              <a:rPr lang="en-US" altLang="en-US" smtClean="0">
                <a:latin typeface="Times New Roman" panose="02020603050405020304" pitchFamily="18" charset="0"/>
              </a:rPr>
              <a:pPr/>
              <a:t>8</a:t>
            </a:fld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Teach them how to add work sheet ,rename them </a:t>
            </a:r>
          </a:p>
        </p:txBody>
      </p:sp>
    </p:spTree>
    <p:extLst>
      <p:ext uri="{BB962C8B-B14F-4D97-AF65-F5344CB8AC3E}">
        <p14:creationId xmlns:p14="http://schemas.microsoft.com/office/powerpoint/2010/main" val="2959817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5/31/2018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5/31/2018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5/31/2018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5/31/2018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5/31/2018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5/31/2018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DD56F-A681-4805-A5A2-3EFEAD22C2F4}" type="datetimeFigureOut">
              <a:rPr lang="en-US" smtClean="0"/>
              <a:t>5/31/2018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 </a:t>
            </a:r>
            <a:r>
              <a:rPr lang="en-US" dirty="0" smtClean="0"/>
              <a:t>05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3000" y="2514600"/>
            <a:ext cx="3886200" cy="1981199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HNDIT1101: </a:t>
            </a:r>
            <a:r>
              <a:rPr lang="en-US" b="1" dirty="0"/>
              <a:t>Personal Computer Applications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411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What is spreadsheet?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 spreadsheet is simply a table or matrix of rows and columns, very similar to an accounting journal.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dirty="0" smtClean="0"/>
          </a:p>
          <a:p>
            <a:pPr lvl="1" eaLnBrk="1" hangingPunct="1"/>
            <a:r>
              <a:rPr lang="en-US" altLang="en-US" dirty="0" smtClean="0"/>
              <a:t>Flexible </a:t>
            </a:r>
          </a:p>
          <a:p>
            <a:pPr lvl="1" eaLnBrk="1" hangingPunct="1"/>
            <a:r>
              <a:rPr lang="en-US" altLang="en-US" dirty="0" smtClean="0"/>
              <a:t>Speed </a:t>
            </a:r>
          </a:p>
          <a:p>
            <a:pPr lvl="1" eaLnBrk="1" hangingPunct="1"/>
            <a:r>
              <a:rPr lang="en-US" altLang="en-US" dirty="0" smtClean="0"/>
              <a:t>accuracy</a:t>
            </a:r>
          </a:p>
        </p:txBody>
      </p:sp>
      <p:sp>
        <p:nvSpPr>
          <p:cNvPr id="8195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AAA082-8754-4AB5-9B3C-B3B8B77A628B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2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07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Spreadsheet terms</a:t>
            </a:r>
          </a:p>
        </p:txBody>
      </p:sp>
      <p:sp>
        <p:nvSpPr>
          <p:cNvPr id="921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8F6040-F83F-44E7-A7ED-D04DB012F4F2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3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9220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en-US" sz="2800" smtClean="0"/>
              <a:t>Spreadsheets are made up of</a:t>
            </a:r>
          </a:p>
          <a:p>
            <a:pPr lvl="1" eaLnBrk="1" hangingPunct="1"/>
            <a:r>
              <a:rPr lang="en-US" altLang="en-US" smtClean="0"/>
              <a:t>Columns</a:t>
            </a:r>
          </a:p>
          <a:p>
            <a:pPr lvl="1" eaLnBrk="1" hangingPunct="1"/>
            <a:r>
              <a:rPr lang="en-US" altLang="en-US" smtClean="0"/>
              <a:t>Rows</a:t>
            </a:r>
          </a:p>
          <a:p>
            <a:pPr lvl="1" eaLnBrk="1" hangingPunct="1"/>
            <a:r>
              <a:rPr lang="en-US" altLang="en-US" smtClean="0"/>
              <a:t>And their intersections are called cells</a:t>
            </a:r>
          </a:p>
          <a:p>
            <a:pPr eaLnBrk="1" hangingPunct="1"/>
            <a:r>
              <a:rPr lang="en-US" altLang="en-US" sz="2800" smtClean="0"/>
              <a:t>Each column is identified by the column letter</a:t>
            </a:r>
          </a:p>
          <a:p>
            <a:pPr lvl="1" eaLnBrk="1" hangingPunct="1"/>
            <a:r>
              <a:rPr lang="en-US" altLang="en-US" smtClean="0"/>
              <a:t>A,b,c,………AA,BB,…..IV</a:t>
            </a:r>
          </a:p>
          <a:p>
            <a:pPr eaLnBrk="1" hangingPunct="1"/>
            <a:r>
              <a:rPr lang="en-US" altLang="en-US" sz="2800" smtClean="0"/>
              <a:t>Each row is identified by the row number</a:t>
            </a:r>
          </a:p>
          <a:p>
            <a:pPr lvl="1" eaLnBrk="1" hangingPunct="1"/>
            <a:r>
              <a:rPr lang="en-US" altLang="en-US" smtClean="0"/>
              <a:t>1,2,3,…….,999.1000,…..63536</a:t>
            </a:r>
          </a:p>
        </p:txBody>
      </p:sp>
    </p:spTree>
    <p:extLst>
      <p:ext uri="{BB962C8B-B14F-4D97-AF65-F5344CB8AC3E}">
        <p14:creationId xmlns:p14="http://schemas.microsoft.com/office/powerpoint/2010/main" val="2678569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Cell Address</a:t>
            </a:r>
          </a:p>
        </p:txBody>
      </p:sp>
      <p:sp>
        <p:nvSpPr>
          <p:cNvPr id="10243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DCCF6A4-B1A2-40A9-ADD3-507DC00E9BD4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4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10244" name="Object 3"/>
          <p:cNvGraphicFramePr>
            <a:graphicFrameLocks noChangeAspect="1"/>
          </p:cNvGraphicFramePr>
          <p:nvPr/>
        </p:nvGraphicFramePr>
        <p:xfrm>
          <a:off x="3252788" y="1676400"/>
          <a:ext cx="2638425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Bitmap Image" r:id="rId3" imgW="2638095" imgH="1590897" progId="Paint.Picture">
                  <p:embed/>
                </p:oleObj>
              </mc:Choice>
              <mc:Fallback>
                <p:oleObj name="Bitmap Image" r:id="rId3" imgW="2638095" imgH="1590897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2788" y="1676400"/>
                        <a:ext cx="2638425" cy="159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Text Box 4"/>
          <p:cNvSpPr txBox="1">
            <a:spLocks noChangeArrowheads="1"/>
          </p:cNvSpPr>
          <p:nvPr/>
        </p:nvSpPr>
        <p:spPr bwMode="auto">
          <a:xfrm>
            <a:off x="1447800" y="2319338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imes New Roman" panose="02020603050405020304" pitchFamily="18" charset="0"/>
              </a:rPr>
              <a:t>A1</a:t>
            </a:r>
          </a:p>
        </p:txBody>
      </p:sp>
      <p:sp>
        <p:nvSpPr>
          <p:cNvPr id="10246" name="Text Box 5"/>
          <p:cNvSpPr txBox="1">
            <a:spLocks noChangeArrowheads="1"/>
          </p:cNvSpPr>
          <p:nvPr/>
        </p:nvSpPr>
        <p:spPr bwMode="auto">
          <a:xfrm>
            <a:off x="762000" y="2700338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imes New Roman" panose="02020603050405020304" pitchFamily="18" charset="0"/>
              </a:rPr>
              <a:t>B2</a:t>
            </a:r>
          </a:p>
        </p:txBody>
      </p:sp>
      <p:sp>
        <p:nvSpPr>
          <p:cNvPr id="10247" name="Line 6"/>
          <p:cNvSpPr>
            <a:spLocks noChangeShapeType="1"/>
          </p:cNvSpPr>
          <p:nvPr/>
        </p:nvSpPr>
        <p:spPr bwMode="auto">
          <a:xfrm>
            <a:off x="1981200" y="2733675"/>
            <a:ext cx="152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248" name="Line 7"/>
          <p:cNvSpPr>
            <a:spLocks noChangeShapeType="1"/>
          </p:cNvSpPr>
          <p:nvPr/>
        </p:nvSpPr>
        <p:spPr bwMode="auto">
          <a:xfrm>
            <a:off x="1295400" y="2900363"/>
            <a:ext cx="3124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249" name="Text Box 8"/>
          <p:cNvSpPr txBox="1">
            <a:spLocks noChangeArrowheads="1"/>
          </p:cNvSpPr>
          <p:nvPr/>
        </p:nvSpPr>
        <p:spPr bwMode="auto">
          <a:xfrm>
            <a:off x="6477000" y="2090738"/>
            <a:ext cx="1628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imes New Roman" panose="02020603050405020304" pitchFamily="18" charset="0"/>
              </a:rPr>
              <a:t>Current cell</a:t>
            </a:r>
          </a:p>
        </p:txBody>
      </p:sp>
      <p:sp>
        <p:nvSpPr>
          <p:cNvPr id="10250" name="Line 9"/>
          <p:cNvSpPr>
            <a:spLocks noChangeShapeType="1"/>
          </p:cNvSpPr>
          <p:nvPr/>
        </p:nvSpPr>
        <p:spPr bwMode="auto">
          <a:xfrm flipH="1">
            <a:off x="4114800" y="2319338"/>
            <a:ext cx="24384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251" name="Text Box 10"/>
          <p:cNvSpPr txBox="1">
            <a:spLocks noChangeArrowheads="1"/>
          </p:cNvSpPr>
          <p:nvPr/>
        </p:nvSpPr>
        <p:spPr bwMode="auto">
          <a:xfrm>
            <a:off x="304800" y="3429000"/>
            <a:ext cx="8510588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>
                <a:latin typeface="Times New Roman" panose="02020603050405020304" pitchFamily="18" charset="0"/>
              </a:rPr>
              <a:t>A cell is identified by specifying its cell address which</a:t>
            </a:r>
          </a:p>
          <a:p>
            <a:pPr eaLnBrk="1" hangingPunct="1"/>
            <a:r>
              <a:rPr lang="en-US" altLang="en-US" sz="2800">
                <a:latin typeface="Times New Roman" panose="02020603050405020304" pitchFamily="18" charset="0"/>
              </a:rPr>
              <a:t> is the co-ordinate of the intersection of a column and row.</a:t>
            </a:r>
          </a:p>
          <a:p>
            <a:pPr eaLnBrk="1" hangingPunct="1"/>
            <a:r>
              <a:rPr lang="en-US" altLang="en-US" sz="2800">
                <a:latin typeface="Times New Roman" panose="02020603050405020304" pitchFamily="18" charset="0"/>
              </a:rPr>
              <a:t>(it is formed by combining the corresponding column</a:t>
            </a:r>
          </a:p>
          <a:p>
            <a:pPr eaLnBrk="1" hangingPunct="1"/>
            <a:r>
              <a:rPr lang="en-US" altLang="en-US" sz="2800">
                <a:latin typeface="Times New Roman" panose="02020603050405020304" pitchFamily="18" charset="0"/>
              </a:rPr>
              <a:t> letter and the row number.)</a:t>
            </a:r>
          </a:p>
          <a:p>
            <a:pPr eaLnBrk="1" hangingPunct="1"/>
            <a:endParaRPr lang="en-US" altLang="en-US" sz="28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069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11267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381E183-BBB7-4863-8A5B-A296D9E218D9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5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11269" name="Picture 2" descr="http://sourcedaddy.com/ms-excel/images/gkei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63" y="214313"/>
            <a:ext cx="8245475" cy="646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1305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Cell pointer movement key</a:t>
            </a:r>
          </a:p>
        </p:txBody>
      </p:sp>
      <p:sp>
        <p:nvSpPr>
          <p:cNvPr id="1229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3C19E82-F5AB-465E-8220-774539D9C6D3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6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z="2800" smtClean="0"/>
              <a:t>Up arrow		-	Up one cell	</a:t>
            </a:r>
          </a:p>
          <a:p>
            <a:pPr eaLnBrk="1" hangingPunct="1"/>
            <a:r>
              <a:rPr lang="en-US" altLang="en-US" sz="2800" smtClean="0"/>
              <a:t>Down arrow	-	Down one cell</a:t>
            </a:r>
          </a:p>
          <a:p>
            <a:pPr eaLnBrk="1" hangingPunct="1"/>
            <a:r>
              <a:rPr lang="en-US" altLang="en-US" sz="2800" smtClean="0"/>
              <a:t>Left arrow		-	Left one cell</a:t>
            </a:r>
          </a:p>
          <a:p>
            <a:pPr eaLnBrk="1" hangingPunct="1"/>
            <a:r>
              <a:rPr lang="en-US" altLang="en-US" sz="2800" smtClean="0"/>
              <a:t>Right arrow		-	Right one cell</a:t>
            </a:r>
          </a:p>
          <a:p>
            <a:pPr eaLnBrk="1" hangingPunct="1"/>
            <a:r>
              <a:rPr lang="en-US" altLang="en-US" sz="2800" smtClean="0"/>
              <a:t>Home		-	Move to first cell in a row</a:t>
            </a:r>
          </a:p>
          <a:p>
            <a:pPr eaLnBrk="1" hangingPunct="1"/>
            <a:r>
              <a:rPr lang="en-US" altLang="en-US" sz="2800" smtClean="0"/>
              <a:t>Ctrl + home	-	Move to cell A1</a:t>
            </a:r>
          </a:p>
          <a:p>
            <a:pPr eaLnBrk="1" hangingPunct="1"/>
            <a:r>
              <a:rPr lang="en-US" altLang="en-US" sz="2800" smtClean="0"/>
              <a:t>Page up		-	One screen up</a:t>
            </a:r>
          </a:p>
          <a:p>
            <a:pPr eaLnBrk="1" hangingPunct="1"/>
            <a:r>
              <a:rPr lang="en-US" altLang="en-US" sz="2800" smtClean="0"/>
              <a:t>Page down		-	One Screen down</a:t>
            </a:r>
          </a:p>
          <a:p>
            <a:pPr eaLnBrk="1" hangingPunct="1"/>
            <a:r>
              <a:rPr lang="en-US" altLang="en-US" sz="2800" smtClean="0"/>
              <a:t>Ctrl+End		-	Move to first cell in a row</a:t>
            </a:r>
          </a:p>
        </p:txBody>
      </p:sp>
    </p:spTree>
    <p:extLst>
      <p:ext uri="{BB962C8B-B14F-4D97-AF65-F5344CB8AC3E}">
        <p14:creationId xmlns:p14="http://schemas.microsoft.com/office/powerpoint/2010/main" val="310216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Select cells</a:t>
            </a:r>
          </a:p>
        </p:txBody>
      </p:sp>
      <p:sp>
        <p:nvSpPr>
          <p:cNvPr id="13315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F85E152-61B3-46A2-AD28-098CAEA22259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7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3316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If you want to select group of cells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mtClean="0"/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Place the cursor in cell A1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Press the F8 key. This anchors the cursor.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Note ‘EXT’ appear on the status bar in the lower right corner of the screen. You are in the extended mode.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Click in cell E7.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Press “Esc” key to exit.</a:t>
            </a:r>
          </a:p>
        </p:txBody>
      </p:sp>
    </p:spTree>
    <p:extLst>
      <p:ext uri="{BB962C8B-B14F-4D97-AF65-F5344CB8AC3E}">
        <p14:creationId xmlns:p14="http://schemas.microsoft.com/office/powerpoint/2010/main" val="1010100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Select cell ranges</a:t>
            </a:r>
          </a:p>
        </p:txBody>
      </p:sp>
      <p:sp>
        <p:nvSpPr>
          <p:cNvPr id="1433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26B744F-2429-421E-87C9-DF664FFFC395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8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4340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smtClean="0"/>
              <a:t>Select a range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Click the cell at one corner of the range and drag to the opposite corner of the range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smtClean="0"/>
              <a:t>Multiple range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Select first range and hold the Ctrl key down and select the other range.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smtClean="0"/>
              <a:t>Whole </a:t>
            </a:r>
            <a:r>
              <a:rPr lang="en-US" altLang="en-US" sz="2800" dirty="0" smtClean="0"/>
              <a:t>row</a:t>
            </a:r>
            <a:endParaRPr lang="en-US" altLang="en-US" sz="28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shift + spacebar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smtClean="0"/>
              <a:t>Whole </a:t>
            </a:r>
            <a:r>
              <a:rPr lang="en-US" altLang="en-US" sz="2800" dirty="0" smtClean="0"/>
              <a:t>Column</a:t>
            </a:r>
            <a:endParaRPr lang="en-US" altLang="en-US" sz="28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Ctrl + spacebar</a:t>
            </a:r>
          </a:p>
        </p:txBody>
      </p:sp>
    </p:spTree>
    <p:extLst>
      <p:ext uri="{BB962C8B-B14F-4D97-AF65-F5344CB8AC3E}">
        <p14:creationId xmlns:p14="http://schemas.microsoft.com/office/powerpoint/2010/main" val="2524320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800" smtClean="0"/>
              <a:t>Worksheet formulas &amp; functions</a:t>
            </a:r>
          </a:p>
        </p:txBody>
      </p:sp>
      <p:sp>
        <p:nvSpPr>
          <p:cNvPr id="1638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581F25-52A6-4C71-99BB-6D7BFB7BC559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9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Relative Cell Addressing</a:t>
            </a:r>
          </a:p>
          <a:p>
            <a:pPr lvl="1" eaLnBrk="1" hangingPunct="1"/>
            <a:r>
              <a:rPr lang="en-US" altLang="en-US" smtClean="0"/>
              <a:t>When the formula is copied to a different location, cell address in that formula changes relative to the movement of the formula.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  <a:p>
            <a:pPr eaLnBrk="1" hangingPunct="1"/>
            <a:endParaRPr lang="en-US" altLang="en-US" smtClean="0"/>
          </a:p>
        </p:txBody>
      </p:sp>
      <p:graphicFrame>
        <p:nvGraphicFramePr>
          <p:cNvPr id="36879" name="Group 15"/>
          <p:cNvGraphicFramePr>
            <a:graphicFrameLocks noGrp="1"/>
          </p:cNvGraphicFramePr>
          <p:nvPr/>
        </p:nvGraphicFramePr>
        <p:xfrm>
          <a:off x="1447800" y="4800600"/>
          <a:ext cx="6096000" cy="1041400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</a:tblGrid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=A1+B2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=B1+C2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=A2+B3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400" name="Line 16"/>
          <p:cNvSpPr>
            <a:spLocks noChangeShapeType="1"/>
          </p:cNvSpPr>
          <p:nvPr/>
        </p:nvSpPr>
        <p:spPr bwMode="auto">
          <a:xfrm>
            <a:off x="5029200" y="4495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401" name="Line 17"/>
          <p:cNvSpPr>
            <a:spLocks noChangeShapeType="1"/>
          </p:cNvSpPr>
          <p:nvPr/>
        </p:nvSpPr>
        <p:spPr bwMode="auto">
          <a:xfrm flipH="1">
            <a:off x="1981200" y="4495800"/>
            <a:ext cx="304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402" name="Line 18"/>
          <p:cNvSpPr>
            <a:spLocks noChangeShapeType="1"/>
          </p:cNvSpPr>
          <p:nvPr/>
        </p:nvSpPr>
        <p:spPr bwMode="auto">
          <a:xfrm>
            <a:off x="1981200" y="4495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347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Absolute Cell Addressing</a:t>
            </a:r>
            <a:br>
              <a:rPr lang="en-US" altLang="en-US" dirty="0"/>
            </a:br>
            <a:endParaRPr lang="en-US" altLang="en-US" dirty="0" smtClean="0"/>
          </a:p>
        </p:txBody>
      </p:sp>
      <p:sp>
        <p:nvSpPr>
          <p:cNvPr id="1741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4862992-6AD7-448C-981A-43252DA8DCEE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10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741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62000" y="1524001"/>
            <a:ext cx="8229600" cy="4641056"/>
          </a:xfrm>
        </p:spPr>
        <p:txBody>
          <a:bodyPr/>
          <a:lstStyle/>
          <a:p>
            <a:r>
              <a:rPr lang="en-US" altLang="en-US" dirty="0" smtClean="0"/>
              <a:t>When the formula is copied these cell address do not change</a:t>
            </a:r>
          </a:p>
          <a:p>
            <a:r>
              <a:rPr lang="en-US" altLang="en-US" dirty="0" smtClean="0"/>
              <a:t>$A$1 Both row and column are absolute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dirty="0" smtClean="0"/>
          </a:p>
        </p:txBody>
      </p:sp>
      <p:graphicFrame>
        <p:nvGraphicFramePr>
          <p:cNvPr id="37906" name="Group 18"/>
          <p:cNvGraphicFramePr>
            <a:graphicFrameLocks noGrp="1"/>
          </p:cNvGraphicFramePr>
          <p:nvPr>
            <p:extLst/>
          </p:nvPr>
        </p:nvGraphicFramePr>
        <p:xfrm>
          <a:off x="1219200" y="4343400"/>
          <a:ext cx="6096000" cy="1346200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</a:tblGrid>
              <a:tr h="711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=$A$1+B2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=$A$1+C2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=$A$1+B3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1334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Formula</a:t>
            </a:r>
          </a:p>
        </p:txBody>
      </p:sp>
      <p:sp>
        <p:nvSpPr>
          <p:cNvPr id="2150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72A965-B986-46DC-A873-420C16A107DF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11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1508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 smtClean="0"/>
              <a:t>Always start with equal (=)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smtClean="0"/>
              <a:t>Can use either relative or absolute cell address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smtClean="0"/>
              <a:t>Operators +,*,/,^,%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smtClean="0"/>
              <a:t>Functions sum(A1..A10), average(range) …. So 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smtClean="0"/>
              <a:t>Separate argument with comma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 smtClean="0"/>
              <a:t>=sum(A3..A5,B3)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smtClean="0"/>
              <a:t>Argument can be constant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 smtClean="0"/>
              <a:t>=sum(100,B3)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530048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Operators</a:t>
            </a:r>
          </a:p>
        </p:txBody>
      </p:sp>
      <p:sp>
        <p:nvSpPr>
          <p:cNvPr id="2253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93261A9-6295-4475-AE24-39CD83BC9745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12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2532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Arithmetic Operators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You can enter numbers and mathematical formulas into cells. When a number is entered into a cell you can perform mathematical calculations such as addition, subtraction, multiplication, and division.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+  Addition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-   Subtraction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*  Multiplication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/   Division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^  Exponential</a:t>
            </a:r>
          </a:p>
        </p:txBody>
      </p:sp>
    </p:spTree>
    <p:extLst>
      <p:ext uri="{BB962C8B-B14F-4D97-AF65-F5344CB8AC3E}">
        <p14:creationId xmlns:p14="http://schemas.microsoft.com/office/powerpoint/2010/main" val="808894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Comparison </a:t>
            </a:r>
            <a:r>
              <a:rPr lang="en-US" altLang="en-US" dirty="0" smtClean="0"/>
              <a:t>Operators</a:t>
            </a:r>
          </a:p>
        </p:txBody>
      </p:sp>
      <p:sp>
        <p:nvSpPr>
          <p:cNvPr id="23555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851A82-3E4E-4F40-914B-2BA752BB25D9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13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3556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Compare tow values and produce logical values of TRUE or FALSE with these Operators</a:t>
            </a:r>
          </a:p>
          <a:p>
            <a:pPr marL="457200" lvl="1" indent="0">
              <a:buNone/>
            </a:pPr>
            <a:r>
              <a:rPr lang="en-US" altLang="en-US" dirty="0" smtClean="0"/>
              <a:t>=   Equal</a:t>
            </a:r>
          </a:p>
          <a:p>
            <a:pPr marL="457200" lvl="1" indent="0">
              <a:buNone/>
            </a:pPr>
            <a:r>
              <a:rPr lang="en-US" altLang="en-US" dirty="0" smtClean="0"/>
              <a:t>&gt;   Greater Than</a:t>
            </a:r>
          </a:p>
          <a:p>
            <a:pPr marL="457200" lvl="1" indent="0">
              <a:buNone/>
            </a:pPr>
            <a:r>
              <a:rPr lang="en-US" altLang="en-US" dirty="0" smtClean="0"/>
              <a:t>&lt;   Less than</a:t>
            </a:r>
          </a:p>
          <a:p>
            <a:pPr marL="457200" lvl="1" indent="0">
              <a:buNone/>
            </a:pPr>
            <a:r>
              <a:rPr lang="en-US" altLang="en-US" dirty="0" smtClean="0"/>
              <a:t>&gt;= Greater than or equal</a:t>
            </a:r>
          </a:p>
          <a:p>
            <a:pPr marL="457200" lvl="1" indent="0">
              <a:buNone/>
            </a:pPr>
            <a:r>
              <a:rPr lang="en-US" altLang="en-US" dirty="0" smtClean="0"/>
              <a:t>&lt;= less than or equal</a:t>
            </a:r>
          </a:p>
          <a:p>
            <a:pPr marL="457200" lvl="1" indent="0">
              <a:buNone/>
            </a:pPr>
            <a:r>
              <a:rPr lang="en-US" altLang="en-US" dirty="0" smtClean="0"/>
              <a:t>&lt;&gt; Not equal to</a:t>
            </a:r>
          </a:p>
        </p:txBody>
      </p:sp>
    </p:spTree>
    <p:extLst>
      <p:ext uri="{BB962C8B-B14F-4D97-AF65-F5344CB8AC3E}">
        <p14:creationId xmlns:p14="http://schemas.microsoft.com/office/powerpoint/2010/main" val="2967634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Text </a:t>
            </a:r>
            <a:r>
              <a:rPr lang="en-US" altLang="en-US" dirty="0" smtClean="0"/>
              <a:t>Operator</a:t>
            </a:r>
          </a:p>
        </p:txBody>
      </p:sp>
      <p:sp>
        <p:nvSpPr>
          <p:cNvPr id="2457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6E37FC7-983B-4C77-9BB1-9ED63DF3B513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14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4580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dirty="0" smtClean="0"/>
              <a:t>&amp; (Ampersand)</a:t>
            </a:r>
          </a:p>
          <a:p>
            <a:pPr lvl="1"/>
            <a:r>
              <a:rPr lang="en-US" altLang="en-US" dirty="0" smtClean="0"/>
              <a:t>Connects , or concatenates, two values to produce one continuous text value.</a:t>
            </a:r>
          </a:p>
          <a:p>
            <a:pPr lvl="1"/>
            <a:r>
              <a:rPr lang="en-US" altLang="en-US" dirty="0" smtClean="0"/>
              <a:t>Ex: “ ATI” &amp; “,” &amp;“Galle” produce “ ATI ,Galle”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92572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Reference </a:t>
            </a:r>
            <a:r>
              <a:rPr lang="en-US" altLang="en-US" dirty="0" smtClean="0"/>
              <a:t>operators</a:t>
            </a:r>
          </a:p>
        </p:txBody>
      </p:sp>
      <p:sp>
        <p:nvSpPr>
          <p:cNvPr id="25603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1479FE-2A6B-4F8E-8397-81560E86A063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15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5604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dirty="0" smtClean="0"/>
              <a:t>Reference operators are helpful when referring to a cell or group of cells.  Two types of reference operator are range or union.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/>
              <a:t>     :   (colon) for range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/>
              <a:t>     , (Comma) for union</a:t>
            </a:r>
          </a:p>
        </p:txBody>
      </p:sp>
    </p:spTree>
    <p:extLst>
      <p:ext uri="{BB962C8B-B14F-4D97-AF65-F5344CB8AC3E}">
        <p14:creationId xmlns:p14="http://schemas.microsoft.com/office/powerpoint/2010/main" val="2857979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Exampl</a:t>
            </a:r>
            <a:r>
              <a:rPr lang="en-US" altLang="en-US" dirty="0"/>
              <a:t>e</a:t>
            </a:r>
            <a:endParaRPr lang="en-US" altLang="en-US" dirty="0" smtClean="0"/>
          </a:p>
        </p:txBody>
      </p:sp>
      <p:sp>
        <p:nvSpPr>
          <p:cNvPr id="2765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AA68A92-1FFF-4F63-A7ED-DB6E79EB0921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16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27652" name="Object 3"/>
          <p:cNvGraphicFramePr>
            <a:graphicFrameLocks noChangeAspect="1"/>
          </p:cNvGraphicFramePr>
          <p:nvPr/>
        </p:nvGraphicFramePr>
        <p:xfrm>
          <a:off x="1295400" y="2514600"/>
          <a:ext cx="6624638" cy="236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Bitmap Image" r:id="rId3" imgW="4105848" imgH="1467055" progId="Paint.Picture">
                  <p:embed/>
                </p:oleObj>
              </mc:Choice>
              <mc:Fallback>
                <p:oleObj name="Bitmap Image" r:id="rId3" imgW="4105848" imgH="146705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514600"/>
                        <a:ext cx="6624638" cy="2366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8558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What formula error value mean?</a:t>
            </a:r>
          </a:p>
        </p:txBody>
      </p:sp>
      <p:sp>
        <p:nvSpPr>
          <p:cNvPr id="28675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880CF72-71E6-4970-8DFB-8C728857ED37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17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8676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smtClean="0"/>
              <a:t>Microsoft Excel displays an error value in a cell when it can not calculate the formula properly.  Error values always begin with a number sign (#).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smtClean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smtClean="0"/>
              <a:t>#Div/0!	Is trying to divide by zero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smtClean="0"/>
              <a:t>#N/A  	Refers to a value that is not available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smtClean="0"/>
              <a:t># Name?	Uses a name that Excel dose not recognize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smtClean="0"/>
              <a:t>#Null!	Specifies an invalid intersection of two areas.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smtClean="0"/>
              <a:t>#Num!	Use a number incorrectly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smtClean="0"/>
              <a:t>#Ref! 	Refers to a cell that is not valid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smtClean="0"/>
              <a:t>#Value!	Uses an incorrect argument or operand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smtClean="0"/>
              <a:t>#####	Produces a result that is too long to fit in the cell. This is not actually an error value.</a:t>
            </a:r>
          </a:p>
        </p:txBody>
      </p:sp>
    </p:spTree>
    <p:extLst>
      <p:ext uri="{BB962C8B-B14F-4D97-AF65-F5344CB8AC3E}">
        <p14:creationId xmlns:p14="http://schemas.microsoft.com/office/powerpoint/2010/main" val="1301631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END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635503"/>
      </p:ext>
    </p:extLst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SLIATE LMS Template Powerpoint</Template>
  <TotalTime>12476</TotalTime>
  <Words>575</Words>
  <Application>Microsoft Office PowerPoint</Application>
  <PresentationFormat>On-screen Show (4:3)</PresentationFormat>
  <Paragraphs>129</Paragraphs>
  <Slides>18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Franklin Gothic Book</vt:lpstr>
      <vt:lpstr>Times New Roman</vt:lpstr>
      <vt:lpstr>Wingdings</vt:lpstr>
      <vt:lpstr>HNDIT</vt:lpstr>
      <vt:lpstr>Bitmap Image</vt:lpstr>
      <vt:lpstr>HNDIT1101: Personal Computer Applications </vt:lpstr>
      <vt:lpstr>What is spreadsheet?</vt:lpstr>
      <vt:lpstr>Spreadsheet terms</vt:lpstr>
      <vt:lpstr>Cell Address</vt:lpstr>
      <vt:lpstr>PowerPoint Presentation</vt:lpstr>
      <vt:lpstr>Cell pointer movement key</vt:lpstr>
      <vt:lpstr>Select cells</vt:lpstr>
      <vt:lpstr>Select cell ranges</vt:lpstr>
      <vt:lpstr>Worksheet formulas &amp; functions</vt:lpstr>
      <vt:lpstr>Absolute Cell Addressing </vt:lpstr>
      <vt:lpstr>Formula</vt:lpstr>
      <vt:lpstr>Operators</vt:lpstr>
      <vt:lpstr>Comparison Operators</vt:lpstr>
      <vt:lpstr>Text Operator</vt:lpstr>
      <vt:lpstr>Reference operators</vt:lpstr>
      <vt:lpstr>Example</vt:lpstr>
      <vt:lpstr>What formula error value mean?</vt:lpstr>
      <vt:lpstr>END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HNDIT11012: Personal Computer Applications</dc:title>
  <dc:creator>DNP</dc:creator>
  <cp:lastModifiedBy>DNP</cp:lastModifiedBy>
  <cp:revision>16</cp:revision>
  <dcterms:created xsi:type="dcterms:W3CDTF">2018-05-21T10:06:55Z</dcterms:created>
  <dcterms:modified xsi:type="dcterms:W3CDTF">2018-06-09T08:28:37Z</dcterms:modified>
</cp:coreProperties>
</file>