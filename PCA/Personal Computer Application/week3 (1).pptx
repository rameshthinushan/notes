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305" r:id="rId3"/>
    <p:sldId id="279" r:id="rId4"/>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278"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p:cViewPr varScale="1">
        <p:scale>
          <a:sx n="67" d="100"/>
          <a:sy n="67" d="100"/>
        </p:scale>
        <p:origin x="141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47C152-92C3-4C6A-93F2-272F35C7C59A}" type="datetimeFigureOut">
              <a:rPr lang="en-US" smtClean="0"/>
              <a:t>5/31/2018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A38B01-8191-4D3D-8FDA-20DC1A1D82F4}" type="slidenum">
              <a:rPr lang="en-US" smtClean="0"/>
              <a:t>‹#›</a:t>
            </a:fld>
            <a:endParaRPr lang="en-US"/>
          </a:p>
        </p:txBody>
      </p:sp>
    </p:spTree>
    <p:extLst>
      <p:ext uri="{BB962C8B-B14F-4D97-AF65-F5344CB8AC3E}">
        <p14:creationId xmlns:p14="http://schemas.microsoft.com/office/powerpoint/2010/main" val="4129203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Arial" panose="020B0604020202020204" pitchFamily="34" charset="0"/>
              </a:rPr>
              <a:t>The Format menu includes options to change Font, Paragraph, and other style options. </a:t>
            </a:r>
          </a:p>
          <a:p>
            <a:r>
              <a:rPr lang="en-US" altLang="en-US" dirty="0" smtClean="0">
                <a:latin typeface="Arial" panose="020B0604020202020204" pitchFamily="34" charset="0"/>
              </a:rPr>
              <a:t> In the Font dialog box, you can make changes to the type, style, size, and color of font used in the document. </a:t>
            </a:r>
          </a:p>
          <a:p>
            <a:endParaRPr lang="en-US" altLang="en-US" dirty="0" smtClean="0">
              <a:latin typeface="Arial" panose="020B0604020202020204" pitchFamily="34" charset="0"/>
            </a:endParaRPr>
          </a:p>
        </p:txBody>
      </p:sp>
    </p:spTree>
    <p:extLst>
      <p:ext uri="{BB962C8B-B14F-4D97-AF65-F5344CB8AC3E}">
        <p14:creationId xmlns:p14="http://schemas.microsoft.com/office/powerpoint/2010/main" val="3533522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smtClean="0">
                <a:latin typeface="Arial" panose="020B0604020202020204" pitchFamily="34" charset="0"/>
              </a:rPr>
              <a:t>You can specify the arrangement of objects, text, and graphics, in predetermined positions using the alignment settings. You can align the selected text to the left, right, or center by using the left, right, and center alignment buttons, respectively.</a:t>
            </a:r>
          </a:p>
          <a:p>
            <a:pPr eaLnBrk="1" hangingPunct="1"/>
            <a:endParaRPr lang="en-US" altLang="en-US" dirty="0" smtClean="0">
              <a:latin typeface="Arial" panose="020B0604020202020204" pitchFamily="34" charset="0"/>
            </a:endParaRPr>
          </a:p>
        </p:txBody>
      </p:sp>
    </p:spTree>
    <p:extLst>
      <p:ext uri="{BB962C8B-B14F-4D97-AF65-F5344CB8AC3E}">
        <p14:creationId xmlns:p14="http://schemas.microsoft.com/office/powerpoint/2010/main" val="2044409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0D2F83D3-384B-403E-A58D-9059CEBCBDC8}" type="slidenum">
              <a:rPr lang="en-US" altLang="en-US"/>
              <a:pPr eaLnBrk="1" hangingPunct="1">
                <a:spcBef>
                  <a:spcPct val="0"/>
                </a:spcBef>
              </a:pPr>
              <a:t>5</a:t>
            </a:fld>
            <a:endParaRPr lang="en-US" altLang="en-US"/>
          </a:p>
        </p:txBody>
      </p:sp>
    </p:spTree>
    <p:extLst>
      <p:ext uri="{BB962C8B-B14F-4D97-AF65-F5344CB8AC3E}">
        <p14:creationId xmlns:p14="http://schemas.microsoft.com/office/powerpoint/2010/main" val="1497318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183033BA-140E-46BF-8BB1-CA193D9D44FF}" type="slidenum">
              <a:rPr lang="en-US" altLang="en-US"/>
              <a:pPr eaLnBrk="1" hangingPunct="1">
                <a:spcBef>
                  <a:spcPct val="0"/>
                </a:spcBef>
              </a:pPr>
              <a:t>6</a:t>
            </a:fld>
            <a:endParaRPr lang="en-US" altLang="en-US"/>
          </a:p>
        </p:txBody>
      </p:sp>
    </p:spTree>
    <p:extLst>
      <p:ext uri="{BB962C8B-B14F-4D97-AF65-F5344CB8AC3E}">
        <p14:creationId xmlns:p14="http://schemas.microsoft.com/office/powerpoint/2010/main" val="40880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1A8DD56F-A681-4805-A5A2-3EFEAD22C2F4}" type="datetimeFigureOut">
              <a:rPr lang="en-US" smtClean="0"/>
              <a:t>5/31/2018</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5/31/2018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8DD56F-A681-4805-A5A2-3EFEAD22C2F4}" type="datetimeFigureOut">
              <a:rPr lang="en-US" smtClean="0"/>
              <a:t>5/31/2018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A8DD56F-A681-4805-A5A2-3EFEAD22C2F4}" type="datetimeFigureOut">
              <a:rPr lang="en-US" smtClean="0"/>
              <a:t>5/31/2018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A8DD56F-A681-4805-A5A2-3EFEAD22C2F4}" type="datetimeFigureOut">
              <a:rPr lang="en-US" smtClean="0"/>
              <a:t>5/31/2018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A8DD56F-A681-4805-A5A2-3EFEAD22C2F4}" type="datetimeFigureOut">
              <a:rPr lang="en-US" smtClean="0"/>
              <a:t>5/31/2018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8DD56F-A681-4805-A5A2-3EFEAD22C2F4}" type="datetimeFigureOut">
              <a:rPr lang="en-US" smtClean="0"/>
              <a:t>5/31/2018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5/31/2018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8DD56F-A681-4805-A5A2-3EFEAD22C2F4}" type="datetimeFigureOut">
              <a:rPr lang="en-US" smtClean="0"/>
              <a:t>5/31/2018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5/31/2018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8DD56F-A681-4805-A5A2-3EFEAD22C2F4}" type="datetimeFigureOut">
              <a:rPr lang="en-US" smtClean="0"/>
              <a:t>5/31/2018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2861351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981200"/>
            <a:ext cx="8229600" cy="3886200"/>
          </a:xfrm>
        </p:spPr>
        <p:txBody>
          <a:bodyPr>
            <a:normAutofit/>
          </a:bodyPr>
          <a:lstStyle/>
          <a:p>
            <a:pPr lvl="0"/>
            <a:endParaRPr lang="en-US" noProof="0" smtClean="0"/>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92C81A92-485E-423E-BCB9-639CCB3C6DC6}" type="slidenum">
              <a:rPr lang="en-US" altLang="en-US"/>
              <a:pPr>
                <a:defRPr/>
              </a:pPr>
              <a:t>‹#›</a:t>
            </a:fld>
            <a:endParaRPr lang="en-US" altLang="en-US"/>
          </a:p>
        </p:txBody>
      </p:sp>
    </p:spTree>
    <p:extLst>
      <p:ext uri="{BB962C8B-B14F-4D97-AF65-F5344CB8AC3E}">
        <p14:creationId xmlns:p14="http://schemas.microsoft.com/office/powerpoint/2010/main" val="4280287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81200"/>
            <a:ext cx="4044462"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2338" y="1981200"/>
            <a:ext cx="4044462"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0EB6631E-0B32-4F14-B248-A7E8B1F9FD6A}" type="slidenum">
              <a:rPr lang="en-US" altLang="en-US"/>
              <a:pPr>
                <a:defRPr/>
              </a:pPr>
              <a:t>‹#›</a:t>
            </a:fld>
            <a:endParaRPr lang="en-US" altLang="en-US"/>
          </a:p>
        </p:txBody>
      </p:sp>
    </p:spTree>
    <p:extLst>
      <p:ext uri="{BB962C8B-B14F-4D97-AF65-F5344CB8AC3E}">
        <p14:creationId xmlns:p14="http://schemas.microsoft.com/office/powerpoint/2010/main" val="545119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DD56F-A681-4805-A5A2-3EFEAD22C2F4}" type="datetimeFigureOut">
              <a:rPr lang="en-US" smtClean="0"/>
              <a:t>5/31/2018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t>‹#›</a:t>
            </a:fld>
            <a:endParaRPr lang="en-US"/>
          </a:p>
        </p:txBody>
      </p:sp>
      <p:pic>
        <p:nvPicPr>
          <p:cNvPr id="7" name="Picture 6"/>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www.dummies.com/how-to/content/how-to-protect-a-word-2007-document.html#glossary-style"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Week 03 - </a:t>
            </a:r>
            <a:endParaRPr lang="en-US" dirty="0"/>
          </a:p>
        </p:txBody>
      </p:sp>
      <p:sp>
        <p:nvSpPr>
          <p:cNvPr id="2" name="Title 1"/>
          <p:cNvSpPr>
            <a:spLocks noGrp="1"/>
          </p:cNvSpPr>
          <p:nvPr>
            <p:ph type="ctrTitle"/>
          </p:nvPr>
        </p:nvSpPr>
        <p:spPr>
          <a:xfrm>
            <a:off x="4953000" y="2514600"/>
            <a:ext cx="3886200" cy="1981199"/>
          </a:xfrm>
        </p:spPr>
        <p:txBody>
          <a:bodyPr>
            <a:normAutofit fontScale="90000"/>
          </a:bodyPr>
          <a:lstStyle/>
          <a:p>
            <a:r>
              <a:rPr lang="en-US" b="1" dirty="0" smtClean="0"/>
              <a:t>HNDIT1101: </a:t>
            </a:r>
            <a:r>
              <a:rPr lang="en-US" b="1" dirty="0"/>
              <a:t>Personal Computer Applications</a:t>
            </a:r>
            <a:r>
              <a:rPr lang="en-US" dirty="0"/>
              <a:t/>
            </a:r>
            <a:br>
              <a:rPr lang="en-US" dirty="0"/>
            </a:br>
            <a:endParaRPr lang="en-US" dirty="0"/>
          </a:p>
        </p:txBody>
      </p:sp>
    </p:spTree>
    <p:extLst>
      <p:ext uri="{BB962C8B-B14F-4D97-AF65-F5344CB8AC3E}">
        <p14:creationId xmlns:p14="http://schemas.microsoft.com/office/powerpoint/2010/main" val="3578411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Some commands in MS word</a:t>
            </a:r>
            <a:endParaRPr lang="en-US"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293949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28625" y="439465"/>
            <a:ext cx="8229600" cy="1143000"/>
          </a:xfrm>
        </p:spPr>
        <p:txBody>
          <a:bodyPr/>
          <a:lstStyle/>
          <a:p>
            <a:r>
              <a:rPr lang="en-US" altLang="en-US" dirty="0" smtClean="0"/>
              <a:t>Formatting Text</a:t>
            </a:r>
          </a:p>
        </p:txBody>
      </p:sp>
      <p:sp>
        <p:nvSpPr>
          <p:cNvPr id="11267" name="Rectangle 3"/>
          <p:cNvSpPr>
            <a:spLocks noGrp="1" noChangeArrowheads="1"/>
          </p:cNvSpPr>
          <p:nvPr>
            <p:ph type="body" idx="1"/>
          </p:nvPr>
        </p:nvSpPr>
        <p:spPr>
          <a:xfrm>
            <a:off x="4019549" y="1333500"/>
            <a:ext cx="4762499" cy="1790700"/>
          </a:xfrm>
        </p:spPr>
        <p:txBody>
          <a:bodyPr/>
          <a:lstStyle/>
          <a:p>
            <a:pPr indent="4763">
              <a:buFontTx/>
              <a:buNone/>
            </a:pPr>
            <a:r>
              <a:rPr lang="en-US" altLang="en-US" sz="2000" dirty="0" smtClean="0"/>
              <a:t>In the Font dialog box, you can make changes to the type, style, size, and color of font used in the document.</a:t>
            </a:r>
            <a:r>
              <a:rPr lang="en-US" altLang="en-US" sz="2400" dirty="0" smtClean="0"/>
              <a:t> </a:t>
            </a:r>
          </a:p>
        </p:txBody>
      </p:sp>
      <p:sp>
        <p:nvSpPr>
          <p:cNvPr id="5" name="TextBox 4"/>
          <p:cNvSpPr txBox="1"/>
          <p:nvPr/>
        </p:nvSpPr>
        <p:spPr>
          <a:xfrm>
            <a:off x="4391024" y="2891314"/>
            <a:ext cx="4391025" cy="3323987"/>
          </a:xfrm>
          <a:prstGeom prst="rect">
            <a:avLst/>
          </a:prstGeom>
          <a:noFill/>
        </p:spPr>
        <p:txBody>
          <a:bodyPr>
            <a:spAutoFit/>
          </a:bodyPr>
          <a:lstStyle/>
          <a:p>
            <a:pPr marL="290513" indent="-290513">
              <a:defRPr/>
            </a:pPr>
            <a:r>
              <a:rPr lang="en-US" sz="2000" b="1" dirty="0">
                <a:latin typeface="Arial" charset="0"/>
              </a:rPr>
              <a:t>Size</a:t>
            </a:r>
          </a:p>
          <a:p>
            <a:pPr marL="290513" indent="-290513">
              <a:defRPr/>
            </a:pPr>
            <a:r>
              <a:rPr lang="en-US" sz="2000" b="1" dirty="0">
                <a:latin typeface="Arial" charset="0"/>
              </a:rPr>
              <a:t>Font</a:t>
            </a:r>
          </a:p>
          <a:p>
            <a:pPr marL="290513">
              <a:defRPr/>
            </a:pPr>
            <a:r>
              <a:rPr lang="en-US" dirty="0">
                <a:latin typeface="Arial" charset="0"/>
              </a:rPr>
              <a:t>You  </a:t>
            </a:r>
            <a:r>
              <a:rPr lang="en-US" dirty="0">
                <a:latin typeface="Baskerville Old Face" pitchFamily="18" charset="0"/>
              </a:rPr>
              <a:t>can</a:t>
            </a:r>
            <a:r>
              <a:rPr lang="en-US" dirty="0">
                <a:latin typeface="Arial" charset="0"/>
              </a:rPr>
              <a:t> </a:t>
            </a:r>
            <a:r>
              <a:rPr lang="en-US" dirty="0">
                <a:latin typeface="Goudy Stout" pitchFamily="18" charset="0"/>
              </a:rPr>
              <a:t>change</a:t>
            </a:r>
            <a:r>
              <a:rPr lang="en-US" dirty="0">
                <a:latin typeface="Arial" charset="0"/>
              </a:rPr>
              <a:t> </a:t>
            </a:r>
            <a:r>
              <a:rPr lang="en-US" dirty="0">
                <a:latin typeface="Forte" pitchFamily="66" charset="0"/>
              </a:rPr>
              <a:t>the </a:t>
            </a:r>
            <a:r>
              <a:rPr lang="en-US" dirty="0">
                <a:latin typeface="Biondi" pitchFamily="2" charset="0"/>
              </a:rPr>
              <a:t>“handwriting” </a:t>
            </a:r>
            <a:r>
              <a:rPr lang="en-US" dirty="0">
                <a:latin typeface="Arial" charset="0"/>
              </a:rPr>
              <a:t>of </a:t>
            </a:r>
            <a:r>
              <a:rPr lang="en-US" dirty="0">
                <a:latin typeface="Jokerman" pitchFamily="82" charset="0"/>
              </a:rPr>
              <a:t>your </a:t>
            </a:r>
            <a:r>
              <a:rPr lang="en-US" dirty="0">
                <a:latin typeface="Matura MT Script Capitals" pitchFamily="66" charset="0"/>
              </a:rPr>
              <a:t>text.</a:t>
            </a:r>
          </a:p>
          <a:p>
            <a:pPr>
              <a:defRPr/>
            </a:pPr>
            <a:r>
              <a:rPr lang="en-US" sz="2000" b="1" dirty="0">
                <a:latin typeface="Arial" charset="0"/>
              </a:rPr>
              <a:t>Font style</a:t>
            </a:r>
          </a:p>
          <a:p>
            <a:pPr marL="290513">
              <a:defRPr/>
            </a:pPr>
            <a:r>
              <a:rPr lang="en-US" dirty="0">
                <a:latin typeface="Arial" charset="0"/>
              </a:rPr>
              <a:t>Put a word in</a:t>
            </a:r>
            <a:r>
              <a:rPr lang="en-US" b="1" dirty="0">
                <a:latin typeface="Arial" charset="0"/>
              </a:rPr>
              <a:t> </a:t>
            </a:r>
            <a:r>
              <a:rPr lang="en-US" sz="2000" b="1" dirty="0">
                <a:latin typeface="Arial" charset="0"/>
              </a:rPr>
              <a:t>bold</a:t>
            </a:r>
            <a:r>
              <a:rPr lang="en-US" b="1" dirty="0">
                <a:latin typeface="Arial" charset="0"/>
              </a:rPr>
              <a:t> </a:t>
            </a:r>
            <a:r>
              <a:rPr lang="en-US" dirty="0">
                <a:latin typeface="Arial" charset="0"/>
              </a:rPr>
              <a:t>or </a:t>
            </a:r>
            <a:r>
              <a:rPr lang="en-US" i="1" dirty="0">
                <a:latin typeface="Arial" charset="0"/>
              </a:rPr>
              <a:t>italics</a:t>
            </a:r>
            <a:r>
              <a:rPr lang="en-US" dirty="0">
                <a:latin typeface="Arial" charset="0"/>
              </a:rPr>
              <a:t> for emphasis.</a:t>
            </a:r>
          </a:p>
          <a:p>
            <a:pPr>
              <a:defRPr/>
            </a:pPr>
            <a:r>
              <a:rPr lang="en-US" sz="2000" b="1" dirty="0">
                <a:latin typeface="Arial" charset="0"/>
              </a:rPr>
              <a:t>Effects</a:t>
            </a:r>
          </a:p>
          <a:p>
            <a:pPr marL="290513">
              <a:defRPr/>
            </a:pPr>
            <a:r>
              <a:rPr lang="en-US" dirty="0">
                <a:latin typeface="Arial" charset="0"/>
              </a:rPr>
              <a:t>Will let you add </a:t>
            </a:r>
            <a:r>
              <a:rPr lang="en-US" u="sng" dirty="0">
                <a:latin typeface="Arial" charset="0"/>
              </a:rPr>
              <a:t>underlining</a:t>
            </a:r>
            <a:r>
              <a:rPr lang="en-US" dirty="0">
                <a:latin typeface="Arial" charset="0"/>
              </a:rPr>
              <a:t>, </a:t>
            </a:r>
            <a:r>
              <a:rPr lang="en-US" sz="2000" b="1" dirty="0">
                <a:effectLst>
                  <a:innerShdw blurRad="63500" dist="50800" dir="13500000">
                    <a:prstClr val="black">
                      <a:alpha val="50000"/>
                    </a:prstClr>
                  </a:innerShdw>
                </a:effectLst>
                <a:latin typeface="Arial" charset="0"/>
              </a:rPr>
              <a:t>shadows</a:t>
            </a:r>
            <a:r>
              <a:rPr lang="en-US" dirty="0">
                <a:latin typeface="Arial" charset="0"/>
              </a:rPr>
              <a:t>, or details like </a:t>
            </a:r>
            <a:r>
              <a:rPr lang="en-US" strike="sngStrike" dirty="0">
                <a:latin typeface="Arial" charset="0"/>
              </a:rPr>
              <a:t>strikethrough</a:t>
            </a:r>
            <a:r>
              <a:rPr lang="en-US" dirty="0">
                <a:latin typeface="Arial" charset="0"/>
              </a:rPr>
              <a:t>.</a:t>
            </a:r>
          </a:p>
        </p:txBody>
      </p:sp>
      <p:pic>
        <p:nvPicPr>
          <p:cNvPr id="2560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2547938"/>
            <a:ext cx="3343275" cy="416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304925"/>
            <a:ext cx="27511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Arrow Connector 7"/>
          <p:cNvCxnSpPr/>
          <p:nvPr/>
        </p:nvCxnSpPr>
        <p:spPr>
          <a:xfrm rot="10800000" flipV="1">
            <a:off x="2638425" y="2133600"/>
            <a:ext cx="695325" cy="40957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72067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smtClean="0"/>
              <a:t>Alignment</a:t>
            </a:r>
          </a:p>
        </p:txBody>
      </p:sp>
      <p:sp>
        <p:nvSpPr>
          <p:cNvPr id="9219" name="Rectangle 3"/>
          <p:cNvSpPr>
            <a:spLocks noGrp="1" noChangeArrowheads="1"/>
          </p:cNvSpPr>
          <p:nvPr>
            <p:ph idx="1"/>
          </p:nvPr>
        </p:nvSpPr>
        <p:spPr/>
        <p:txBody>
          <a:bodyPr/>
          <a:lstStyle/>
          <a:p>
            <a:r>
              <a:rPr lang="en-US" altLang="en-US" sz="2400" dirty="0" smtClean="0"/>
              <a:t>specify the arrangement of objects, text, and graphics, in predetermined positions using the alignment settings. </a:t>
            </a:r>
          </a:p>
          <a:p>
            <a:r>
              <a:rPr lang="en-US" altLang="en-US" sz="2400" dirty="0" smtClean="0"/>
              <a:t>align the selected text to the left, right, or center by using the left, right, and center alignment buttons.</a:t>
            </a:r>
          </a:p>
          <a:p>
            <a:pPr marL="0" indent="465138" algn="just"/>
            <a:endParaRPr lang="en-US" altLang="en-US" sz="2800" dirty="0" smtClean="0"/>
          </a:p>
        </p:txBody>
      </p:sp>
      <p:pic>
        <p:nvPicPr>
          <p:cNvPr id="2765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4613" y="4376738"/>
            <a:ext cx="3471862" cy="115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65664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 calcmode="lin" valueType="num">
                                      <p:cBhvr additive="base">
                                        <p:cTn id="7"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smtClean="0"/>
              <a:t>Bullets and Numbering</a:t>
            </a:r>
          </a:p>
        </p:txBody>
      </p:sp>
      <p:sp>
        <p:nvSpPr>
          <p:cNvPr id="28675" name="Content Placeholder 2"/>
          <p:cNvSpPr>
            <a:spLocks noGrp="1"/>
          </p:cNvSpPr>
          <p:nvPr>
            <p:ph idx="1"/>
          </p:nvPr>
        </p:nvSpPr>
        <p:spPr>
          <a:xfrm>
            <a:off x="609600" y="1600200"/>
            <a:ext cx="8229600" cy="1219200"/>
          </a:xfrm>
        </p:spPr>
        <p:txBody>
          <a:bodyPr/>
          <a:lstStyle/>
          <a:p>
            <a:r>
              <a:rPr lang="en-US" altLang="en-US" sz="2800" dirty="0" smtClean="0"/>
              <a:t>bullet or numbering options is used to organize information into lists.</a:t>
            </a:r>
          </a:p>
        </p:txBody>
      </p:sp>
      <p:graphicFrame>
        <p:nvGraphicFramePr>
          <p:cNvPr id="4" name="Table 3"/>
          <p:cNvGraphicFramePr>
            <a:graphicFrameLocks noGrp="1"/>
          </p:cNvGraphicFramePr>
          <p:nvPr/>
        </p:nvGraphicFramePr>
        <p:xfrm>
          <a:off x="1219200" y="2828925"/>
          <a:ext cx="6096000" cy="2219325"/>
        </p:xfrm>
        <a:graphic>
          <a:graphicData uri="http://schemas.openxmlformats.org/drawingml/2006/table">
            <a:tbl>
              <a:tblPr/>
              <a:tblGrid>
                <a:gridCol w="990600"/>
                <a:gridCol w="2057400"/>
                <a:gridCol w="1371600"/>
                <a:gridCol w="1676400"/>
              </a:tblGrid>
              <a:tr h="443865">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dirty="0" smtClean="0">
                          <a:ln>
                            <a:noFill/>
                          </a:ln>
                          <a:solidFill>
                            <a:srgbClr val="006699"/>
                          </a:solidFill>
                          <a:effectLst/>
                          <a:latin typeface="Arial" charset="0"/>
                        </a:rPr>
                        <a:t>Bullets</a:t>
                      </a:r>
                    </a:p>
                  </a:txBody>
                  <a:tcPr horzOverflow="overflow">
                    <a:lnL>
                      <a:noFill/>
                    </a:lnL>
                    <a:lnR>
                      <a:noFill/>
                    </a:lnR>
                    <a:lnT>
                      <a:noFill/>
                    </a:lnT>
                    <a:lnB>
                      <a:noFill/>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sng" strike="noStrike" cap="none" normalizeH="0" baseline="0" dirty="0" smtClean="0">
                          <a:ln>
                            <a:noFill/>
                          </a:ln>
                          <a:solidFill>
                            <a:srgbClr val="006699"/>
                          </a:solidFill>
                          <a:effectLst/>
                          <a:latin typeface="Arial" charset="0"/>
                        </a:rPr>
                        <a:t>Numbering</a:t>
                      </a:r>
                    </a:p>
                  </a:txBody>
                  <a:tcPr horzOverflow="overflow">
                    <a:lnL>
                      <a:noFill/>
                    </a:lnL>
                    <a:lnR>
                      <a:noFill/>
                    </a:lnR>
                    <a:lnT>
                      <a:noFill/>
                    </a:lnT>
                    <a:lnB>
                      <a:noFill/>
                    </a:lnB>
                    <a:lnTlToBr>
                      <a:noFill/>
                    </a:lnTlToBr>
                    <a:lnBlToTr>
                      <a:noFill/>
                    </a:lnBlToTr>
                    <a:noFill/>
                  </a:tcPr>
                </a:tc>
                <a:tc hMerge="1">
                  <a:txBody>
                    <a:bodyPr/>
                    <a:lstStyle/>
                    <a:p>
                      <a:endParaRPr lang="en-US"/>
                    </a:p>
                  </a:txBody>
                  <a:tcPr/>
                </a:tc>
              </a:tr>
              <a:tr h="177546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smtClean="0">
                        <a:ln>
                          <a:noFill/>
                        </a:ln>
                        <a:solidFill>
                          <a:srgbClr val="72BFC5"/>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225425" marR="0" lvl="0" indent="-225425" algn="l" defTabSz="914400" rtl="0" eaLnBrk="1" fontAlgn="base" latinLnBrk="0" hangingPunct="1">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rgbClr val="006699"/>
                          </a:solidFill>
                          <a:effectLst/>
                          <a:latin typeface="Arial" charset="0"/>
                        </a:rPr>
                        <a:t>Aardvark</a:t>
                      </a:r>
                    </a:p>
                    <a:p>
                      <a:pPr marL="225425" marR="0" lvl="0" indent="-225425" algn="l" defTabSz="914400" rtl="0" eaLnBrk="1" fontAlgn="base" latinLnBrk="0" hangingPunct="1">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rgbClr val="006699"/>
                          </a:solidFill>
                          <a:effectLst/>
                          <a:latin typeface="Arial" charset="0"/>
                        </a:rPr>
                        <a:t>Butterfly</a:t>
                      </a:r>
                    </a:p>
                    <a:p>
                      <a:pPr marL="225425" marR="0" lvl="0" indent="-225425" algn="l" defTabSz="914400" rtl="0" eaLnBrk="1" fontAlgn="base" latinLnBrk="0" hangingPunct="1">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rgbClr val="006699"/>
                          </a:solidFill>
                          <a:effectLst/>
                          <a:latin typeface="Arial" charset="0"/>
                        </a:rPr>
                        <a:t>Cactus</a:t>
                      </a:r>
                    </a:p>
                    <a:p>
                      <a:pPr marL="225425" marR="0" lvl="0" indent="-225425" algn="l" defTabSz="914400" rtl="0" eaLnBrk="1" fontAlgn="base" latinLnBrk="0" hangingPunct="1">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rgbClr val="006699"/>
                          </a:solidFill>
                          <a:effectLst/>
                          <a:latin typeface="Arial" charset="0"/>
                        </a:rPr>
                        <a:t>Daffodil</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smtClean="0">
                        <a:ln>
                          <a:noFill/>
                        </a:ln>
                        <a:solidFill>
                          <a:srgbClr val="006699"/>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AutoNum type="arabicPeriod"/>
                        <a:tabLst/>
                      </a:pPr>
                      <a:r>
                        <a:rPr kumimoji="0" lang="en-US" sz="1800" b="1" i="0" u="none" strike="noStrike" cap="none" normalizeH="0" baseline="0" dirty="0" smtClean="0">
                          <a:ln>
                            <a:noFill/>
                          </a:ln>
                          <a:solidFill>
                            <a:srgbClr val="006699"/>
                          </a:solidFill>
                          <a:effectLst/>
                          <a:latin typeface="Arial" charset="0"/>
                        </a:rPr>
                        <a:t>Aardvark</a:t>
                      </a:r>
                    </a:p>
                    <a:p>
                      <a:pPr marL="342900" marR="0" lvl="0" indent="-342900" algn="l" defTabSz="914400" rtl="0" eaLnBrk="1" fontAlgn="base" latinLnBrk="0" hangingPunct="1">
                        <a:lnSpc>
                          <a:spcPct val="100000"/>
                        </a:lnSpc>
                        <a:spcBef>
                          <a:spcPct val="0"/>
                        </a:spcBef>
                        <a:spcAft>
                          <a:spcPct val="0"/>
                        </a:spcAft>
                        <a:buClrTx/>
                        <a:buSzTx/>
                        <a:buFontTx/>
                        <a:buAutoNum type="arabicPeriod"/>
                        <a:tabLst/>
                      </a:pPr>
                      <a:r>
                        <a:rPr kumimoji="0" lang="en-US" sz="1800" b="1" i="0" u="none" strike="noStrike" cap="none" normalizeH="0" baseline="0" dirty="0" smtClean="0">
                          <a:ln>
                            <a:noFill/>
                          </a:ln>
                          <a:solidFill>
                            <a:srgbClr val="006699"/>
                          </a:solidFill>
                          <a:effectLst/>
                          <a:latin typeface="Arial" charset="0"/>
                        </a:rPr>
                        <a:t>Butterfly</a:t>
                      </a:r>
                    </a:p>
                    <a:p>
                      <a:pPr marL="342900" marR="0" lvl="0" indent="-342900" algn="l" defTabSz="914400" rtl="0" eaLnBrk="1" fontAlgn="base" latinLnBrk="0" hangingPunct="1">
                        <a:lnSpc>
                          <a:spcPct val="100000"/>
                        </a:lnSpc>
                        <a:spcBef>
                          <a:spcPct val="0"/>
                        </a:spcBef>
                        <a:spcAft>
                          <a:spcPct val="0"/>
                        </a:spcAft>
                        <a:buClrTx/>
                        <a:buSzTx/>
                        <a:buFontTx/>
                        <a:buAutoNum type="arabicPeriod"/>
                        <a:tabLst/>
                      </a:pPr>
                      <a:r>
                        <a:rPr kumimoji="0" lang="en-US" sz="1800" b="1" i="0" u="none" strike="noStrike" cap="none" normalizeH="0" baseline="0" dirty="0" smtClean="0">
                          <a:ln>
                            <a:noFill/>
                          </a:ln>
                          <a:solidFill>
                            <a:srgbClr val="006699"/>
                          </a:solidFill>
                          <a:effectLst/>
                          <a:latin typeface="Arial" charset="0"/>
                        </a:rPr>
                        <a:t>Cactus</a:t>
                      </a:r>
                    </a:p>
                    <a:p>
                      <a:pPr marL="342900" marR="0" lvl="0" indent="-342900" algn="l" defTabSz="914400" rtl="0" eaLnBrk="1" fontAlgn="base" latinLnBrk="0" hangingPunct="1">
                        <a:lnSpc>
                          <a:spcPct val="100000"/>
                        </a:lnSpc>
                        <a:spcBef>
                          <a:spcPct val="0"/>
                        </a:spcBef>
                        <a:spcAft>
                          <a:spcPct val="0"/>
                        </a:spcAft>
                        <a:buClrTx/>
                        <a:buSzTx/>
                        <a:buFontTx/>
                        <a:buAutoNum type="arabicPeriod"/>
                        <a:tabLst/>
                      </a:pPr>
                      <a:r>
                        <a:rPr kumimoji="0" lang="en-US" sz="1800" b="1" i="0" u="none" strike="noStrike" cap="none" normalizeH="0" baseline="0" dirty="0" smtClean="0">
                          <a:ln>
                            <a:noFill/>
                          </a:ln>
                          <a:solidFill>
                            <a:srgbClr val="006699"/>
                          </a:solidFill>
                          <a:effectLst/>
                          <a:latin typeface="Arial" charset="0"/>
                        </a:rPr>
                        <a:t>Daffodil</a:t>
                      </a:r>
                    </a:p>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dirty="0" smtClean="0">
                        <a:ln>
                          <a:noFill/>
                        </a:ln>
                        <a:solidFill>
                          <a:srgbClr val="006699"/>
                        </a:solidFill>
                        <a:effectLst/>
                        <a:latin typeface="Arial" charset="0"/>
                      </a:endParaRPr>
                    </a:p>
                  </a:txBody>
                  <a:tcPr horzOverflow="overflow">
                    <a:lnL>
                      <a:noFill/>
                    </a:lnL>
                    <a:lnR>
                      <a:noFill/>
                    </a:lnR>
                    <a:lnT>
                      <a:noFill/>
                    </a:lnT>
                    <a:lnB>
                      <a:noFill/>
                    </a:lnB>
                    <a:lnTlToBr>
                      <a:noFill/>
                    </a:lnTlToBr>
                    <a:lnBlToTr>
                      <a:noFill/>
                    </a:lnBlToTr>
                    <a:noFill/>
                  </a:tcPr>
                </a:tc>
              </a:tr>
            </a:tbl>
          </a:graphicData>
        </a:graphic>
      </p:graphicFrame>
      <p:pic>
        <p:nvPicPr>
          <p:cNvPr id="286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429000"/>
            <a:ext cx="8175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429000"/>
            <a:ext cx="812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87443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ltLang="en-US" smtClean="0"/>
              <a:t>Indenting and Spacing</a:t>
            </a:r>
          </a:p>
        </p:txBody>
      </p:sp>
      <p:sp>
        <p:nvSpPr>
          <p:cNvPr id="29699" name="Content Placeholder 2"/>
          <p:cNvSpPr>
            <a:spLocks noGrp="1"/>
          </p:cNvSpPr>
          <p:nvPr>
            <p:ph idx="1"/>
          </p:nvPr>
        </p:nvSpPr>
        <p:spPr/>
        <p:txBody>
          <a:bodyPr>
            <a:normAutofit/>
          </a:bodyPr>
          <a:lstStyle/>
          <a:p>
            <a:r>
              <a:rPr lang="en-US" altLang="en-US" sz="2800" dirty="0" smtClean="0"/>
              <a:t>Use indentation to offset text away from the margin or bring it closer again. </a:t>
            </a:r>
          </a:p>
          <a:p>
            <a:pPr>
              <a:buFontTx/>
              <a:buNone/>
            </a:pPr>
            <a:endParaRPr lang="en-US" altLang="en-US" sz="2000" dirty="0" smtClean="0"/>
          </a:p>
          <a:p>
            <a:pPr>
              <a:buFontTx/>
              <a:buNone/>
            </a:pPr>
            <a:endParaRPr lang="en-US" altLang="en-US" sz="2000" dirty="0" smtClean="0"/>
          </a:p>
        </p:txBody>
      </p:sp>
      <p:pic>
        <p:nvPicPr>
          <p:cNvPr id="2970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4116388"/>
            <a:ext cx="81915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5234949"/>
            <a:ext cx="1604963"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05643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Shading</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7</a:t>
            </a:fld>
            <a:endParaRPr lang="en-US" dirty="0"/>
          </a:p>
        </p:txBody>
      </p:sp>
      <p:sp>
        <p:nvSpPr>
          <p:cNvPr id="6" name="Content Placeholder 5"/>
          <p:cNvSpPr>
            <a:spLocks noGrp="1"/>
          </p:cNvSpPr>
          <p:nvPr>
            <p:ph idx="1"/>
          </p:nvPr>
        </p:nvSpPr>
        <p:spPr/>
        <p:txBody>
          <a:bodyPr/>
          <a:lstStyle/>
          <a:p>
            <a:r>
              <a:rPr lang="en-US" dirty="0"/>
              <a:t>Change the color behind the selected text, paragraph or table cell.</a:t>
            </a:r>
          </a:p>
        </p:txBody>
      </p:sp>
      <p:pic>
        <p:nvPicPr>
          <p:cNvPr id="1028" name="Picture 4" descr="Sha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96240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rotWithShape="1">
          <a:blip r:embed="rId3"/>
          <a:srcRect l="22474" t="33695" r="24231" b="39131"/>
          <a:stretch/>
        </p:blipFill>
        <p:spPr>
          <a:xfrm>
            <a:off x="2895600" y="3657600"/>
            <a:ext cx="5547360" cy="1524000"/>
          </a:xfrm>
          <a:prstGeom prst="rect">
            <a:avLst/>
          </a:prstGeom>
        </p:spPr>
      </p:pic>
    </p:spTree>
    <p:extLst>
      <p:ext uri="{BB962C8B-B14F-4D97-AF65-F5344CB8AC3E}">
        <p14:creationId xmlns:p14="http://schemas.microsoft.com/office/powerpoint/2010/main" val="31732854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Style</a:t>
            </a:r>
            <a:endParaRPr lang="en-US" dirty="0"/>
          </a:p>
        </p:txBody>
      </p:sp>
      <p:sp>
        <p:nvSpPr>
          <p:cNvPr id="3" name="Content Placeholder 2"/>
          <p:cNvSpPr>
            <a:spLocks noGrp="1"/>
          </p:cNvSpPr>
          <p:nvPr>
            <p:ph idx="1"/>
          </p:nvPr>
        </p:nvSpPr>
        <p:spPr>
          <a:xfrm>
            <a:off x="457200" y="1905001"/>
            <a:ext cx="8229600" cy="1510506"/>
          </a:xfrm>
        </p:spPr>
        <p:txBody>
          <a:bodyPr/>
          <a:lstStyle/>
          <a:p>
            <a:r>
              <a:rPr lang="en-US" dirty="0"/>
              <a:t>Create a style based on the formatting of the selected text.</a:t>
            </a:r>
          </a:p>
        </p:txBody>
      </p:sp>
      <p:sp>
        <p:nvSpPr>
          <p:cNvPr id="4" name="Slide Number Placeholder 3"/>
          <p:cNvSpPr>
            <a:spLocks noGrp="1"/>
          </p:cNvSpPr>
          <p:nvPr>
            <p:ph type="sldNum" sz="quarter" idx="12"/>
          </p:nvPr>
        </p:nvSpPr>
        <p:spPr/>
        <p:txBody>
          <a:bodyPr/>
          <a:lstStyle/>
          <a:p>
            <a:fld id="{EA205F43-80E2-4640-A934-E79BFFCB5CAF}" type="slidenum">
              <a:rPr lang="en-US" smtClean="0"/>
              <a:pPr/>
              <a:t>8</a:t>
            </a:fld>
            <a:endParaRPr lang="en-US" dirty="0"/>
          </a:p>
        </p:txBody>
      </p:sp>
      <p:pic>
        <p:nvPicPr>
          <p:cNvPr id="10242" name="Picture 2" descr="Create a Sty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2514600"/>
            <a:ext cx="1242219" cy="1242219"/>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a:spLocks/>
          </p:cNvSpPr>
          <p:nvPr/>
        </p:nvSpPr>
        <p:spPr>
          <a:xfrm>
            <a:off x="228600" y="3415506"/>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Comment</a:t>
            </a:r>
            <a:endParaRPr lang="en-US" dirty="0"/>
          </a:p>
        </p:txBody>
      </p:sp>
      <p:sp>
        <p:nvSpPr>
          <p:cNvPr id="7" name="Content Placeholder 2"/>
          <p:cNvSpPr txBox="1">
            <a:spLocks/>
          </p:cNvSpPr>
          <p:nvPr/>
        </p:nvSpPr>
        <p:spPr>
          <a:xfrm>
            <a:off x="457200" y="4664472"/>
            <a:ext cx="8229600" cy="151050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Add a note about this part of the document.</a:t>
            </a:r>
          </a:p>
        </p:txBody>
      </p:sp>
      <p:pic>
        <p:nvPicPr>
          <p:cNvPr id="5" name="Picture 4"/>
          <p:cNvPicPr>
            <a:picLocks noChangeAspect="1"/>
          </p:cNvPicPr>
          <p:nvPr/>
        </p:nvPicPr>
        <p:blipFill rotWithShape="1">
          <a:blip r:embed="rId3"/>
          <a:srcRect l="3170" t="59739" r="81220" b="31913"/>
          <a:stretch/>
        </p:blipFill>
        <p:spPr>
          <a:xfrm>
            <a:off x="6729663" y="5249464"/>
            <a:ext cx="1488015" cy="1116014"/>
          </a:xfrm>
          <a:prstGeom prst="rect">
            <a:avLst/>
          </a:prstGeom>
        </p:spPr>
      </p:pic>
    </p:spTree>
    <p:extLst>
      <p:ext uri="{BB962C8B-B14F-4D97-AF65-F5344CB8AC3E}">
        <p14:creationId xmlns:p14="http://schemas.microsoft.com/office/powerpoint/2010/main" val="28258218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158" y="266701"/>
            <a:ext cx="8229600" cy="1143000"/>
          </a:xfrm>
        </p:spPr>
        <p:txBody>
          <a:bodyPr/>
          <a:lstStyle/>
          <a:p>
            <a:r>
              <a:rPr lang="en-US" dirty="0" smtClean="0"/>
              <a:t>WordArt</a:t>
            </a:r>
            <a:endParaRPr lang="en-US" dirty="0"/>
          </a:p>
        </p:txBody>
      </p:sp>
      <p:sp>
        <p:nvSpPr>
          <p:cNvPr id="3" name="Content Placeholder 2"/>
          <p:cNvSpPr>
            <a:spLocks noGrp="1"/>
          </p:cNvSpPr>
          <p:nvPr>
            <p:ph idx="1"/>
          </p:nvPr>
        </p:nvSpPr>
        <p:spPr>
          <a:xfrm>
            <a:off x="441158" y="1235076"/>
            <a:ext cx="8229600" cy="1219200"/>
          </a:xfrm>
        </p:spPr>
        <p:txBody>
          <a:bodyPr>
            <a:normAutofit/>
          </a:bodyPr>
          <a:lstStyle/>
          <a:p>
            <a:r>
              <a:rPr lang="en-US" dirty="0"/>
              <a:t>Add some artistic flair to your document using a WordArt text box</a:t>
            </a:r>
            <a:r>
              <a:rPr lang="en-US" dirty="0" smtClean="0"/>
              <a:t>.</a:t>
            </a:r>
          </a:p>
          <a:p>
            <a:endParaRPr lang="en-US" dirty="0"/>
          </a:p>
          <a:p>
            <a:endParaRPr lang="en-US" dirty="0" smtClean="0"/>
          </a:p>
          <a:p>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9</a:t>
            </a:fld>
            <a:endParaRPr lang="en-US" dirty="0"/>
          </a:p>
        </p:txBody>
      </p:sp>
      <p:pic>
        <p:nvPicPr>
          <p:cNvPr id="1026" name="Picture 2" descr="Word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1880792"/>
            <a:ext cx="762000" cy="76200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441158" y="2207817"/>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Drop Cap</a:t>
            </a:r>
            <a:endParaRPr lang="en-US" dirty="0"/>
          </a:p>
        </p:txBody>
      </p:sp>
      <p:sp>
        <p:nvSpPr>
          <p:cNvPr id="8" name="Content Placeholder 2"/>
          <p:cNvSpPr txBox="1">
            <a:spLocks/>
          </p:cNvSpPr>
          <p:nvPr/>
        </p:nvSpPr>
        <p:spPr>
          <a:xfrm>
            <a:off x="461211" y="3196034"/>
            <a:ext cx="8229600" cy="1219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Create a large capital letter at the beginning of a paragraph.</a:t>
            </a:r>
          </a:p>
          <a:p>
            <a:endParaRPr lang="en-US" dirty="0" smtClean="0"/>
          </a:p>
          <a:p>
            <a:endParaRPr lang="en-US" dirty="0"/>
          </a:p>
        </p:txBody>
      </p:sp>
      <p:pic>
        <p:nvPicPr>
          <p:cNvPr id="1028" name="Picture 4" descr="Drop Ca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3805634"/>
            <a:ext cx="906461" cy="90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773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 Tab</a:t>
            </a:r>
            <a:endParaRPr lang="en-US" dirty="0"/>
          </a:p>
        </p:txBody>
      </p:sp>
      <p:sp>
        <p:nvSpPr>
          <p:cNvPr id="3" name="Content Placeholder 2"/>
          <p:cNvSpPr>
            <a:spLocks noGrp="1"/>
          </p:cNvSpPr>
          <p:nvPr>
            <p:ph idx="1"/>
          </p:nvPr>
        </p:nvSpPr>
        <p:spPr>
          <a:xfrm>
            <a:off x="457200" y="1764632"/>
            <a:ext cx="8229600" cy="4221163"/>
          </a:xfrm>
        </p:spPr>
        <p:txBody>
          <a:bodyPr/>
          <a:lstStyle/>
          <a:p>
            <a:r>
              <a:rPr lang="en-US" dirty="0" smtClean="0"/>
              <a:t>Comment</a:t>
            </a:r>
          </a:p>
          <a:p>
            <a:pPr lvl="1"/>
            <a:r>
              <a:rPr lang="en-US" dirty="0"/>
              <a:t>Add a note about </a:t>
            </a:r>
            <a:r>
              <a:rPr lang="en-US" dirty="0" smtClean="0"/>
              <a:t>part </a:t>
            </a:r>
            <a:r>
              <a:rPr lang="en-US" dirty="0"/>
              <a:t>of the document</a:t>
            </a:r>
            <a:r>
              <a:rPr lang="en-US" dirty="0" smtClean="0"/>
              <a:t>.</a:t>
            </a:r>
          </a:p>
          <a:p>
            <a:pPr lvl="1"/>
            <a:endParaRPr lang="en-US" dirty="0"/>
          </a:p>
          <a:p>
            <a:pPr lvl="1"/>
            <a:endParaRPr lang="en-US" dirty="0" smtClean="0"/>
          </a:p>
          <a:p>
            <a:pPr lvl="1"/>
            <a:endParaRPr lang="en-US" dirty="0"/>
          </a:p>
          <a:p>
            <a:endParaRPr lang="en-US" dirty="0"/>
          </a:p>
          <a:p>
            <a:pPr marL="457200" lvl="1" indent="0">
              <a:buNone/>
            </a:pP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10</a:t>
            </a:fld>
            <a:endParaRPr lang="en-US" dirty="0"/>
          </a:p>
        </p:txBody>
      </p:sp>
      <p:pic>
        <p:nvPicPr>
          <p:cNvPr id="5" name="Picture 4"/>
          <p:cNvPicPr>
            <a:picLocks noChangeAspect="1"/>
          </p:cNvPicPr>
          <p:nvPr/>
        </p:nvPicPr>
        <p:blipFill rotWithShape="1">
          <a:blip r:embed="rId2"/>
          <a:srcRect l="14275" t="50000" r="7834" b="30435"/>
          <a:stretch/>
        </p:blipFill>
        <p:spPr>
          <a:xfrm>
            <a:off x="135467" y="2819400"/>
            <a:ext cx="9008533" cy="1219200"/>
          </a:xfrm>
          <a:prstGeom prst="rect">
            <a:avLst/>
          </a:prstGeom>
        </p:spPr>
      </p:pic>
    </p:spTree>
    <p:extLst>
      <p:ext uri="{BB962C8B-B14F-4D97-AF65-F5344CB8AC3E}">
        <p14:creationId xmlns:p14="http://schemas.microsoft.com/office/powerpoint/2010/main" val="2888268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Links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Hyperlink</a:t>
            </a:r>
          </a:p>
          <a:p>
            <a:r>
              <a:rPr lang="en-US" dirty="0" smtClean="0"/>
              <a:t>Create </a:t>
            </a:r>
            <a:r>
              <a:rPr lang="en-US" dirty="0"/>
              <a:t>a link in your document for quick access to webpages and files. </a:t>
            </a:r>
            <a:endParaRPr lang="en-US" dirty="0" smtClean="0"/>
          </a:p>
          <a:p>
            <a:r>
              <a:rPr lang="en-US" b="1" dirty="0" smtClean="0"/>
              <a:t>Bookmark</a:t>
            </a:r>
            <a:endParaRPr lang="en-US" b="1" dirty="0"/>
          </a:p>
          <a:p>
            <a:r>
              <a:rPr lang="en-US" dirty="0"/>
              <a:t>Bookmarks work with hyperlinks to let you jump to a specific place in your document. </a:t>
            </a:r>
            <a:endParaRPr lang="en-US" dirty="0" smtClean="0"/>
          </a:p>
          <a:p>
            <a:r>
              <a:rPr lang="en-US" b="1" dirty="0" smtClean="0"/>
              <a:t>Cross-reference</a:t>
            </a:r>
          </a:p>
          <a:p>
            <a:r>
              <a:rPr lang="en-US" dirty="0"/>
              <a:t>Refer to specific places in your document, such as headings, figures, and tables. </a:t>
            </a:r>
            <a:endParaRPr lang="en-US" b="1" dirty="0" smtClean="0"/>
          </a:p>
          <a:p>
            <a:endParaRPr lang="en-US" dirty="0"/>
          </a:p>
          <a:p>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11</a:t>
            </a:fld>
            <a:endParaRPr lang="en-US" dirty="0"/>
          </a:p>
        </p:txBody>
      </p:sp>
      <p:pic>
        <p:nvPicPr>
          <p:cNvPr id="5" name="Picture 4"/>
          <p:cNvPicPr>
            <a:picLocks noChangeAspect="1"/>
          </p:cNvPicPr>
          <p:nvPr/>
        </p:nvPicPr>
        <p:blipFill>
          <a:blip r:embed="rId2"/>
          <a:stretch>
            <a:fillRect/>
          </a:stretch>
        </p:blipFill>
        <p:spPr>
          <a:xfrm>
            <a:off x="5867400" y="457201"/>
            <a:ext cx="3188368" cy="1630008"/>
          </a:xfrm>
          <a:prstGeom prst="rect">
            <a:avLst/>
          </a:prstGeom>
        </p:spPr>
      </p:pic>
    </p:spTree>
    <p:extLst>
      <p:ext uri="{BB962C8B-B14F-4D97-AF65-F5344CB8AC3E}">
        <p14:creationId xmlns:p14="http://schemas.microsoft.com/office/powerpoint/2010/main" val="41495036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508574"/>
            <a:ext cx="8229600" cy="1266092"/>
          </a:xfrm>
        </p:spPr>
        <p:txBody>
          <a:bodyPr>
            <a:normAutofit fontScale="90000"/>
          </a:bodyPr>
          <a:lstStyle/>
          <a:p>
            <a:pPr eaLnBrk="1" hangingPunct="1"/>
            <a:r>
              <a:rPr lang="en-US" altLang="en-US" dirty="0" smtClean="0"/>
              <a:t>Review Tab</a:t>
            </a:r>
            <a:br>
              <a:rPr lang="en-US" altLang="en-US" dirty="0" smtClean="0"/>
            </a:br>
            <a:r>
              <a:rPr lang="en-US" altLang="en-US" dirty="0" smtClean="0"/>
              <a:t>Proofing tools</a:t>
            </a:r>
          </a:p>
        </p:txBody>
      </p:sp>
      <p:sp>
        <p:nvSpPr>
          <p:cNvPr id="54275"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45E61579-E854-48D8-95FD-8751B22ABEED}" type="slidenum">
              <a:rPr lang="en-US" altLang="en-US" smtClean="0">
                <a:solidFill>
                  <a:schemeClr val="tx2"/>
                </a:solidFill>
              </a:rPr>
              <a:pPr/>
              <a:t>12</a:t>
            </a:fld>
            <a:endParaRPr lang="en-US" altLang="en-US" smtClean="0">
              <a:solidFill>
                <a:schemeClr val="tx2"/>
              </a:solidFill>
            </a:endParaRPr>
          </a:p>
        </p:txBody>
      </p:sp>
      <p:sp>
        <p:nvSpPr>
          <p:cNvPr id="54276" name="Rectangle 3"/>
          <p:cNvSpPr>
            <a:spLocks noGrp="1" noChangeArrowheads="1"/>
          </p:cNvSpPr>
          <p:nvPr>
            <p:ph sz="quarter" idx="1"/>
          </p:nvPr>
        </p:nvSpPr>
        <p:spPr>
          <a:xfrm>
            <a:off x="492369" y="1951892"/>
            <a:ext cx="8229600" cy="4501662"/>
          </a:xfrm>
        </p:spPr>
        <p:txBody>
          <a:bodyPr/>
          <a:lstStyle/>
          <a:p>
            <a:pPr eaLnBrk="1" hangingPunct="1"/>
            <a:r>
              <a:rPr lang="en-US" altLang="en-US" smtClean="0"/>
              <a:t>Spelling checker</a:t>
            </a:r>
          </a:p>
          <a:p>
            <a:pPr lvl="1" eaLnBrk="1" hangingPunct="1"/>
            <a:r>
              <a:rPr lang="en-US" altLang="en-US" smtClean="0"/>
              <a:t>Check both spelling and grammar.</a:t>
            </a:r>
          </a:p>
          <a:p>
            <a:pPr lvl="1" eaLnBrk="1" hangingPunct="1"/>
            <a:endParaRPr lang="en-US" altLang="en-US" smtClean="0"/>
          </a:p>
          <a:p>
            <a:pPr lvl="1" eaLnBrk="1" hangingPunct="1">
              <a:buFont typeface="Wingdings" panose="05000000000000000000" pitchFamily="2" charset="2"/>
              <a:buNone/>
            </a:pPr>
            <a:endParaRPr lang="en-US" altLang="en-US" smtClean="0"/>
          </a:p>
          <a:p>
            <a:pPr lvl="1" eaLnBrk="1" hangingPunct="1">
              <a:buFont typeface="Wingdings" panose="05000000000000000000" pitchFamily="2" charset="2"/>
              <a:buNone/>
            </a:pPr>
            <a:endParaRPr lang="en-US" altLang="en-US" smtClean="0"/>
          </a:p>
          <a:p>
            <a:pPr eaLnBrk="1" hangingPunct="1"/>
            <a:r>
              <a:rPr lang="en-US" altLang="en-US" smtClean="0"/>
              <a:t>Thesaurus</a:t>
            </a:r>
          </a:p>
          <a:p>
            <a:pPr lvl="1" eaLnBrk="1" hangingPunct="1"/>
            <a:r>
              <a:rPr lang="en-US" altLang="en-US" smtClean="0"/>
              <a:t>A word – finding program that suggests synonyms, antonyms and related and contrasting words.</a:t>
            </a:r>
          </a:p>
        </p:txBody>
      </p:sp>
      <p:pic>
        <p:nvPicPr>
          <p:cNvPr id="542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4547" y="3462502"/>
            <a:ext cx="2895600" cy="120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257299"/>
            <a:ext cx="2743200" cy="1733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69666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990600" y="756139"/>
            <a:ext cx="8229600" cy="1266092"/>
          </a:xfrm>
        </p:spPr>
        <p:txBody>
          <a:bodyPr/>
          <a:lstStyle/>
          <a:p>
            <a:pPr eaLnBrk="1" hangingPunct="1"/>
            <a:r>
              <a:rPr lang="en-US" altLang="en-US" dirty="0" smtClean="0"/>
              <a:t>Find, Replace &amp; GOTO</a:t>
            </a:r>
          </a:p>
        </p:txBody>
      </p:sp>
      <p:sp>
        <p:nvSpPr>
          <p:cNvPr id="55299"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38589E07-A2C6-429D-B472-6A9D764B7630}" type="slidenum">
              <a:rPr lang="en-US" altLang="en-US" smtClean="0">
                <a:solidFill>
                  <a:schemeClr val="tx2"/>
                </a:solidFill>
              </a:rPr>
              <a:pPr/>
              <a:t>13</a:t>
            </a:fld>
            <a:endParaRPr lang="en-US" altLang="en-US" smtClean="0">
              <a:solidFill>
                <a:schemeClr val="tx2"/>
              </a:solidFill>
            </a:endParaRPr>
          </a:p>
        </p:txBody>
      </p:sp>
      <p:sp>
        <p:nvSpPr>
          <p:cNvPr id="55300" name="Rectangle 3"/>
          <p:cNvSpPr>
            <a:spLocks noGrp="1" noChangeArrowheads="1"/>
          </p:cNvSpPr>
          <p:nvPr>
            <p:ph sz="quarter" idx="1"/>
          </p:nvPr>
        </p:nvSpPr>
        <p:spPr>
          <a:xfrm>
            <a:off x="228600" y="2233246"/>
            <a:ext cx="8763000" cy="4572000"/>
          </a:xfrm>
        </p:spPr>
        <p:txBody>
          <a:bodyPr/>
          <a:lstStyle/>
          <a:p>
            <a:pPr marL="112838" indent="-112838"/>
            <a:r>
              <a:rPr lang="en-US" altLang="en-US" smtClean="0"/>
              <a:t> Locate specific words or  phrases. Has the ability to  search through a document and find a particular section of text or ‘string’ and Replace it with another.  </a:t>
            </a:r>
          </a:p>
          <a:p>
            <a:pPr marL="112838" indent="-112838">
              <a:buNone/>
            </a:pPr>
            <a:endParaRPr lang="en-US" altLang="en-US" sz="1477"/>
          </a:p>
          <a:p>
            <a:pPr marL="534879" lvl="1" indent="-316531"/>
            <a:r>
              <a:rPr lang="en-US" altLang="en-US" smtClean="0"/>
              <a:t>Select find from the edit menu bar</a:t>
            </a:r>
          </a:p>
          <a:p>
            <a:pPr marL="534879" lvl="1" indent="-316531"/>
            <a:r>
              <a:rPr lang="en-US" altLang="en-US" smtClean="0"/>
              <a:t>Enter the text you want to search for in the dialog box</a:t>
            </a:r>
          </a:p>
          <a:p>
            <a:pPr marL="534879" lvl="1" indent="-316531"/>
            <a:r>
              <a:rPr lang="en-US" altLang="en-US" smtClean="0"/>
              <a:t>Click find Next….</a:t>
            </a:r>
          </a:p>
        </p:txBody>
      </p:sp>
      <p:pic>
        <p:nvPicPr>
          <p:cNvPr id="5530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756139"/>
            <a:ext cx="3276600" cy="1386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82190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81000" y="263769"/>
            <a:ext cx="8229600" cy="773723"/>
          </a:xfrm>
        </p:spPr>
        <p:txBody>
          <a:bodyPr/>
          <a:lstStyle/>
          <a:p>
            <a:pPr eaLnBrk="1" hangingPunct="1"/>
            <a:r>
              <a:rPr lang="en-US" altLang="en-US" smtClean="0"/>
              <a:t>Drag &amp; drop text (move text)</a:t>
            </a:r>
          </a:p>
        </p:txBody>
      </p:sp>
      <p:graphicFrame>
        <p:nvGraphicFramePr>
          <p:cNvPr id="9280" name="Group 64"/>
          <p:cNvGraphicFramePr>
            <a:graphicFrameLocks noGrp="1"/>
          </p:cNvGraphicFramePr>
          <p:nvPr>
            <p:ph type="tbl" idx="1"/>
          </p:nvPr>
        </p:nvGraphicFramePr>
        <p:xfrm>
          <a:off x="152400" y="952500"/>
          <a:ext cx="8991600" cy="5652004"/>
        </p:xfrm>
        <a:graphic>
          <a:graphicData uri="http://schemas.openxmlformats.org/drawingml/2006/table">
            <a:tbl>
              <a:tblPr/>
              <a:tblGrid>
                <a:gridCol w="2914650"/>
                <a:gridCol w="6076950"/>
              </a:tblGrid>
              <a:tr h="66809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1" i="0" u="none" strike="noStrike" cap="none" normalizeH="0" baseline="0" smtClean="0">
                          <a:ln>
                            <a:noFill/>
                          </a:ln>
                          <a:solidFill>
                            <a:schemeClr val="tx1"/>
                          </a:solidFill>
                          <a:effectLst/>
                          <a:latin typeface="Arial" charset="0"/>
                        </a:rPr>
                        <a:t>To Select</a:t>
                      </a:r>
                    </a:p>
                  </a:txBody>
                  <a:tcPr marL="84406" marR="84406" marT="42197" marB="421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1" i="0" u="none" strike="noStrike" cap="none" normalizeH="0" baseline="0" smtClean="0">
                          <a:ln>
                            <a:noFill/>
                          </a:ln>
                          <a:solidFill>
                            <a:schemeClr val="tx1"/>
                          </a:solidFill>
                          <a:effectLst/>
                          <a:latin typeface="Arial" charset="0"/>
                        </a:rPr>
                        <a:t>Action</a:t>
                      </a:r>
                    </a:p>
                  </a:txBody>
                  <a:tcPr marL="84406" marR="84406" marT="42197" marB="421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4839">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A word</a:t>
                      </a:r>
                    </a:p>
                  </a:txBody>
                  <a:tcPr marL="84406" marR="84406" marT="42197" marB="421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Double-click the word</a:t>
                      </a:r>
                    </a:p>
                  </a:txBody>
                  <a:tcPr marL="84406" marR="84406" marT="42197" marB="421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97267">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A line of text</a:t>
                      </a:r>
                    </a:p>
                  </a:txBody>
                  <a:tcPr marL="84406" marR="84406" marT="42197" marB="421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Move the pointer to the left of the line until it changes to a right- pointing arrow, and then click</a:t>
                      </a:r>
                    </a:p>
                  </a:txBody>
                  <a:tcPr marL="84406" marR="84406" marT="42197" marB="421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97267">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Multiple line of text</a:t>
                      </a:r>
                    </a:p>
                  </a:txBody>
                  <a:tcPr marL="84406" marR="84406" marT="42197" marB="421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Move the pointer to the left of the lines until it changes to a right-pointing arrow, and then drag up or down.</a:t>
                      </a:r>
                    </a:p>
                  </a:txBody>
                  <a:tcPr marL="84406" marR="84406" marT="42197" marB="421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964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A paragraph</a:t>
                      </a:r>
                    </a:p>
                  </a:txBody>
                  <a:tcPr marL="84406" marR="84406" marT="42197" marB="421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Hold down CTRL, and then click anywhere in the sentence.</a:t>
                      </a:r>
                    </a:p>
                  </a:txBody>
                  <a:tcPr marL="84406" marR="84406" marT="42197" marB="421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3489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A paragraph</a:t>
                      </a:r>
                    </a:p>
                  </a:txBody>
                  <a:tcPr marL="84406" marR="84406" marT="42197" marB="4219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200" b="0" i="0" u="none" strike="noStrike" cap="none" normalizeH="0" baseline="0" smtClean="0">
                          <a:ln>
                            <a:noFill/>
                          </a:ln>
                          <a:solidFill>
                            <a:schemeClr val="tx1"/>
                          </a:solidFill>
                          <a:effectLst/>
                          <a:latin typeface="Arial" charset="0"/>
                        </a:rPr>
                        <a:t>Move the pointer to the left of the paragraph until it changes to a right-pointing  arrow, and then double click. Or triple-click anywhere in the paragraph.</a:t>
                      </a:r>
                    </a:p>
                  </a:txBody>
                  <a:tcPr marL="84406" marR="84406" marT="42197" marB="4219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279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9D398CA9-E59A-4228-8BA4-E07EAF5CAF7E}" type="slidenum">
              <a:rPr lang="en-US" altLang="en-US" smtClean="0">
                <a:solidFill>
                  <a:schemeClr val="tx2"/>
                </a:solidFill>
              </a:rPr>
              <a:pPr/>
              <a:t>14</a:t>
            </a:fld>
            <a:endParaRPr lang="en-US" altLang="en-US" smtClean="0">
              <a:solidFill>
                <a:schemeClr val="tx2"/>
              </a:solidFill>
            </a:endParaRPr>
          </a:p>
        </p:txBody>
      </p:sp>
    </p:spTree>
    <p:extLst>
      <p:ext uri="{BB962C8B-B14F-4D97-AF65-F5344CB8AC3E}">
        <p14:creationId xmlns:p14="http://schemas.microsoft.com/office/powerpoint/2010/main" val="15902235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r>
              <a:rPr lang="en-US" altLang="en-US" smtClean="0"/>
              <a:t>Templates</a:t>
            </a:r>
          </a:p>
        </p:txBody>
      </p:sp>
      <p:sp>
        <p:nvSpPr>
          <p:cNvPr id="40963" name="Content Placeholder 2"/>
          <p:cNvSpPr>
            <a:spLocks noGrp="1"/>
          </p:cNvSpPr>
          <p:nvPr>
            <p:ph sz="quarter" idx="1"/>
          </p:nvPr>
        </p:nvSpPr>
        <p:spPr>
          <a:xfrm>
            <a:off x="457200" y="1389185"/>
            <a:ext cx="8229600" cy="4557346"/>
          </a:xfrm>
        </p:spPr>
        <p:txBody>
          <a:bodyPr/>
          <a:lstStyle/>
          <a:p>
            <a:pPr eaLnBrk="1" hangingPunct="1"/>
            <a:r>
              <a:rPr lang="en-US" altLang="en-US" smtClean="0"/>
              <a:t>A </a:t>
            </a:r>
            <a:r>
              <a:rPr lang="en-US" altLang="en-US" b="1" smtClean="0"/>
              <a:t>template</a:t>
            </a:r>
            <a:r>
              <a:rPr lang="en-US" altLang="en-US" smtClean="0"/>
              <a:t> is a pre-designed document that you can use to create new documents with the </a:t>
            </a:r>
            <a:r>
              <a:rPr lang="en-US" altLang="en-US" b="1" smtClean="0"/>
              <a:t>same formatting</a:t>
            </a:r>
            <a:r>
              <a:rPr lang="en-US" altLang="en-US" smtClean="0"/>
              <a:t>.</a:t>
            </a:r>
          </a:p>
          <a:p>
            <a:pPr eaLnBrk="1" hangingPunct="1"/>
            <a:r>
              <a:rPr lang="en-US" altLang="en-US" b="1" smtClean="0"/>
              <a:t>To Insert a Template:</a:t>
            </a:r>
          </a:p>
          <a:p>
            <a:pPr lvl="1" eaLnBrk="1" hangingPunct="1"/>
            <a:r>
              <a:rPr lang="en-US" altLang="en-US" smtClean="0"/>
              <a:t>Click the </a:t>
            </a:r>
            <a:r>
              <a:rPr lang="en-US" altLang="en-US" b="1" smtClean="0"/>
              <a:t>Microsoft Office Button</a:t>
            </a:r>
            <a:r>
              <a:rPr lang="en-US" altLang="en-US" smtClean="0"/>
              <a:t>.</a:t>
            </a:r>
          </a:p>
          <a:p>
            <a:pPr lvl="1" eaLnBrk="1" hangingPunct="1"/>
            <a:r>
              <a:rPr lang="en-US" altLang="en-US" smtClean="0"/>
              <a:t>Select </a:t>
            </a:r>
            <a:r>
              <a:rPr lang="en-US" altLang="en-US" b="1" smtClean="0"/>
              <a:t>New</a:t>
            </a:r>
            <a:r>
              <a:rPr lang="en-US" altLang="en-US" smtClean="0"/>
              <a:t>. The New Document dialog box appears.</a:t>
            </a:r>
          </a:p>
          <a:p>
            <a:pPr lvl="1" eaLnBrk="1" hangingPunct="1"/>
            <a:r>
              <a:rPr lang="en-US" altLang="en-US" smtClean="0"/>
              <a:t>Select </a:t>
            </a:r>
            <a:r>
              <a:rPr lang="en-US" altLang="en-US" b="1" smtClean="0"/>
              <a:t>Installed Templates</a:t>
            </a:r>
            <a:r>
              <a:rPr lang="en-US" altLang="en-US" smtClean="0"/>
              <a:t> to choose a template on your computer</a:t>
            </a:r>
          </a:p>
          <a:p>
            <a:pPr eaLnBrk="1" hangingPunct="1"/>
            <a:endParaRPr lang="en-US" altLang="en-US" smtClean="0"/>
          </a:p>
        </p:txBody>
      </p:sp>
      <p:sp>
        <p:nvSpPr>
          <p:cNvPr id="4096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C4293382-DCBA-4647-951E-8C4342B01B82}" type="slidenum">
              <a:rPr lang="en-US" altLang="en-US" smtClean="0">
                <a:solidFill>
                  <a:schemeClr val="tx2"/>
                </a:solidFill>
              </a:rPr>
              <a:pPr/>
              <a:t>15</a:t>
            </a:fld>
            <a:endParaRPr lang="en-US" altLang="en-US" smtClean="0">
              <a:solidFill>
                <a:schemeClr val="tx2"/>
              </a:solidFill>
            </a:endParaRPr>
          </a:p>
        </p:txBody>
      </p:sp>
    </p:spTree>
    <p:extLst>
      <p:ext uri="{BB962C8B-B14F-4D97-AF65-F5344CB8AC3E}">
        <p14:creationId xmlns:p14="http://schemas.microsoft.com/office/powerpoint/2010/main" val="40686692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smtClean="0"/>
              <a:t>Mail merge</a:t>
            </a:r>
          </a:p>
        </p:txBody>
      </p:sp>
      <p:sp>
        <p:nvSpPr>
          <p:cNvPr id="41987" name="Content Placeholder 2"/>
          <p:cNvSpPr>
            <a:spLocks noGrp="1"/>
          </p:cNvSpPr>
          <p:nvPr>
            <p:ph sz="quarter" idx="1"/>
          </p:nvPr>
        </p:nvSpPr>
        <p:spPr>
          <a:xfrm>
            <a:off x="457200" y="1389185"/>
            <a:ext cx="8229600" cy="4557346"/>
          </a:xfrm>
        </p:spPr>
        <p:txBody>
          <a:bodyPr/>
          <a:lstStyle/>
          <a:p>
            <a:r>
              <a:rPr lang="en-US" altLang="en-US" smtClean="0"/>
              <a:t>Mail merge is a useful tool that will allow you to easily produce multiple letters, labels, envelopes ,email messages ,directory and send it to a group of people.</a:t>
            </a:r>
          </a:p>
          <a:p>
            <a:r>
              <a:rPr lang="en-US" smtClean="0"/>
              <a:t>You can personalize the letter that each person receives.</a:t>
            </a:r>
          </a:p>
        </p:txBody>
      </p:sp>
      <p:sp>
        <p:nvSpPr>
          <p:cNvPr id="4198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3DB48058-F590-4AA0-BAD1-790C8DD193C1}" type="slidenum">
              <a:rPr lang="en-US" altLang="en-US" smtClean="0">
                <a:solidFill>
                  <a:schemeClr val="tx2"/>
                </a:solidFill>
              </a:rPr>
              <a:pPr/>
              <a:t>16</a:t>
            </a:fld>
            <a:endParaRPr lang="en-US" altLang="en-US" smtClean="0">
              <a:solidFill>
                <a:schemeClr val="tx2"/>
              </a:solidFill>
            </a:endParaRPr>
          </a:p>
        </p:txBody>
      </p:sp>
    </p:spTree>
    <p:extLst>
      <p:ext uri="{BB962C8B-B14F-4D97-AF65-F5344CB8AC3E}">
        <p14:creationId xmlns:p14="http://schemas.microsoft.com/office/powerpoint/2010/main" val="15649557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eaLnBrk="1" hangingPunct="1"/>
            <a:r>
              <a:rPr lang="en-US" altLang="en-US" b="1" smtClean="0"/>
              <a:t>Mail merge</a:t>
            </a:r>
            <a:endParaRPr lang="en-US" altLang="en-US" smtClean="0"/>
          </a:p>
        </p:txBody>
      </p:sp>
      <p:sp>
        <p:nvSpPr>
          <p:cNvPr id="43011" name="Content Placeholder 2"/>
          <p:cNvSpPr>
            <a:spLocks noGrp="1"/>
          </p:cNvSpPr>
          <p:nvPr>
            <p:ph sz="quarter" idx="1"/>
          </p:nvPr>
        </p:nvSpPr>
        <p:spPr>
          <a:xfrm>
            <a:off x="457200" y="1389185"/>
            <a:ext cx="8229600" cy="4557346"/>
          </a:xfrm>
        </p:spPr>
        <p:txBody>
          <a:bodyPr/>
          <a:lstStyle/>
          <a:p>
            <a:pPr eaLnBrk="1" hangingPunct="1"/>
            <a:r>
              <a:rPr lang="en-US" altLang="en-US" smtClean="0"/>
              <a:t> </a:t>
            </a:r>
            <a:r>
              <a:rPr lang="en-US" altLang="en-US" b="1" smtClean="0"/>
              <a:t>To Use Mail Merge:</a:t>
            </a:r>
          </a:p>
          <a:p>
            <a:pPr lvl="1" eaLnBrk="1" hangingPunct="1"/>
            <a:r>
              <a:rPr lang="en-US" altLang="en-US" smtClean="0"/>
              <a:t>Select the </a:t>
            </a:r>
            <a:r>
              <a:rPr lang="en-US" altLang="en-US" b="1" smtClean="0"/>
              <a:t>Mailings</a:t>
            </a:r>
            <a:r>
              <a:rPr lang="en-US" altLang="en-US" smtClean="0"/>
              <a:t> on the Ribbon.</a:t>
            </a:r>
          </a:p>
          <a:p>
            <a:pPr lvl="1" eaLnBrk="1" hangingPunct="1"/>
            <a:r>
              <a:rPr lang="en-US" altLang="en-US" smtClean="0"/>
              <a:t>Select the </a:t>
            </a:r>
            <a:r>
              <a:rPr lang="en-US" altLang="en-US" b="1" smtClean="0"/>
              <a:t>Start Mail Merge</a:t>
            </a:r>
            <a:r>
              <a:rPr lang="en-US" altLang="en-US" smtClean="0"/>
              <a:t> command.</a:t>
            </a:r>
          </a:p>
          <a:p>
            <a:pPr lvl="1" eaLnBrk="1" hangingPunct="1"/>
            <a:r>
              <a:rPr lang="en-US" altLang="en-US" smtClean="0"/>
              <a:t>Select </a:t>
            </a:r>
            <a:r>
              <a:rPr lang="en-US" altLang="en-US" b="1" smtClean="0"/>
              <a:t>Step by Step Mail Merge Wizard</a:t>
            </a:r>
            <a:r>
              <a:rPr lang="en-US" altLang="en-US" smtClean="0"/>
              <a:t>.</a:t>
            </a:r>
          </a:p>
          <a:p>
            <a:pPr lvl="1" eaLnBrk="1" hangingPunct="1"/>
            <a:r>
              <a:rPr lang="en-US" altLang="en-US" smtClean="0"/>
              <a:t>adsheet. </a:t>
            </a:r>
          </a:p>
        </p:txBody>
      </p:sp>
      <p:sp>
        <p:nvSpPr>
          <p:cNvPr id="4301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88355FD7-D5B2-43C5-97A5-9B17F1E9F6F3}" type="slidenum">
              <a:rPr lang="en-US" altLang="en-US" smtClean="0">
                <a:solidFill>
                  <a:schemeClr val="tx2"/>
                </a:solidFill>
              </a:rPr>
              <a:pPr/>
              <a:t>17</a:t>
            </a:fld>
            <a:endParaRPr lang="en-US" altLang="en-US" smtClean="0">
              <a:solidFill>
                <a:schemeClr val="tx2"/>
              </a:solidFill>
            </a:endParaRPr>
          </a:p>
        </p:txBody>
      </p:sp>
      <p:pic>
        <p:nvPicPr>
          <p:cNvPr id="43013" name="Picture 4" descr="Mail Mer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3539" y="4554416"/>
            <a:ext cx="4656992" cy="1151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83811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US" altLang="en-US" b="1" smtClean="0"/>
              <a:t>Macros</a:t>
            </a:r>
            <a:endParaRPr lang="en-US" altLang="en-US" smtClean="0"/>
          </a:p>
        </p:txBody>
      </p:sp>
      <p:sp>
        <p:nvSpPr>
          <p:cNvPr id="44035" name="Content Placeholder 2"/>
          <p:cNvSpPr>
            <a:spLocks noGrp="1"/>
          </p:cNvSpPr>
          <p:nvPr>
            <p:ph sz="quarter" idx="1"/>
          </p:nvPr>
        </p:nvSpPr>
        <p:spPr>
          <a:xfrm>
            <a:off x="457200" y="1389185"/>
            <a:ext cx="8229600" cy="4557346"/>
          </a:xfrm>
        </p:spPr>
        <p:txBody>
          <a:bodyPr/>
          <a:lstStyle/>
          <a:p>
            <a:pPr eaLnBrk="1" hangingPunct="1"/>
            <a:r>
              <a:rPr lang="en-US" altLang="en-US" smtClean="0"/>
              <a:t>Macros are advanced features that can speed up editing or formatting you may perform often in a Word document. They record sequences of menu selections that you choose so that a series of actions can be completed in one step.</a:t>
            </a:r>
          </a:p>
          <a:p>
            <a:pPr eaLnBrk="1" hangingPunct="1"/>
            <a:endParaRPr lang="en-US" altLang="en-US" smtClean="0"/>
          </a:p>
        </p:txBody>
      </p:sp>
      <p:sp>
        <p:nvSpPr>
          <p:cNvPr id="440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7B254BF9-1692-4ED2-A41F-18A2601C95CA}" type="slidenum">
              <a:rPr lang="en-US" altLang="en-US" smtClean="0">
                <a:solidFill>
                  <a:schemeClr val="tx2"/>
                </a:solidFill>
              </a:rPr>
              <a:pPr/>
              <a:t>18</a:t>
            </a:fld>
            <a:endParaRPr lang="en-US" altLang="en-US" smtClean="0">
              <a:solidFill>
                <a:schemeClr val="tx2"/>
              </a:solidFill>
            </a:endParaRPr>
          </a:p>
        </p:txBody>
      </p:sp>
    </p:spTree>
    <p:extLst>
      <p:ext uri="{BB962C8B-B14F-4D97-AF65-F5344CB8AC3E}">
        <p14:creationId xmlns:p14="http://schemas.microsoft.com/office/powerpoint/2010/main" val="33223784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304800" y="263769"/>
            <a:ext cx="8229600" cy="1266092"/>
          </a:xfrm>
        </p:spPr>
        <p:txBody>
          <a:bodyPr/>
          <a:lstStyle/>
          <a:p>
            <a:pPr eaLnBrk="1" hangingPunct="1"/>
            <a:r>
              <a:rPr lang="en-US" altLang="en-US" smtClean="0"/>
              <a:t>Tables</a:t>
            </a:r>
          </a:p>
        </p:txBody>
      </p:sp>
      <p:sp>
        <p:nvSpPr>
          <p:cNvPr id="58371"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BBFB7D86-94A3-4DAC-965C-0B3F7C4F11F8}" type="slidenum">
              <a:rPr lang="en-US" altLang="en-US" smtClean="0">
                <a:solidFill>
                  <a:schemeClr val="tx2"/>
                </a:solidFill>
              </a:rPr>
              <a:pPr/>
              <a:t>19</a:t>
            </a:fld>
            <a:endParaRPr lang="en-US" altLang="en-US" smtClean="0">
              <a:solidFill>
                <a:schemeClr val="tx2"/>
              </a:solidFill>
            </a:endParaRPr>
          </a:p>
        </p:txBody>
      </p:sp>
      <p:sp>
        <p:nvSpPr>
          <p:cNvPr id="58372" name="Rectangle 3"/>
          <p:cNvSpPr>
            <a:spLocks noGrp="1" noChangeArrowheads="1"/>
          </p:cNvSpPr>
          <p:nvPr>
            <p:ph sz="quarter" idx="1"/>
          </p:nvPr>
        </p:nvSpPr>
        <p:spPr>
          <a:xfrm>
            <a:off x="381000" y="1600200"/>
            <a:ext cx="8229600" cy="4290646"/>
          </a:xfrm>
        </p:spPr>
        <p:txBody>
          <a:bodyPr>
            <a:normAutofit/>
          </a:bodyPr>
          <a:lstStyle/>
          <a:p>
            <a:pPr eaLnBrk="1" hangingPunct="1"/>
            <a:r>
              <a:rPr lang="en-US" altLang="en-US" dirty="0" smtClean="0"/>
              <a:t>A </a:t>
            </a:r>
            <a:r>
              <a:rPr lang="en-US" altLang="en-US" dirty="0"/>
              <a:t>table is made up of rows and columns of </a:t>
            </a:r>
            <a:r>
              <a:rPr lang="en-US" altLang="en-US" dirty="0" smtClean="0"/>
              <a:t>cells.</a:t>
            </a:r>
            <a:endParaRPr lang="en-US" altLang="en-US" dirty="0"/>
          </a:p>
          <a:p>
            <a:pPr eaLnBrk="1" hangingPunct="1"/>
            <a:r>
              <a:rPr lang="en-US" altLang="en-US" dirty="0"/>
              <a:t>Can align numbers in columns and then sort and perform calculations on them.</a:t>
            </a:r>
          </a:p>
        </p:txBody>
      </p:sp>
    </p:spTree>
    <p:extLst>
      <p:ext uri="{BB962C8B-B14F-4D97-AF65-F5344CB8AC3E}">
        <p14:creationId xmlns:p14="http://schemas.microsoft.com/office/powerpoint/2010/main" val="8194743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381000" y="263769"/>
            <a:ext cx="8229600" cy="1266092"/>
          </a:xfrm>
        </p:spPr>
        <p:txBody>
          <a:bodyPr/>
          <a:lstStyle/>
          <a:p>
            <a:pPr eaLnBrk="1" hangingPunct="1"/>
            <a:r>
              <a:rPr lang="en-US" altLang="en-US" smtClean="0"/>
              <a:t>Reference cells</a:t>
            </a:r>
          </a:p>
        </p:txBody>
      </p:sp>
      <p:sp>
        <p:nvSpPr>
          <p:cNvPr id="59395" name="Rectangle 3"/>
          <p:cNvSpPr>
            <a:spLocks noGrp="1" noChangeArrowheads="1"/>
          </p:cNvSpPr>
          <p:nvPr>
            <p:ph type="body" sz="half" idx="1"/>
          </p:nvPr>
        </p:nvSpPr>
        <p:spPr>
          <a:xfrm>
            <a:off x="304800" y="1389185"/>
            <a:ext cx="8382000" cy="4478215"/>
          </a:xfrm>
        </p:spPr>
        <p:txBody>
          <a:bodyPr>
            <a:normAutofit fontScale="92500" lnSpcReduction="20000"/>
          </a:bodyPr>
          <a:lstStyle/>
          <a:p>
            <a:pPr eaLnBrk="1" hangingPunct="1">
              <a:lnSpc>
                <a:spcPct val="160000"/>
              </a:lnSpc>
            </a:pPr>
            <a:r>
              <a:rPr lang="en-US" altLang="en-US" sz="3600" dirty="0"/>
              <a:t>Reference table cells as A1, A2, B1,B2 and so on, with the letter representing a column and the number representing a row</a:t>
            </a:r>
            <a:r>
              <a:rPr lang="en-US" altLang="en-US" sz="3600" dirty="0" smtClean="0"/>
              <a:t>.</a:t>
            </a:r>
          </a:p>
          <a:p>
            <a:pPr eaLnBrk="1" hangingPunct="1">
              <a:lnSpc>
                <a:spcPct val="160000"/>
              </a:lnSpc>
            </a:pPr>
            <a:endParaRPr lang="en-US" altLang="en-US" sz="3600" dirty="0"/>
          </a:p>
          <a:p>
            <a:pPr eaLnBrk="1" hangingPunct="1">
              <a:lnSpc>
                <a:spcPct val="80000"/>
              </a:lnSpc>
              <a:buFont typeface="Wingdings" panose="05000000000000000000" pitchFamily="2" charset="2"/>
              <a:buNone/>
            </a:pPr>
            <a:r>
              <a:rPr lang="en-US" altLang="en-US" sz="2800" dirty="0" err="1" smtClean="0"/>
              <a:t>Eg</a:t>
            </a:r>
            <a:r>
              <a:rPr lang="en-US" altLang="en-US" sz="2800" dirty="0" smtClean="0"/>
              <a:t>:</a:t>
            </a:r>
            <a:r>
              <a:rPr lang="en-US" altLang="en-US" sz="2800" dirty="0"/>
              <a:t>	</a:t>
            </a:r>
          </a:p>
          <a:p>
            <a:pPr eaLnBrk="1" hangingPunct="1">
              <a:lnSpc>
                <a:spcPct val="80000"/>
              </a:lnSpc>
              <a:buFont typeface="Wingdings" panose="05000000000000000000" pitchFamily="2" charset="2"/>
              <a:buNone/>
            </a:pPr>
            <a:r>
              <a:rPr lang="en-US" altLang="en-US" sz="2800" dirty="0" smtClean="0"/>
              <a:t>     =average(B1:B3</a:t>
            </a:r>
            <a:r>
              <a:rPr lang="en-US" altLang="en-US" sz="2800" dirty="0"/>
              <a:t>) </a:t>
            </a:r>
          </a:p>
          <a:p>
            <a:pPr eaLnBrk="1" hangingPunct="1">
              <a:lnSpc>
                <a:spcPct val="80000"/>
              </a:lnSpc>
              <a:buFont typeface="Wingdings" panose="05000000000000000000" pitchFamily="2" charset="2"/>
              <a:buNone/>
            </a:pPr>
            <a:r>
              <a:rPr lang="en-US" altLang="en-US" sz="2800" dirty="0"/>
              <a:t>	=</a:t>
            </a:r>
            <a:r>
              <a:rPr lang="en-US" altLang="en-US" sz="2800" dirty="0" smtClean="0"/>
              <a:t>sum(A1:A3)</a:t>
            </a:r>
            <a:endParaRPr lang="en-US" altLang="en-US" sz="2800" dirty="0"/>
          </a:p>
          <a:p>
            <a:pPr eaLnBrk="1" hangingPunct="1">
              <a:lnSpc>
                <a:spcPct val="80000"/>
              </a:lnSpc>
              <a:buFont typeface="Wingdings" panose="05000000000000000000" pitchFamily="2" charset="2"/>
              <a:buNone/>
            </a:pPr>
            <a:r>
              <a:rPr lang="en-US" altLang="en-US" sz="2800" dirty="0"/>
              <a:t>	=</a:t>
            </a:r>
            <a:r>
              <a:rPr lang="en-US" altLang="en-US" sz="2800" dirty="0" smtClean="0"/>
              <a:t>average(A1,A2,C3</a:t>
            </a:r>
            <a:r>
              <a:rPr lang="en-US" altLang="en-US" sz="2800" dirty="0"/>
              <a:t>)</a:t>
            </a:r>
          </a:p>
        </p:txBody>
      </p:sp>
      <p:graphicFrame>
        <p:nvGraphicFramePr>
          <p:cNvPr id="43045" name="Group 37"/>
          <p:cNvGraphicFramePr>
            <a:graphicFrameLocks noGrp="1"/>
          </p:cNvGraphicFramePr>
          <p:nvPr>
            <p:ph sz="half" idx="2"/>
          </p:nvPr>
        </p:nvGraphicFramePr>
        <p:xfrm>
          <a:off x="5257800" y="4624754"/>
          <a:ext cx="2819400" cy="1802424"/>
        </p:xfrm>
        <a:graphic>
          <a:graphicData uri="http://schemas.openxmlformats.org/drawingml/2006/table">
            <a:tbl>
              <a:tblPr/>
              <a:tblGrid>
                <a:gridCol w="939312"/>
                <a:gridCol w="940777"/>
                <a:gridCol w="939311"/>
              </a:tblGrid>
              <a:tr h="56270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600" b="0" i="0" u="none" strike="noStrike" cap="none" normalizeH="0" baseline="0" smtClean="0">
                          <a:ln>
                            <a:noFill/>
                          </a:ln>
                          <a:solidFill>
                            <a:schemeClr val="tx1"/>
                          </a:solidFill>
                          <a:effectLst/>
                          <a:latin typeface="Arial" charset="0"/>
                        </a:rPr>
                        <a:t>A1</a:t>
                      </a:r>
                    </a:p>
                  </a:txBody>
                  <a:tcPr marL="84406" marR="84406" marT="42203" marB="422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600" b="0" i="0" u="none" strike="noStrike" cap="none" normalizeH="0" baseline="0" smtClean="0">
                          <a:ln>
                            <a:noFill/>
                          </a:ln>
                          <a:solidFill>
                            <a:schemeClr val="tx1"/>
                          </a:solidFill>
                          <a:effectLst/>
                          <a:latin typeface="Arial" charset="0"/>
                        </a:rPr>
                        <a:t>B1</a:t>
                      </a:r>
                    </a:p>
                  </a:txBody>
                  <a:tcPr marL="84406" marR="84406" marT="42203" marB="422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600" b="0" i="0" u="none" strike="noStrike" cap="none" normalizeH="0" baseline="0" smtClean="0">
                          <a:ln>
                            <a:noFill/>
                          </a:ln>
                          <a:solidFill>
                            <a:schemeClr val="tx1"/>
                          </a:solidFill>
                          <a:effectLst/>
                          <a:latin typeface="Arial" charset="0"/>
                        </a:rPr>
                        <a:t>C1</a:t>
                      </a:r>
                    </a:p>
                  </a:txBody>
                  <a:tcPr marL="84406" marR="84406" marT="42203" marB="422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736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600" b="0" i="0" u="none" strike="noStrike" cap="none" normalizeH="0" baseline="0" smtClean="0">
                          <a:ln>
                            <a:noFill/>
                          </a:ln>
                          <a:solidFill>
                            <a:schemeClr val="tx1"/>
                          </a:solidFill>
                          <a:effectLst/>
                          <a:latin typeface="Arial" charset="0"/>
                        </a:rPr>
                        <a:t>A2</a:t>
                      </a:r>
                    </a:p>
                  </a:txBody>
                  <a:tcPr marL="84406" marR="84406" marT="42203" marB="422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600" b="0" i="0" u="none" strike="noStrike" cap="none" normalizeH="0" baseline="0" smtClean="0">
                          <a:ln>
                            <a:noFill/>
                          </a:ln>
                          <a:solidFill>
                            <a:schemeClr val="tx1"/>
                          </a:solidFill>
                          <a:effectLst/>
                          <a:latin typeface="Arial" charset="0"/>
                        </a:rPr>
                        <a:t>B2</a:t>
                      </a:r>
                    </a:p>
                  </a:txBody>
                  <a:tcPr marL="84406" marR="84406" marT="42203" marB="422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600" b="0" i="0" u="none" strike="noStrike" cap="none" normalizeH="0" baseline="0" smtClean="0">
                          <a:ln>
                            <a:noFill/>
                          </a:ln>
                          <a:solidFill>
                            <a:schemeClr val="tx1"/>
                          </a:solidFill>
                          <a:effectLst/>
                          <a:latin typeface="Arial" charset="0"/>
                        </a:rPr>
                        <a:t>B2</a:t>
                      </a:r>
                    </a:p>
                  </a:txBody>
                  <a:tcPr marL="84406" marR="84406" marT="42203" marB="422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2354">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600" b="0" i="0" u="none" strike="noStrike" cap="none" normalizeH="0" baseline="0" smtClean="0">
                          <a:ln>
                            <a:noFill/>
                          </a:ln>
                          <a:solidFill>
                            <a:schemeClr val="tx1"/>
                          </a:solidFill>
                          <a:effectLst/>
                          <a:latin typeface="Arial" charset="0"/>
                        </a:rPr>
                        <a:t>A3</a:t>
                      </a:r>
                    </a:p>
                  </a:txBody>
                  <a:tcPr marL="84406" marR="84406" marT="42203" marB="422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600" b="0" i="0" u="none" strike="noStrike" cap="none" normalizeH="0" baseline="0" smtClean="0">
                          <a:ln>
                            <a:noFill/>
                          </a:ln>
                          <a:solidFill>
                            <a:schemeClr val="tx1"/>
                          </a:solidFill>
                          <a:effectLst/>
                          <a:latin typeface="Arial" charset="0"/>
                        </a:rPr>
                        <a:t>B3</a:t>
                      </a:r>
                    </a:p>
                  </a:txBody>
                  <a:tcPr marL="84406" marR="84406" marT="42203" marB="422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600" b="0" i="0" u="none" strike="noStrike" cap="none" normalizeH="0" baseline="0" smtClean="0">
                          <a:ln>
                            <a:noFill/>
                          </a:ln>
                          <a:solidFill>
                            <a:schemeClr val="tx1"/>
                          </a:solidFill>
                          <a:effectLst/>
                          <a:latin typeface="Arial" charset="0"/>
                        </a:rPr>
                        <a:t>C3</a:t>
                      </a:r>
                    </a:p>
                  </a:txBody>
                  <a:tcPr marL="84406" marR="84406" marT="42203" marB="422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94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963D07E4-D290-4B66-8EB3-DCEB7C95F443}" type="slidenum">
              <a:rPr lang="en-US" altLang="en-US" smtClean="0">
                <a:solidFill>
                  <a:schemeClr val="tx2"/>
                </a:solidFill>
              </a:rPr>
              <a:pPr/>
              <a:t>20</a:t>
            </a:fld>
            <a:endParaRPr lang="en-US" altLang="en-US" smtClean="0">
              <a:solidFill>
                <a:schemeClr val="tx2"/>
              </a:solidFill>
            </a:endParaRPr>
          </a:p>
        </p:txBody>
      </p:sp>
      <p:sp>
        <p:nvSpPr>
          <p:cNvPr id="59415" name="Text Box 32"/>
          <p:cNvSpPr txBox="1">
            <a:spLocks noChangeArrowheads="1"/>
          </p:cNvSpPr>
          <p:nvPr/>
        </p:nvSpPr>
        <p:spPr bwMode="auto">
          <a:xfrm>
            <a:off x="4648201" y="4624754"/>
            <a:ext cx="413238" cy="1740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846" b="1"/>
              <a:t>1</a:t>
            </a:r>
          </a:p>
          <a:p>
            <a:pPr>
              <a:spcBef>
                <a:spcPct val="50000"/>
              </a:spcBef>
            </a:pPr>
            <a:endParaRPr lang="en-US" altLang="en-US" sz="1108" b="1"/>
          </a:p>
          <a:p>
            <a:pPr>
              <a:spcBef>
                <a:spcPct val="50000"/>
              </a:spcBef>
            </a:pPr>
            <a:r>
              <a:rPr lang="en-US" altLang="en-US" sz="1846" b="1"/>
              <a:t>2</a:t>
            </a:r>
          </a:p>
          <a:p>
            <a:pPr>
              <a:spcBef>
                <a:spcPct val="50000"/>
              </a:spcBef>
            </a:pPr>
            <a:endParaRPr lang="en-US" altLang="en-US" sz="1108" b="1"/>
          </a:p>
          <a:p>
            <a:pPr>
              <a:spcBef>
                <a:spcPct val="50000"/>
              </a:spcBef>
            </a:pPr>
            <a:r>
              <a:rPr lang="en-US" altLang="en-US" sz="1846" b="1"/>
              <a:t>3</a:t>
            </a:r>
          </a:p>
        </p:txBody>
      </p:sp>
      <p:sp>
        <p:nvSpPr>
          <p:cNvPr id="59416" name="Text Box 36"/>
          <p:cNvSpPr txBox="1">
            <a:spLocks noChangeArrowheads="1"/>
          </p:cNvSpPr>
          <p:nvPr/>
        </p:nvSpPr>
        <p:spPr bwMode="auto">
          <a:xfrm>
            <a:off x="5410200" y="4095751"/>
            <a:ext cx="2590800" cy="348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62" b="1"/>
              <a:t>A              B           C</a:t>
            </a:r>
          </a:p>
        </p:txBody>
      </p:sp>
    </p:spTree>
    <p:extLst>
      <p:ext uri="{BB962C8B-B14F-4D97-AF65-F5344CB8AC3E}">
        <p14:creationId xmlns:p14="http://schemas.microsoft.com/office/powerpoint/2010/main" val="27691892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en-US" b="1" smtClean="0"/>
              <a:t>Charts</a:t>
            </a:r>
          </a:p>
        </p:txBody>
      </p:sp>
      <p:sp>
        <p:nvSpPr>
          <p:cNvPr id="66563" name="Rectangle 3"/>
          <p:cNvSpPr>
            <a:spLocks noGrp="1" noChangeArrowheads="1"/>
          </p:cNvSpPr>
          <p:nvPr>
            <p:ph sz="quarter" idx="1"/>
          </p:nvPr>
        </p:nvSpPr>
        <p:spPr>
          <a:xfrm>
            <a:off x="457200" y="1459523"/>
            <a:ext cx="8229600" cy="4783015"/>
          </a:xfrm>
        </p:spPr>
        <p:txBody>
          <a:bodyPr>
            <a:normAutofit/>
          </a:bodyPr>
          <a:lstStyle/>
          <a:p>
            <a:pPr eaLnBrk="1" hangingPunct="1">
              <a:lnSpc>
                <a:spcPct val="80000"/>
              </a:lnSpc>
            </a:pPr>
            <a:r>
              <a:rPr lang="en-US" altLang="en-US" sz="2585" dirty="0"/>
              <a:t>A chart is a graphical representation of data on a worksheet. </a:t>
            </a:r>
          </a:p>
          <a:p>
            <a:pPr eaLnBrk="1" hangingPunct="1">
              <a:lnSpc>
                <a:spcPct val="80000"/>
              </a:lnSpc>
            </a:pPr>
            <a:r>
              <a:rPr lang="en-US" altLang="en-US" sz="2585" dirty="0"/>
              <a:t>It is created as an object that has its own frame or box, and can be independently </a:t>
            </a:r>
          </a:p>
          <a:p>
            <a:pPr lvl="1" eaLnBrk="1" hangingPunct="1">
              <a:lnSpc>
                <a:spcPct val="80000"/>
              </a:lnSpc>
            </a:pPr>
            <a:r>
              <a:rPr lang="en-US" altLang="en-US" dirty="0" smtClean="0"/>
              <a:t>selected, </a:t>
            </a:r>
          </a:p>
          <a:p>
            <a:pPr lvl="1" eaLnBrk="1" hangingPunct="1">
              <a:lnSpc>
                <a:spcPct val="80000"/>
              </a:lnSpc>
            </a:pPr>
            <a:r>
              <a:rPr lang="en-US" altLang="en-US" dirty="0" smtClean="0"/>
              <a:t>moved, </a:t>
            </a:r>
          </a:p>
          <a:p>
            <a:pPr lvl="1" eaLnBrk="1" hangingPunct="1">
              <a:lnSpc>
                <a:spcPct val="80000"/>
              </a:lnSpc>
            </a:pPr>
            <a:r>
              <a:rPr lang="en-US" altLang="en-US" dirty="0" smtClean="0"/>
              <a:t>copied, </a:t>
            </a:r>
          </a:p>
          <a:p>
            <a:pPr lvl="1" eaLnBrk="1" hangingPunct="1">
              <a:lnSpc>
                <a:spcPct val="80000"/>
              </a:lnSpc>
            </a:pPr>
            <a:r>
              <a:rPr lang="en-US" altLang="en-US" dirty="0" smtClean="0"/>
              <a:t>sized and </a:t>
            </a:r>
          </a:p>
          <a:p>
            <a:pPr lvl="1" eaLnBrk="1" hangingPunct="1">
              <a:lnSpc>
                <a:spcPct val="80000"/>
              </a:lnSpc>
            </a:pPr>
            <a:r>
              <a:rPr lang="en-US" altLang="en-US" dirty="0" smtClean="0"/>
              <a:t>formatted</a:t>
            </a:r>
          </a:p>
          <a:p>
            <a:pPr eaLnBrk="1" hangingPunct="1">
              <a:lnSpc>
                <a:spcPct val="80000"/>
              </a:lnSpc>
            </a:pPr>
            <a:r>
              <a:rPr lang="en-US" altLang="en-US" sz="2585" dirty="0"/>
              <a:t>Charts are created from cell values in the worksheet </a:t>
            </a:r>
            <a:r>
              <a:rPr lang="en-US" altLang="en-US" sz="2585" dirty="0" smtClean="0"/>
              <a:t>. </a:t>
            </a:r>
            <a:endParaRPr lang="en-US" altLang="en-US" sz="2585" dirty="0"/>
          </a:p>
          <a:p>
            <a:pPr eaLnBrk="1" hangingPunct="1">
              <a:lnSpc>
                <a:spcPct val="80000"/>
              </a:lnSpc>
            </a:pPr>
            <a:r>
              <a:rPr lang="en-US" altLang="en-US" sz="2585" dirty="0"/>
              <a:t>Each data series may be created from a row or column in the worksheet.</a:t>
            </a:r>
          </a:p>
        </p:txBody>
      </p:sp>
    </p:spTree>
    <p:extLst>
      <p:ext uri="{BB962C8B-B14F-4D97-AF65-F5344CB8AC3E}">
        <p14:creationId xmlns:p14="http://schemas.microsoft.com/office/powerpoint/2010/main" val="4228634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57200" y="263769"/>
            <a:ext cx="8229600" cy="1308589"/>
          </a:xfrm>
        </p:spPr>
        <p:txBody>
          <a:bodyPr/>
          <a:lstStyle/>
          <a:p>
            <a:pPr eaLnBrk="1" hangingPunct="1"/>
            <a:r>
              <a:rPr lang="en-US" altLang="en-US" smtClean="0"/>
              <a:t>Chart Example</a:t>
            </a:r>
          </a:p>
        </p:txBody>
      </p:sp>
      <p:pic>
        <p:nvPicPr>
          <p:cNvPr id="65539" name="Picture 5" descr="Chart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1" y="1318847"/>
            <a:ext cx="6538546" cy="5014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0" name="AutoShape 6"/>
          <p:cNvSpPr>
            <a:spLocks noChangeArrowheads="1"/>
          </p:cNvSpPr>
          <p:nvPr/>
        </p:nvSpPr>
        <p:spPr bwMode="auto">
          <a:xfrm>
            <a:off x="457200" y="826477"/>
            <a:ext cx="1600200" cy="351692"/>
          </a:xfrm>
          <a:prstGeom prst="wedgeRectCallout">
            <a:avLst>
              <a:gd name="adj1" fmla="val 47125"/>
              <a:gd name="adj2" fmla="val 195000"/>
            </a:avLst>
          </a:prstGeom>
          <a:solidFill>
            <a:srgbClr val="33CCCC"/>
          </a:solid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62" b="1"/>
              <a:t>Chart Title</a:t>
            </a:r>
          </a:p>
        </p:txBody>
      </p:sp>
      <p:sp>
        <p:nvSpPr>
          <p:cNvPr id="65541" name="AutoShape 7"/>
          <p:cNvSpPr>
            <a:spLocks noChangeArrowheads="1"/>
          </p:cNvSpPr>
          <p:nvPr/>
        </p:nvSpPr>
        <p:spPr bwMode="auto">
          <a:xfrm>
            <a:off x="7086600" y="756138"/>
            <a:ext cx="1676400" cy="422031"/>
          </a:xfrm>
          <a:prstGeom prst="wedgeRectCallout">
            <a:avLst>
              <a:gd name="adj1" fmla="val -45454"/>
              <a:gd name="adj2" fmla="val 192708"/>
            </a:avLst>
          </a:prstGeom>
          <a:solidFill>
            <a:srgbClr val="33CCCC"/>
          </a:solid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62" b="1"/>
              <a:t>Chart Legend</a:t>
            </a:r>
          </a:p>
        </p:txBody>
      </p:sp>
      <p:sp>
        <p:nvSpPr>
          <p:cNvPr id="65542" name="AutoShape 8"/>
          <p:cNvSpPr>
            <a:spLocks noChangeArrowheads="1"/>
          </p:cNvSpPr>
          <p:nvPr/>
        </p:nvSpPr>
        <p:spPr bwMode="auto">
          <a:xfrm>
            <a:off x="304800" y="5820508"/>
            <a:ext cx="2667000" cy="562708"/>
          </a:xfrm>
          <a:prstGeom prst="wedgeRectCallout">
            <a:avLst>
              <a:gd name="adj1" fmla="val 56787"/>
              <a:gd name="adj2" fmla="val -96356"/>
            </a:avLst>
          </a:prstGeom>
          <a:solidFill>
            <a:srgbClr val="33CCCC"/>
          </a:solid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62" b="1"/>
              <a:t>Data Labels</a:t>
            </a:r>
            <a:r>
              <a:rPr lang="en-US" altLang="en-US" sz="1662"/>
              <a:t> (Possibly from data series)</a:t>
            </a:r>
          </a:p>
        </p:txBody>
      </p:sp>
      <p:sp>
        <p:nvSpPr>
          <p:cNvPr id="65543" name="AutoShape 9"/>
          <p:cNvSpPr>
            <a:spLocks noChangeArrowheads="1"/>
          </p:cNvSpPr>
          <p:nvPr/>
        </p:nvSpPr>
        <p:spPr bwMode="auto">
          <a:xfrm>
            <a:off x="6324600" y="6101861"/>
            <a:ext cx="2590800" cy="422031"/>
          </a:xfrm>
          <a:prstGeom prst="wedgeRectCallout">
            <a:avLst>
              <a:gd name="adj1" fmla="val -67403"/>
              <a:gd name="adj2" fmla="val -37847"/>
            </a:avLst>
          </a:prstGeom>
          <a:solidFill>
            <a:srgbClr val="33CCCC"/>
          </a:solid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62" b="1"/>
              <a:t>Category Axis Title</a:t>
            </a:r>
          </a:p>
        </p:txBody>
      </p:sp>
      <p:sp>
        <p:nvSpPr>
          <p:cNvPr id="65544" name="AutoShape 10"/>
          <p:cNvSpPr>
            <a:spLocks noChangeArrowheads="1"/>
          </p:cNvSpPr>
          <p:nvPr/>
        </p:nvSpPr>
        <p:spPr bwMode="auto">
          <a:xfrm>
            <a:off x="228600" y="3358662"/>
            <a:ext cx="1676400" cy="633046"/>
          </a:xfrm>
          <a:prstGeom prst="wedgeRectCallout">
            <a:avLst>
              <a:gd name="adj1" fmla="val 56912"/>
              <a:gd name="adj2" fmla="val 33333"/>
            </a:avLst>
          </a:prstGeom>
          <a:solidFill>
            <a:srgbClr val="33CCCC"/>
          </a:solid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62" b="1"/>
              <a:t>Value Axis Title</a:t>
            </a:r>
          </a:p>
        </p:txBody>
      </p:sp>
      <p:sp>
        <p:nvSpPr>
          <p:cNvPr id="65545" name="AutoShape 11"/>
          <p:cNvSpPr>
            <a:spLocks noChangeArrowheads="1"/>
          </p:cNvSpPr>
          <p:nvPr/>
        </p:nvSpPr>
        <p:spPr bwMode="auto">
          <a:xfrm>
            <a:off x="3048000" y="1951892"/>
            <a:ext cx="2209800" cy="351692"/>
          </a:xfrm>
          <a:prstGeom prst="wedgeRectCallout">
            <a:avLst>
              <a:gd name="adj1" fmla="val -63866"/>
              <a:gd name="adj2" fmla="val 60833"/>
            </a:avLst>
          </a:prstGeom>
          <a:solidFill>
            <a:srgbClr val="33CCCC">
              <a:alpha val="39999"/>
            </a:srgbClr>
          </a:solid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62"/>
              <a:t>Value Axis</a:t>
            </a:r>
          </a:p>
        </p:txBody>
      </p:sp>
      <p:sp>
        <p:nvSpPr>
          <p:cNvPr id="65546" name="AutoShape 12"/>
          <p:cNvSpPr>
            <a:spLocks noChangeArrowheads="1"/>
          </p:cNvSpPr>
          <p:nvPr/>
        </p:nvSpPr>
        <p:spPr bwMode="auto">
          <a:xfrm>
            <a:off x="7086600" y="3499339"/>
            <a:ext cx="1905000" cy="351692"/>
          </a:xfrm>
          <a:prstGeom prst="wedgeRectCallout">
            <a:avLst>
              <a:gd name="adj1" fmla="val -39917"/>
              <a:gd name="adj2" fmla="val 374583"/>
            </a:avLst>
          </a:prstGeom>
          <a:solidFill>
            <a:srgbClr val="33CCCC">
              <a:alpha val="39999"/>
            </a:srgbClr>
          </a:solid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62"/>
              <a:t>Category Axis</a:t>
            </a:r>
          </a:p>
        </p:txBody>
      </p:sp>
      <p:sp>
        <p:nvSpPr>
          <p:cNvPr id="65547" name="AutoShape 13"/>
          <p:cNvSpPr>
            <a:spLocks noChangeArrowheads="1"/>
          </p:cNvSpPr>
          <p:nvPr/>
        </p:nvSpPr>
        <p:spPr bwMode="auto">
          <a:xfrm>
            <a:off x="304800" y="4976446"/>
            <a:ext cx="1905000" cy="422031"/>
          </a:xfrm>
          <a:prstGeom prst="wedgeRectCallout">
            <a:avLst>
              <a:gd name="adj1" fmla="val 150667"/>
              <a:gd name="adj2" fmla="val -516667"/>
            </a:avLst>
          </a:prstGeom>
          <a:solidFill>
            <a:srgbClr val="33CCCC">
              <a:alpha val="39999"/>
            </a:srgbClr>
          </a:solidFill>
          <a:ln w="9525">
            <a:solidFill>
              <a:schemeClr val="tx1"/>
            </a:solidFill>
            <a:miter lim="800000"/>
            <a:headEnd/>
            <a:tailEnd/>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62"/>
              <a:t>Plot Area</a:t>
            </a:r>
          </a:p>
        </p:txBody>
      </p:sp>
      <p:sp>
        <p:nvSpPr>
          <p:cNvPr id="65548" name="Rectangle 14"/>
          <p:cNvSpPr>
            <a:spLocks noChangeArrowheads="1"/>
          </p:cNvSpPr>
          <p:nvPr/>
        </p:nvSpPr>
        <p:spPr bwMode="auto">
          <a:xfrm>
            <a:off x="2743200" y="2092569"/>
            <a:ext cx="4495800" cy="2883877"/>
          </a:xfrm>
          <a:prstGeom prst="rect">
            <a:avLst/>
          </a:prstGeom>
          <a:solidFill>
            <a:srgbClr val="99CCFF">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sz="1662"/>
          </a:p>
        </p:txBody>
      </p:sp>
    </p:spTree>
    <p:extLst>
      <p:ext uri="{BB962C8B-B14F-4D97-AF65-F5344CB8AC3E}">
        <p14:creationId xmlns:p14="http://schemas.microsoft.com/office/powerpoint/2010/main" val="22008063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en-US" b="1" smtClean="0"/>
              <a:t>Components of a Chart</a:t>
            </a:r>
          </a:p>
        </p:txBody>
      </p:sp>
      <p:sp>
        <p:nvSpPr>
          <p:cNvPr id="67587" name="Rectangle 3"/>
          <p:cNvSpPr>
            <a:spLocks noGrp="1" noChangeArrowheads="1"/>
          </p:cNvSpPr>
          <p:nvPr>
            <p:ph sz="quarter" idx="1"/>
          </p:nvPr>
        </p:nvSpPr>
        <p:spPr>
          <a:xfrm>
            <a:off x="457200" y="1740877"/>
            <a:ext cx="8229600" cy="4009292"/>
          </a:xfrm>
        </p:spPr>
        <p:txBody>
          <a:bodyPr/>
          <a:lstStyle/>
          <a:p>
            <a:pPr eaLnBrk="1" hangingPunct="1"/>
            <a:r>
              <a:rPr lang="en-US" altLang="en-US" sz="2585" b="1"/>
              <a:t>Chart Title</a:t>
            </a:r>
            <a:r>
              <a:rPr lang="en-US" altLang="en-US" sz="2585"/>
              <a:t> is simply the charts name </a:t>
            </a:r>
          </a:p>
          <a:p>
            <a:pPr eaLnBrk="1" hangingPunct="1"/>
            <a:r>
              <a:rPr lang="en-US" altLang="en-US" sz="2585" b="1"/>
              <a:t>Legend</a:t>
            </a:r>
            <a:r>
              <a:rPr lang="en-US" altLang="en-US" sz="2585"/>
              <a:t> tells what each color or symbol in the charts data series represents </a:t>
            </a:r>
          </a:p>
          <a:p>
            <a:pPr eaLnBrk="1" hangingPunct="1"/>
            <a:r>
              <a:rPr lang="en-US" altLang="en-US" sz="2585" b="1"/>
              <a:t>Data Series</a:t>
            </a:r>
            <a:r>
              <a:rPr lang="en-US" altLang="en-US" sz="2585"/>
              <a:t> is a range of values in a worksheet </a:t>
            </a:r>
          </a:p>
          <a:p>
            <a:pPr eaLnBrk="1" hangingPunct="1"/>
            <a:r>
              <a:rPr lang="en-US" altLang="en-US" sz="2585" b="1"/>
              <a:t>Notes</a:t>
            </a:r>
            <a:r>
              <a:rPr lang="en-US" altLang="en-US" sz="2585"/>
              <a:t> are brief descriptors or explanations of the data in the chart </a:t>
            </a:r>
          </a:p>
          <a:p>
            <a:pPr eaLnBrk="1" hangingPunct="1"/>
            <a:r>
              <a:rPr lang="en-US" altLang="en-US" sz="2585" b="1"/>
              <a:t>Data Labels</a:t>
            </a:r>
            <a:r>
              <a:rPr lang="en-US" altLang="en-US" sz="2585"/>
              <a:t> are names that appear along the vertical and horizontal axes to describe the data in the chart </a:t>
            </a:r>
          </a:p>
        </p:txBody>
      </p:sp>
    </p:spTree>
    <p:extLst>
      <p:ext uri="{BB962C8B-B14F-4D97-AF65-F5344CB8AC3E}">
        <p14:creationId xmlns:p14="http://schemas.microsoft.com/office/powerpoint/2010/main" val="15029791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normAutofit fontScale="90000"/>
          </a:bodyPr>
          <a:lstStyle/>
          <a:p>
            <a:pPr eaLnBrk="1" hangingPunct="1"/>
            <a:r>
              <a:rPr lang="en-US" altLang="en-US" b="1" smtClean="0"/>
              <a:t>How to Protect a Word 2007 Document</a:t>
            </a:r>
            <a:endParaRPr lang="en-US" altLang="en-US" smtClean="0"/>
          </a:p>
        </p:txBody>
      </p:sp>
      <p:sp>
        <p:nvSpPr>
          <p:cNvPr id="3" name="Content Placeholder 2"/>
          <p:cNvSpPr>
            <a:spLocks noGrp="1"/>
          </p:cNvSpPr>
          <p:nvPr>
            <p:ph sz="quarter" idx="1"/>
          </p:nvPr>
        </p:nvSpPr>
        <p:spPr>
          <a:xfrm>
            <a:off x="481263" y="2188192"/>
            <a:ext cx="8229600" cy="4557346"/>
          </a:xfrm>
        </p:spPr>
        <p:txBody>
          <a:bodyPr/>
          <a:lstStyle/>
          <a:p>
            <a:pPr marL="474796" indent="-474796">
              <a:buFont typeface="+mj-lt"/>
              <a:buAutoNum type="arabicPeriod"/>
              <a:defRPr/>
            </a:pPr>
            <a:r>
              <a:rPr lang="en-US" dirty="0" smtClean="0"/>
              <a:t>The simplest way to </a:t>
            </a:r>
            <a:r>
              <a:rPr lang="en-US" u="sng" dirty="0" smtClean="0"/>
              <a:t>protect</a:t>
            </a:r>
            <a:r>
              <a:rPr lang="en-US" dirty="0" smtClean="0"/>
              <a:t> a </a:t>
            </a:r>
            <a:r>
              <a:rPr lang="en-US" u="sng" dirty="0" smtClean="0"/>
              <a:t>document</a:t>
            </a:r>
            <a:r>
              <a:rPr lang="en-US" dirty="0" smtClean="0"/>
              <a:t> in Word 2007 is via the Properties menu.</a:t>
            </a:r>
          </a:p>
          <a:p>
            <a:pPr lvl="1" eaLnBrk="1" hangingPunct="1">
              <a:defRPr/>
            </a:pPr>
            <a:r>
              <a:rPr lang="en-US" dirty="0" smtClean="0"/>
              <a:t> Right-click the document’s icon and choose Properties. In the Attributes section of the Properties dialog box that appears, enable the Read-only check box and then click OK.</a:t>
            </a:r>
          </a:p>
          <a:p>
            <a:pPr marL="474796" indent="-474796">
              <a:buFont typeface="+mj-lt"/>
              <a:buAutoNum type="arabicPeriod"/>
              <a:defRPr/>
            </a:pPr>
            <a:endParaRPr lang="en-US" dirty="0" smtClean="0"/>
          </a:p>
          <a:p>
            <a:pPr eaLnBrk="1" hangingPunct="1">
              <a:defRPr/>
            </a:pPr>
            <a:endParaRPr lang="en-US" dirty="0"/>
          </a:p>
        </p:txBody>
      </p:sp>
      <p:sp>
        <p:nvSpPr>
          <p:cNvPr id="4506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881985BB-D606-49C9-96FC-8504DBAFBA5B}" type="slidenum">
              <a:rPr lang="en-US" altLang="en-US" smtClean="0">
                <a:solidFill>
                  <a:schemeClr val="tx2"/>
                </a:solidFill>
              </a:rPr>
              <a:pPr/>
              <a:t>24</a:t>
            </a:fld>
            <a:endParaRPr lang="en-US" altLang="en-US" smtClean="0">
              <a:solidFill>
                <a:schemeClr val="tx2"/>
              </a:solidFill>
            </a:endParaRPr>
          </a:p>
        </p:txBody>
      </p:sp>
    </p:spTree>
    <p:extLst>
      <p:ext uri="{BB962C8B-B14F-4D97-AF65-F5344CB8AC3E}">
        <p14:creationId xmlns:p14="http://schemas.microsoft.com/office/powerpoint/2010/main" val="36172819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eaLnBrk="1" hangingPunct="1"/>
            <a:r>
              <a:rPr lang="en-US" altLang="en-US" smtClean="0"/>
              <a:t>Protect document</a:t>
            </a:r>
          </a:p>
        </p:txBody>
      </p:sp>
      <p:sp>
        <p:nvSpPr>
          <p:cNvPr id="3" name="Content Placeholder 2"/>
          <p:cNvSpPr>
            <a:spLocks noGrp="1"/>
          </p:cNvSpPr>
          <p:nvPr>
            <p:ph sz="quarter" idx="1"/>
          </p:nvPr>
        </p:nvSpPr>
        <p:spPr>
          <a:xfrm>
            <a:off x="457200" y="1728537"/>
            <a:ext cx="8229600" cy="4557346"/>
          </a:xfrm>
        </p:spPr>
        <p:txBody>
          <a:bodyPr/>
          <a:lstStyle/>
          <a:p>
            <a:pPr marL="474796" indent="-474796">
              <a:buFont typeface="+mj-lt"/>
              <a:buAutoNum type="arabicPeriod" startAt="2"/>
              <a:defRPr/>
            </a:pPr>
            <a:r>
              <a:rPr lang="en-US" dirty="0" smtClean="0"/>
              <a:t>On the </a:t>
            </a:r>
            <a:r>
              <a:rPr lang="en-US" dirty="0" smtClean="0">
                <a:solidFill>
                  <a:srgbClr val="FF0000"/>
                </a:solidFill>
              </a:rPr>
              <a:t>Review tab </a:t>
            </a:r>
            <a:r>
              <a:rPr lang="en-US" dirty="0" smtClean="0"/>
              <a:t>of the </a:t>
            </a:r>
            <a:r>
              <a:rPr lang="en-US" u="sng" dirty="0" smtClean="0"/>
              <a:t>Ribbon</a:t>
            </a:r>
            <a:r>
              <a:rPr lang="en-US" dirty="0" smtClean="0"/>
              <a:t>, in the </a:t>
            </a:r>
            <a:r>
              <a:rPr lang="en-US" dirty="0" smtClean="0">
                <a:solidFill>
                  <a:srgbClr val="FF0000"/>
                </a:solidFill>
              </a:rPr>
              <a:t>Protect group</a:t>
            </a:r>
            <a:r>
              <a:rPr lang="en-US" dirty="0" smtClean="0"/>
              <a:t>, click the Protect Document button.</a:t>
            </a:r>
          </a:p>
          <a:p>
            <a:pPr lvl="1" eaLnBrk="1" hangingPunct="1">
              <a:defRPr/>
            </a:pPr>
            <a:r>
              <a:rPr lang="en-US" sz="2308" dirty="0"/>
              <a:t>pane opens on the right side of the document, in which you can set the following:</a:t>
            </a:r>
          </a:p>
          <a:p>
            <a:pPr lvl="2" eaLnBrk="1" hangingPunct="1">
              <a:defRPr/>
            </a:pPr>
            <a:r>
              <a:rPr lang="en-US" sz="1939" b="1" dirty="0"/>
              <a:t>Formatting Restrictions:</a:t>
            </a:r>
            <a:r>
              <a:rPr lang="en-US" sz="1939" dirty="0"/>
              <a:t> Set the </a:t>
            </a:r>
            <a:r>
              <a:rPr lang="en-US" sz="1939" u="sng" dirty="0">
                <a:hlinkClick r:id="rId2"/>
              </a:rPr>
              <a:t>styles</a:t>
            </a:r>
            <a:r>
              <a:rPr lang="en-US" sz="1939" dirty="0"/>
              <a:t> to a limited set.</a:t>
            </a:r>
          </a:p>
          <a:p>
            <a:pPr lvl="2" eaLnBrk="1" hangingPunct="1">
              <a:defRPr/>
            </a:pPr>
            <a:r>
              <a:rPr lang="en-US" sz="1939" dirty="0"/>
              <a:t> </a:t>
            </a:r>
            <a:r>
              <a:rPr lang="en-US" sz="1939" b="1" dirty="0"/>
              <a:t>Editing Restrictions:</a:t>
            </a:r>
            <a:r>
              <a:rPr lang="en-US" sz="1939" dirty="0"/>
              <a:t> Allow only certain kinds of changes.</a:t>
            </a:r>
          </a:p>
          <a:p>
            <a:pPr lvl="2" eaLnBrk="1" hangingPunct="1">
              <a:defRPr/>
            </a:pPr>
            <a:r>
              <a:rPr lang="en-US" sz="1939" b="1" dirty="0"/>
              <a:t>Start Enforcement:</a:t>
            </a:r>
            <a:r>
              <a:rPr lang="en-US" sz="1939" dirty="0"/>
              <a:t> Click this button to begin enforcement.</a:t>
            </a:r>
          </a:p>
          <a:p>
            <a:pPr lvl="3" eaLnBrk="1" hangingPunct="1">
              <a:defRPr/>
            </a:pPr>
            <a:r>
              <a:rPr lang="en-US" sz="1662" dirty="0"/>
              <a:t>In the Start Enforcing Protection dialog box that opens, select one:</a:t>
            </a:r>
          </a:p>
          <a:p>
            <a:pPr lvl="3" eaLnBrk="1" hangingPunct="1">
              <a:defRPr/>
            </a:pPr>
            <a:r>
              <a:rPr lang="en-US" sz="1754" dirty="0"/>
              <a:t>Password</a:t>
            </a:r>
          </a:p>
          <a:p>
            <a:pPr lvl="3" eaLnBrk="1" hangingPunct="1">
              <a:defRPr/>
            </a:pPr>
            <a:r>
              <a:rPr lang="en-US" sz="1754" dirty="0"/>
              <a:t>User Authentication</a:t>
            </a:r>
          </a:p>
          <a:p>
            <a:pPr lvl="2" eaLnBrk="1" hangingPunct="1">
              <a:defRPr/>
            </a:pPr>
            <a:endParaRPr lang="en-US" sz="1939" dirty="0"/>
          </a:p>
          <a:p>
            <a:pPr lvl="2" eaLnBrk="1" hangingPunct="1">
              <a:defRPr/>
            </a:pPr>
            <a:endParaRPr lang="en-US" sz="1939" dirty="0"/>
          </a:p>
          <a:p>
            <a:pPr lvl="1" eaLnBrk="1" hangingPunct="1">
              <a:defRPr/>
            </a:pPr>
            <a:endParaRPr lang="en-US" dirty="0" smtClean="0"/>
          </a:p>
          <a:p>
            <a:pPr eaLnBrk="1" hangingPunct="1">
              <a:defRPr/>
            </a:pPr>
            <a:endParaRPr lang="en-US" dirty="0" smtClean="0"/>
          </a:p>
          <a:p>
            <a:pPr eaLnBrk="1" hangingPunct="1">
              <a:defRPr/>
            </a:pPr>
            <a:endParaRPr lang="en-US" dirty="0"/>
          </a:p>
        </p:txBody>
      </p:sp>
      <p:sp>
        <p:nvSpPr>
          <p:cNvPr id="4608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1B752B14-09BA-4260-B1D7-840DA78F3515}" type="slidenum">
              <a:rPr lang="en-US" altLang="en-US" smtClean="0">
                <a:solidFill>
                  <a:schemeClr val="tx2"/>
                </a:solidFill>
              </a:rPr>
              <a:pPr/>
              <a:t>25</a:t>
            </a:fld>
            <a:endParaRPr lang="en-US" altLang="en-US" smtClean="0">
              <a:solidFill>
                <a:schemeClr val="tx2"/>
              </a:solidFill>
            </a:endParaRPr>
          </a:p>
        </p:txBody>
      </p:sp>
      <p:pic>
        <p:nvPicPr>
          <p:cNvPr id="46085" name="Picture 4" descr="image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3170" y="5543551"/>
            <a:ext cx="2817935" cy="210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23198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Content Placeholder 2"/>
          <p:cNvSpPr>
            <a:spLocks noGrp="1"/>
          </p:cNvSpPr>
          <p:nvPr>
            <p:ph sz="quarter" idx="1"/>
          </p:nvPr>
        </p:nvSpPr>
        <p:spPr>
          <a:xfrm>
            <a:off x="381000" y="515815"/>
            <a:ext cx="8229600" cy="4557346"/>
          </a:xfrm>
        </p:spPr>
        <p:txBody>
          <a:bodyPr/>
          <a:lstStyle/>
          <a:p>
            <a:pPr marL="474796" indent="-474796">
              <a:buFont typeface="Bookman Old Style" panose="02050604050505020204" pitchFamily="18" charset="0"/>
              <a:buAutoNum type="arabicPeriod" startAt="3"/>
            </a:pPr>
            <a:r>
              <a:rPr lang="en-US" altLang="en-US" dirty="0" smtClean="0"/>
              <a:t>Click the </a:t>
            </a:r>
            <a:r>
              <a:rPr lang="en-US" altLang="en-US" b="1" dirty="0" smtClean="0"/>
              <a:t>Microsoft Office Button </a:t>
            </a:r>
            <a:r>
              <a:rPr lang="en-US" altLang="en-US" dirty="0" smtClean="0"/>
              <a:t>in the upper left corner of Word 2007, click </a:t>
            </a:r>
            <a:r>
              <a:rPr lang="en-US" altLang="en-US" b="1" dirty="0" smtClean="0"/>
              <a:t>Save As </a:t>
            </a:r>
            <a:r>
              <a:rPr lang="en-US" altLang="en-US" dirty="0" smtClean="0"/>
              <a:t>from the left-hand menu, and then save as a Word Document or Word Template</a:t>
            </a:r>
          </a:p>
          <a:p>
            <a:pPr marL="728315" lvl="1" indent="-474796"/>
            <a:r>
              <a:rPr lang="en-US" altLang="en-US" dirty="0" smtClean="0"/>
              <a:t>Click </a:t>
            </a:r>
            <a:r>
              <a:rPr lang="en-US" altLang="en-US" b="1" dirty="0" smtClean="0"/>
              <a:t>Tools </a:t>
            </a:r>
            <a:r>
              <a:rPr lang="en-US" altLang="en-US" dirty="0" smtClean="0"/>
              <a:t>on the Save As pop-up window, and then click </a:t>
            </a:r>
            <a:r>
              <a:rPr lang="en-US" altLang="en-US" b="1" dirty="0" smtClean="0"/>
              <a:t>General Options</a:t>
            </a:r>
            <a:r>
              <a:rPr lang="en-US" altLang="en-US" dirty="0" smtClean="0"/>
              <a:t>.</a:t>
            </a:r>
          </a:p>
          <a:p>
            <a:pPr marL="728315" lvl="1" indent="-474796"/>
            <a:r>
              <a:rPr lang="en-US" altLang="en-US" dirty="0" smtClean="0"/>
              <a:t>You can type a password in </a:t>
            </a:r>
            <a:r>
              <a:rPr lang="en-US" altLang="en-US" b="1" dirty="0" smtClean="0"/>
              <a:t>Password to open</a:t>
            </a:r>
            <a:r>
              <a:rPr lang="en-US" altLang="en-US" dirty="0" smtClean="0"/>
              <a:t> text box.</a:t>
            </a:r>
          </a:p>
          <a:p>
            <a:pPr marL="728315" lvl="1" indent="-474796">
              <a:buFont typeface="Bookman Old Style" panose="02050604050505020204" pitchFamily="18" charset="0"/>
              <a:buAutoNum type="arabicPeriod" startAt="3"/>
            </a:pPr>
            <a:endParaRPr lang="en-US" altLang="en-US" dirty="0" smtClean="0"/>
          </a:p>
        </p:txBody>
      </p:sp>
      <p:sp>
        <p:nvSpPr>
          <p:cNvPr id="4710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A7289B4F-E993-4642-AF40-0065461A3062}" type="slidenum">
              <a:rPr lang="en-US" altLang="en-US" smtClean="0">
                <a:solidFill>
                  <a:schemeClr val="tx2"/>
                </a:solidFill>
              </a:rPr>
              <a:pPr/>
              <a:t>26</a:t>
            </a:fld>
            <a:endParaRPr lang="en-US" altLang="en-US" smtClean="0">
              <a:solidFill>
                <a:schemeClr val="tx2"/>
              </a:solidFill>
            </a:endParaRPr>
          </a:p>
        </p:txBody>
      </p:sp>
      <p:pic>
        <p:nvPicPr>
          <p:cNvPr id="47109" name="Picture 4" descr="Click General Opti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3002" y="4389444"/>
            <a:ext cx="2053004" cy="2492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Picture 5" descr="Password to open and Password to modify text box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9854" y="4389444"/>
            <a:ext cx="1951892"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1" name="Picture 6" descr="Password to open confirm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5854" y="4389444"/>
            <a:ext cx="1855177" cy="2022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66500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normAutofit fontScale="90000"/>
          </a:bodyPr>
          <a:lstStyle/>
          <a:p>
            <a:pPr eaLnBrk="1" hangingPunct="1"/>
            <a:r>
              <a:rPr lang="en-US" altLang="en-US" smtClean="0"/>
              <a:t>Backup</a:t>
            </a:r>
            <a:br>
              <a:rPr lang="en-US" altLang="en-US" smtClean="0"/>
            </a:br>
            <a:endParaRPr lang="en-US" altLang="en-US" smtClean="0"/>
          </a:p>
        </p:txBody>
      </p:sp>
      <p:sp>
        <p:nvSpPr>
          <p:cNvPr id="48131" name="Content Placeholder 2"/>
          <p:cNvSpPr>
            <a:spLocks noGrp="1"/>
          </p:cNvSpPr>
          <p:nvPr>
            <p:ph sz="quarter" idx="1"/>
          </p:nvPr>
        </p:nvSpPr>
        <p:spPr>
          <a:xfrm>
            <a:off x="457200" y="1389185"/>
            <a:ext cx="8229600" cy="4557346"/>
          </a:xfrm>
        </p:spPr>
        <p:txBody>
          <a:bodyPr>
            <a:normAutofit lnSpcReduction="10000"/>
          </a:bodyPr>
          <a:lstStyle/>
          <a:p>
            <a:pPr eaLnBrk="1" hangingPunct="1"/>
            <a:r>
              <a:rPr lang="en-US" altLang="en-US" smtClean="0"/>
              <a:t>Select "File" from the top menu bar and choose "Word Options." A dialogue box will appear.</a:t>
            </a:r>
          </a:p>
          <a:p>
            <a:pPr eaLnBrk="1" hangingPunct="1"/>
            <a:r>
              <a:rPr lang="en-US" altLang="en-US" smtClean="0"/>
              <a:t>Click "Advanced" on the right-hand side navigation panel. Scroll down, using the mouse, to the "Save" section of the dialogue box. Select "Always create backup copy" and click "OK." A backup copy of your files will be saved as you work.</a:t>
            </a:r>
          </a:p>
          <a:p>
            <a:pPr eaLnBrk="1" hangingPunct="1"/>
            <a:endParaRPr lang="en-US" altLang="en-US" smtClean="0"/>
          </a:p>
        </p:txBody>
      </p:sp>
      <p:sp>
        <p:nvSpPr>
          <p:cNvPr id="4813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685817" indent="-263776">
              <a:defRPr>
                <a:solidFill>
                  <a:schemeClr val="tx1"/>
                </a:solidFill>
                <a:latin typeface="Arial" panose="020B0604020202020204" pitchFamily="34" charset="0"/>
              </a:defRPr>
            </a:lvl2pPr>
            <a:lvl3pPr marL="1055103" indent="-211021">
              <a:defRPr>
                <a:solidFill>
                  <a:schemeClr val="tx1"/>
                </a:solidFill>
                <a:latin typeface="Arial" panose="020B0604020202020204" pitchFamily="34" charset="0"/>
              </a:defRPr>
            </a:lvl3pPr>
            <a:lvl4pPr marL="1477145" indent="-211021">
              <a:defRPr>
                <a:solidFill>
                  <a:schemeClr val="tx1"/>
                </a:solidFill>
                <a:latin typeface="Arial" panose="020B0604020202020204" pitchFamily="34" charset="0"/>
              </a:defRPr>
            </a:lvl4pPr>
            <a:lvl5pPr marL="1899186" indent="-211021">
              <a:defRPr>
                <a:solidFill>
                  <a:schemeClr val="tx1"/>
                </a:solidFill>
                <a:latin typeface="Arial" panose="020B0604020202020204" pitchFamily="34" charset="0"/>
              </a:defRPr>
            </a:lvl5pPr>
            <a:lvl6pPr marL="2321227" indent="-211021" eaLnBrk="0" fontAlgn="base" hangingPunct="0">
              <a:spcBef>
                <a:spcPct val="0"/>
              </a:spcBef>
              <a:spcAft>
                <a:spcPct val="0"/>
              </a:spcAft>
              <a:defRPr>
                <a:solidFill>
                  <a:schemeClr val="tx1"/>
                </a:solidFill>
                <a:latin typeface="Arial" panose="020B0604020202020204" pitchFamily="34" charset="0"/>
              </a:defRPr>
            </a:lvl6pPr>
            <a:lvl7pPr marL="2743269" indent="-211021" eaLnBrk="0" fontAlgn="base" hangingPunct="0">
              <a:spcBef>
                <a:spcPct val="0"/>
              </a:spcBef>
              <a:spcAft>
                <a:spcPct val="0"/>
              </a:spcAft>
              <a:defRPr>
                <a:solidFill>
                  <a:schemeClr val="tx1"/>
                </a:solidFill>
                <a:latin typeface="Arial" panose="020B0604020202020204" pitchFamily="34" charset="0"/>
              </a:defRPr>
            </a:lvl7pPr>
            <a:lvl8pPr marL="3165310" indent="-211021" eaLnBrk="0" fontAlgn="base" hangingPunct="0">
              <a:spcBef>
                <a:spcPct val="0"/>
              </a:spcBef>
              <a:spcAft>
                <a:spcPct val="0"/>
              </a:spcAft>
              <a:defRPr>
                <a:solidFill>
                  <a:schemeClr val="tx1"/>
                </a:solidFill>
                <a:latin typeface="Arial" panose="020B0604020202020204" pitchFamily="34" charset="0"/>
              </a:defRPr>
            </a:lvl8pPr>
            <a:lvl9pPr marL="3587351" indent="-211021" eaLnBrk="0" fontAlgn="base" hangingPunct="0">
              <a:spcBef>
                <a:spcPct val="0"/>
              </a:spcBef>
              <a:spcAft>
                <a:spcPct val="0"/>
              </a:spcAft>
              <a:defRPr>
                <a:solidFill>
                  <a:schemeClr val="tx1"/>
                </a:solidFill>
                <a:latin typeface="Arial" panose="020B0604020202020204" pitchFamily="34" charset="0"/>
              </a:defRPr>
            </a:lvl9pPr>
          </a:lstStyle>
          <a:p>
            <a:fld id="{FF1F7C25-EFE1-4458-9047-940D0E1EAAB7}" type="slidenum">
              <a:rPr lang="en-US" altLang="en-US" smtClean="0">
                <a:solidFill>
                  <a:schemeClr val="tx2"/>
                </a:solidFill>
              </a:rPr>
              <a:pPr/>
              <a:t>27</a:t>
            </a:fld>
            <a:endParaRPr lang="en-US" altLang="en-US" smtClean="0">
              <a:solidFill>
                <a:schemeClr val="tx2"/>
              </a:solidFill>
            </a:endParaRPr>
          </a:p>
        </p:txBody>
      </p:sp>
    </p:spTree>
    <p:extLst>
      <p:ext uri="{BB962C8B-B14F-4D97-AF65-F5344CB8AC3E}">
        <p14:creationId xmlns:p14="http://schemas.microsoft.com/office/powerpoint/2010/main" val="17862808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End</a:t>
            </a:r>
            <a:endParaRPr lang="en-US" dirty="0"/>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pPr/>
              <a:t>28</a:t>
            </a:fld>
            <a:endParaRPr lang="en-US" dirty="0"/>
          </a:p>
        </p:txBody>
      </p:sp>
    </p:spTree>
    <p:extLst>
      <p:ext uri="{BB962C8B-B14F-4D97-AF65-F5344CB8AC3E}">
        <p14:creationId xmlns:p14="http://schemas.microsoft.com/office/powerpoint/2010/main" val="10092826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End</a:t>
            </a:r>
            <a:endParaRPr lang="en-US" dirty="0"/>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pPr/>
              <a:t>29</a:t>
            </a:fld>
            <a:endParaRPr lang="en-US" dirty="0"/>
          </a:p>
        </p:txBody>
      </p:sp>
    </p:spTree>
    <p:extLst>
      <p:ext uri="{BB962C8B-B14F-4D97-AF65-F5344CB8AC3E}">
        <p14:creationId xmlns:p14="http://schemas.microsoft.com/office/powerpoint/2010/main" val="3338194708"/>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SLIATE LMS Template Powerpoint</Template>
  <TotalTime>1664</TotalTime>
  <Words>1260</Words>
  <Application>Microsoft Office PowerPoint</Application>
  <PresentationFormat>On-screen Show (4:3)</PresentationFormat>
  <Paragraphs>195</Paragraphs>
  <Slides>29</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Baskerville Old Face</vt:lpstr>
      <vt:lpstr>Biondi</vt:lpstr>
      <vt:lpstr>Bookman Old Style</vt:lpstr>
      <vt:lpstr>Calibri</vt:lpstr>
      <vt:lpstr>Forte</vt:lpstr>
      <vt:lpstr>Goudy Stout</vt:lpstr>
      <vt:lpstr>Jokerman</vt:lpstr>
      <vt:lpstr>Matura MT Script Capitals</vt:lpstr>
      <vt:lpstr>Wingdings</vt:lpstr>
      <vt:lpstr>HNDIT</vt:lpstr>
      <vt:lpstr>HNDIT1101: Personal Computer Applications </vt:lpstr>
      <vt:lpstr>Some commands in MS word</vt:lpstr>
      <vt:lpstr>Formatting Text</vt:lpstr>
      <vt:lpstr>Alignment</vt:lpstr>
      <vt:lpstr>Bullets and Numbering</vt:lpstr>
      <vt:lpstr>Indenting and Spacing</vt:lpstr>
      <vt:lpstr>Shading</vt:lpstr>
      <vt:lpstr>Style</vt:lpstr>
      <vt:lpstr>WordArt</vt:lpstr>
      <vt:lpstr>Insert Tab</vt:lpstr>
      <vt:lpstr>Links</vt:lpstr>
      <vt:lpstr>Review Tab Proofing tools</vt:lpstr>
      <vt:lpstr>Find, Replace &amp; GOTO</vt:lpstr>
      <vt:lpstr>Drag &amp; drop text (move text)</vt:lpstr>
      <vt:lpstr>Templates</vt:lpstr>
      <vt:lpstr>Mail merge</vt:lpstr>
      <vt:lpstr>Mail merge</vt:lpstr>
      <vt:lpstr>Macros</vt:lpstr>
      <vt:lpstr>Tables</vt:lpstr>
      <vt:lpstr>Reference cells</vt:lpstr>
      <vt:lpstr>Charts</vt:lpstr>
      <vt:lpstr>Chart Example</vt:lpstr>
      <vt:lpstr>Components of a Chart</vt:lpstr>
      <vt:lpstr>How to Protect a Word 2007 Document</vt:lpstr>
      <vt:lpstr>Protect document</vt:lpstr>
      <vt:lpstr>PowerPoint Presentation</vt:lpstr>
      <vt:lpstr>Backup </vt:lpstr>
      <vt:lpstr>End</vt:lpstr>
      <vt:lpstr>End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HNDIT11012: Personal Computer Applications</dc:title>
  <dc:creator>DNP</dc:creator>
  <cp:lastModifiedBy>DNP</cp:lastModifiedBy>
  <cp:revision>10</cp:revision>
  <dcterms:created xsi:type="dcterms:W3CDTF">2018-05-21T10:06:55Z</dcterms:created>
  <dcterms:modified xsi:type="dcterms:W3CDTF">2018-06-01T20:17:29Z</dcterms:modified>
</cp:coreProperties>
</file>