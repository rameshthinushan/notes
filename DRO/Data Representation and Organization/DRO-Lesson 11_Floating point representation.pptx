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73" r:id="rId2"/>
    <p:sldId id="266" r:id="rId3"/>
    <p:sldId id="267" r:id="rId4"/>
    <p:sldId id="268" r:id="rId5"/>
    <p:sldId id="269" r:id="rId6"/>
    <p:sldId id="270" r:id="rId7"/>
    <p:sldId id="271" r:id="rId8"/>
    <p:sldId id="259" r:id="rId9"/>
    <p:sldId id="260" r:id="rId10"/>
    <p:sldId id="272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B4B73-EC22-490B-87C5-9F27EEF0A650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0EA0F-07C1-4882-A8E8-1D44A81E65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3771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B77404-4DCF-44E9-A0EE-1D2F1F31EFC0}" type="slidenum">
              <a:rPr lang="en-US"/>
              <a:pPr/>
              <a:t>2</a:t>
            </a:fld>
            <a:endParaRPr lang="en-US"/>
          </a:p>
        </p:txBody>
      </p:sp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7158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EF49E3-8283-408F-8166-DC1E08934B26}" type="slidenum">
              <a:rPr lang="en-US"/>
              <a:pPr/>
              <a:t>3</a:t>
            </a:fld>
            <a:endParaRPr lang="en-US"/>
          </a:p>
        </p:txBody>
      </p:sp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14904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F703C9-88CA-42C2-AD55-11AC9CBEC484}" type="slidenum">
              <a:rPr lang="en-US"/>
              <a:pPr/>
              <a:t>4</a:t>
            </a:fld>
            <a:endParaRPr lang="en-US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61299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823B7E-F893-4D1E-B7AF-DEDF9D67CE15}" type="slidenum">
              <a:rPr lang="en-US"/>
              <a:pPr/>
              <a:t>5</a:t>
            </a:fld>
            <a:endParaRPr lang="en-US"/>
          </a:p>
        </p:txBody>
      </p:sp>
      <p:sp>
        <p:nvSpPr>
          <p:cNvPr id="237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75098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2765B9-EC90-465F-9E38-226A05878677}" type="slidenum">
              <a:rPr lang="en-US"/>
              <a:pPr/>
              <a:t>6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4650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9458C4-FF3E-427D-8D33-F2B0DCE8EBD8}" type="slidenum">
              <a:rPr lang="en-US"/>
              <a:pPr/>
              <a:t>7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89206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A392-3026-4882-B1A6-3157B7908D7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9070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A392-3026-4882-B1A6-3157B7908D7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3339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A392-3026-4882-B1A6-3157B7908D7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37547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A392-3026-4882-B1A6-3157B7908D7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48533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BA392-3026-4882-B1A6-3157B7908D7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36498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ubtitle 5"/>
          <p:cNvSpPr>
            <a:spLocks noGrp="1"/>
          </p:cNvSpPr>
          <p:nvPr>
            <p:ph type="subTitle" idx="1"/>
          </p:nvPr>
        </p:nvSpPr>
        <p:spPr>
          <a:xfrm>
            <a:off x="4876800" y="2286000"/>
            <a:ext cx="4267200" cy="8286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>
                <a:solidFill>
                  <a:schemeClr val="tx1"/>
                </a:solidFill>
              </a:rPr>
              <a:t>Floating </a:t>
            </a:r>
            <a:r>
              <a:rPr lang="en-US" sz="4000" dirty="0" smtClean="0">
                <a:solidFill>
                  <a:schemeClr val="tx1"/>
                </a:solidFill>
              </a:rPr>
              <a:t>Point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>
                <a:solidFill>
                  <a:schemeClr val="tx1"/>
                </a:solidFill>
              </a:rPr>
              <a:t>R</a:t>
            </a:r>
            <a:r>
              <a:rPr lang="en-US" sz="4000" dirty="0" smtClean="0">
                <a:solidFill>
                  <a:schemeClr val="tx1"/>
                </a:solidFill>
              </a:rPr>
              <a:t>epresentation</a:t>
            </a:r>
            <a:endParaRPr lang="en-US" sz="4000" dirty="0" smtClean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4000" i="1" dirty="0" smtClean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4000" dirty="0" smtClean="0">
              <a:solidFill>
                <a:schemeClr val="tx1"/>
              </a:solidFill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457200"/>
            <a:ext cx="8915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HNDIT1104: Data Representation and Organization</a:t>
            </a:r>
            <a:endParaRPr lang="en-AU" altLang="en-US" sz="2800" dirty="0" smtClean="0"/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3886200" y="4876800"/>
            <a:ext cx="18245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Lesson </a:t>
            </a:r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11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382588"/>
            <a:ext cx="7467600" cy="547687"/>
          </a:xfrm>
        </p:spPr>
        <p:txBody>
          <a:bodyPr>
            <a:normAutofit fontScale="90000"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2.5 Floating-Point Representation</a:t>
            </a:r>
            <a:endParaRPr lang="en-US" sz="3400">
              <a:latin typeface="Arial" panose="020B0604020202020204" pitchFamily="34" charset="0"/>
            </a:endParaRPr>
          </a:p>
        </p:txBody>
      </p:sp>
      <p:sp>
        <p:nvSpPr>
          <p:cNvPr id="228359" name="Rectangle 7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7315200" cy="4191000"/>
          </a:xfrm>
          <a:solidFill>
            <a:srgbClr val="E4F5FF"/>
          </a:solidFill>
          <a:ln/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sz="3000">
                <a:latin typeface="Arial" panose="020B0604020202020204" pitchFamily="34" charset="0"/>
              </a:rPr>
              <a:t>The signed magnitude, 1’s complement, and 2’s complement representations as such are not useful in scientific or business applications that deal with real number values over a wide range.</a:t>
            </a:r>
          </a:p>
          <a:p>
            <a:pPr>
              <a:spcBef>
                <a:spcPct val="40000"/>
              </a:spcBef>
            </a:pPr>
            <a:r>
              <a:rPr lang="en-US" sz="3000">
                <a:latin typeface="Arial" panose="020B0604020202020204" pitchFamily="34" charset="0"/>
              </a:rPr>
              <a:t>Floating-point representation solves this problem.</a:t>
            </a:r>
            <a:endParaRPr lang="en-US" sz="3600">
              <a:latin typeface="Arial" panose="020B0604020202020204" pitchFamily="34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E5F7-CFAE-4003-B604-42083588A978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7031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2588"/>
            <a:ext cx="7467600" cy="547687"/>
          </a:xfrm>
        </p:spPr>
        <p:txBody>
          <a:bodyPr>
            <a:normAutofit fontScale="90000"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2.5 Floating-Point Representation</a:t>
            </a:r>
            <a:endParaRPr lang="en-US" sz="3400">
              <a:latin typeface="Arial" panose="020B0604020202020204" pitchFamily="34" charset="0"/>
            </a:endParaRPr>
          </a:p>
        </p:txBody>
      </p:sp>
      <p:sp>
        <p:nvSpPr>
          <p:cNvPr id="23449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8001000" cy="19050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sz="2600">
                <a:latin typeface="Arial" panose="020B0604020202020204" pitchFamily="34" charset="0"/>
              </a:rPr>
              <a:t>Computers use a form of scientific notation for floating-point representation </a:t>
            </a:r>
          </a:p>
          <a:p>
            <a:pPr>
              <a:spcBef>
                <a:spcPct val="40000"/>
              </a:spcBef>
            </a:pPr>
            <a:r>
              <a:rPr lang="en-US" sz="2600">
                <a:latin typeface="Arial" panose="020B0604020202020204" pitchFamily="34" charset="0"/>
              </a:rPr>
              <a:t>Numbers written in scientific notation have three components: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5597-0FF3-4323-97D9-C5C101B3BDA4}" type="slidenum">
              <a:rPr lang="en-US"/>
              <a:pPr/>
              <a:t>3</a:t>
            </a:fld>
            <a:endParaRPr lang="en-US"/>
          </a:p>
        </p:txBody>
      </p:sp>
      <p:pic>
        <p:nvPicPr>
          <p:cNvPr id="234502" name="Picture 6" descr="C:\IDRAW20\16A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581400"/>
            <a:ext cx="6829708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30369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2588"/>
            <a:ext cx="7467600" cy="547687"/>
          </a:xfrm>
        </p:spPr>
        <p:txBody>
          <a:bodyPr>
            <a:normAutofit fontScale="90000"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2.5 Floating-Point Representation</a:t>
            </a:r>
            <a:endParaRPr lang="en-US" sz="3400">
              <a:latin typeface="Arial" panose="020B0604020202020204" pitchFamily="34" charset="0"/>
            </a:endParaRPr>
          </a:p>
        </p:txBody>
      </p:sp>
      <p:sp>
        <p:nvSpPr>
          <p:cNvPr id="2324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8001000" cy="4419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sz="2600">
                <a:latin typeface="Arial" panose="020B0604020202020204" pitchFamily="34" charset="0"/>
              </a:rPr>
              <a:t>Computer representation of a floating-point number consists of three fixed-size fields:</a:t>
            </a:r>
          </a:p>
          <a:p>
            <a:pPr>
              <a:spcBef>
                <a:spcPct val="40000"/>
              </a:spcBef>
            </a:pPr>
            <a:endParaRPr lang="en-US" sz="2600">
              <a:latin typeface="Arial" panose="020B0604020202020204" pitchFamily="34" charset="0"/>
            </a:endParaRPr>
          </a:p>
          <a:p>
            <a:pPr>
              <a:spcBef>
                <a:spcPct val="40000"/>
              </a:spcBef>
            </a:pPr>
            <a:endParaRPr lang="en-US" sz="2600">
              <a:latin typeface="Arial" panose="020B0604020202020204" pitchFamily="34" charset="0"/>
            </a:endParaRPr>
          </a:p>
          <a:p>
            <a:pPr>
              <a:spcBef>
                <a:spcPct val="40000"/>
              </a:spcBef>
            </a:pPr>
            <a:endParaRPr lang="en-US" sz="2600">
              <a:latin typeface="Arial" panose="020B0604020202020204" pitchFamily="34" charset="0"/>
            </a:endParaRPr>
          </a:p>
          <a:p>
            <a:pPr>
              <a:spcBef>
                <a:spcPct val="40000"/>
              </a:spcBef>
            </a:pPr>
            <a:endParaRPr lang="en-US" sz="2600">
              <a:latin typeface="Arial" panose="020B0604020202020204" pitchFamily="34" charset="0"/>
            </a:endParaRPr>
          </a:p>
          <a:p>
            <a:pPr>
              <a:spcBef>
                <a:spcPct val="40000"/>
              </a:spcBef>
            </a:pPr>
            <a:r>
              <a:rPr lang="en-US" sz="2600">
                <a:latin typeface="Arial" panose="020B0604020202020204" pitchFamily="34" charset="0"/>
              </a:rPr>
              <a:t>This is the standard arrangement of these fields.</a:t>
            </a:r>
            <a:endParaRPr lang="en-US" sz="280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8726-E76E-447D-BF97-4C98C72F9859}" type="slidenum">
              <a:rPr lang="en-US"/>
              <a:pPr/>
              <a:t>4</a:t>
            </a:fld>
            <a:endParaRPr lang="en-US"/>
          </a:p>
        </p:txBody>
      </p:sp>
      <p:pic>
        <p:nvPicPr>
          <p:cNvPr id="232452" name="Picture 4" descr="C:\IDRAW20\17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423" b="10144"/>
          <a:stretch>
            <a:fillRect/>
          </a:stretch>
        </p:blipFill>
        <p:spPr bwMode="auto">
          <a:xfrm>
            <a:off x="1066800" y="2665413"/>
            <a:ext cx="6718300" cy="182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29201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7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382588"/>
            <a:ext cx="7467600" cy="547687"/>
          </a:xfrm>
        </p:spPr>
        <p:txBody>
          <a:bodyPr>
            <a:normAutofit fontScale="90000"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2.5 Floating-Point Representation</a:t>
            </a:r>
            <a:endParaRPr lang="en-US" sz="3400">
              <a:latin typeface="Arial" panose="020B0604020202020204" pitchFamily="34" charset="0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3124200"/>
            <a:ext cx="8153400" cy="22860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E4F5FF"/>
                </a:solidFill>
              </a14:hiddenFill>
            </a:ext>
          </a:extLst>
        </p:spPr>
        <p:txBody>
          <a:bodyPr>
            <a:normAutofit lnSpcReduction="10000"/>
          </a:bodyPr>
          <a:lstStyle/>
          <a:p>
            <a:pPr>
              <a:spcBef>
                <a:spcPct val="40000"/>
              </a:spcBef>
            </a:pPr>
            <a:r>
              <a:rPr lang="en-US" sz="2600">
                <a:latin typeface="Arial" panose="020B0604020202020204" pitchFamily="34" charset="0"/>
              </a:rPr>
              <a:t>The one-bit sign field is the sign of the stored value.</a:t>
            </a:r>
          </a:p>
          <a:p>
            <a:pPr>
              <a:spcBef>
                <a:spcPct val="40000"/>
              </a:spcBef>
            </a:pPr>
            <a:r>
              <a:rPr lang="en-US" sz="2600">
                <a:latin typeface="Arial" panose="020B0604020202020204" pitchFamily="34" charset="0"/>
              </a:rPr>
              <a:t>The size of the exponent field, determines the range of values that can be represented.</a:t>
            </a:r>
          </a:p>
          <a:p>
            <a:pPr>
              <a:spcBef>
                <a:spcPct val="40000"/>
              </a:spcBef>
            </a:pPr>
            <a:r>
              <a:rPr lang="en-US" sz="2600">
                <a:latin typeface="Arial" panose="020B0604020202020204" pitchFamily="34" charset="0"/>
              </a:rPr>
              <a:t>The size of the significand determines the precision of the representation.</a:t>
            </a:r>
            <a:endParaRPr lang="en-US" sz="280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5570D-0BC7-4491-AD96-C29319BAA1AE}" type="slidenum">
              <a:rPr lang="en-US"/>
              <a:pPr/>
              <a:t>5</a:t>
            </a:fld>
            <a:endParaRPr lang="en-US"/>
          </a:p>
        </p:txBody>
      </p:sp>
      <p:pic>
        <p:nvPicPr>
          <p:cNvPr id="236548" name="Picture 4" descr="C:\IDRAW20\17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423" b="10144"/>
          <a:stretch>
            <a:fillRect/>
          </a:stretch>
        </p:blipFill>
        <p:spPr bwMode="auto">
          <a:xfrm>
            <a:off x="1187450" y="1370013"/>
            <a:ext cx="614362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5696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3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382588"/>
            <a:ext cx="7467600" cy="547687"/>
          </a:xfrm>
        </p:spPr>
        <p:txBody>
          <a:bodyPr>
            <a:normAutofit fontScale="90000"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2.5 Floating-Point Representation</a:t>
            </a:r>
            <a:endParaRPr lang="en-US" sz="3400">
              <a:latin typeface="Arial" panose="020B0604020202020204" pitchFamily="34" charset="0"/>
            </a:endParaRPr>
          </a:p>
        </p:txBody>
      </p:sp>
      <p:sp>
        <p:nvSpPr>
          <p:cNvPr id="240642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3048000"/>
            <a:ext cx="8229600" cy="31242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r>
              <a:rPr lang="en-US" sz="2600">
                <a:latin typeface="Arial" panose="020B0604020202020204" pitchFamily="34" charset="0"/>
              </a:rPr>
              <a:t>The IEEE-754 </a:t>
            </a:r>
            <a:r>
              <a:rPr lang="en-US" sz="2600" i="1">
                <a:latin typeface="Arial" panose="020B0604020202020204" pitchFamily="34" charset="0"/>
              </a:rPr>
              <a:t>single precision</a:t>
            </a:r>
            <a:r>
              <a:rPr lang="en-US" sz="2600">
                <a:latin typeface="Arial" panose="020B0604020202020204" pitchFamily="34" charset="0"/>
              </a:rPr>
              <a:t> floating point standard uses an 8-bit exponent and a 23-bit significand.</a:t>
            </a:r>
          </a:p>
          <a:p>
            <a:r>
              <a:rPr lang="en-US" sz="2600">
                <a:latin typeface="Arial" panose="020B0604020202020204" pitchFamily="34" charset="0"/>
              </a:rPr>
              <a:t>The IEEE-754 </a:t>
            </a:r>
            <a:r>
              <a:rPr lang="en-US" sz="2600" i="1">
                <a:latin typeface="Arial" panose="020B0604020202020204" pitchFamily="34" charset="0"/>
              </a:rPr>
              <a:t>double precision</a:t>
            </a:r>
            <a:r>
              <a:rPr lang="en-US" sz="2600">
                <a:latin typeface="Arial" panose="020B0604020202020204" pitchFamily="34" charset="0"/>
              </a:rPr>
              <a:t> standard uses an 11-bit exponent and a 52-bit significand.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66A7-47C2-4407-870C-206BB0248AF4}" type="slidenum">
              <a:rPr lang="en-US"/>
              <a:pPr/>
              <a:t>6</a:t>
            </a:fld>
            <a:endParaRPr lang="en-US"/>
          </a:p>
        </p:txBody>
      </p:sp>
      <p:pic>
        <p:nvPicPr>
          <p:cNvPr id="240647" name="Picture 7" descr="C:\IDRAW20\17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423" b="10144"/>
          <a:stretch>
            <a:fillRect/>
          </a:stretch>
        </p:blipFill>
        <p:spPr bwMode="auto">
          <a:xfrm>
            <a:off x="1187450" y="1370013"/>
            <a:ext cx="614362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40646" name="Rectangle 6"/>
          <p:cNvSpPr>
            <a:spLocks noChangeArrowheads="1"/>
          </p:cNvSpPr>
          <p:nvPr/>
        </p:nvSpPr>
        <p:spPr bwMode="auto">
          <a:xfrm>
            <a:off x="838200" y="5334000"/>
            <a:ext cx="6781800" cy="914400"/>
          </a:xfrm>
          <a:prstGeom prst="rect">
            <a:avLst/>
          </a:prstGeom>
          <a:solidFill>
            <a:srgbClr val="E2FED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sz="2200" b="1" baseline="0" dirty="0">
                <a:solidFill>
                  <a:srgbClr val="CC3300"/>
                </a:solidFill>
              </a:rPr>
              <a:t>    For illustrative purposes, we will use a 14-bit model with a 5-bit exponent and an 8-bit </a:t>
            </a:r>
            <a:r>
              <a:rPr lang="en-US" sz="2200" b="1" baseline="0" dirty="0" err="1">
                <a:solidFill>
                  <a:srgbClr val="CC3300"/>
                </a:solidFill>
              </a:rPr>
              <a:t>significand</a:t>
            </a:r>
            <a:r>
              <a:rPr lang="en-US" sz="2200" b="1" baseline="0" dirty="0">
                <a:solidFill>
                  <a:srgbClr val="CC3300"/>
                </a:solidFill>
              </a:rPr>
              <a:t>.</a:t>
            </a:r>
            <a:endParaRPr lang="en-US" sz="2600" baseline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493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1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382588"/>
            <a:ext cx="7467600" cy="547687"/>
          </a:xfrm>
        </p:spPr>
        <p:txBody>
          <a:bodyPr>
            <a:normAutofit fontScale="90000"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2.5 Floating-Point Representation</a:t>
            </a:r>
            <a:endParaRPr lang="en-US" sz="3400">
              <a:latin typeface="Arial" panose="020B0604020202020204" pitchFamily="34" charset="0"/>
            </a:endParaRPr>
          </a:p>
        </p:txBody>
      </p:sp>
      <p:sp>
        <p:nvSpPr>
          <p:cNvPr id="242690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3124200"/>
            <a:ext cx="8153400" cy="26670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E4F5FF"/>
                </a:solidFill>
              </a14:hiddenFill>
            </a:ext>
          </a:extLst>
        </p:spPr>
        <p:txBody>
          <a:bodyPr/>
          <a:lstStyle/>
          <a:p>
            <a:r>
              <a:rPr lang="en-US" sz="2600">
                <a:latin typeface="Arial" panose="020B0604020202020204" pitchFamily="34" charset="0"/>
              </a:rPr>
              <a:t>The significand of a floating-point number is always preceded by an implied binary point.</a:t>
            </a:r>
          </a:p>
          <a:p>
            <a:r>
              <a:rPr lang="en-US" sz="2600">
                <a:latin typeface="Arial" panose="020B0604020202020204" pitchFamily="34" charset="0"/>
              </a:rPr>
              <a:t>Thus, the significand always contains a fractional binary value.</a:t>
            </a:r>
          </a:p>
          <a:p>
            <a:r>
              <a:rPr lang="en-US" sz="2600">
                <a:latin typeface="Arial" panose="020B0604020202020204" pitchFamily="34" charset="0"/>
              </a:rPr>
              <a:t>The exponent indicates the power of 2 to which the significand is raised.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68838-ED58-4695-9C3E-CE54680B7D54}" type="slidenum">
              <a:rPr lang="en-US"/>
              <a:pPr/>
              <a:t>7</a:t>
            </a:fld>
            <a:endParaRPr lang="en-US"/>
          </a:p>
        </p:txBody>
      </p:sp>
      <p:pic>
        <p:nvPicPr>
          <p:cNvPr id="242694" name="Picture 6" descr="C:\IDRAW20\17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423" b="10144"/>
          <a:stretch>
            <a:fillRect/>
          </a:stretch>
        </p:blipFill>
        <p:spPr bwMode="auto">
          <a:xfrm>
            <a:off x="1187450" y="1370013"/>
            <a:ext cx="614362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78701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IEEE</a:t>
            </a:r>
            <a:br>
              <a:rPr lang="en-US" dirty="0" smtClean="0"/>
            </a:br>
            <a:r>
              <a:rPr lang="en-US" dirty="0" smtClean="0"/>
              <a:t>single-precision binary floating-point format: binary32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9FB8-9A91-416A-9E59-F72201046E9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6562" name="Picture 2" descr="Float example.sv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67000"/>
            <a:ext cx="8991600" cy="114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4656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convert a base 10 real number into binary 32 format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800" dirty="0" smtClean="0"/>
              <a:t>consider a real number with an integer and a fraction part such as 12.375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Convert the integer part  </a:t>
            </a:r>
            <a:r>
              <a:rPr lang="en-US" smtClean="0"/>
              <a:t>(12.0) </a:t>
            </a:r>
            <a:r>
              <a:rPr lang="en-US" dirty="0" smtClean="0"/>
              <a:t>into binary</a:t>
            </a:r>
          </a:p>
          <a:p>
            <a:pPr lvl="1">
              <a:buNone/>
            </a:pPr>
            <a:r>
              <a:rPr lang="en-US" dirty="0" smtClean="0"/>
              <a:t>	12 is represented in binary as  (</a:t>
            </a:r>
            <a:r>
              <a:rPr lang="en-US" dirty="0" smtClean="0">
                <a:solidFill>
                  <a:schemeClr val="tx2"/>
                </a:solidFill>
              </a:rPr>
              <a:t>1100.0</a:t>
            </a:r>
            <a:r>
              <a:rPr lang="en-US" dirty="0" smtClean="0"/>
              <a:t>)</a:t>
            </a:r>
          </a:p>
          <a:p>
            <a:pPr lvl="1">
              <a:buFont typeface="Wingdings" pitchFamily="2" charset="2"/>
              <a:buChar char="Ø"/>
            </a:pPr>
            <a:endParaRPr lang="en-US" sz="1000" dirty="0" smtClean="0"/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convert the fraction part (0.375) into binary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sz="2400" dirty="0" smtClean="0"/>
              <a:t>0.375 x 2 = 0.750 </a:t>
            </a:r>
          </a:p>
          <a:p>
            <a:pPr>
              <a:buNone/>
            </a:pPr>
            <a:r>
              <a:rPr lang="en-US" sz="2400" dirty="0" smtClean="0"/>
              <a:t>		0.750 x 2 = 1.500</a:t>
            </a:r>
          </a:p>
          <a:p>
            <a:pPr>
              <a:buNone/>
            </a:pPr>
            <a:r>
              <a:rPr lang="en-US" sz="2400" dirty="0" smtClean="0"/>
              <a:t>		0.500 x 2 = 1.000     ( fraction = 0.000, terminate)</a:t>
            </a:r>
          </a:p>
          <a:p>
            <a:pPr>
              <a:buNone/>
            </a:pPr>
            <a:r>
              <a:rPr lang="en-US" sz="2400" dirty="0" smtClean="0"/>
              <a:t>		</a:t>
            </a:r>
            <a:r>
              <a:rPr lang="en-US" sz="2800" dirty="0" smtClean="0"/>
              <a:t>(0.375)</a:t>
            </a:r>
            <a:r>
              <a:rPr lang="en-US" sz="2800" baseline="-25000" dirty="0" smtClean="0"/>
              <a:t>10</a:t>
            </a:r>
            <a:r>
              <a:rPr lang="en-US" sz="2800" dirty="0" smtClean="0"/>
              <a:t> can be represented in binary as (</a:t>
            </a:r>
            <a:r>
              <a:rPr lang="en-US" sz="2800" dirty="0" smtClean="0">
                <a:solidFill>
                  <a:schemeClr val="tx2"/>
                </a:solidFill>
              </a:rPr>
              <a:t>0.011</a:t>
            </a:r>
            <a:r>
              <a:rPr lang="en-US" sz="2800" dirty="0" smtClean="0"/>
              <a:t>)</a:t>
            </a:r>
            <a:r>
              <a:rPr lang="en-US" sz="2800" baseline="-25000" dirty="0" smtClean="0"/>
              <a:t>2</a:t>
            </a:r>
            <a:endParaRPr lang="en-US" sz="2600" baseline="-25000" dirty="0" smtClean="0"/>
          </a:p>
          <a:p>
            <a:pPr lvl="1">
              <a:lnSpc>
                <a:spcPct val="120000"/>
              </a:lnSpc>
              <a:buNone/>
            </a:pPr>
            <a:endParaRPr lang="en-US" sz="2400" dirty="0" smtClean="0"/>
          </a:p>
          <a:p>
            <a:pPr lvl="1">
              <a:lnSpc>
                <a:spcPct val="120000"/>
              </a:lnSpc>
            </a:pPr>
            <a:endParaRPr lang="en-US" sz="2400" baseline="30000" dirty="0" smtClean="0"/>
          </a:p>
          <a:p>
            <a:pPr>
              <a:lnSpc>
                <a:spcPct val="120000"/>
              </a:lnSpc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9FB8-9A91-416A-9E59-F72201046E9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1022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990600"/>
            <a:ext cx="9144000" cy="4327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en-US" sz="3200" dirty="0" smtClean="0"/>
              <a:t>add the two results and adjust them to produce a proper final conversion</a:t>
            </a:r>
            <a:endParaRPr lang="en-US" sz="2000" dirty="0" smtClean="0"/>
          </a:p>
          <a:p>
            <a:pPr>
              <a:lnSpc>
                <a:spcPct val="120000"/>
              </a:lnSpc>
              <a:buNone/>
            </a:pPr>
            <a:endParaRPr lang="en-US" sz="1600" dirty="0" smtClean="0"/>
          </a:p>
          <a:p>
            <a:pPr>
              <a:lnSpc>
                <a:spcPct val="120000"/>
              </a:lnSpc>
              <a:buNone/>
            </a:pPr>
            <a:r>
              <a:rPr lang="en-US" sz="3200" dirty="0" smtClean="0"/>
              <a:t>Therefore (12.375)</a:t>
            </a:r>
            <a:r>
              <a:rPr lang="en-US" sz="3200" baseline="-25000" dirty="0" smtClean="0"/>
              <a:t>10</a:t>
            </a:r>
            <a:r>
              <a:rPr lang="en-US" sz="3200" dirty="0" smtClean="0"/>
              <a:t> 	= (12)</a:t>
            </a:r>
            <a:r>
              <a:rPr lang="en-US" sz="3200" baseline="-25000" dirty="0" smtClean="0"/>
              <a:t>10</a:t>
            </a:r>
            <a:r>
              <a:rPr lang="en-US" sz="3200" dirty="0" smtClean="0"/>
              <a:t> + (0.375)</a:t>
            </a:r>
            <a:r>
              <a:rPr lang="en-US" sz="3200" baseline="-25000" dirty="0" smtClean="0"/>
              <a:t>10</a:t>
            </a:r>
            <a:r>
              <a:rPr lang="en-US" sz="3200" dirty="0" smtClean="0"/>
              <a:t> </a:t>
            </a:r>
          </a:p>
          <a:p>
            <a:pPr>
              <a:lnSpc>
                <a:spcPct val="120000"/>
              </a:lnSpc>
              <a:buNone/>
            </a:pPr>
            <a:r>
              <a:rPr lang="en-US" sz="3200" dirty="0" smtClean="0"/>
              <a:t>				= (1100)</a:t>
            </a:r>
            <a:r>
              <a:rPr lang="en-US" sz="3200" baseline="-25000" dirty="0" smtClean="0"/>
              <a:t>2</a:t>
            </a:r>
            <a:r>
              <a:rPr lang="en-US" sz="3200" dirty="0" smtClean="0"/>
              <a:t> + (0.011)</a:t>
            </a:r>
            <a:r>
              <a:rPr lang="en-US" sz="3200" baseline="-25000" dirty="0" smtClean="0"/>
              <a:t>2</a:t>
            </a:r>
            <a:r>
              <a:rPr lang="en-US" sz="3200" dirty="0" smtClean="0"/>
              <a:t> </a:t>
            </a:r>
          </a:p>
          <a:p>
            <a:pPr>
              <a:lnSpc>
                <a:spcPct val="120000"/>
              </a:lnSpc>
              <a:buNone/>
            </a:pPr>
            <a:r>
              <a:rPr lang="en-US" sz="3200" dirty="0" smtClean="0"/>
              <a:t>			      	= (1100.011)</a:t>
            </a:r>
            <a:r>
              <a:rPr lang="en-US" sz="3200" baseline="-25000" dirty="0" smtClean="0"/>
              <a:t>2</a:t>
            </a:r>
          </a:p>
          <a:p>
            <a:pPr>
              <a:lnSpc>
                <a:spcPct val="120000"/>
              </a:lnSpc>
              <a:buNone/>
            </a:pPr>
            <a:endParaRPr lang="en-US" sz="3200" baseline="-25000" dirty="0" smtClean="0"/>
          </a:p>
          <a:p>
            <a:pPr>
              <a:lnSpc>
                <a:spcPct val="120000"/>
              </a:lnSpc>
              <a:buNone/>
            </a:pPr>
            <a:r>
              <a:rPr lang="en-US" sz="3200" dirty="0" smtClean="0"/>
              <a:t>In normalized form (12.375)</a:t>
            </a:r>
            <a:r>
              <a:rPr lang="en-US" sz="3200" baseline="-25000" dirty="0" smtClean="0"/>
              <a:t>10</a:t>
            </a:r>
            <a:r>
              <a:rPr lang="en-US" sz="3200" dirty="0" smtClean="0"/>
              <a:t> = 1.100011</a:t>
            </a:r>
            <a:r>
              <a:rPr lang="en-US" sz="3200" baseline="-25000" dirty="0" smtClean="0"/>
              <a:t>2</a:t>
            </a:r>
            <a:r>
              <a:rPr lang="en-US" sz="3200" dirty="0" smtClean="0"/>
              <a:t>x2</a:t>
            </a:r>
            <a:r>
              <a:rPr lang="en-US" sz="3200" baseline="30000" dirty="0" smtClean="0"/>
              <a:t>3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1143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convert a base 10 real number into binary32 format…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300" dirty="0" smtClean="0"/>
              <a:t>In normalized form (12.375)</a:t>
            </a:r>
            <a:r>
              <a:rPr lang="en-US" sz="3300" baseline="-25000" dirty="0" smtClean="0"/>
              <a:t>10</a:t>
            </a:r>
            <a:r>
              <a:rPr lang="en-US" sz="3300" dirty="0" smtClean="0"/>
              <a:t> = 1.100011</a:t>
            </a:r>
            <a:r>
              <a:rPr lang="en-US" sz="3300" baseline="-25000" dirty="0" smtClean="0"/>
              <a:t>2</a:t>
            </a:r>
            <a:r>
              <a:rPr lang="en-US" sz="3300" dirty="0" smtClean="0"/>
              <a:t>x2</a:t>
            </a:r>
            <a:r>
              <a:rPr lang="en-US" sz="3300" baseline="30000" dirty="0" smtClean="0"/>
              <a:t>3</a:t>
            </a:r>
          </a:p>
          <a:p>
            <a:r>
              <a:rPr lang="en-US" sz="3300" dirty="0" smtClean="0"/>
              <a:t>From which we deduce:</a:t>
            </a:r>
          </a:p>
          <a:p>
            <a:pPr lvl="1"/>
            <a:r>
              <a:rPr lang="en-US" sz="3300" dirty="0" smtClean="0"/>
              <a:t>The exponent is 3 </a:t>
            </a:r>
          </a:p>
          <a:p>
            <a:pPr lvl="1">
              <a:buNone/>
            </a:pPr>
            <a:r>
              <a:rPr lang="en-US" sz="3300" dirty="0" smtClean="0"/>
              <a:t>(and in the biased form it is therefore 127+3 =130 = 1000 0010)</a:t>
            </a:r>
          </a:p>
          <a:p>
            <a:pPr lvl="1">
              <a:buNone/>
            </a:pPr>
            <a:endParaRPr lang="en-US" sz="1500" dirty="0" smtClean="0"/>
          </a:p>
          <a:p>
            <a:pPr lvl="1">
              <a:buNone/>
            </a:pPr>
            <a:r>
              <a:rPr lang="en-US" sz="3200" dirty="0" smtClean="0"/>
              <a:t>* </a:t>
            </a:r>
            <a:r>
              <a:rPr lang="en-US" sz="3100" i="1" dirty="0" smtClean="0"/>
              <a:t>The </a:t>
            </a:r>
            <a:r>
              <a:rPr lang="en-US" sz="3100" b="1" i="1" dirty="0" smtClean="0"/>
              <a:t>bias</a:t>
            </a:r>
            <a:r>
              <a:rPr lang="en-US" sz="3100" i="1" dirty="0" smtClean="0"/>
              <a:t> value (127)  in </a:t>
            </a:r>
            <a:r>
              <a:rPr lang="en-US" sz="3100" b="1" i="1" dirty="0" smtClean="0"/>
              <a:t>floating point</a:t>
            </a:r>
            <a:r>
              <a:rPr lang="en-US" sz="3100" i="1" dirty="0" smtClean="0"/>
              <a:t> numbers is a pre specified number.</a:t>
            </a:r>
            <a:endParaRPr lang="en-US" sz="3200" i="1" dirty="0" smtClean="0"/>
          </a:p>
          <a:p>
            <a:pPr lvl="1">
              <a:buFont typeface="Arial" charset="0"/>
              <a:buChar char="•"/>
            </a:pPr>
            <a:endParaRPr lang="en-US" sz="1800" dirty="0" smtClean="0"/>
          </a:p>
          <a:p>
            <a:pPr lvl="1"/>
            <a:r>
              <a:rPr lang="en-US" sz="3300" dirty="0" smtClean="0"/>
              <a:t>The fraction is 100011 (looking to the right of the binary point)</a:t>
            </a:r>
          </a:p>
          <a:p>
            <a:r>
              <a:rPr lang="en-US" sz="3300" dirty="0" smtClean="0"/>
              <a:t>From these we can form the resulting 32 bit IEEE 754 binary32 format representation of 12.375 as:</a:t>
            </a:r>
          </a:p>
          <a:p>
            <a:pPr>
              <a:buNone/>
            </a:pPr>
            <a:r>
              <a:rPr lang="en-US" sz="3300" dirty="0" smtClean="0"/>
              <a:t>	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	0-10000010-10001100000000000000000 = 41460000</a:t>
            </a:r>
            <a:r>
              <a:rPr lang="en-US" baseline="-25000" dirty="0" smtClean="0">
                <a:solidFill>
                  <a:srgbClr val="FF0000"/>
                </a:solidFill>
              </a:rPr>
              <a:t>H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baseline="30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9FB8-9A91-416A-9E59-F72201046E9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4541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1371600" cy="1143000"/>
          </a:xfrm>
        </p:spPr>
        <p:txBody>
          <a:bodyPr/>
          <a:lstStyle/>
          <a:p>
            <a:pPr algn="l"/>
            <a:r>
              <a:rPr lang="en-US" dirty="0" smtClean="0"/>
              <a:t>Ex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Consider a value 0.25 .</a:t>
            </a:r>
          </a:p>
          <a:p>
            <a:pPr>
              <a:buNone/>
            </a:pPr>
            <a:r>
              <a:rPr lang="en-US" dirty="0" smtClean="0"/>
              <a:t> We can see that : (0.25)</a:t>
            </a:r>
            <a:r>
              <a:rPr lang="en-US" baseline="-25000" dirty="0" smtClean="0"/>
              <a:t>10</a:t>
            </a:r>
            <a:r>
              <a:rPr lang="en-US" dirty="0" smtClean="0"/>
              <a:t> =(1.0)</a:t>
            </a:r>
            <a:r>
              <a:rPr lang="en-US" baseline="-25000" dirty="0" smtClean="0"/>
              <a:t>2</a:t>
            </a:r>
            <a:r>
              <a:rPr lang="en-US" dirty="0" smtClean="0"/>
              <a:t>x2</a:t>
            </a:r>
            <a:r>
              <a:rPr lang="en-US" baseline="30000" dirty="0" smtClean="0"/>
              <a:t>-2</a:t>
            </a:r>
          </a:p>
          <a:p>
            <a:pPr>
              <a:buNone/>
            </a:pPr>
            <a:endParaRPr lang="en-US" sz="2100" u="sng" dirty="0" smtClean="0"/>
          </a:p>
          <a:p>
            <a:pPr>
              <a:buNone/>
            </a:pPr>
            <a:r>
              <a:rPr lang="en-US" u="sng" dirty="0" smtClean="0"/>
              <a:t>From which we deduce :</a:t>
            </a:r>
          </a:p>
          <a:p>
            <a:r>
              <a:rPr lang="en-US" dirty="0" smtClean="0"/>
              <a:t>The exponent is −2</a:t>
            </a:r>
          </a:p>
          <a:p>
            <a:pPr lvl="1"/>
            <a:r>
              <a:rPr lang="en-US" dirty="0" smtClean="0"/>
              <a:t>(and in the biased form it is 127+(−2)= 125 = 0111 1101 )</a:t>
            </a:r>
          </a:p>
          <a:p>
            <a:r>
              <a:rPr lang="en-US" dirty="0" smtClean="0"/>
              <a:t>The fraction is 0</a:t>
            </a:r>
          </a:p>
          <a:p>
            <a:pPr lvl="1"/>
            <a:r>
              <a:rPr lang="en-US" dirty="0" smtClean="0"/>
              <a:t>(looking to the right of binary point in 1.0 is all zeros)</a:t>
            </a:r>
          </a:p>
          <a:p>
            <a:r>
              <a:rPr lang="en-US" dirty="0" smtClean="0"/>
              <a:t>From these we can form the resulting 32 bit IEEE 754 binary32 format representation of real number 0.25 as: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0-01111101-00000000000000000000000 = 3e800000</a:t>
            </a:r>
            <a:r>
              <a:rPr lang="en-US" baseline="-25000" dirty="0" smtClean="0">
                <a:solidFill>
                  <a:srgbClr val="FF0000"/>
                </a:solidFill>
              </a:rPr>
              <a:t>H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9FB8-9A91-416A-9E59-F72201046E9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00800" y="1143000"/>
            <a:ext cx="21419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0.25 x 2 = 0.5</a:t>
            </a:r>
          </a:p>
          <a:p>
            <a:r>
              <a:rPr lang="en-US" sz="2400" dirty="0" smtClean="0"/>
              <a:t>0.5   x 2 = 1.0</a:t>
            </a:r>
          </a:p>
          <a:p>
            <a:r>
              <a:rPr lang="en-US" sz="2400" dirty="0" smtClean="0">
                <a:sym typeface="Symbol"/>
              </a:rPr>
              <a:t>0.25</a:t>
            </a:r>
            <a:r>
              <a:rPr lang="en-US" sz="2400" baseline="-25000" dirty="0" smtClean="0">
                <a:sym typeface="Symbol"/>
              </a:rPr>
              <a:t>10</a:t>
            </a:r>
            <a:r>
              <a:rPr lang="en-US" sz="2400" dirty="0" smtClean="0">
                <a:sym typeface="Symbol"/>
              </a:rPr>
              <a:t> = 0.01</a:t>
            </a:r>
            <a:r>
              <a:rPr lang="en-US" sz="2400" baseline="-25000" dirty="0" smtClean="0">
                <a:sym typeface="Symbol"/>
              </a:rPr>
              <a:t>2</a:t>
            </a: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xmlns="" val="59722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Ex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Convert 113.21 into binary 32 floating point format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9FB8-9A91-416A-9E59-F72201046E9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3646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Double-precision floating-point format (binary64)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34290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 smtClean="0"/>
              <a:t>a computer number format that occupies two adjacent storage locations in computer memory. 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A </a:t>
            </a:r>
            <a:r>
              <a:rPr lang="en-US" b="1" dirty="0" smtClean="0"/>
              <a:t>double-precision number</a:t>
            </a:r>
            <a:r>
              <a:rPr lang="en-US" dirty="0" smtClean="0"/>
              <a:t>, sometimes simply called a </a:t>
            </a:r>
            <a:r>
              <a:rPr lang="en-US" b="1" dirty="0" smtClean="0"/>
              <a:t>double</a:t>
            </a:r>
            <a:r>
              <a:rPr lang="en-US" dirty="0" smtClean="0"/>
              <a:t>, may be defined to be an integer, fixed point, or floating point</a:t>
            </a:r>
          </a:p>
          <a:p>
            <a:pPr>
              <a:lnSpc>
                <a:spcPct val="110000"/>
              </a:lnSpc>
            </a:pPr>
            <a:r>
              <a:rPr lang="en-US" b="1" dirty="0" smtClean="0"/>
              <a:t>binary64</a:t>
            </a:r>
            <a:r>
              <a:rPr lang="en-US" dirty="0" smtClean="0"/>
              <a:t> is having: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Sign bit: 1 bit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Exponent width: 11 bits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Significand precision: 52 bits 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9FB8-9A91-416A-9E59-F72201046E9D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1682" name="Picture 2" descr="IEEE 754 Double Floating Point Format.sv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213" y="4953000"/>
            <a:ext cx="9041587" cy="1828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80611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389</TotalTime>
  <Words>454</Words>
  <Application>Microsoft Office PowerPoint</Application>
  <PresentationFormat>On-screen Show (4:3)</PresentationFormat>
  <Paragraphs>106</Paragraphs>
  <Slides>14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HNDIT</vt:lpstr>
      <vt:lpstr>HNDIT1104: Data Representation and Organization</vt:lpstr>
      <vt:lpstr>2.5 Floating-Point Representation</vt:lpstr>
      <vt:lpstr>2.5 Floating-Point Representation</vt:lpstr>
      <vt:lpstr>2.5 Floating-Point Representation</vt:lpstr>
      <vt:lpstr>2.5 Floating-Point Representation</vt:lpstr>
      <vt:lpstr>2.5 Floating-Point Representation</vt:lpstr>
      <vt:lpstr>2.5 Floating-Point Representation</vt:lpstr>
      <vt:lpstr>IEEE single-precision binary floating-point format: binary32</vt:lpstr>
      <vt:lpstr>convert a base 10 real number into binary 32 format</vt:lpstr>
      <vt:lpstr>Slide 10</vt:lpstr>
      <vt:lpstr>convert a base 10 real number into binary32 format…</vt:lpstr>
      <vt:lpstr>Ex 1</vt:lpstr>
      <vt:lpstr>Ex 2</vt:lpstr>
      <vt:lpstr>Double-precision floating-point format (binary64)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2002 – Graphics &amp; Multimedia</dc:title>
  <dc:creator>Dell PC</dc:creator>
  <cp:lastModifiedBy>Nalin</cp:lastModifiedBy>
  <cp:revision>45</cp:revision>
  <dcterms:created xsi:type="dcterms:W3CDTF">2013-10-16T01:16:09Z</dcterms:created>
  <dcterms:modified xsi:type="dcterms:W3CDTF">2018-09-21T17:06:27Z</dcterms:modified>
</cp:coreProperties>
</file>