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334" r:id="rId2"/>
    <p:sldId id="333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32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B4B73-EC22-490B-87C5-9F27EEF0A650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0EA0F-07C1-4882-A8E8-1D44A81E65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3771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5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38CFBA-DA54-44E1-A211-D4FF403E1918}" type="slidenum">
              <a:rPr lang="en-US"/>
              <a:pPr/>
              <a:t>17</a:t>
            </a:fld>
            <a:endParaRPr lang="en-US"/>
          </a:p>
        </p:txBody>
      </p:sp>
      <p:sp>
        <p:nvSpPr>
          <p:cNvPr id="6266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50938" y="711200"/>
            <a:ext cx="4557712" cy="341788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86263"/>
            <a:ext cx="5029200" cy="41560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2862" rIns="92075" bIns="42862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43571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613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ubtitle 5"/>
          <p:cNvSpPr>
            <a:spLocks noGrp="1"/>
          </p:cNvSpPr>
          <p:nvPr>
            <p:ph type="subTitle" idx="1"/>
          </p:nvPr>
        </p:nvSpPr>
        <p:spPr>
          <a:xfrm>
            <a:off x="4876800" y="2286000"/>
            <a:ext cx="4267200" cy="8286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>
                <a:solidFill>
                  <a:schemeClr val="tx1"/>
                </a:solidFill>
              </a:rPr>
              <a:t>Negative numbers representation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i="1" dirty="0" smtClean="0">
                <a:solidFill>
                  <a:schemeClr val="tx1"/>
                </a:solidFill>
              </a:rPr>
              <a:t>Part - 3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4000" dirty="0" smtClean="0">
              <a:solidFill>
                <a:schemeClr val="tx1"/>
              </a:solidFill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457200"/>
            <a:ext cx="8915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HNDIT1104: Data Representation and Organization</a:t>
            </a:r>
            <a:endParaRPr lang="en-AU" altLang="en-US" sz="2800" dirty="0" smtClean="0"/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3886200" y="4876800"/>
            <a:ext cx="161614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Lesson 9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the end of the lesson student should be able to </a:t>
            </a:r>
          </a:p>
          <a:p>
            <a:pPr lvl="1"/>
            <a:r>
              <a:rPr lang="en-US" dirty="0" smtClean="0"/>
              <a:t>Convert decimal number into 8 bits 2’s complement representation</a:t>
            </a:r>
          </a:p>
          <a:p>
            <a:pPr lvl="1"/>
            <a:r>
              <a:rPr lang="en-US" dirty="0" smtClean="0"/>
              <a:t>Convert  number in 2’s complement format to decimal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4634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Representation</a:t>
            </a:r>
          </a:p>
        </p:txBody>
      </p:sp>
      <p:sp>
        <p:nvSpPr>
          <p:cNvPr id="616451" name="Rectangle 1027"/>
          <p:cNvSpPr>
            <a:spLocks noGrp="1" noChangeArrowheads="1"/>
          </p:cNvSpPr>
          <p:nvPr>
            <p:ph idx="1"/>
          </p:nvPr>
        </p:nvSpPr>
        <p:spPr>
          <a:xfrm>
            <a:off x="533400" y="2133600"/>
            <a:ext cx="7772400" cy="41148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</a:rPr>
              <a:t>To compute </a:t>
            </a: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negative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</a:rPr>
              <a:t> values using Two’s Complement representation: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Tx/>
              <a:buAutoNum type="arabicParenR"/>
            </a:pP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</a:rPr>
              <a:t>Begin with the binary representation of the positive value</a:t>
            </a:r>
          </a:p>
          <a:p>
            <a:pPr marL="609600" indent="-609600">
              <a:lnSpc>
                <a:spcPct val="90000"/>
              </a:lnSpc>
              <a:buFontTx/>
              <a:buAutoNum type="arabicParenR"/>
            </a:pP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</a:rPr>
              <a:t>Complement (flip each bit -- if it is 0 make it 1 and visa versa)  the entire positive number</a:t>
            </a:r>
          </a:p>
          <a:p>
            <a:pPr marL="609600" indent="-609600">
              <a:lnSpc>
                <a:spcPct val="90000"/>
              </a:lnSpc>
              <a:buFontTx/>
              <a:buAutoNum type="arabicParenR"/>
            </a:pP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</a:rPr>
              <a:t>Then add one.</a:t>
            </a: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1038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Representation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36220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Ex 1.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Find the 8-bit two’s complement 		representation of  </a:t>
            </a:r>
            <a:r>
              <a:rPr lang="en-US" sz="2800" dirty="0">
                <a:solidFill>
                  <a:srgbClr val="A50021"/>
                </a:solidFill>
                <a:latin typeface="Arial" panose="020B0604020202020204" pitchFamily="34" charset="0"/>
              </a:rPr>
              <a:t>–6</a:t>
            </a:r>
            <a:r>
              <a:rPr lang="en-US" sz="2800" baseline="-25000" dirty="0">
                <a:solidFill>
                  <a:srgbClr val="A50021"/>
                </a:solidFill>
                <a:latin typeface="Arial" panose="020B0604020202020204" pitchFamily="34" charset="0"/>
              </a:rPr>
              <a:t>10</a:t>
            </a:r>
            <a:endParaRPr lang="en-US" baseline="-25000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Step 1: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Find binary representation of the 		positive value in 8 bits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			6</a:t>
            </a:r>
            <a:r>
              <a:rPr lang="en-US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n-US" dirty="0">
                <a:solidFill>
                  <a:srgbClr val="A50021"/>
                </a:solidFill>
                <a:latin typeface="Arial" panose="020B0604020202020204" pitchFamily="34" charset="0"/>
              </a:rPr>
              <a:t>00000110</a:t>
            </a:r>
            <a:r>
              <a:rPr lang="en-US" baseline="-30000" dirty="0">
                <a:solidFill>
                  <a:srgbClr val="A50021"/>
                </a:solidFill>
                <a:latin typeface="Arial" panose="020B0604020202020204" pitchFamily="34" charset="0"/>
              </a:rPr>
              <a:t>2</a:t>
            </a:r>
            <a:endParaRPr lang="en-US" sz="3600" dirty="0">
              <a:solidFill>
                <a:srgbClr val="A5002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6277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3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Representation</a:t>
            </a:r>
          </a:p>
        </p:txBody>
      </p:sp>
      <p:sp>
        <p:nvSpPr>
          <p:cNvPr id="6041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8686800" cy="4114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2800" dirty="0" smtClean="0">
                <a:solidFill>
                  <a:srgbClr val="000000"/>
                </a:solidFill>
              </a:rPr>
              <a:t>Ex 1: </a:t>
            </a:r>
          </a:p>
          <a:p>
            <a:pPr>
              <a:buFont typeface="Wingdings" panose="05000000000000000000" pitchFamily="2" charset="2"/>
              <a:buNone/>
            </a:pPr>
            <a:endParaRPr lang="en-US" sz="2800" dirty="0" smtClean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Step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2: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Complement the entire positive </a:t>
            </a:r>
            <a:r>
              <a:rPr lang="en-US" sz="280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value</a:t>
            </a:r>
            <a:endParaRPr lang="en-US" sz="28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	      Positive Value:  00000110 </a:t>
            </a: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>
              <a:buFont typeface="Wingdings" panose="05000000000000000000" pitchFamily="2" charset="2"/>
              <a:buNone/>
            </a:pPr>
            <a:endParaRPr lang="en-US" sz="1200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dirty="0" smtClean="0">
                <a:solidFill>
                  <a:srgbClr val="000000"/>
                </a:solidFill>
              </a:rPr>
              <a:t>          Complemented:  </a:t>
            </a:r>
            <a:r>
              <a:rPr lang="en-US" dirty="0" smtClean="0">
                <a:solidFill>
                  <a:srgbClr val="A50021"/>
                </a:solidFill>
              </a:rPr>
              <a:t>11111001</a:t>
            </a:r>
            <a:endParaRPr lang="en-US" dirty="0">
              <a:solidFill>
                <a:srgbClr val="A500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8815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6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Representation</a:t>
            </a:r>
          </a:p>
        </p:txBody>
      </p:sp>
      <p:sp>
        <p:nvSpPr>
          <p:cNvPr id="62464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5562600"/>
            <a:ext cx="7391400" cy="12954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So:	</a:t>
            </a:r>
            <a:r>
              <a:rPr lang="en-US" sz="3600" b="1">
                <a:solidFill>
                  <a:srgbClr val="0000CC"/>
                </a:solidFill>
                <a:latin typeface="Arial" panose="020B0604020202020204" pitchFamily="34" charset="0"/>
              </a:rPr>
              <a:t>-6</a:t>
            </a:r>
            <a:r>
              <a:rPr lang="en-US" sz="3600" b="1" baseline="-30000">
                <a:solidFill>
                  <a:srgbClr val="0000CC"/>
                </a:solidFill>
                <a:latin typeface="Arial" panose="020B0604020202020204" pitchFamily="34" charset="0"/>
              </a:rPr>
              <a:t>10</a:t>
            </a:r>
            <a:r>
              <a:rPr lang="en-US" sz="3600" b="1">
                <a:solidFill>
                  <a:srgbClr val="0000CC"/>
                </a:solidFill>
                <a:latin typeface="Arial" panose="020B0604020202020204" pitchFamily="34" charset="0"/>
              </a:rPr>
              <a:t> = 11111010</a:t>
            </a:r>
            <a:r>
              <a:rPr lang="en-US" sz="3600" b="1" baseline="-3000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</a:rPr>
              <a:t>(in 8-bit 2's complement form)</a:t>
            </a: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624644" name="Rectangle 4"/>
          <p:cNvSpPr>
            <a:spLocks noChangeArrowheads="1"/>
          </p:cNvSpPr>
          <p:nvPr/>
        </p:nvSpPr>
        <p:spPr bwMode="auto">
          <a:xfrm>
            <a:off x="609600" y="1828800"/>
            <a:ext cx="75438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027113" indent="-4556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370013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712913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en-US" sz="2600" dirty="0" smtClean="0">
                <a:solidFill>
                  <a:srgbClr val="000000"/>
                </a:solidFill>
                <a:latin typeface="Arial" panose="020B0604020202020204" pitchFamily="34" charset="0"/>
              </a:rPr>
              <a:t>Ex 1: </a:t>
            </a:r>
          </a:p>
          <a:p>
            <a:pPr>
              <a:spcBef>
                <a:spcPct val="20000"/>
              </a:spcBef>
            </a:pPr>
            <a:endParaRPr kumimoji="0" lang="en-US" sz="14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kumimoji="0" lang="en-US" sz="32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Step </a:t>
            </a:r>
            <a:r>
              <a:rPr kumimoji="0" lang="en-US" sz="3200" b="1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Add one to complemented value</a:t>
            </a:r>
            <a:endParaRPr kumimoji="0" lang="en-US" sz="3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  </a:t>
            </a:r>
            <a:endParaRPr kumimoji="0" lang="en-US" sz="3200" dirty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</a:pP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(complemented)	</a:t>
            </a:r>
            <a:r>
              <a:rPr kumimoji="0"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	</a:t>
            </a:r>
            <a:r>
              <a:rPr kumimoji="0"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11111001</a:t>
            </a:r>
          </a:p>
          <a:p>
            <a:pPr>
              <a:spcBef>
                <a:spcPct val="20000"/>
              </a:spcBef>
            </a:pP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(add one)			</a:t>
            </a:r>
            <a:r>
              <a:rPr kumimoji="0" lang="en-US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	</a:t>
            </a:r>
            <a:r>
              <a:rPr kumimoji="0" lang="en-US" sz="3200" b="1" u="sn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1</a:t>
            </a:r>
            <a:endParaRPr kumimoji="0" lang="en-US" sz="32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</a:pP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	                                	</a:t>
            </a:r>
            <a:r>
              <a:rPr kumimoji="0" lang="en-US" sz="3200" b="1" dirty="0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11111010</a:t>
            </a:r>
          </a:p>
        </p:txBody>
      </p:sp>
    </p:spTree>
    <p:extLst>
      <p:ext uri="{BB962C8B-B14F-4D97-AF65-F5344CB8AC3E}">
        <p14:creationId xmlns:p14="http://schemas.microsoft.com/office/powerpoint/2010/main" xmlns="" val="414572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4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Representation</a:t>
            </a:r>
          </a:p>
        </p:txBody>
      </p:sp>
      <p:sp>
        <p:nvSpPr>
          <p:cNvPr id="674819" name="Rectangle 2051"/>
          <p:cNvSpPr>
            <a:spLocks noGrp="1" noChangeArrowheads="1"/>
          </p:cNvSpPr>
          <p:nvPr>
            <p:ph idx="1"/>
          </p:nvPr>
        </p:nvSpPr>
        <p:spPr>
          <a:xfrm>
            <a:off x="533400" y="2017713"/>
            <a:ext cx="8382000" cy="4114800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Ex 2.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	Find the 8-bit two’s complement 	representation of  20</a:t>
            </a:r>
            <a:r>
              <a:rPr lang="en-US" sz="28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</a:p>
          <a:p>
            <a:pPr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Step 1: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Find binary representation of 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the positive </a:t>
            </a:r>
          </a:p>
          <a:p>
            <a:pPr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	            value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in 8 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bits</a:t>
            </a:r>
          </a:p>
          <a:p>
            <a:pPr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			20</a:t>
            </a:r>
            <a:r>
              <a:rPr lang="en-US" sz="2800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n-US" sz="2800" dirty="0">
                <a:solidFill>
                  <a:srgbClr val="A50021"/>
                </a:solidFill>
                <a:latin typeface="Arial" panose="020B0604020202020204" pitchFamily="34" charset="0"/>
              </a:rPr>
              <a:t>00010100</a:t>
            </a:r>
            <a:r>
              <a:rPr lang="en-US" sz="2800" baseline="-30000" dirty="0">
                <a:solidFill>
                  <a:srgbClr val="A50021"/>
                </a:solidFill>
                <a:latin typeface="Arial" panose="020B0604020202020204" pitchFamily="34" charset="0"/>
              </a:rPr>
              <a:t>2</a:t>
            </a:r>
          </a:p>
          <a:p>
            <a:pPr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sz="2800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	20 is positive, so STOP after step 1!</a:t>
            </a:r>
          </a:p>
        </p:txBody>
      </p:sp>
      <p:sp>
        <p:nvSpPr>
          <p:cNvPr id="674820" name="Rectangle 2052"/>
          <p:cNvSpPr>
            <a:spLocks noChangeArrowheads="1"/>
          </p:cNvSpPr>
          <p:nvPr/>
        </p:nvSpPr>
        <p:spPr bwMode="auto">
          <a:xfrm>
            <a:off x="1524000" y="5562600"/>
            <a:ext cx="7391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027113" indent="-4556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370013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712913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en-US" sz="2800">
                <a:solidFill>
                  <a:srgbClr val="000000"/>
                </a:solidFill>
                <a:latin typeface="Arial" panose="020B0604020202020204" pitchFamily="34" charset="0"/>
              </a:rPr>
              <a:t>So:	</a:t>
            </a:r>
            <a:r>
              <a:rPr kumimoji="0" lang="en-US" sz="2800" b="1">
                <a:solidFill>
                  <a:srgbClr val="0000CC"/>
                </a:solidFill>
                <a:latin typeface="Arial" panose="020B0604020202020204" pitchFamily="34" charset="0"/>
              </a:rPr>
              <a:t>20</a:t>
            </a:r>
            <a:r>
              <a:rPr kumimoji="0" lang="en-US" sz="2800" b="1" baseline="-30000">
                <a:solidFill>
                  <a:srgbClr val="0000CC"/>
                </a:solidFill>
                <a:latin typeface="Arial" panose="020B0604020202020204" pitchFamily="34" charset="0"/>
              </a:rPr>
              <a:t>10</a:t>
            </a:r>
            <a:r>
              <a:rPr kumimoji="0" lang="en-US" sz="2800" b="1">
                <a:solidFill>
                  <a:srgbClr val="0000CC"/>
                </a:solidFill>
                <a:latin typeface="Arial" panose="020B0604020202020204" pitchFamily="34" charset="0"/>
              </a:rPr>
              <a:t> = 00010100</a:t>
            </a:r>
            <a:r>
              <a:rPr kumimoji="0" lang="en-US" sz="2800" b="1" baseline="-3000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kumimoji="0"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20000"/>
              </a:spcBef>
            </a:pPr>
            <a:r>
              <a:rPr kumimoji="0"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		</a:t>
            </a:r>
            <a:r>
              <a:rPr kumimoji="0" lang="en-US" sz="2800">
                <a:solidFill>
                  <a:srgbClr val="000000"/>
                </a:solidFill>
                <a:latin typeface="Arial" panose="020B0604020202020204" pitchFamily="34" charset="0"/>
              </a:rPr>
              <a:t>(in 8-bit 2's complement form)</a:t>
            </a:r>
            <a:endParaRPr kumimoji="0" lang="en-US" sz="280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5350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819" grpId="0" build="p" autoUpdateAnimBg="0"/>
      <p:bldP spid="67482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Representation</a:t>
            </a:r>
          </a:p>
        </p:txBody>
      </p:sp>
      <p:sp>
        <p:nvSpPr>
          <p:cNvPr id="66457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20980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Ex 3.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	Find the 8-bit two’s complement 	representation of  –80</a:t>
            </a:r>
            <a:r>
              <a:rPr lang="en-US" sz="28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</a:p>
          <a:p>
            <a:pPr>
              <a:buFont typeface="Wingdings" panose="05000000000000000000" pitchFamily="2" charset="2"/>
              <a:buNone/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Step 1: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Find binary representation of the 			positive value in 8 bits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			80</a:t>
            </a:r>
            <a:r>
              <a:rPr lang="en-US" sz="2800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n-US" sz="2800" dirty="0">
                <a:solidFill>
                  <a:srgbClr val="A50021"/>
                </a:solidFill>
                <a:latin typeface="Arial" panose="020B0604020202020204" pitchFamily="34" charset="0"/>
              </a:rPr>
              <a:t>01010000</a:t>
            </a:r>
            <a:r>
              <a:rPr lang="en-US" sz="2800" baseline="-30000" dirty="0">
                <a:solidFill>
                  <a:srgbClr val="A50021"/>
                </a:solidFill>
                <a:latin typeface="Arial" panose="020B0604020202020204" pitchFamily="34" charset="0"/>
              </a:rPr>
              <a:t>2</a:t>
            </a:r>
          </a:p>
          <a:p>
            <a:pPr>
              <a:buFont typeface="Wingdings" panose="05000000000000000000" pitchFamily="2" charset="2"/>
              <a:buNone/>
            </a:pPr>
            <a:endParaRPr lang="en-US" sz="2800" baseline="-30000" dirty="0">
              <a:solidFill>
                <a:srgbClr val="A50021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	-80 is negative, so continue…</a:t>
            </a:r>
          </a:p>
        </p:txBody>
      </p:sp>
    </p:spTree>
    <p:extLst>
      <p:ext uri="{BB962C8B-B14F-4D97-AF65-F5344CB8AC3E}">
        <p14:creationId xmlns:p14="http://schemas.microsoft.com/office/powerpoint/2010/main" xmlns="" val="428172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457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Representation</a:t>
            </a:r>
          </a:p>
        </p:txBody>
      </p:sp>
      <p:sp>
        <p:nvSpPr>
          <p:cNvPr id="665603" name="Rectangle 2051"/>
          <p:cNvSpPr>
            <a:spLocks noGrp="1" noChangeArrowheads="1"/>
          </p:cNvSpPr>
          <p:nvPr>
            <p:ph idx="1"/>
          </p:nvPr>
        </p:nvSpPr>
        <p:spPr>
          <a:xfrm>
            <a:off x="609600" y="2057400"/>
            <a:ext cx="7772400" cy="434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Ex 3	</a:t>
            </a:r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8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Step </a:t>
            </a: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2: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Complement the entire positive 			value</a:t>
            </a:r>
          </a:p>
          <a:p>
            <a:pPr>
              <a:buFont typeface="Wingdings" panose="05000000000000000000" pitchFamily="2" charset="2"/>
              <a:buNone/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	Positive Value:		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01010000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  <a:p>
            <a:pPr>
              <a:buFont typeface="Wingdings" panose="05000000000000000000" pitchFamily="2" charset="2"/>
              <a:buNone/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	Complemented:	</a:t>
            </a:r>
            <a:r>
              <a:rPr lang="en-US" b="1" dirty="0">
                <a:solidFill>
                  <a:srgbClr val="A50021"/>
                </a:solidFill>
                <a:latin typeface="Courier New" panose="02070309020205020404" pitchFamily="49" charset="0"/>
              </a:rPr>
              <a:t>10101111</a:t>
            </a:r>
          </a:p>
        </p:txBody>
      </p:sp>
    </p:spTree>
    <p:extLst>
      <p:ext uri="{BB962C8B-B14F-4D97-AF65-F5344CB8AC3E}">
        <p14:creationId xmlns:p14="http://schemas.microsoft.com/office/powerpoint/2010/main" xmlns="" val="8399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sz="4000" dirty="0"/>
              <a:t>Two’s Complement Representation</a:t>
            </a:r>
          </a:p>
        </p:txBody>
      </p:sp>
      <p:sp>
        <p:nvSpPr>
          <p:cNvPr id="666627" name="Rectangle 1027"/>
          <p:cNvSpPr>
            <a:spLocks noGrp="1" noChangeArrowheads="1"/>
          </p:cNvSpPr>
          <p:nvPr>
            <p:ph idx="1"/>
          </p:nvPr>
        </p:nvSpPr>
        <p:spPr>
          <a:xfrm>
            <a:off x="838200" y="5562600"/>
            <a:ext cx="7391400" cy="12954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</a:rPr>
              <a:t>So:	</a:t>
            </a:r>
            <a:r>
              <a:rPr lang="en-US" sz="2800" b="1">
                <a:solidFill>
                  <a:srgbClr val="0000CC"/>
                </a:solidFill>
                <a:latin typeface="Arial" panose="020B0604020202020204" pitchFamily="34" charset="0"/>
              </a:rPr>
              <a:t>-80</a:t>
            </a:r>
            <a:r>
              <a:rPr lang="en-US" sz="2800" b="1" baseline="-30000">
                <a:solidFill>
                  <a:srgbClr val="0000CC"/>
                </a:solidFill>
                <a:latin typeface="Arial" panose="020B0604020202020204" pitchFamily="34" charset="0"/>
              </a:rPr>
              <a:t>10</a:t>
            </a:r>
            <a:r>
              <a:rPr lang="en-US" sz="2800" b="1">
                <a:solidFill>
                  <a:srgbClr val="0000CC"/>
                </a:solidFill>
                <a:latin typeface="Arial" panose="020B0604020202020204" pitchFamily="34" charset="0"/>
              </a:rPr>
              <a:t> = 10110000</a:t>
            </a:r>
            <a:r>
              <a:rPr lang="en-US" sz="2800" b="1" baseline="-3000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		</a:t>
            </a:r>
            <a:r>
              <a:rPr lang="en-US" sz="2800">
                <a:solidFill>
                  <a:srgbClr val="000000"/>
                </a:solidFill>
                <a:latin typeface="Arial" panose="020B0604020202020204" pitchFamily="34" charset="0"/>
              </a:rPr>
              <a:t>(in 8-bit 2's complement form)</a:t>
            </a:r>
            <a:endParaRPr lang="en-US" sz="280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666628" name="Rectangle 1028"/>
          <p:cNvSpPr>
            <a:spLocks noChangeArrowheads="1"/>
          </p:cNvSpPr>
          <p:nvPr/>
        </p:nvSpPr>
        <p:spPr bwMode="auto">
          <a:xfrm>
            <a:off x="685800" y="1752600"/>
            <a:ext cx="75438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027113" indent="-4556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370013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712913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Ex 3</a:t>
            </a:r>
          </a:p>
          <a:p>
            <a:pPr>
              <a:spcBef>
                <a:spcPct val="20000"/>
              </a:spcBef>
            </a:pPr>
            <a:endParaRPr kumimoji="0"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kumimoji="0" lang="en-US" sz="28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Step </a:t>
            </a:r>
            <a:r>
              <a:rPr kumimoji="0" 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: Add one to complemented value</a:t>
            </a:r>
          </a:p>
          <a:p>
            <a:pPr>
              <a:spcBef>
                <a:spcPct val="20000"/>
              </a:spcBef>
            </a:pP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 </a:t>
            </a:r>
            <a:endParaRPr kumimoji="0" lang="en-US" sz="2800" dirty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</a:pP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(complemented)	</a:t>
            </a:r>
            <a:r>
              <a:rPr kumimoji="0" lang="en-U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	</a:t>
            </a:r>
            <a:r>
              <a:rPr kumimoji="0"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10101111</a:t>
            </a:r>
          </a:p>
          <a:p>
            <a:pPr>
              <a:spcBef>
                <a:spcPct val="20000"/>
              </a:spcBef>
            </a:pP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(add one)	</a:t>
            </a:r>
            <a:r>
              <a:rPr kumimoji="0" lang="en-U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	</a:t>
            </a:r>
            <a:r>
              <a:rPr kumimoji="0" lang="en-US" sz="2800" b="1" u="sn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         1</a:t>
            </a:r>
            <a:endParaRPr kumimoji="0" lang="en-US" sz="2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</a:pP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	                                </a:t>
            </a:r>
            <a:r>
              <a:rPr kumimoji="0" lang="en-US" sz="2800" b="1" dirty="0">
                <a:solidFill>
                  <a:srgbClr val="A500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10110000</a:t>
            </a:r>
          </a:p>
        </p:txBody>
      </p:sp>
    </p:spTree>
    <p:extLst>
      <p:ext uri="{BB962C8B-B14F-4D97-AF65-F5344CB8AC3E}">
        <p14:creationId xmlns:p14="http://schemas.microsoft.com/office/powerpoint/2010/main" xmlns="" val="95248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62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sz="4000" dirty="0"/>
              <a:t>Two’s Complement Representation</a:t>
            </a:r>
          </a:p>
        </p:txBody>
      </p:sp>
      <p:sp>
        <p:nvSpPr>
          <p:cNvPr id="6051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752600"/>
            <a:ext cx="8763000" cy="609600"/>
          </a:xfrm>
          <a:solidFill>
            <a:schemeClr val="accent1">
              <a:alpha val="15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Alternate method -- replaces previous steps 2-3 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605192" name="Group 8"/>
          <p:cNvGrpSpPr>
            <a:grpSpLocks/>
          </p:cNvGrpSpPr>
          <p:nvPr/>
        </p:nvGrpSpPr>
        <p:grpSpPr bwMode="auto">
          <a:xfrm>
            <a:off x="838200" y="2971800"/>
            <a:ext cx="7696200" cy="1447800"/>
            <a:chOff x="672" y="1488"/>
            <a:chExt cx="4848" cy="912"/>
          </a:xfrm>
        </p:grpSpPr>
        <p:sp>
          <p:nvSpPr>
            <p:cNvPr id="605191" name="Rectangle 7"/>
            <p:cNvSpPr>
              <a:spLocks noChangeArrowheads="1"/>
            </p:cNvSpPr>
            <p:nvPr/>
          </p:nvSpPr>
          <p:spPr bwMode="auto">
            <a:xfrm>
              <a:off x="672" y="1488"/>
              <a:ext cx="4848" cy="9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kumimoji="0" lang="en-US" sz="2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Step 2</a:t>
              </a:r>
              <a:r>
                <a:rPr kumimoji="0" lang="en-US" sz="2800" dirty="0">
                  <a:solidFill>
                    <a:srgbClr val="000000"/>
                  </a:solidFill>
                  <a:latin typeface="Arial" panose="020B0604020202020204" pitchFamily="34" charset="0"/>
                </a:rPr>
                <a:t>:   </a:t>
              </a:r>
              <a:r>
                <a:rPr kumimoji="0" lang="en-US" dirty="0">
                  <a:solidFill>
                    <a:srgbClr val="000000"/>
                  </a:solidFill>
                  <a:latin typeface="Arial" panose="020B0604020202020204" pitchFamily="34" charset="0"/>
                </a:rPr>
                <a:t>Scanning the positive binary </a:t>
              </a:r>
              <a:r>
                <a:rPr kumimoji="0" lang="en-US" dirty="0" smtClean="0">
                  <a:solidFill>
                    <a:srgbClr val="000000"/>
                  </a:solidFill>
                  <a:latin typeface="Arial" panose="020B0604020202020204" pitchFamily="34" charset="0"/>
                </a:rPr>
                <a:t>representation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kumimoji="0" lang="en-US" dirty="0" smtClean="0">
                  <a:solidFill>
                    <a:srgbClr val="000000"/>
                  </a:solidFill>
                  <a:latin typeface="Arial" panose="020B0604020202020204" pitchFamily="34" charset="0"/>
                </a:rPr>
                <a:t>		       </a:t>
              </a:r>
              <a:r>
                <a:rPr kumimoji="0" lang="en-US" dirty="0">
                  <a:solidFill>
                    <a:srgbClr val="000000"/>
                  </a:solidFill>
                  <a:latin typeface="Arial" panose="020B0604020202020204" pitchFamily="34" charset="0"/>
                </a:rPr>
                <a:t>from right to left, 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kumimoji="0" lang="en-US" sz="2800" dirty="0">
                  <a:solidFill>
                    <a:srgbClr val="000000"/>
                  </a:solidFill>
                  <a:latin typeface="Arial" panose="020B0604020202020204" pitchFamily="34" charset="0"/>
                </a:rPr>
                <a:t>   </a:t>
              </a:r>
              <a:r>
                <a:rPr kumimoji="0" lang="en-US" sz="2800" dirty="0" smtClean="0">
                  <a:solidFill>
                    <a:srgbClr val="000000"/>
                  </a:solidFill>
                  <a:latin typeface="Arial" panose="020B0604020202020204" pitchFamily="34" charset="0"/>
                </a:rPr>
                <a:t>		      </a:t>
              </a:r>
              <a:r>
                <a:rPr kumimoji="0" lang="en-US" dirty="0">
                  <a:solidFill>
                    <a:srgbClr val="000000"/>
                  </a:solidFill>
                  <a:latin typeface="Arial" panose="020B0604020202020204" pitchFamily="34" charset="0"/>
                </a:rPr>
                <a:t>find first </a:t>
              </a:r>
              <a:r>
                <a:rPr kumimoji="0" lang="en-US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one</a:t>
              </a:r>
              <a:r>
                <a:rPr kumimoji="0" lang="en-US" dirty="0">
                  <a:solidFill>
                    <a:srgbClr val="000000"/>
                  </a:solidFill>
                  <a:latin typeface="Arial" panose="020B0604020202020204" pitchFamily="34" charset="0"/>
                </a:rPr>
                <a:t> bit, from low-order (right) end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</a:pPr>
              <a:endParaRPr kumimoji="0" lang="en-US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5189" name="Line 5"/>
            <p:cNvSpPr>
              <a:spLocks noChangeShapeType="1"/>
            </p:cNvSpPr>
            <p:nvPr/>
          </p:nvSpPr>
          <p:spPr bwMode="auto">
            <a:xfrm flipH="1">
              <a:off x="4032" y="1872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05190" name="Rectangle 6"/>
          <p:cNvSpPr>
            <a:spLocks noChangeArrowheads="1"/>
          </p:cNvSpPr>
          <p:nvPr/>
        </p:nvSpPr>
        <p:spPr bwMode="auto">
          <a:xfrm>
            <a:off x="838200" y="4800600"/>
            <a:ext cx="76200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kumimoji="0" 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Step 3</a:t>
            </a: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:  </a:t>
            </a:r>
            <a:r>
              <a:rPr kumimoji="0" lang="en-US" dirty="0">
                <a:solidFill>
                  <a:srgbClr val="000000"/>
                </a:solidFill>
                <a:latin typeface="Arial" panose="020B0604020202020204" pitchFamily="34" charset="0"/>
              </a:rPr>
              <a:t>Complement (flip) the remaining bits to </a:t>
            </a:r>
            <a:r>
              <a:rPr kumimoji="0"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the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kumimoji="0"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		     </a:t>
            </a:r>
            <a:r>
              <a:rPr kumimoji="0"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left</a:t>
            </a:r>
            <a:r>
              <a:rPr kumimoji="0"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kumimoji="0" lang="en-US" dirty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 					          000001</a:t>
            </a:r>
            <a:r>
              <a:rPr kumimoji="0" lang="en-US" sz="2800" b="1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1</a:t>
            </a: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0 	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   (left complemented)	--&gt;	</a:t>
            </a:r>
            <a:r>
              <a:rPr kumimoji="0" lang="en-US" sz="2800" dirty="0" smtClean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</a:t>
            </a:r>
            <a:r>
              <a:rPr kumimoji="0" lang="en-US" sz="2800" spc="100" dirty="0" smtClean="0">
                <a:solidFill>
                  <a:srgbClr val="FF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111110</a:t>
            </a:r>
            <a:r>
              <a:rPr kumimoji="0" lang="en-US" sz="2800" b="1" spc="100" dirty="0" smtClean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1</a:t>
            </a:r>
            <a:r>
              <a:rPr kumimoji="0" lang="en-US" sz="2800" spc="100" dirty="0" smtClean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0</a:t>
            </a:r>
            <a:endParaRPr kumimoji="0" lang="en-US" sz="2800" spc="100" dirty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kumimoji="0" lang="en-US" sz="2800" spc="1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xmlns="" val="363521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19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Representation</a:t>
            </a:r>
          </a:p>
        </p:txBody>
      </p:sp>
      <p:sp>
        <p:nvSpPr>
          <p:cNvPr id="60621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209800"/>
            <a:ext cx="7315200" cy="838200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Ex 1: Find the Two’s Complement 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of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-76</a:t>
            </a:r>
            <a:r>
              <a:rPr lang="en-US" sz="2800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	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606212" name="Rectangle 4"/>
          <p:cNvSpPr>
            <a:spLocks noChangeArrowheads="1"/>
          </p:cNvSpPr>
          <p:nvPr/>
        </p:nvSpPr>
        <p:spPr bwMode="auto">
          <a:xfrm>
            <a:off x="609600" y="3352800"/>
            <a:ext cx="81534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Step 1</a:t>
            </a:r>
            <a:r>
              <a:rPr kumimoji="0" lang="en-US" sz="3200" b="1" dirty="0">
                <a:latin typeface="Arial" panose="020B0604020202020204" pitchFamily="34" charset="0"/>
              </a:rPr>
              <a:t>:</a:t>
            </a:r>
            <a:r>
              <a:rPr kumimoji="0" lang="en-US" sz="3200" dirty="0">
                <a:latin typeface="Arial" panose="020B0604020202020204" pitchFamily="34" charset="0"/>
              </a:rPr>
              <a:t> </a:t>
            </a: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Find the 8-bit binary representation </a:t>
            </a:r>
            <a:r>
              <a:rPr kumimoji="0"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of</a:t>
            </a:r>
          </a:p>
          <a:p>
            <a:pPr>
              <a:spcBef>
                <a:spcPct val="20000"/>
              </a:spcBef>
            </a:pPr>
            <a:r>
              <a:rPr kumimoji="0"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		     the </a:t>
            </a: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positive value.</a:t>
            </a:r>
            <a:endParaRPr kumimoji="0" lang="en-US" sz="2800" dirty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>
              <a:spcBef>
                <a:spcPct val="20000"/>
              </a:spcBef>
            </a:pP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 </a:t>
            </a:r>
          </a:p>
          <a:p>
            <a:pPr>
              <a:spcBef>
                <a:spcPct val="20000"/>
              </a:spcBef>
            </a:pP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		</a:t>
            </a:r>
            <a:r>
              <a:rPr kumimoji="0" lang="en-US" sz="3200" dirty="0" smtClean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    76</a:t>
            </a:r>
            <a:r>
              <a:rPr kumimoji="0" lang="en-US" sz="3200" baseline="-30000" dirty="0" smtClean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10</a:t>
            </a:r>
            <a:r>
              <a:rPr kumimoji="0" lang="en-US" sz="3200" dirty="0" smtClean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</a:t>
            </a: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= 01001100</a:t>
            </a:r>
            <a:r>
              <a:rPr kumimoji="0" lang="en-US" sz="3200" baseline="-300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2</a:t>
            </a:r>
            <a:endParaRPr kumimoji="0" lang="en-US" sz="3200" dirty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just">
              <a:spcBef>
                <a:spcPct val="20000"/>
              </a:spcBef>
            </a:pP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xmlns="" val="272224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1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Two’s Complement Representation</a:t>
            </a:r>
          </a:p>
        </p:txBody>
      </p:sp>
      <p:sp>
        <p:nvSpPr>
          <p:cNvPr id="60723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2057400"/>
            <a:ext cx="8763000" cy="2971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Step </a:t>
            </a:r>
            <a:r>
              <a:rPr lang="en-US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2-3:</a:t>
            </a: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Find first 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one(1)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bit, from low-order (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right)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		           end,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		          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and complement the pattern to the left.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 					       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01001100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(left complemented)	-&gt;	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10110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100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  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607236" name="Rectangle 4"/>
          <p:cNvSpPr>
            <a:spLocks noChangeArrowheads="1"/>
          </p:cNvSpPr>
          <p:nvPr/>
        </p:nvSpPr>
        <p:spPr bwMode="auto">
          <a:xfrm>
            <a:off x="1219200" y="5257800"/>
            <a:ext cx="6629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So:	</a:t>
            </a:r>
            <a:r>
              <a:rPr kumimoji="0" lang="en-US" sz="3200" b="1" dirty="0">
                <a:solidFill>
                  <a:srgbClr val="0000CC"/>
                </a:solidFill>
                <a:latin typeface="Arial" panose="020B0604020202020204" pitchFamily="34" charset="0"/>
              </a:rPr>
              <a:t>-76</a:t>
            </a:r>
            <a:r>
              <a:rPr kumimoji="0" lang="en-US" sz="3200" b="1" baseline="-30000" dirty="0">
                <a:solidFill>
                  <a:srgbClr val="0000CC"/>
                </a:solidFill>
                <a:latin typeface="Arial" panose="020B0604020202020204" pitchFamily="34" charset="0"/>
              </a:rPr>
              <a:t>10</a:t>
            </a:r>
            <a:r>
              <a:rPr kumimoji="0" lang="en-US" sz="3200" b="1" dirty="0">
                <a:solidFill>
                  <a:srgbClr val="0000CC"/>
                </a:solidFill>
                <a:latin typeface="Arial" panose="020B0604020202020204" pitchFamily="34" charset="0"/>
              </a:rPr>
              <a:t> = 10110100</a:t>
            </a:r>
            <a:r>
              <a:rPr kumimoji="0" lang="en-US" sz="3200" b="1" baseline="-30000" dirty="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kumimoji="0" lang="en-US" sz="3200" b="1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20000"/>
              </a:spcBef>
            </a:pPr>
            <a:r>
              <a:rPr kumimoji="0" 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		</a:t>
            </a: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(in 8-bit 2's complement form) </a:t>
            </a:r>
          </a:p>
        </p:txBody>
      </p:sp>
    </p:spTree>
    <p:extLst>
      <p:ext uri="{BB962C8B-B14F-4D97-AF65-F5344CB8AC3E}">
        <p14:creationId xmlns:p14="http://schemas.microsoft.com/office/powerpoint/2010/main" xmlns="" val="222854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23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1" name="Rectangle 2051"/>
          <p:cNvSpPr>
            <a:spLocks noGrp="1" noChangeArrowheads="1"/>
          </p:cNvSpPr>
          <p:nvPr>
            <p:ph idx="1"/>
          </p:nvPr>
        </p:nvSpPr>
        <p:spPr>
          <a:xfrm>
            <a:off x="495300" y="609600"/>
            <a:ext cx="7305675" cy="2667000"/>
          </a:xfrm>
        </p:spPr>
        <p:txBody>
          <a:bodyPr/>
          <a:lstStyle/>
          <a:p>
            <a:pPr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Ex 2: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Find the Two’s Complement of 72</a:t>
            </a:r>
            <a:r>
              <a:rPr lang="en-US" sz="2800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67652" name="Rectangle 2052"/>
          <p:cNvSpPr>
            <a:spLocks noChangeArrowheads="1"/>
          </p:cNvSpPr>
          <p:nvPr/>
        </p:nvSpPr>
        <p:spPr bwMode="auto">
          <a:xfrm>
            <a:off x="604836" y="1943100"/>
            <a:ext cx="8081963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</a:rPr>
              <a:t>Step 1: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Find the 8 bit binary representation 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of   	      the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positive value.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 			72</a:t>
            </a:r>
            <a:r>
              <a:rPr lang="en-US" sz="2800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01001000</a:t>
            </a:r>
            <a:r>
              <a:rPr lang="en-US" sz="2800" baseline="-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3816965"/>
            <a:ext cx="83058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6000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Steps 2-3</a:t>
            </a:r>
            <a:r>
              <a:rPr lang="en-US" sz="28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 72 is positive, so STOP after step 1! </a:t>
            </a:r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>
              <a:spcBef>
                <a:spcPct val="60000"/>
              </a:spcBef>
            </a:pPr>
            <a:r>
              <a:rPr lang="en-US" sz="2800" i="1" dirty="0" smtClean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So:	</a:t>
            </a:r>
            <a:r>
              <a:rPr lang="en-US" sz="3200" b="1" dirty="0" smtClean="0">
                <a:solidFill>
                  <a:srgbClr val="0000CC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72</a:t>
            </a:r>
            <a:r>
              <a:rPr lang="en-US" sz="3200" b="1" baseline="-30000" dirty="0" smtClean="0">
                <a:solidFill>
                  <a:srgbClr val="0000CC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10</a:t>
            </a:r>
            <a:r>
              <a:rPr lang="en-US" sz="3200" b="1" dirty="0" smtClean="0">
                <a:solidFill>
                  <a:srgbClr val="0000CC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= 01001000</a:t>
            </a:r>
            <a:r>
              <a:rPr lang="en-US" sz="3200" b="1" baseline="-30000" dirty="0" smtClean="0">
                <a:solidFill>
                  <a:srgbClr val="0000CC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2</a:t>
            </a:r>
            <a:r>
              <a:rPr lang="en-US" sz="3200" b="1" dirty="0" smtClean="0">
                <a:solidFill>
                  <a:srgbClr val="0000CC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 </a:t>
            </a:r>
          </a:p>
          <a:p>
            <a:pPr>
              <a:spcBef>
                <a:spcPct val="60000"/>
              </a:spcBef>
            </a:pPr>
            <a:r>
              <a:rPr lang="en-US" sz="2800" b="1" dirty="0" smtClean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		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(in 8-bit 2's complement form)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529571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6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7652" grpId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5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2133600"/>
            <a:ext cx="7924800" cy="914400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Ex 3: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Find the Two’s Complement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of 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-26</a:t>
            </a:r>
            <a:r>
              <a:rPr lang="en-US" sz="3600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	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</a:p>
        </p:txBody>
      </p:sp>
      <p:pic>
        <p:nvPicPr>
          <p:cNvPr id="1026" name="Picture 2" descr="Image result for answ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1304925" cy="129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57024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7696200" cy="2971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  </a:t>
            </a:r>
          </a:p>
        </p:txBody>
      </p:sp>
      <p:sp>
        <p:nvSpPr>
          <p:cNvPr id="669700" name="Rectangle 4"/>
          <p:cNvSpPr>
            <a:spLocks noChangeArrowheads="1"/>
          </p:cNvSpPr>
          <p:nvPr/>
        </p:nvSpPr>
        <p:spPr bwMode="auto">
          <a:xfrm>
            <a:off x="1524000" y="2438400"/>
            <a:ext cx="6629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So:	</a:t>
            </a:r>
            <a:r>
              <a:rPr kumimoji="0" lang="en-US" sz="3200" b="1" dirty="0">
                <a:solidFill>
                  <a:srgbClr val="0000CC"/>
                </a:solidFill>
                <a:latin typeface="Arial" panose="020B0604020202020204" pitchFamily="34" charset="0"/>
              </a:rPr>
              <a:t>-26</a:t>
            </a:r>
            <a:r>
              <a:rPr kumimoji="0" lang="en-US" sz="3200" b="1" baseline="-30000" dirty="0">
                <a:solidFill>
                  <a:srgbClr val="0000CC"/>
                </a:solidFill>
                <a:latin typeface="Arial" panose="020B0604020202020204" pitchFamily="34" charset="0"/>
              </a:rPr>
              <a:t>10</a:t>
            </a:r>
            <a:r>
              <a:rPr kumimoji="0" lang="en-US" sz="3200" b="1" dirty="0">
                <a:solidFill>
                  <a:srgbClr val="0000CC"/>
                </a:solidFill>
                <a:latin typeface="Arial" panose="020B0604020202020204" pitchFamily="34" charset="0"/>
              </a:rPr>
              <a:t> = 11100110</a:t>
            </a:r>
            <a:r>
              <a:rPr kumimoji="0" lang="en-US" sz="3200" b="1" baseline="-30000" dirty="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kumimoji="0" lang="en-US" sz="3200" b="1" dirty="0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20000"/>
              </a:spcBef>
            </a:pPr>
            <a:r>
              <a:rPr kumimoji="0" 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		</a:t>
            </a: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(in 8-bit 2's complement form) 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833563" cy="18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9828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70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7" name="AutoShape 3"/>
          <p:cNvSpPr>
            <a:spLocks noChangeArrowheads="1"/>
          </p:cNvSpPr>
          <p:nvPr/>
        </p:nvSpPr>
        <p:spPr bwMode="auto">
          <a:xfrm>
            <a:off x="777875" y="2940050"/>
            <a:ext cx="317500" cy="835025"/>
          </a:xfrm>
          <a:prstGeom prst="roundRect">
            <a:avLst>
              <a:gd name="adj" fmla="val 49995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5668" name="Line 4"/>
          <p:cNvSpPr>
            <a:spLocks noChangeShapeType="1"/>
          </p:cNvSpPr>
          <p:nvPr/>
        </p:nvSpPr>
        <p:spPr bwMode="auto">
          <a:xfrm flipH="1" flipV="1">
            <a:off x="923925" y="3771900"/>
            <a:ext cx="76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5669" name="Rectangle 5"/>
          <p:cNvSpPr>
            <a:spLocks noChangeArrowheads="1"/>
          </p:cNvSpPr>
          <p:nvPr/>
        </p:nvSpPr>
        <p:spPr bwMode="auto">
          <a:xfrm>
            <a:off x="838200" y="4191000"/>
            <a:ext cx="2667000" cy="14716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accent2"/>
            </a:outerShdw>
          </a:effec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10000"/>
              </a:spcBef>
            </a:pPr>
            <a:r>
              <a:rPr lang="en-US" sz="2800">
                <a:latin typeface="Arial" panose="020B0604020202020204" pitchFamily="34" charset="0"/>
              </a:rPr>
              <a:t>Sign bit: </a:t>
            </a:r>
          </a:p>
          <a:p>
            <a:pPr eaLnBrk="0" hangingPunct="0">
              <a:spcBef>
                <a:spcPct val="10000"/>
              </a:spcBef>
            </a:pPr>
            <a:r>
              <a:rPr lang="en-US" sz="2800">
                <a:latin typeface="Arial" panose="020B0604020202020204" pitchFamily="34" charset="0"/>
              </a:rPr>
              <a:t>   </a:t>
            </a:r>
            <a:r>
              <a:rPr lang="en-US" sz="2800">
                <a:solidFill>
                  <a:srgbClr val="A50021"/>
                </a:solidFill>
                <a:latin typeface="Arial" panose="020B0604020202020204" pitchFamily="34" charset="0"/>
              </a:rPr>
              <a:t>0 </a:t>
            </a:r>
            <a:r>
              <a:rPr lang="en-US" sz="2800">
                <a:latin typeface="Arial" panose="020B0604020202020204" pitchFamily="34" charset="0"/>
              </a:rPr>
              <a:t>--&gt; positive </a:t>
            </a:r>
          </a:p>
          <a:p>
            <a:pPr eaLnBrk="0" hangingPunct="0">
              <a:spcBef>
                <a:spcPct val="10000"/>
              </a:spcBef>
            </a:pPr>
            <a:r>
              <a:rPr lang="en-US" sz="2800">
                <a:latin typeface="Arial" panose="020B0604020202020204" pitchFamily="34" charset="0"/>
              </a:rPr>
              <a:t>  </a:t>
            </a:r>
            <a:r>
              <a:rPr lang="en-US" sz="2800">
                <a:solidFill>
                  <a:srgbClr val="000099"/>
                </a:solidFill>
                <a:latin typeface="Arial" panose="020B0604020202020204" pitchFamily="34" charset="0"/>
              </a:rPr>
              <a:t>1 </a:t>
            </a:r>
            <a:r>
              <a:rPr lang="en-US" sz="2800">
                <a:latin typeface="Arial" panose="020B0604020202020204" pitchFamily="34" charset="0"/>
              </a:rPr>
              <a:t>--&gt; negative</a:t>
            </a:r>
          </a:p>
        </p:txBody>
      </p:sp>
      <p:sp>
        <p:nvSpPr>
          <p:cNvPr id="625670" name="Line 6"/>
          <p:cNvSpPr>
            <a:spLocks noChangeShapeType="1"/>
          </p:cNvSpPr>
          <p:nvPr/>
        </p:nvSpPr>
        <p:spPr bwMode="auto">
          <a:xfrm flipH="1" flipV="1">
            <a:off x="4048125" y="3848100"/>
            <a:ext cx="219075" cy="495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5671" name="Rectangle 7"/>
          <p:cNvSpPr>
            <a:spLocks noChangeArrowheads="1"/>
          </p:cNvSpPr>
          <p:nvPr/>
        </p:nvSpPr>
        <p:spPr bwMode="auto">
          <a:xfrm>
            <a:off x="4038600" y="4343400"/>
            <a:ext cx="4191000" cy="18557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accent2"/>
            </a:outerShdw>
          </a:effec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10000"/>
              </a:spcBef>
            </a:pPr>
            <a:r>
              <a:rPr lang="en-US" sz="2800">
                <a:latin typeface="Arial" panose="020B0604020202020204" pitchFamily="34" charset="0"/>
              </a:rPr>
              <a:t>31 remaining bits for </a:t>
            </a:r>
            <a:r>
              <a:rPr lang="en-US" sz="2800" i="1">
                <a:latin typeface="Arial" panose="020B0604020202020204" pitchFamily="34" charset="0"/>
              </a:rPr>
              <a:t>magnitude</a:t>
            </a:r>
          </a:p>
          <a:p>
            <a:pPr eaLnBrk="0" hangingPunct="0">
              <a:spcBef>
                <a:spcPct val="10000"/>
              </a:spcBef>
            </a:pPr>
            <a:r>
              <a:rPr lang="en-US" sz="2800" i="1">
                <a:latin typeface="Arial" panose="020B0604020202020204" pitchFamily="34" charset="0"/>
              </a:rPr>
              <a:t>(i.e. value stored in two’s complement form)</a:t>
            </a:r>
          </a:p>
        </p:txBody>
      </p:sp>
      <p:sp>
        <p:nvSpPr>
          <p:cNvPr id="625672" name="AutoShape 8"/>
          <p:cNvSpPr>
            <a:spLocks/>
          </p:cNvSpPr>
          <p:nvPr/>
        </p:nvSpPr>
        <p:spPr bwMode="auto">
          <a:xfrm rot="-5400000">
            <a:off x="4010818" y="913607"/>
            <a:ext cx="74613" cy="5791200"/>
          </a:xfrm>
          <a:prstGeom prst="leftBrace">
            <a:avLst>
              <a:gd name="adj1" fmla="val 646804"/>
              <a:gd name="adj2" fmla="val 49616"/>
            </a:avLst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5673" name="Text Box 9"/>
          <p:cNvSpPr txBox="1">
            <a:spLocks noChangeArrowheads="1"/>
          </p:cNvSpPr>
          <p:nvPr/>
        </p:nvSpPr>
        <p:spPr bwMode="auto">
          <a:xfrm>
            <a:off x="685800" y="2192338"/>
            <a:ext cx="65532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143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0" hangingPunct="0"/>
            <a:r>
              <a:rPr kumimoji="0" lang="en-US" sz="2800" u="sng" dirty="0">
                <a:latin typeface="Arial" panose="020B0604020202020204" pitchFamily="34" charset="0"/>
              </a:rPr>
              <a:t>32-bit example:</a:t>
            </a:r>
          </a:p>
          <a:p>
            <a:pPr eaLnBrk="0" hangingPunct="0"/>
            <a:endParaRPr kumimoji="0" lang="en-US" sz="2800" u="sng" dirty="0">
              <a:latin typeface="Arial" panose="020B0604020202020204" pitchFamily="34" charset="0"/>
            </a:endParaRPr>
          </a:p>
          <a:p>
            <a:pPr lvl="1" eaLnBrk="0" hangingPunct="0"/>
            <a:r>
              <a:rPr kumimoji="0" lang="en-US" dirty="0">
                <a:solidFill>
                  <a:srgbClr val="A50021"/>
                </a:solidFill>
                <a:latin typeface="Arial" panose="020B0604020202020204" pitchFamily="34" charset="0"/>
              </a:rPr>
              <a:t>0</a:t>
            </a:r>
            <a:r>
              <a:rPr kumimoji="0" lang="en-US" dirty="0">
                <a:latin typeface="Arial" panose="020B0604020202020204" pitchFamily="34" charset="0"/>
              </a:rPr>
              <a:t> 000 0000 0000 0000 0000 0000 0000 1001</a:t>
            </a:r>
            <a:endParaRPr kumimoji="0" lang="en-US" b="1" dirty="0">
              <a:latin typeface="Arial" panose="020B0604020202020204" pitchFamily="34" charset="0"/>
            </a:endParaRPr>
          </a:p>
          <a:p>
            <a:pPr lvl="1" eaLnBrk="0" hangingPunct="0"/>
            <a:r>
              <a:rPr kumimoji="0" lang="en-US" dirty="0">
                <a:solidFill>
                  <a:srgbClr val="000099"/>
                </a:solidFill>
                <a:latin typeface="Arial" panose="020B0604020202020204" pitchFamily="34" charset="0"/>
              </a:rPr>
              <a:t>1</a:t>
            </a:r>
            <a:r>
              <a:rPr kumimoji="0" lang="en-US" dirty="0">
                <a:latin typeface="Arial" panose="020B0604020202020204" pitchFamily="34" charset="0"/>
              </a:rPr>
              <a:t> </a:t>
            </a:r>
            <a:r>
              <a:rPr kumimoji="0" lang="en-US" spc="110" dirty="0">
                <a:latin typeface="Arial" panose="020B0604020202020204" pitchFamily="34" charset="0"/>
              </a:rPr>
              <a:t>111 1111 1111 1111 1111 1111 1111 0111</a:t>
            </a:r>
          </a:p>
          <a:p>
            <a:pPr eaLnBrk="0" hangingPunct="0"/>
            <a:endParaRPr kumimoji="0" lang="en-US" dirty="0">
              <a:latin typeface="Arial" panose="020B0604020202020204" pitchFamily="34" charset="0"/>
            </a:endParaRPr>
          </a:p>
        </p:txBody>
      </p:sp>
      <p:sp>
        <p:nvSpPr>
          <p:cNvPr id="625674" name="Text Box 10"/>
          <p:cNvSpPr txBox="1">
            <a:spLocks noChangeArrowheads="1"/>
          </p:cNvSpPr>
          <p:nvPr/>
        </p:nvSpPr>
        <p:spPr bwMode="auto">
          <a:xfrm>
            <a:off x="7677150" y="2820988"/>
            <a:ext cx="544513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" panose="020B0604020202020204" pitchFamily="34" charset="0"/>
              </a:rPr>
              <a:t>+9</a:t>
            </a:r>
          </a:p>
        </p:txBody>
      </p:sp>
      <p:sp>
        <p:nvSpPr>
          <p:cNvPr id="625675" name="Text Box 11"/>
          <p:cNvSpPr txBox="1">
            <a:spLocks noChangeArrowheads="1"/>
          </p:cNvSpPr>
          <p:nvPr/>
        </p:nvSpPr>
        <p:spPr bwMode="auto">
          <a:xfrm>
            <a:off x="7664450" y="3340100"/>
            <a:ext cx="468313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" panose="020B0604020202020204" pitchFamily="34" charset="0"/>
              </a:rPr>
              <a:t>-9</a:t>
            </a:r>
          </a:p>
        </p:txBody>
      </p:sp>
      <p:sp>
        <p:nvSpPr>
          <p:cNvPr id="625676" name="Line 12"/>
          <p:cNvSpPr>
            <a:spLocks noChangeShapeType="1"/>
          </p:cNvSpPr>
          <p:nvPr/>
        </p:nvSpPr>
        <p:spPr bwMode="auto">
          <a:xfrm>
            <a:off x="7019925" y="3162300"/>
            <a:ext cx="609600" cy="0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5677" name="Line 13"/>
          <p:cNvSpPr>
            <a:spLocks noChangeShapeType="1"/>
          </p:cNvSpPr>
          <p:nvPr/>
        </p:nvSpPr>
        <p:spPr bwMode="auto">
          <a:xfrm>
            <a:off x="7019925" y="3543300"/>
            <a:ext cx="609600" cy="0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5679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Representation</a:t>
            </a:r>
          </a:p>
        </p:txBody>
      </p:sp>
    </p:spTree>
    <p:extLst>
      <p:ext uri="{BB962C8B-B14F-4D97-AF65-F5344CB8AC3E}">
        <p14:creationId xmlns:p14="http://schemas.microsoft.com/office/powerpoint/2010/main" xmlns="" val="26732664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25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5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2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25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25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5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5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25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25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25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25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25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25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667" grpId="0" animBg="1"/>
      <p:bldP spid="625668" grpId="0" animBg="1"/>
      <p:bldP spid="625669" grpId="0" animBg="1" autoUpdateAnimBg="0"/>
      <p:bldP spid="625670" grpId="0" animBg="1"/>
      <p:bldP spid="625671" grpId="0" animBg="1" autoUpdateAnimBg="0"/>
      <p:bldP spid="625672" grpId="0" animBg="1"/>
      <p:bldP spid="625673" grpId="0" autoUpdateAnimBg="0"/>
      <p:bldP spid="625674" grpId="0" animBg="1" autoUpdateAnimBg="0"/>
      <p:bldP spid="625675" grpId="0" animBg="1" autoUpdateAnimBg="0"/>
      <p:bldP spid="625676" grpId="0" animBg="1"/>
      <p:bldP spid="62567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Two’s Complement to Decimal</a:t>
            </a:r>
          </a:p>
        </p:txBody>
      </p:sp>
      <p:sp>
        <p:nvSpPr>
          <p:cNvPr id="66048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133600"/>
            <a:ext cx="8305800" cy="1447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Ex 1: Find the decimal equivalent of 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the 8-bit 2’s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	      complement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value 11101100</a:t>
            </a:r>
            <a:r>
              <a:rPr lang="en-US" sz="2800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660484" name="Rectangle 4"/>
          <p:cNvSpPr>
            <a:spLocks noChangeArrowheads="1"/>
          </p:cNvSpPr>
          <p:nvPr/>
        </p:nvSpPr>
        <p:spPr bwMode="auto">
          <a:xfrm>
            <a:off x="685800" y="3352800"/>
            <a:ext cx="7772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en-US" sz="3200" b="1" dirty="0">
                <a:solidFill>
                  <a:srgbClr val="000000"/>
                </a:solidFill>
                <a:latin typeface="Arial" panose="020B0604020202020204" pitchFamily="34" charset="0"/>
              </a:rPr>
              <a:t>Step 1:  </a:t>
            </a: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Determine if number is positive or </a:t>
            </a:r>
            <a:endParaRPr kumimoji="0"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kumimoji="0"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               negative:</a:t>
            </a:r>
          </a:p>
          <a:p>
            <a:pPr>
              <a:spcBef>
                <a:spcPct val="20000"/>
              </a:spcBef>
            </a:pPr>
            <a:endParaRPr kumimoji="0" 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                  </a:t>
            </a:r>
            <a:r>
              <a:rPr lang="en-US" sz="3200" spc="150" dirty="0" smtClean="0">
                <a:solidFill>
                  <a:srgbClr val="000000"/>
                </a:solidFill>
                <a:latin typeface="Arial" panose="020B0604020202020204" pitchFamily="34" charset="0"/>
              </a:rPr>
              <a:t>11101100</a:t>
            </a:r>
            <a:r>
              <a:rPr lang="en-US" sz="3200" spc="150" baseline="-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  <a:p>
            <a:pPr>
              <a:spcBef>
                <a:spcPct val="20000"/>
              </a:spcBef>
            </a:pPr>
            <a:endParaRPr kumimoji="0" lang="en-US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kumimoji="0" lang="en-US" sz="3200" i="1" dirty="0">
                <a:solidFill>
                  <a:srgbClr val="000000"/>
                </a:solidFill>
                <a:latin typeface="Arial" panose="020B0604020202020204" pitchFamily="34" charset="0"/>
              </a:rPr>
              <a:t>Leftmost bit </a:t>
            </a: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is </a:t>
            </a:r>
            <a:r>
              <a:rPr kumimoji="0" 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1</a:t>
            </a: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, so number is </a:t>
            </a:r>
            <a:r>
              <a:rPr kumimoji="0" 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negative</a:t>
            </a: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47072" y="4800600"/>
            <a:ext cx="228600" cy="381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905000" y="5105400"/>
            <a:ext cx="7620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7205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Two’s Complement to Decimal</a:t>
            </a:r>
          </a:p>
        </p:txBody>
      </p:sp>
      <p:sp>
        <p:nvSpPr>
          <p:cNvPr id="661507" name="Rectangle 1027"/>
          <p:cNvSpPr>
            <a:spLocks noGrp="1" noChangeArrowheads="1"/>
          </p:cNvSpPr>
          <p:nvPr>
            <p:ph idx="1"/>
          </p:nvPr>
        </p:nvSpPr>
        <p:spPr>
          <a:xfrm>
            <a:off x="609600" y="2209800"/>
            <a:ext cx="8305800" cy="24384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Ex </a:t>
            </a:r>
            <a:r>
              <a:rPr lang="en-US" sz="2600" dirty="0" smtClean="0">
                <a:solidFill>
                  <a:srgbClr val="000000"/>
                </a:solidFill>
                <a:latin typeface="Arial" panose="020B0604020202020204" pitchFamily="34" charset="0"/>
              </a:rPr>
              <a:t>1:</a:t>
            </a:r>
          </a:p>
          <a:p>
            <a:pPr>
              <a:buFont typeface="Wingdings" panose="05000000000000000000" pitchFamily="2" charset="2"/>
              <a:buNone/>
            </a:pPr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Step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2: 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Find first one bit, from low-order (right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		       end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, and complement the pattern to the </a:t>
            </a:r>
            <a:endParaRPr lang="en-US" sz="28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		       left.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			</a:t>
            </a:r>
            <a:r>
              <a:rPr lang="en-US" sz="3600" dirty="0" smtClean="0">
                <a:solidFill>
                  <a:srgbClr val="000000"/>
                </a:solidFill>
                <a:latin typeface="Arial" panose="020B0604020202020204" pitchFamily="34" charset="0"/>
              </a:rPr>
              <a:t>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3600" dirty="0" smtClean="0">
                <a:solidFill>
                  <a:srgbClr val="000000"/>
                </a:solidFill>
                <a:latin typeface="Arial" panose="020B0604020202020204" pitchFamily="34" charset="0"/>
              </a:rPr>
              <a:t>						 </a:t>
            </a:r>
            <a:r>
              <a:rPr lang="en-US" sz="3600" spc="100" dirty="0" smtClean="0">
                <a:solidFill>
                  <a:srgbClr val="000000"/>
                </a:solidFill>
                <a:latin typeface="Arial" panose="020B0604020202020204" pitchFamily="34" charset="0"/>
              </a:rPr>
              <a:t>11101100</a:t>
            </a:r>
            <a:endParaRPr lang="en-US" sz="3600" spc="1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61509" name="Rectangle 1029"/>
          <p:cNvSpPr>
            <a:spLocks noChangeArrowheads="1"/>
          </p:cNvSpPr>
          <p:nvPr/>
        </p:nvSpPr>
        <p:spPr bwMode="auto">
          <a:xfrm>
            <a:off x="609600" y="5562600"/>
            <a:ext cx="7162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(left complemented)</a:t>
            </a: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sz="36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	 </a:t>
            </a:r>
            <a:r>
              <a:rPr kumimoji="0" lang="en-US" sz="36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00010</a:t>
            </a:r>
            <a:r>
              <a:rPr kumimoji="0" lang="en-US" sz="36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xmlns="" val="256644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0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to Decimal</a:t>
            </a:r>
          </a:p>
        </p:txBody>
      </p:sp>
      <p:sp>
        <p:nvSpPr>
          <p:cNvPr id="663556" name="Rectangle 1028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7467600" cy="4495800"/>
          </a:xfrm>
          <a:noFill/>
          <a:ln/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2600" dirty="0" smtClean="0">
                <a:solidFill>
                  <a:srgbClr val="000000"/>
                </a:solidFill>
                <a:latin typeface="Arial" panose="020B0604020202020204" pitchFamily="34" charset="0"/>
              </a:rPr>
              <a:t>Ex 1:</a:t>
            </a:r>
            <a:r>
              <a:rPr lang="en-US" sz="26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sz="2600" b="1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Step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: 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Determine the numeric value: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4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		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00010100</a:t>
            </a:r>
            <a:r>
              <a:rPr lang="en-US" sz="3600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= 16 + 4 = 20</a:t>
            </a:r>
            <a:r>
              <a:rPr lang="en-US" sz="3600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endParaRPr lang="en-US" sz="3600" dirty="0">
              <a:solidFill>
                <a:srgbClr val="00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sz="3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So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en-US" sz="3600" dirty="0">
                <a:solidFill>
                  <a:srgbClr val="0000CC"/>
                </a:solidFill>
                <a:latin typeface="Arial" panose="020B0604020202020204" pitchFamily="34" charset="0"/>
              </a:rPr>
              <a:t>11101100</a:t>
            </a:r>
            <a:r>
              <a:rPr lang="en-US" sz="3600" baseline="-30000" dirty="0">
                <a:solidFill>
                  <a:srgbClr val="0000CC"/>
                </a:solidFill>
                <a:latin typeface="Arial" panose="020B0604020202020204" pitchFamily="34" charset="0"/>
              </a:rPr>
              <a:t>2  </a:t>
            </a:r>
            <a:r>
              <a:rPr lang="en-US" sz="3600" dirty="0">
                <a:solidFill>
                  <a:srgbClr val="0000CC"/>
                </a:solidFill>
                <a:latin typeface="Arial" panose="020B0604020202020204" pitchFamily="34" charset="0"/>
              </a:rPr>
              <a:t> =  -20</a:t>
            </a:r>
            <a:r>
              <a:rPr lang="en-US" sz="3600" baseline="-30000" dirty="0">
                <a:solidFill>
                  <a:srgbClr val="0000CC"/>
                </a:solidFill>
                <a:latin typeface="Arial" panose="020B0604020202020204" pitchFamily="34" charset="0"/>
              </a:rPr>
              <a:t>10		</a:t>
            </a:r>
            <a:r>
              <a:rPr lang="en-US" sz="2800" baseline="-30000" dirty="0">
                <a:solidFill>
                  <a:srgbClr val="0000CC"/>
                </a:solidFill>
                <a:latin typeface="Arial" panose="020B0604020202020204" pitchFamily="34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(8-bit 2's complement form) </a:t>
            </a:r>
          </a:p>
        </p:txBody>
      </p:sp>
    </p:spTree>
    <p:extLst>
      <p:ext uri="{BB962C8B-B14F-4D97-AF65-F5344CB8AC3E}">
        <p14:creationId xmlns:p14="http://schemas.microsoft.com/office/powerpoint/2010/main" xmlns="" val="60660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56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to Decimal</a:t>
            </a:r>
          </a:p>
        </p:txBody>
      </p:sp>
      <p:sp>
        <p:nvSpPr>
          <p:cNvPr id="670723" name="Rectangle 1027"/>
          <p:cNvSpPr>
            <a:spLocks noGrp="1" noChangeArrowheads="1"/>
          </p:cNvSpPr>
          <p:nvPr>
            <p:ph idx="1"/>
          </p:nvPr>
        </p:nvSpPr>
        <p:spPr>
          <a:xfrm>
            <a:off x="152400" y="2057400"/>
            <a:ext cx="8229600" cy="12192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3100" dirty="0">
                <a:solidFill>
                  <a:srgbClr val="000000"/>
                </a:solidFill>
                <a:latin typeface="Arial" panose="020B0604020202020204" pitchFamily="34" charset="0"/>
              </a:rPr>
              <a:t>Ex 2: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Find the decimal equivalent of 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the 8-bit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         2’s complement value 01001000</a:t>
            </a:r>
            <a:r>
              <a:rPr lang="en-US" sz="2400" baseline="-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sz="24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670724" name="Rectangle 1028"/>
          <p:cNvSpPr>
            <a:spLocks noChangeArrowheads="1"/>
          </p:cNvSpPr>
          <p:nvPr/>
        </p:nvSpPr>
        <p:spPr bwMode="auto">
          <a:xfrm>
            <a:off x="152400" y="3505200"/>
            <a:ext cx="8839200" cy="247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en-US" sz="3200" b="1" dirty="0">
                <a:solidFill>
                  <a:srgbClr val="000000"/>
                </a:solidFill>
                <a:latin typeface="Arial" panose="020B0604020202020204" pitchFamily="34" charset="0"/>
              </a:rPr>
              <a:t>Step 1:  </a:t>
            </a:r>
            <a:r>
              <a:rPr kumimoji="0"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Determine if number is positive or negative:</a:t>
            </a:r>
          </a:p>
          <a:p>
            <a:pPr>
              <a:spcBef>
                <a:spcPct val="20000"/>
              </a:spcBef>
            </a:pPr>
            <a:endParaRPr kumimoji="0" lang="en-US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Leftmost bit is </a:t>
            </a:r>
            <a:r>
              <a:rPr kumimoji="0" 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0</a:t>
            </a: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, so number is </a:t>
            </a:r>
            <a:r>
              <a:rPr kumimoji="0" 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positive</a:t>
            </a: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>
              <a:spcBef>
                <a:spcPct val="20000"/>
              </a:spcBef>
            </a:pP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Skip to step 3.</a:t>
            </a:r>
          </a:p>
        </p:txBody>
      </p:sp>
    </p:spTree>
    <p:extLst>
      <p:ext uri="{BB962C8B-B14F-4D97-AF65-F5344CB8AC3E}">
        <p14:creationId xmlns:p14="http://schemas.microsoft.com/office/powerpoint/2010/main" xmlns="" val="377883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72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Two’s Complement to Decimal</a:t>
            </a:r>
          </a:p>
        </p:txBody>
      </p:sp>
      <p:sp>
        <p:nvSpPr>
          <p:cNvPr id="67584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133600"/>
            <a:ext cx="8305800" cy="4495800"/>
          </a:xfrm>
          <a:noFill/>
          <a:ln/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2600" dirty="0" smtClean="0">
                <a:solidFill>
                  <a:srgbClr val="000000"/>
                </a:solidFill>
                <a:latin typeface="Arial" panose="020B0604020202020204" pitchFamily="34" charset="0"/>
              </a:rPr>
              <a:t>Ex 2</a:t>
            </a:r>
          </a:p>
          <a:p>
            <a:pPr>
              <a:buFont typeface="Wingdings" panose="05000000000000000000" pitchFamily="2" charset="2"/>
              <a:buNone/>
            </a:pPr>
            <a:endParaRPr lang="en-US" b="1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Step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:  Determine the numeric value: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4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		</a:t>
            </a:r>
            <a:r>
              <a:rPr lang="en-US" sz="4000" dirty="0" smtClean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    </a:t>
            </a:r>
            <a:r>
              <a:rPr lang="en-US" sz="3600" dirty="0" smtClean="0">
                <a:solidFill>
                  <a:srgbClr val="000000"/>
                </a:solidFill>
                <a:latin typeface="Arial" panose="020B0604020202020204" pitchFamily="34" charset="0"/>
              </a:rPr>
              <a:t>01001000</a:t>
            </a:r>
            <a:r>
              <a:rPr lang="en-US" sz="3600" baseline="-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sz="3600" dirty="0" smtClean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= 64 + 8 = 72</a:t>
            </a:r>
            <a:r>
              <a:rPr lang="en-US" sz="3600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endParaRPr lang="en-US" sz="3600" dirty="0">
              <a:solidFill>
                <a:srgbClr val="00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sz="36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3600" dirty="0" smtClean="0">
                <a:solidFill>
                  <a:srgbClr val="000000"/>
                </a:solidFill>
                <a:latin typeface="Arial" panose="020B0604020202020204" pitchFamily="34" charset="0"/>
              </a:rPr>
              <a:t>So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:	</a:t>
            </a:r>
            <a:r>
              <a:rPr lang="en-US" sz="3600" dirty="0">
                <a:solidFill>
                  <a:srgbClr val="0000CC"/>
                </a:solidFill>
                <a:latin typeface="Arial" panose="020B0604020202020204" pitchFamily="34" charset="0"/>
              </a:rPr>
              <a:t>01001000</a:t>
            </a:r>
            <a:r>
              <a:rPr lang="en-US" sz="3600" baseline="-30000" dirty="0">
                <a:solidFill>
                  <a:srgbClr val="0000CC"/>
                </a:solidFill>
                <a:latin typeface="Arial" panose="020B0604020202020204" pitchFamily="34" charset="0"/>
              </a:rPr>
              <a:t>2  </a:t>
            </a:r>
            <a:r>
              <a:rPr lang="en-US" sz="3600" dirty="0">
                <a:solidFill>
                  <a:srgbClr val="0000CC"/>
                </a:solidFill>
                <a:latin typeface="Arial" panose="020B0604020202020204" pitchFamily="34" charset="0"/>
              </a:rPr>
              <a:t> = 72</a:t>
            </a:r>
            <a:r>
              <a:rPr lang="en-US" sz="3600" baseline="-30000" dirty="0">
                <a:solidFill>
                  <a:srgbClr val="0000CC"/>
                </a:solidFill>
                <a:latin typeface="Arial" panose="020B0604020202020204" pitchFamily="34" charset="0"/>
              </a:rPr>
              <a:t>10			</a:t>
            </a:r>
            <a:endParaRPr lang="en-US" sz="3600" baseline="-30000" dirty="0" smtClean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3600" baseline="-30000" dirty="0" smtClean="0">
                <a:solidFill>
                  <a:srgbClr val="0000CC"/>
                </a:solidFill>
                <a:latin typeface="Arial" panose="020B0604020202020204" pitchFamily="34" charset="0"/>
              </a:rPr>
              <a:t>          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8-bit 2's complement form)</a:t>
            </a: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xmlns="" val="34936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43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to Decimal</a:t>
            </a:r>
          </a:p>
        </p:txBody>
      </p:sp>
      <p:sp>
        <p:nvSpPr>
          <p:cNvPr id="673795" name="Rectangle 3"/>
          <p:cNvSpPr>
            <a:spLocks noGrp="1" noChangeArrowheads="1"/>
          </p:cNvSpPr>
          <p:nvPr>
            <p:ph idx="1"/>
          </p:nvPr>
        </p:nvSpPr>
        <p:spPr>
          <a:xfrm>
            <a:off x="654050" y="2093913"/>
            <a:ext cx="8261350" cy="12192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3100" dirty="0">
                <a:solidFill>
                  <a:srgbClr val="000000"/>
                </a:solidFill>
                <a:latin typeface="Arial" panose="020B0604020202020204" pitchFamily="34" charset="0"/>
              </a:rPr>
              <a:t>Ex 3: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Find the decimal equivalent of 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the8-bit 2’s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         complement value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11001000</a:t>
            </a:r>
            <a:r>
              <a:rPr lang="en-US" sz="2400" baseline="-30000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sz="24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673796" name="Rectangle 4"/>
          <p:cNvSpPr>
            <a:spLocks noChangeArrowheads="1"/>
          </p:cNvSpPr>
          <p:nvPr/>
        </p:nvSpPr>
        <p:spPr bwMode="auto">
          <a:xfrm>
            <a:off x="228600" y="3581400"/>
            <a:ext cx="87630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en-US" sz="3200" b="1" dirty="0">
                <a:solidFill>
                  <a:srgbClr val="000000"/>
                </a:solidFill>
                <a:latin typeface="Arial" panose="020B0604020202020204" pitchFamily="34" charset="0"/>
              </a:rPr>
              <a:t>Step 1:  </a:t>
            </a: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Determine if number is positive </a:t>
            </a:r>
            <a:r>
              <a:rPr kumimoji="0" lang="en-US" sz="3200" dirty="0" smtClean="0">
                <a:solidFill>
                  <a:srgbClr val="000000"/>
                </a:solidFill>
                <a:latin typeface="Arial" panose="020B0604020202020204" pitchFamily="34" charset="0"/>
              </a:rPr>
              <a:t>or</a:t>
            </a:r>
          </a:p>
          <a:p>
            <a:pPr>
              <a:spcBef>
                <a:spcPct val="20000"/>
              </a:spcBef>
            </a:pPr>
            <a:r>
              <a:rPr kumimoji="0" lang="en-US" sz="3200" dirty="0" smtClean="0">
                <a:solidFill>
                  <a:srgbClr val="000000"/>
                </a:solidFill>
                <a:latin typeface="Arial" panose="020B0604020202020204" pitchFamily="34" charset="0"/>
              </a:rPr>
              <a:t>		      </a:t>
            </a: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negative:</a:t>
            </a:r>
          </a:p>
          <a:p>
            <a:pPr>
              <a:spcBef>
                <a:spcPct val="20000"/>
              </a:spcBef>
            </a:pPr>
            <a:endParaRPr kumimoji="0" lang="en-US" sz="3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Leftmost bit is </a:t>
            </a:r>
            <a:r>
              <a:rPr kumimoji="0" 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1</a:t>
            </a: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, so number is </a:t>
            </a:r>
            <a:r>
              <a:rPr kumimoji="0" lang="en-US" sz="3200" dirty="0">
                <a:solidFill>
                  <a:srgbClr val="0000CC"/>
                </a:solidFill>
                <a:latin typeface="Arial" panose="020B0604020202020204" pitchFamily="34" charset="0"/>
              </a:rPr>
              <a:t>negative</a:t>
            </a:r>
            <a:r>
              <a:rPr kumimoji="0"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20797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6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to Decimal</a:t>
            </a:r>
          </a:p>
        </p:txBody>
      </p:sp>
      <p:sp>
        <p:nvSpPr>
          <p:cNvPr id="671747" name="Rectangle 1027"/>
          <p:cNvSpPr>
            <a:spLocks noGrp="1" noChangeArrowheads="1"/>
          </p:cNvSpPr>
          <p:nvPr>
            <p:ph idx="1"/>
          </p:nvPr>
        </p:nvSpPr>
        <p:spPr>
          <a:xfrm>
            <a:off x="130124" y="2209800"/>
            <a:ext cx="8915400" cy="35814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Ex </a:t>
            </a:r>
            <a:r>
              <a:rPr lang="en-US" sz="2600" dirty="0" smtClean="0">
                <a:solidFill>
                  <a:srgbClr val="000000"/>
                </a:solidFill>
                <a:latin typeface="Arial" panose="020B0604020202020204" pitchFamily="34" charset="0"/>
              </a:rPr>
              <a:t>3:</a:t>
            </a:r>
          </a:p>
          <a:p>
            <a:pPr>
              <a:buFont typeface="Wingdings" panose="05000000000000000000" pitchFamily="2" charset="2"/>
              <a:buNone/>
            </a:pPr>
            <a:endParaRPr lang="en-US" sz="26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26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Step 2: 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Find first one bit, from low-order (right) end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		        and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complement the pattern to the left.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 					         </a:t>
            </a:r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</a:rPr>
              <a:t>11001000</a:t>
            </a:r>
            <a:endParaRPr lang="en-US" sz="4000" dirty="0">
              <a:solidFill>
                <a:srgbClr val="00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71748" name="Rectangle 1028"/>
          <p:cNvSpPr>
            <a:spLocks noChangeArrowheads="1"/>
          </p:cNvSpPr>
          <p:nvPr/>
        </p:nvSpPr>
        <p:spPr bwMode="auto">
          <a:xfrm>
            <a:off x="276664" y="4975276"/>
            <a:ext cx="774065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0"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(left complemented)</a:t>
            </a:r>
            <a:r>
              <a:rPr kumimoji="0" lang="en-US" sz="36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	 </a:t>
            </a:r>
            <a:r>
              <a:rPr kumimoji="0" lang="en-US" sz="4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0011</a:t>
            </a:r>
            <a:r>
              <a:rPr kumimoji="0" lang="en-US" sz="40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xmlns="" val="48617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48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to Decimal</a:t>
            </a:r>
          </a:p>
        </p:txBody>
      </p:sp>
      <p:sp>
        <p:nvSpPr>
          <p:cNvPr id="67277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133600"/>
            <a:ext cx="7772400" cy="4495800"/>
          </a:xfrm>
          <a:noFill/>
          <a:ln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Ex </a:t>
            </a:r>
            <a:r>
              <a:rPr lang="en-US" sz="2600" dirty="0" smtClean="0">
                <a:solidFill>
                  <a:srgbClr val="000000"/>
                </a:solidFill>
                <a:latin typeface="Arial" panose="020B0604020202020204" pitchFamily="34" charset="0"/>
              </a:rPr>
              <a:t>3:</a:t>
            </a:r>
          </a:p>
          <a:p>
            <a:pPr>
              <a:buFont typeface="Wingdings" panose="05000000000000000000" pitchFamily="2" charset="2"/>
              <a:buNone/>
            </a:pPr>
            <a:endParaRPr lang="en-US" sz="2600" b="1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Step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:  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Determine the numeric </a:t>
            </a:r>
            <a:r>
              <a:rPr lang="en-US" sz="2800" dirty="0" smtClean="0">
                <a:solidFill>
                  <a:srgbClr val="000000"/>
                </a:solidFill>
                <a:latin typeface="Arial" panose="020B0604020202020204" pitchFamily="34" charset="0"/>
              </a:rPr>
              <a:t>value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4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		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00111000</a:t>
            </a:r>
            <a:r>
              <a:rPr lang="en-US" sz="3600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= 32 + 16 + 8 = 56</a:t>
            </a:r>
            <a:r>
              <a:rPr lang="en-US" sz="3600" baseline="-30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endParaRPr lang="en-US" sz="3600" dirty="0">
              <a:solidFill>
                <a:srgbClr val="00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sz="3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sz="3600" dirty="0">
                <a:solidFill>
                  <a:srgbClr val="000000"/>
                </a:solidFill>
                <a:latin typeface="Arial" panose="020B0604020202020204" pitchFamily="34" charset="0"/>
              </a:rPr>
              <a:t>So:	</a:t>
            </a:r>
            <a:r>
              <a:rPr lang="en-US" sz="3600" dirty="0">
                <a:solidFill>
                  <a:srgbClr val="0000CC"/>
                </a:solidFill>
                <a:latin typeface="Arial" panose="020B0604020202020204" pitchFamily="34" charset="0"/>
              </a:rPr>
              <a:t>11001000</a:t>
            </a:r>
            <a:r>
              <a:rPr lang="en-US" sz="3600" baseline="-30000" dirty="0">
                <a:solidFill>
                  <a:srgbClr val="0000CC"/>
                </a:solidFill>
                <a:latin typeface="Arial" panose="020B0604020202020204" pitchFamily="34" charset="0"/>
              </a:rPr>
              <a:t>2  </a:t>
            </a:r>
            <a:r>
              <a:rPr lang="en-US" sz="3600" dirty="0">
                <a:solidFill>
                  <a:srgbClr val="0000CC"/>
                </a:solidFill>
                <a:latin typeface="Arial" panose="020B0604020202020204" pitchFamily="34" charset="0"/>
              </a:rPr>
              <a:t> = -56</a:t>
            </a:r>
            <a:r>
              <a:rPr lang="en-US" sz="3600" baseline="-30000" dirty="0">
                <a:solidFill>
                  <a:srgbClr val="0000CC"/>
                </a:solidFill>
                <a:latin typeface="Arial" panose="020B0604020202020204" pitchFamily="34" charset="0"/>
              </a:rPr>
              <a:t>10</a:t>
            </a:r>
            <a:r>
              <a:rPr lang="en-US" sz="3600" dirty="0">
                <a:solidFill>
                  <a:srgbClr val="0000CC"/>
                </a:solidFill>
                <a:latin typeface="Arial" panose="020B0604020202020204" pitchFamily="34" charset="0"/>
              </a:rPr>
              <a:t>			</a:t>
            </a:r>
            <a:r>
              <a:rPr lang="en-US" sz="2800" dirty="0">
                <a:solidFill>
                  <a:srgbClr val="0000CC"/>
                </a:solidFill>
                <a:latin typeface="Arial" panose="020B0604020202020204" pitchFamily="34" charset="0"/>
              </a:rPr>
              <a:t>	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(8-bit 2's complement form) </a:t>
            </a:r>
          </a:p>
        </p:txBody>
      </p:sp>
    </p:spTree>
    <p:extLst>
      <p:ext uri="{BB962C8B-B14F-4D97-AF65-F5344CB8AC3E}">
        <p14:creationId xmlns:p14="http://schemas.microsoft.com/office/powerpoint/2010/main" xmlns="" val="356355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71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Two’s Complement Representation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209800"/>
            <a:ext cx="8153400" cy="4114800"/>
          </a:xfrm>
        </p:spPr>
        <p:txBody>
          <a:bodyPr/>
          <a:lstStyle/>
          <a:p>
            <a:pPr>
              <a:spcBef>
                <a:spcPct val="80000"/>
              </a:spcBef>
              <a:buFont typeface="Wingdings" panose="05000000000000000000" pitchFamily="2" charset="2"/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Summary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- Benefits of Twos Complements:</a:t>
            </a:r>
          </a:p>
          <a:p>
            <a:pPr lvl="1">
              <a:spcBef>
                <a:spcPct val="800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Addition and subtraction are simplified in the two’s-complement system,</a:t>
            </a:r>
          </a:p>
          <a:p>
            <a:pPr lvl="1">
              <a:spcBef>
                <a:spcPct val="800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-0 has been eliminated, replaced by one extra negative value, for which there is no corresponding positive number.  </a:t>
            </a:r>
          </a:p>
        </p:txBody>
      </p:sp>
    </p:spTree>
    <p:extLst>
      <p:ext uri="{BB962C8B-B14F-4D97-AF65-F5344CB8AC3E}">
        <p14:creationId xmlns:p14="http://schemas.microsoft.com/office/powerpoint/2010/main" xmlns="" val="371637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379" grpId="0" build="p" bldLvl="2" autoUpdateAnimBg="0"/>
    </p:bld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354</TotalTime>
  <Words>546</Words>
  <Application>Microsoft Office PowerPoint</Application>
  <PresentationFormat>On-screen Show (4:3)</PresentationFormat>
  <Paragraphs>196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HNDIT</vt:lpstr>
      <vt:lpstr>HNDIT1104: Data Representation and Organization</vt:lpstr>
      <vt:lpstr>Learning Objectives</vt:lpstr>
      <vt:lpstr>Two’s Complement Representation</vt:lpstr>
      <vt:lpstr>Two’s Complement Representation</vt:lpstr>
      <vt:lpstr>Two’s Complement Representation</vt:lpstr>
      <vt:lpstr>Two’s Complement Representation</vt:lpstr>
      <vt:lpstr>Two’s Complement Representation</vt:lpstr>
      <vt:lpstr>Two’s Complement Representation</vt:lpstr>
      <vt:lpstr>Two’s Complement Representation</vt:lpstr>
      <vt:lpstr>Two’s Complement Representation</vt:lpstr>
      <vt:lpstr>Two’s Complement Representation</vt:lpstr>
      <vt:lpstr>Two’s Complement Representation</vt:lpstr>
      <vt:lpstr>Two’s Complement Representation</vt:lpstr>
      <vt:lpstr>Slide 14</vt:lpstr>
      <vt:lpstr>Slide 15</vt:lpstr>
      <vt:lpstr>Slide 16</vt:lpstr>
      <vt:lpstr>Two’s Complement Representation</vt:lpstr>
      <vt:lpstr>Two’s Complement to Decimal</vt:lpstr>
      <vt:lpstr>Two’s Complement to Decimal</vt:lpstr>
      <vt:lpstr>Two’s Complement to Decimal</vt:lpstr>
      <vt:lpstr>Two’s Complement to Decimal</vt:lpstr>
      <vt:lpstr>Two’s Complement to Decimal</vt:lpstr>
      <vt:lpstr>Two’s Complement to Decimal</vt:lpstr>
      <vt:lpstr>Two’s Complement to Decimal</vt:lpstr>
      <vt:lpstr>Two’s Complement to Decimal</vt:lpstr>
      <vt:lpstr>Two’s Complement Representation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2002 – Graphics &amp; Multimedia</dc:title>
  <dc:creator>Dell PC</dc:creator>
  <cp:lastModifiedBy>Nalin</cp:lastModifiedBy>
  <cp:revision>68</cp:revision>
  <dcterms:created xsi:type="dcterms:W3CDTF">2013-10-16T01:16:09Z</dcterms:created>
  <dcterms:modified xsi:type="dcterms:W3CDTF">2018-09-21T17:03:28Z</dcterms:modified>
</cp:coreProperties>
</file>