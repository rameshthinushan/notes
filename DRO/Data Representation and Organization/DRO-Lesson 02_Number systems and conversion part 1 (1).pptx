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83" r:id="rId13"/>
    <p:sldId id="268" r:id="rId14"/>
    <p:sldId id="269" r:id="rId15"/>
    <p:sldId id="271" r:id="rId16"/>
    <p:sldId id="270" r:id="rId17"/>
    <p:sldId id="272" r:id="rId18"/>
    <p:sldId id="282" r:id="rId19"/>
    <p:sldId id="274" r:id="rId20"/>
    <p:sldId id="275" r:id="rId21"/>
    <p:sldId id="284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>
      <p:cViewPr varScale="1">
        <p:scale>
          <a:sx n="69" d="100"/>
          <a:sy n="69" d="100"/>
        </p:scale>
        <p:origin x="1440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9D199-2199-49AD-B138-AC35A40CB1C4}" type="datetimeFigureOut">
              <a:rPr lang="en-US" smtClean="0"/>
              <a:pPr/>
              <a:t>7/22/2019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781CE3-46ED-4AD5-A052-EAD61C162C6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C827F2-4C0A-4EBE-9457-D075C2C572FE}" type="slidenum">
              <a:rPr lang="en-US"/>
              <a:pPr/>
              <a:t>2</a:t>
            </a:fld>
            <a:endParaRPr lang="en-US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DDC093-385B-4089-B8A6-BE5056B33CA4}" type="slidenum">
              <a:rPr lang="en-GB"/>
              <a:pPr/>
              <a:t>9</a:t>
            </a:fld>
            <a:endParaRPr lang="en-GB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F3927A-4995-44A6-8502-67162A448F38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821041-F886-4469-B92A-9D0D169B9E4E}" type="slidenum">
              <a:rPr lang="en-US"/>
              <a:pPr/>
              <a:t>16</a:t>
            </a:fld>
            <a:endParaRPr 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0EB7C-7D48-48F6-821E-352637934BE7}" type="datetime1">
              <a:rPr lang="en-US" smtClean="0"/>
              <a:pPr/>
              <a:t>7/22/2019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18E21-0DC2-4DE1-BE1F-6AE5C3347160}" type="datetime1">
              <a:rPr lang="en-US" smtClean="0"/>
              <a:pPr/>
              <a:t>7/22/2019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541E4-0113-4179-A17C-EE43F72BBDBF}" type="datetime1">
              <a:rPr lang="en-US" smtClean="0"/>
              <a:pPr/>
              <a:t>7/22/2019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93C95-ECAD-477A-97B5-72212157DF4F}" type="datetime1">
              <a:rPr lang="en-US" smtClean="0"/>
              <a:pPr/>
              <a:t>7/22/2019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DD55-8AF7-49DC-8C40-E8CC1983F773}" type="datetime1">
              <a:rPr lang="en-US" smtClean="0"/>
              <a:pPr/>
              <a:t>7/22/2019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CA1D-958E-4175-BF25-CBBCBD60E09B}" type="datetime1">
              <a:rPr lang="en-US" smtClean="0"/>
              <a:pPr/>
              <a:t>7/22/2019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3F26-5271-435E-864C-54326DEA2349}" type="datetime1">
              <a:rPr lang="en-US" smtClean="0"/>
              <a:pPr/>
              <a:t>7/22/2019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1C91-C076-435A-B083-E754A3E1B2C9}" type="datetime1">
              <a:rPr lang="en-US" smtClean="0"/>
              <a:pPr/>
              <a:t>7/22/2019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DE99-4016-4918-834C-37E34B7BED76}" type="datetime1">
              <a:rPr lang="en-US" smtClean="0"/>
              <a:pPr/>
              <a:t>7/22/2019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50687-2761-40B9-B34E-DD13B202537C}" type="datetime1">
              <a:rPr lang="en-US" smtClean="0"/>
              <a:pPr/>
              <a:t>7/22/2019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EDA5A-E38F-435E-8B2B-9D65689196F8}" type="datetime1">
              <a:rPr lang="en-US" smtClean="0"/>
              <a:pPr/>
              <a:t>7/22/2019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D8CDC-2874-407F-967C-5673C3E06ADD}" type="datetime1">
              <a:rPr lang="en-US" smtClean="0"/>
              <a:pPr/>
              <a:t>7/22/2019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ubtitle 5"/>
          <p:cNvSpPr>
            <a:spLocks noGrp="1"/>
          </p:cNvSpPr>
          <p:nvPr>
            <p:ph type="subTitle" idx="1"/>
          </p:nvPr>
        </p:nvSpPr>
        <p:spPr>
          <a:xfrm>
            <a:off x="4876800" y="2286000"/>
            <a:ext cx="4267200" cy="82867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000" dirty="0" smtClean="0">
                <a:solidFill>
                  <a:schemeClr val="tx1"/>
                </a:solidFill>
              </a:rPr>
              <a:t>Number systems &amp; Conversion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000" dirty="0" smtClean="0">
                <a:solidFill>
                  <a:schemeClr val="tx1"/>
                </a:solidFill>
              </a:rPr>
              <a:t>Part 1</a:t>
            </a: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457200"/>
            <a:ext cx="8915400" cy="14700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 smtClean="0"/>
              <a:t>HNDIT1104: Data Representation and Organization</a:t>
            </a:r>
            <a:endParaRPr lang="en-AU" altLang="en-US" sz="2800" dirty="0" smtClean="0"/>
          </a:p>
        </p:txBody>
      </p:sp>
      <p:sp>
        <p:nvSpPr>
          <p:cNvPr id="5124" name="Rectangle 2"/>
          <p:cNvSpPr>
            <a:spLocks noChangeArrowheads="1"/>
          </p:cNvSpPr>
          <p:nvPr/>
        </p:nvSpPr>
        <p:spPr bwMode="auto">
          <a:xfrm>
            <a:off x="3886200" y="4876800"/>
            <a:ext cx="16161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bg1">
                    <a:lumMod val="50000"/>
                  </a:schemeClr>
                </a:solidFill>
              </a:rPr>
              <a:t>Lesson 2</a:t>
            </a:r>
            <a:endParaRPr 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/>
              <a:t>Learning Objectives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09600" y="2057400"/>
            <a:ext cx="8229600" cy="42211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dirty="0" smtClean="0">
                <a:cs typeface="Times New Roman" pitchFamily="18" charset="0"/>
              </a:rPr>
              <a:t>	At </a:t>
            </a:r>
            <a:r>
              <a:rPr lang="en-US" sz="2800" dirty="0">
                <a:cs typeface="Times New Roman" pitchFamily="18" charset="0"/>
              </a:rPr>
              <a:t>the end of the </a:t>
            </a:r>
            <a:r>
              <a:rPr lang="en-US" sz="2800" dirty="0" smtClean="0">
                <a:cs typeface="Times New Roman" pitchFamily="18" charset="0"/>
              </a:rPr>
              <a:t>Lesson </a:t>
            </a:r>
            <a:r>
              <a:rPr lang="en-US" sz="2800" dirty="0">
                <a:cs typeface="Times New Roman" pitchFamily="18" charset="0"/>
              </a:rPr>
              <a:t>students should be able </a:t>
            </a:r>
            <a:r>
              <a:rPr lang="en-US" sz="2800" dirty="0" smtClean="0">
                <a:cs typeface="Times New Roman" pitchFamily="18" charset="0"/>
              </a:rPr>
              <a:t>to</a:t>
            </a:r>
            <a:endParaRPr lang="en-US" sz="2800" dirty="0">
              <a:cs typeface="Times New Roman" pitchFamily="18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 smtClean="0">
                <a:cs typeface="Times New Roman" pitchFamily="18" charset="0"/>
              </a:rPr>
              <a:t>Identify the different number systems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 smtClean="0">
                <a:cs typeface="Times New Roman" pitchFamily="18" charset="0"/>
              </a:rPr>
              <a:t>Convert </a:t>
            </a:r>
            <a:r>
              <a:rPr lang="en-US" sz="2800" dirty="0">
                <a:cs typeface="Times New Roman" pitchFamily="18" charset="0"/>
              </a:rPr>
              <a:t>Decimal number to Binary number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 smtClean="0">
                <a:cs typeface="Times New Roman" pitchFamily="18" charset="0"/>
              </a:rPr>
              <a:t>Convert </a:t>
            </a:r>
            <a:r>
              <a:rPr lang="en-US" sz="2800" dirty="0">
                <a:cs typeface="Times New Roman" pitchFamily="18" charset="0"/>
              </a:rPr>
              <a:t>Decimal number to Octal number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 smtClean="0">
                <a:cs typeface="Times New Roman" pitchFamily="18" charset="0"/>
              </a:rPr>
              <a:t>Convert </a:t>
            </a:r>
            <a:r>
              <a:rPr lang="en-US" sz="2800" dirty="0">
                <a:cs typeface="Times New Roman" pitchFamily="18" charset="0"/>
              </a:rPr>
              <a:t>Decimal number to Hexadecimal number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sz="2800" dirty="0">
              <a:cs typeface="Times New Roman" pitchFamily="18" charset="0"/>
            </a:endParaRPr>
          </a:p>
          <a:p>
            <a:pPr marL="800100" lvl="1" indent="-342900">
              <a:spcBef>
                <a:spcPct val="20000"/>
              </a:spcBef>
              <a:defRPr/>
            </a:pPr>
            <a:endParaRPr lang="en-US" sz="2800" dirty="0">
              <a:cs typeface="Times New Roman" pitchFamily="18" charset="0"/>
            </a:endParaRPr>
          </a:p>
          <a:p>
            <a:pPr marL="742950" lvl="1" indent="-28575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/>
          </a:p>
          <a:p>
            <a:pPr marL="742950" lvl="1" indent="-28575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–"/>
              <a:defRPr/>
            </a:pP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Systems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7715250" cy="42211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>
                <a:latin typeface="+mj-lt"/>
                <a:cs typeface="Times New Roman" pitchFamily="18" charset="0"/>
              </a:rPr>
              <a:t>Decimal : base 10 (ex : 24 or 24</a:t>
            </a:r>
            <a:r>
              <a:rPr lang="en-US" sz="2800" baseline="-25000" dirty="0" smtClean="0">
                <a:latin typeface="+mj-lt"/>
                <a:cs typeface="Times New Roman" pitchFamily="18" charset="0"/>
              </a:rPr>
              <a:t>10</a:t>
            </a:r>
            <a:r>
              <a:rPr lang="en-US" sz="2800" dirty="0" smtClean="0">
                <a:latin typeface="+mj-lt"/>
                <a:cs typeface="Times New Roman" pitchFamily="18" charset="0"/>
              </a:rPr>
              <a:t> )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+mj-lt"/>
                <a:cs typeface="Times New Roman" pitchFamily="18" charset="0"/>
              </a:rPr>
              <a:t>Binary: base  2  (ex:  1101</a:t>
            </a:r>
            <a:r>
              <a:rPr lang="en-US" sz="2800" baseline="-25000" dirty="0" smtClean="0">
                <a:latin typeface="+mj-lt"/>
                <a:cs typeface="Times New Roman" pitchFamily="18" charset="0"/>
              </a:rPr>
              <a:t>2</a:t>
            </a:r>
            <a:r>
              <a:rPr lang="en-US" sz="2800" dirty="0" smtClean="0">
                <a:latin typeface="+mj-lt"/>
                <a:cs typeface="Times New Roman" pitchFamily="18" charset="0"/>
              </a:rPr>
              <a:t>)</a:t>
            </a:r>
            <a:endParaRPr lang="en-US" sz="2800" baseline="-25000" dirty="0" smtClean="0">
              <a:latin typeface="+mj-lt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+mj-lt"/>
                <a:cs typeface="Times New Roman" pitchFamily="18" charset="0"/>
              </a:rPr>
              <a:t>Octal: base  8  (ex: 42</a:t>
            </a:r>
            <a:r>
              <a:rPr lang="en-US" sz="2800" baseline="-25000" dirty="0" smtClean="0">
                <a:latin typeface="+mj-lt"/>
                <a:cs typeface="Times New Roman" pitchFamily="18" charset="0"/>
              </a:rPr>
              <a:t>8</a:t>
            </a:r>
            <a:r>
              <a:rPr lang="en-US" sz="2800" dirty="0" smtClean="0">
                <a:latin typeface="+mj-lt"/>
                <a:cs typeface="Times New Roman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+mj-lt"/>
                <a:cs typeface="Times New Roman" pitchFamily="18" charset="0"/>
              </a:rPr>
              <a:t>Hexadecimal: base 16  (ex:  B47</a:t>
            </a:r>
            <a:r>
              <a:rPr lang="en-US" sz="2800" baseline="-25000" dirty="0" smtClean="0">
                <a:latin typeface="+mj-lt"/>
                <a:cs typeface="Times New Roman" pitchFamily="18" charset="0"/>
              </a:rPr>
              <a:t>16</a:t>
            </a:r>
            <a:r>
              <a:rPr lang="en-US" sz="2800" dirty="0" smtClean="0">
                <a:latin typeface="+mj-lt"/>
                <a:cs typeface="Times New Roman" pitchFamily="18" charset="0"/>
              </a:rPr>
              <a:t>)</a:t>
            </a:r>
          </a:p>
          <a:p>
            <a:pPr>
              <a:lnSpc>
                <a:spcPct val="80000"/>
              </a:lnSpc>
            </a:pPr>
            <a:endParaRPr lang="en-US" sz="2800" dirty="0" smtClean="0">
              <a:latin typeface="+mj-lt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Base or Radix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82000" cy="51816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tabLst>
                <a:tab pos="2114550" algn="l"/>
              </a:tabLst>
            </a:pPr>
            <a:r>
              <a:rPr lang="en-US" sz="2800" b="1" dirty="0" smtClean="0">
                <a:cs typeface="Times New Roman" pitchFamily="18" charset="0"/>
              </a:rPr>
              <a:t>Base</a:t>
            </a:r>
            <a:r>
              <a:rPr lang="en-US" sz="2800" dirty="0" smtClean="0">
                <a:cs typeface="Times New Roman" pitchFamily="18" charset="0"/>
              </a:rPr>
              <a:t>: </a:t>
            </a:r>
          </a:p>
          <a:p>
            <a:pPr lvl="1" indent="-342900">
              <a:lnSpc>
                <a:spcPct val="80000"/>
              </a:lnSpc>
              <a:buNone/>
              <a:tabLst>
                <a:tab pos="2114550" algn="l"/>
              </a:tabLst>
            </a:pPr>
            <a:r>
              <a:rPr lang="en-US" dirty="0" smtClean="0">
                <a:cs typeface="Times New Roman" pitchFamily="18" charset="0"/>
              </a:rPr>
              <a:t>The number of different symbols required to</a:t>
            </a:r>
          </a:p>
          <a:p>
            <a:pPr lvl="1" indent="-342900">
              <a:lnSpc>
                <a:spcPct val="80000"/>
              </a:lnSpc>
              <a:buNone/>
              <a:tabLst>
                <a:tab pos="2114550" algn="l"/>
              </a:tabLst>
            </a:pPr>
            <a:r>
              <a:rPr lang="en-US" dirty="0" smtClean="0">
                <a:cs typeface="Times New Roman" pitchFamily="18" charset="0"/>
              </a:rPr>
              <a:t> represent any given number</a:t>
            </a:r>
          </a:p>
          <a:p>
            <a:pPr lvl="1" indent="-342900">
              <a:lnSpc>
                <a:spcPct val="80000"/>
              </a:lnSpc>
              <a:buNone/>
              <a:tabLst>
                <a:tab pos="2114550" algn="l"/>
              </a:tabLst>
            </a:pPr>
            <a:endParaRPr lang="en-US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tabLst>
                <a:tab pos="2114550" algn="l"/>
              </a:tabLst>
            </a:pPr>
            <a:r>
              <a:rPr lang="en-US" sz="2800" dirty="0" smtClean="0">
                <a:cs typeface="Times New Roman" pitchFamily="18" charset="0"/>
              </a:rPr>
              <a:t>The larger the base, the more numerals are required </a:t>
            </a:r>
          </a:p>
          <a:p>
            <a:pPr lvl="1" indent="-342900">
              <a:lnSpc>
                <a:spcPct val="80000"/>
              </a:lnSpc>
              <a:tabLst>
                <a:tab pos="2114550" algn="l"/>
              </a:tabLst>
            </a:pPr>
            <a:r>
              <a:rPr lang="en-US" dirty="0" smtClean="0">
                <a:cs typeface="Times New Roman" pitchFamily="18" charset="0"/>
              </a:rPr>
              <a:t>Base 10: 	0,1, 2,3,4,5,6,7,8,9</a:t>
            </a:r>
          </a:p>
          <a:p>
            <a:pPr lvl="1" indent="-342900">
              <a:lnSpc>
                <a:spcPct val="80000"/>
              </a:lnSpc>
              <a:tabLst>
                <a:tab pos="2114550" algn="l"/>
              </a:tabLst>
            </a:pPr>
            <a:r>
              <a:rPr lang="en-US" dirty="0" smtClean="0">
                <a:cs typeface="Times New Roman" pitchFamily="18" charset="0"/>
              </a:rPr>
              <a:t>Base   2:	0,1</a:t>
            </a:r>
          </a:p>
          <a:p>
            <a:pPr lvl="1" indent="-342900">
              <a:lnSpc>
                <a:spcPct val="80000"/>
              </a:lnSpc>
              <a:tabLst>
                <a:tab pos="2114550" algn="l"/>
              </a:tabLst>
            </a:pPr>
            <a:r>
              <a:rPr lang="en-US" dirty="0" smtClean="0">
                <a:cs typeface="Times New Roman" pitchFamily="18" charset="0"/>
              </a:rPr>
              <a:t>Base   8: 	0,1,2, 3,4,5,6,7</a:t>
            </a:r>
          </a:p>
          <a:p>
            <a:pPr lvl="1" indent="-342900">
              <a:lnSpc>
                <a:spcPct val="80000"/>
              </a:lnSpc>
              <a:tabLst>
                <a:tab pos="2114550" algn="l"/>
              </a:tabLst>
            </a:pPr>
            <a:r>
              <a:rPr lang="en-US" dirty="0" smtClean="0">
                <a:cs typeface="Times New Roman" pitchFamily="18" charset="0"/>
              </a:rPr>
              <a:t>Base 16: 	0,1,2,3,4,5,6,7,8,9,A,B,C,D,E,F</a:t>
            </a:r>
          </a:p>
          <a:p>
            <a:pPr lvl="1" indent="-342900">
              <a:lnSpc>
                <a:spcPct val="80000"/>
              </a:lnSpc>
              <a:tabLst>
                <a:tab pos="2114550" algn="l"/>
              </a:tabLst>
            </a:pPr>
            <a:endParaRPr lang="en-US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tabLst>
                <a:tab pos="2114550" algn="l"/>
              </a:tabLst>
            </a:pPr>
            <a:r>
              <a:rPr lang="en-US" sz="2800" dirty="0" smtClean="0"/>
              <a:t>The largest valid number in a radix system is one less than the radix(or base).</a:t>
            </a:r>
          </a:p>
          <a:p>
            <a:pPr>
              <a:lnSpc>
                <a:spcPct val="80000"/>
              </a:lnSpc>
              <a:buNone/>
              <a:tabLst>
                <a:tab pos="2114550" algn="l"/>
              </a:tabLst>
            </a:pPr>
            <a:r>
              <a:rPr lang="en-US" sz="2800" dirty="0" smtClean="0">
                <a:cs typeface="Times New Roman" pitchFamily="18" charset="0"/>
              </a:rPr>
              <a:t>	     </a:t>
            </a:r>
            <a:r>
              <a:rPr lang="en-US" sz="2800" dirty="0" err="1" smtClean="0">
                <a:cs typeface="Times New Roman" pitchFamily="18" charset="0"/>
              </a:rPr>
              <a:t>Ex:in</a:t>
            </a:r>
            <a:r>
              <a:rPr lang="en-US" sz="2800" dirty="0" smtClean="0">
                <a:cs typeface="Times New Roman" pitchFamily="18" charset="0"/>
              </a:rPr>
              <a:t> Base 10, largest valid number is 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9425" y="1752600"/>
          <a:ext cx="8353425" cy="36925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20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6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850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Number system</a:t>
                      </a:r>
                      <a:endParaRPr lang="en-US" sz="2400" dirty="0"/>
                    </a:p>
                  </a:txBody>
                  <a:tcPr marL="91445" marR="91445" marT="45719" marB="4571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Base</a:t>
                      </a:r>
                      <a:endParaRPr lang="en-US" sz="2400" dirty="0"/>
                    </a:p>
                  </a:txBody>
                  <a:tcPr marL="91445" marR="91445" marT="45719" marB="4571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Digits</a:t>
                      </a:r>
                      <a:endParaRPr lang="en-US" sz="2400" dirty="0"/>
                    </a:p>
                  </a:txBody>
                  <a:tcPr marL="91445" marR="91445" marT="45719" marB="4571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505">
                <a:tc>
                  <a:txBody>
                    <a:bodyPr/>
                    <a:lstStyle/>
                    <a:p>
                      <a:pPr indent="-342900" algn="l" rtl="0">
                        <a:lnSpc>
                          <a:spcPct val="80000"/>
                        </a:lnSpc>
                        <a:spcBef>
                          <a:spcPct val="20000"/>
                        </a:spcBef>
                        <a:defRPr/>
                      </a:pPr>
                      <a:r>
                        <a:rPr lang="en-US" sz="25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Times New Roman" pitchFamily="18" charset="0"/>
                        </a:rPr>
                        <a:t>Decimal</a:t>
                      </a:r>
                      <a:endParaRPr lang="en-US" sz="25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91445" marR="91445" marT="45719" marB="45719" anchor="ctr"/>
                </a:tc>
                <a:tc>
                  <a:txBody>
                    <a:bodyPr/>
                    <a:lstStyle/>
                    <a:p>
                      <a:pPr indent="-342900" algn="l" rtl="0">
                        <a:lnSpc>
                          <a:spcPct val="80000"/>
                        </a:lnSpc>
                        <a:spcBef>
                          <a:spcPct val="20000"/>
                        </a:spcBef>
                        <a:defRPr/>
                      </a:pPr>
                      <a:r>
                        <a:rPr lang="en-US" sz="25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Times New Roman" pitchFamily="18" charset="0"/>
                        </a:rPr>
                        <a:t>10</a:t>
                      </a:r>
                      <a:endParaRPr lang="en-US" sz="25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91445" marR="91445" marT="45719" marB="45719" anchor="ctr"/>
                </a:tc>
                <a:tc>
                  <a:txBody>
                    <a:bodyPr/>
                    <a:lstStyle/>
                    <a:p>
                      <a:pPr indent="-342900" algn="l" rtl="0">
                        <a:lnSpc>
                          <a:spcPct val="80000"/>
                        </a:lnSpc>
                        <a:spcBef>
                          <a:spcPct val="20000"/>
                        </a:spcBef>
                        <a:defRPr/>
                      </a:pPr>
                      <a:r>
                        <a:rPr lang="en-US" sz="25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Times New Roman" pitchFamily="18" charset="0"/>
                        </a:rPr>
                        <a:t>0,1,2,3,4,5,6,7,8,9</a:t>
                      </a:r>
                      <a:endParaRPr lang="en-US" sz="25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91445" marR="91445" marT="45719" marB="4571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505">
                <a:tc>
                  <a:txBody>
                    <a:bodyPr/>
                    <a:lstStyle/>
                    <a:p>
                      <a:pPr indent="-342900" algn="l" rtl="0">
                        <a:lnSpc>
                          <a:spcPct val="80000"/>
                        </a:lnSpc>
                        <a:spcBef>
                          <a:spcPct val="20000"/>
                        </a:spcBef>
                        <a:defRPr/>
                      </a:pPr>
                      <a:r>
                        <a:rPr lang="en-US" sz="25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Times New Roman" pitchFamily="18" charset="0"/>
                        </a:rPr>
                        <a:t>Binary</a:t>
                      </a:r>
                      <a:endParaRPr lang="en-US" sz="25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91445" marR="91445" marT="45719" marB="45719" anchor="ctr"/>
                </a:tc>
                <a:tc>
                  <a:txBody>
                    <a:bodyPr/>
                    <a:lstStyle/>
                    <a:p>
                      <a:pPr indent="-342900" algn="l" rtl="0">
                        <a:lnSpc>
                          <a:spcPct val="80000"/>
                        </a:lnSpc>
                        <a:spcBef>
                          <a:spcPct val="20000"/>
                        </a:spcBef>
                        <a:defRPr/>
                      </a:pPr>
                      <a:r>
                        <a:rPr lang="en-US" sz="25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lang="en-US" sz="25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91445" marR="91445" marT="45719" marB="45719" anchor="ctr"/>
                </a:tc>
                <a:tc>
                  <a:txBody>
                    <a:bodyPr/>
                    <a:lstStyle/>
                    <a:p>
                      <a:pPr indent="-342900" algn="l" rtl="0">
                        <a:lnSpc>
                          <a:spcPct val="80000"/>
                        </a:lnSpc>
                        <a:spcBef>
                          <a:spcPct val="20000"/>
                        </a:spcBef>
                        <a:defRPr/>
                      </a:pPr>
                      <a:r>
                        <a:rPr lang="en-US" sz="25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Times New Roman" pitchFamily="18" charset="0"/>
                        </a:rPr>
                        <a:t>0,1,2</a:t>
                      </a:r>
                      <a:endParaRPr lang="en-US" sz="25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91445" marR="91445" marT="45719" marB="4571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505">
                <a:tc>
                  <a:txBody>
                    <a:bodyPr/>
                    <a:lstStyle/>
                    <a:p>
                      <a:pPr indent="-342900" algn="l" rtl="0">
                        <a:lnSpc>
                          <a:spcPct val="80000"/>
                        </a:lnSpc>
                        <a:spcBef>
                          <a:spcPct val="20000"/>
                        </a:spcBef>
                        <a:defRPr/>
                      </a:pPr>
                      <a:r>
                        <a:rPr lang="en-US" sz="25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Times New Roman" pitchFamily="18" charset="0"/>
                        </a:rPr>
                        <a:t>Octal</a:t>
                      </a:r>
                      <a:endParaRPr lang="en-US" sz="25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91445" marR="91445" marT="45719" marB="45719" anchor="ctr"/>
                </a:tc>
                <a:tc>
                  <a:txBody>
                    <a:bodyPr/>
                    <a:lstStyle/>
                    <a:p>
                      <a:pPr indent="-342900" algn="l" rtl="0">
                        <a:lnSpc>
                          <a:spcPct val="80000"/>
                        </a:lnSpc>
                        <a:spcBef>
                          <a:spcPct val="20000"/>
                        </a:spcBef>
                        <a:defRPr/>
                      </a:pPr>
                      <a:r>
                        <a:rPr lang="en-US" sz="25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Times New Roman" pitchFamily="18" charset="0"/>
                        </a:rPr>
                        <a:t>8</a:t>
                      </a:r>
                      <a:endParaRPr lang="en-US" sz="25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91445" marR="91445" marT="45719" marB="45719" anchor="ctr"/>
                </a:tc>
                <a:tc>
                  <a:txBody>
                    <a:bodyPr/>
                    <a:lstStyle/>
                    <a:p>
                      <a:pPr indent="-342900" algn="l" rtl="0">
                        <a:lnSpc>
                          <a:spcPct val="80000"/>
                        </a:lnSpc>
                        <a:spcBef>
                          <a:spcPct val="20000"/>
                        </a:spcBef>
                        <a:defRPr/>
                      </a:pPr>
                      <a:r>
                        <a:rPr lang="en-US" sz="25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Times New Roman" pitchFamily="18" charset="0"/>
                        </a:rPr>
                        <a:t>0,1,2,3,4,5,6,7</a:t>
                      </a:r>
                      <a:endParaRPr lang="en-US" sz="25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91445" marR="91445" marT="45719" marB="4571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505">
                <a:tc>
                  <a:txBody>
                    <a:bodyPr/>
                    <a:lstStyle/>
                    <a:p>
                      <a:pPr indent="-342900" algn="l" rtl="0">
                        <a:lnSpc>
                          <a:spcPct val="80000"/>
                        </a:lnSpc>
                        <a:spcBef>
                          <a:spcPct val="20000"/>
                        </a:spcBef>
                        <a:defRPr/>
                      </a:pPr>
                      <a:r>
                        <a:rPr lang="en-US" sz="25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Times New Roman" pitchFamily="18" charset="0"/>
                        </a:rPr>
                        <a:t>Hexadecimal</a:t>
                      </a:r>
                      <a:endParaRPr lang="en-US" sz="25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91445" marR="91445" marT="45719" marB="45719" anchor="ctr"/>
                </a:tc>
                <a:tc>
                  <a:txBody>
                    <a:bodyPr/>
                    <a:lstStyle/>
                    <a:p>
                      <a:pPr indent="-342900" algn="l" rtl="0">
                        <a:lnSpc>
                          <a:spcPct val="80000"/>
                        </a:lnSpc>
                        <a:spcBef>
                          <a:spcPct val="20000"/>
                        </a:spcBef>
                        <a:defRPr/>
                      </a:pPr>
                      <a:r>
                        <a:rPr lang="en-US" sz="25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Times New Roman" pitchFamily="18" charset="0"/>
                        </a:rPr>
                        <a:t>16</a:t>
                      </a:r>
                      <a:endParaRPr lang="en-US" sz="25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91445" marR="91445" marT="45719" marB="45719" anchor="ctr"/>
                </a:tc>
                <a:tc>
                  <a:txBody>
                    <a:bodyPr/>
                    <a:lstStyle/>
                    <a:p>
                      <a:pPr indent="-342900" algn="l" rtl="0">
                        <a:lnSpc>
                          <a:spcPct val="80000"/>
                        </a:lnSpc>
                        <a:spcBef>
                          <a:spcPct val="20000"/>
                        </a:spcBef>
                        <a:defRPr/>
                      </a:pPr>
                      <a:r>
                        <a:rPr lang="en-US" sz="25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Times New Roman" pitchFamily="18" charset="0"/>
                        </a:rPr>
                        <a:t>0,1,2,3,4,5,6,7,8,9,A,B,C,D,E,F</a:t>
                      </a:r>
                      <a:endParaRPr lang="en-US" sz="25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91445" marR="91445" marT="45719" marB="4571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80000"/>
              </a:lnSpc>
            </a:pPr>
            <a:r>
              <a:rPr lang="en-US" dirty="0" smtClean="0"/>
              <a:t>Number of Symbols vs. Number of Digits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221163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 typeface="Arial" panose="020B0604020202020204" pitchFamily="34" charset="0"/>
              <a:buChar char="•"/>
              <a:tabLst>
                <a:tab pos="1889125" algn="l"/>
                <a:tab pos="3028950" algn="l"/>
                <a:tab pos="4232275" algn="l"/>
              </a:tabLst>
              <a:defRPr/>
            </a:pPr>
            <a:r>
              <a:rPr lang="en-US" sz="2800" dirty="0">
                <a:cs typeface="Times New Roman" pitchFamily="18" charset="0"/>
              </a:rPr>
              <a:t>For a given number, the larger the base</a:t>
            </a:r>
          </a:p>
          <a:p>
            <a:pPr lvl="1" indent="-342900">
              <a:lnSpc>
                <a:spcPct val="80000"/>
              </a:lnSpc>
              <a:buFont typeface="Wingdings" pitchFamily="2" charset="2"/>
              <a:buChar char="Ø"/>
              <a:tabLst>
                <a:tab pos="1889125" algn="l"/>
                <a:tab pos="3028950" algn="l"/>
                <a:tab pos="4232275" algn="l"/>
              </a:tabLst>
              <a:defRPr/>
            </a:pPr>
            <a:r>
              <a:rPr lang="en-US" dirty="0">
                <a:cs typeface="Times New Roman" pitchFamily="18" charset="0"/>
              </a:rPr>
              <a:t>the more symbols required </a:t>
            </a:r>
            <a:endParaRPr lang="en-US" dirty="0" smtClean="0">
              <a:cs typeface="Times New Roman" pitchFamily="18" charset="0"/>
            </a:endParaRPr>
          </a:p>
          <a:p>
            <a:pPr lvl="1" indent="-342900">
              <a:lnSpc>
                <a:spcPct val="80000"/>
              </a:lnSpc>
              <a:buNone/>
              <a:tabLst>
                <a:tab pos="1889125" algn="l"/>
                <a:tab pos="3028950" algn="l"/>
                <a:tab pos="4232275" algn="l"/>
              </a:tabLst>
              <a:defRPr/>
            </a:pPr>
            <a:r>
              <a:rPr lang="en-US" i="1" dirty="0" smtClean="0">
                <a:cs typeface="Times New Roman" pitchFamily="18" charset="0"/>
              </a:rPr>
              <a:t>Example :</a:t>
            </a:r>
          </a:p>
          <a:p>
            <a:pPr lvl="1" indent="-342900">
              <a:lnSpc>
                <a:spcPct val="80000"/>
              </a:lnSpc>
              <a:buNone/>
              <a:tabLst>
                <a:tab pos="1889125" algn="l"/>
                <a:tab pos="3028950" algn="l"/>
                <a:tab pos="4232275" algn="l"/>
              </a:tabLst>
              <a:defRPr/>
            </a:pPr>
            <a:r>
              <a:rPr lang="en-US" dirty="0" smtClean="0">
                <a:cs typeface="Times New Roman" pitchFamily="18" charset="0"/>
              </a:rPr>
              <a:t>	</a:t>
            </a:r>
            <a:r>
              <a:rPr lang="en-US" b="1" dirty="0" smtClean="0">
                <a:cs typeface="Times New Roman" pitchFamily="18" charset="0"/>
              </a:rPr>
              <a:t>Hexadecimal</a:t>
            </a:r>
            <a:r>
              <a:rPr lang="en-US" dirty="0" smtClean="0">
                <a:cs typeface="Times New Roman" pitchFamily="18" charset="0"/>
              </a:rPr>
              <a:t> has 16 symbols (0,1,2,3,4,5,6,7,8,9,A,B,C,D,E,F)</a:t>
            </a:r>
          </a:p>
          <a:p>
            <a:pPr lvl="1" indent="-342900">
              <a:lnSpc>
                <a:spcPct val="80000"/>
              </a:lnSpc>
              <a:buNone/>
              <a:tabLst>
                <a:tab pos="1889125" algn="l"/>
                <a:tab pos="3028950" algn="l"/>
                <a:tab pos="4232275" algn="l"/>
              </a:tabLst>
              <a:defRPr/>
            </a:pPr>
            <a:endParaRPr lang="en-US" sz="1100" dirty="0" smtClean="0">
              <a:cs typeface="Times New Roman" pitchFamily="18" charset="0"/>
            </a:endParaRPr>
          </a:p>
          <a:p>
            <a:pPr lvl="1" indent="-342900">
              <a:lnSpc>
                <a:spcPct val="80000"/>
              </a:lnSpc>
              <a:buNone/>
              <a:tabLst>
                <a:tab pos="1889125" algn="l"/>
                <a:tab pos="3028950" algn="l"/>
                <a:tab pos="4232275" algn="l"/>
              </a:tabLst>
              <a:defRPr/>
            </a:pPr>
            <a:r>
              <a:rPr lang="en-US" b="1" dirty="0" smtClean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b="1" dirty="0" smtClean="0">
                <a:cs typeface="Times New Roman" pitchFamily="18" charset="0"/>
              </a:rPr>
              <a:t>Binary</a:t>
            </a:r>
            <a:r>
              <a:rPr lang="en-US" dirty="0" smtClean="0">
                <a:cs typeface="Times New Roman" pitchFamily="18" charset="0"/>
              </a:rPr>
              <a:t> has 02 symbols  (0,1)</a:t>
            </a:r>
          </a:p>
          <a:p>
            <a:pPr lvl="1" indent="-342900">
              <a:lnSpc>
                <a:spcPct val="80000"/>
              </a:lnSpc>
              <a:buNone/>
              <a:tabLst>
                <a:tab pos="1889125" algn="l"/>
                <a:tab pos="3028950" algn="l"/>
                <a:tab pos="4232275" algn="l"/>
              </a:tabLst>
              <a:defRPr/>
            </a:pPr>
            <a:endParaRPr lang="en-US" sz="2400" dirty="0">
              <a:cs typeface="Times New Roman" pitchFamily="18" charset="0"/>
            </a:endParaRPr>
          </a:p>
          <a:p>
            <a:pPr lvl="1" indent="-342900">
              <a:lnSpc>
                <a:spcPct val="80000"/>
              </a:lnSpc>
              <a:buFont typeface="Wingdings" pitchFamily="2" charset="2"/>
              <a:buChar char="Ø"/>
              <a:tabLst>
                <a:tab pos="1889125" algn="l"/>
                <a:tab pos="3028950" algn="l"/>
                <a:tab pos="4232275" algn="l"/>
              </a:tabLst>
              <a:defRPr/>
            </a:pPr>
            <a:r>
              <a:rPr lang="en-US" dirty="0">
                <a:cs typeface="Times New Roman" pitchFamily="18" charset="0"/>
              </a:rPr>
              <a:t>but the fewer digits needed </a:t>
            </a:r>
            <a:r>
              <a:rPr lang="en-US" dirty="0" smtClean="0">
                <a:cs typeface="Times New Roman" pitchFamily="18" charset="0"/>
              </a:rPr>
              <a:t>to represent a value</a:t>
            </a:r>
            <a:endParaRPr lang="en-US" dirty="0">
              <a:cs typeface="Times New Roman" pitchFamily="18" charset="0"/>
            </a:endParaRPr>
          </a:p>
          <a:p>
            <a:pPr>
              <a:lnSpc>
                <a:spcPct val="80000"/>
              </a:lnSpc>
              <a:buNone/>
              <a:tabLst>
                <a:tab pos="1889125" algn="l"/>
                <a:tab pos="3028950" algn="l"/>
                <a:tab pos="4232275" algn="l"/>
              </a:tabLst>
              <a:defRPr/>
            </a:pPr>
            <a:r>
              <a:rPr lang="en-US" sz="2800" dirty="0" smtClean="0">
                <a:cs typeface="Times New Roman" pitchFamily="18" charset="0"/>
              </a:rPr>
              <a:t>	</a:t>
            </a:r>
            <a:r>
              <a:rPr lang="en-US" sz="2800" i="1" dirty="0" smtClean="0">
                <a:cs typeface="Times New Roman" pitchFamily="18" charset="0"/>
              </a:rPr>
              <a:t>Example :</a:t>
            </a:r>
          </a:p>
          <a:p>
            <a:pPr>
              <a:lnSpc>
                <a:spcPct val="80000"/>
              </a:lnSpc>
              <a:buNone/>
              <a:tabLst>
                <a:tab pos="1889125" algn="l"/>
                <a:tab pos="3028950" algn="l"/>
                <a:tab pos="4232275" algn="l"/>
              </a:tabLst>
              <a:defRPr/>
            </a:pPr>
            <a:endParaRPr lang="en-US" sz="800" dirty="0">
              <a:cs typeface="Times New Roman" pitchFamily="18" charset="0"/>
            </a:endParaRPr>
          </a:p>
          <a:p>
            <a:pPr lvl="1" indent="-342900">
              <a:lnSpc>
                <a:spcPct val="80000"/>
              </a:lnSpc>
              <a:buNone/>
              <a:tabLst>
                <a:tab pos="1889125" algn="l"/>
                <a:tab pos="3028950" algn="l"/>
                <a:tab pos="4232275" algn="l"/>
              </a:tabLst>
              <a:defRPr/>
            </a:pPr>
            <a:r>
              <a:rPr lang="en-US" dirty="0" smtClean="0">
                <a:cs typeface="Times New Roman" pitchFamily="18" charset="0"/>
              </a:rPr>
              <a:t>F7</a:t>
            </a:r>
            <a:r>
              <a:rPr lang="en-US" baseline="-25000" dirty="0" smtClean="0">
                <a:cs typeface="Times New Roman" pitchFamily="18" charset="0"/>
              </a:rPr>
              <a:t>16</a:t>
            </a:r>
            <a:r>
              <a:rPr lang="en-US" dirty="0" smtClean="0">
                <a:cs typeface="Times New Roman" pitchFamily="18" charset="0"/>
              </a:rPr>
              <a:t> = 247</a:t>
            </a:r>
            <a:r>
              <a:rPr lang="en-US" baseline="-25000" dirty="0" smtClean="0">
                <a:cs typeface="Times New Roman" pitchFamily="18" charset="0"/>
              </a:rPr>
              <a:t>10</a:t>
            </a:r>
            <a:r>
              <a:rPr lang="en-US" dirty="0" smtClean="0">
                <a:cs typeface="Times New Roman" pitchFamily="18" charset="0"/>
              </a:rPr>
              <a:t> = 367</a:t>
            </a:r>
            <a:r>
              <a:rPr lang="en-US" baseline="-25000" dirty="0" smtClean="0">
                <a:cs typeface="Times New Roman" pitchFamily="18" charset="0"/>
              </a:rPr>
              <a:t>8</a:t>
            </a:r>
            <a:r>
              <a:rPr lang="en-US" dirty="0" smtClean="0">
                <a:cs typeface="Times New Roman" pitchFamily="18" charset="0"/>
              </a:rPr>
              <a:t> = 11110111</a:t>
            </a:r>
            <a:r>
              <a:rPr lang="en-US" baseline="-25000" dirty="0" smtClean="0">
                <a:cs typeface="Times New Roman" pitchFamily="18" charset="0"/>
              </a:rPr>
              <a:t>2</a:t>
            </a:r>
            <a:endParaRPr lang="en-US" baseline="-25000" dirty="0">
              <a:cs typeface="Times New Roman" pitchFamily="18" charset="0"/>
            </a:endParaRPr>
          </a:p>
          <a:p>
            <a:pPr>
              <a:lnSpc>
                <a:spcPct val="80000"/>
              </a:lnSpc>
              <a:buNone/>
              <a:tabLst>
                <a:tab pos="1889125" algn="l"/>
                <a:tab pos="3028950" algn="l"/>
                <a:tab pos="4232275" algn="l"/>
              </a:tabLst>
              <a:defRPr/>
            </a:pPr>
            <a:r>
              <a:rPr lang="en-US" sz="2800" dirty="0" smtClean="0">
                <a:cs typeface="Times New Roman" pitchFamily="18" charset="0"/>
              </a:rPr>
              <a:t>	</a:t>
            </a:r>
            <a:endParaRPr lang="en-US" sz="3200" dirty="0" smtClean="0"/>
          </a:p>
        </p:txBody>
      </p:sp>
      <p:sp>
        <p:nvSpPr>
          <p:cNvPr id="4" name="Right Brace 3"/>
          <p:cNvSpPr/>
          <p:nvPr/>
        </p:nvSpPr>
        <p:spPr>
          <a:xfrm rot="5400000">
            <a:off x="890368" y="6148168"/>
            <a:ext cx="381000" cy="27666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e 4"/>
          <p:cNvSpPr/>
          <p:nvPr/>
        </p:nvSpPr>
        <p:spPr>
          <a:xfrm rot="5400000">
            <a:off x="4557932" y="5562600"/>
            <a:ext cx="304800" cy="1371600"/>
          </a:xfrm>
          <a:prstGeom prst="rightBrace">
            <a:avLst>
              <a:gd name="adj1" fmla="val 8333"/>
              <a:gd name="adj2" fmla="val 4905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04800" y="6324600"/>
            <a:ext cx="373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2 digits needed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3886200" y="632460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8 digits needed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Conversion Among Bases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possibilities: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685800" y="2667000"/>
            <a:ext cx="7543800" cy="3734554"/>
            <a:chOff x="1220788" y="2514600"/>
            <a:chExt cx="6627812" cy="2828925"/>
          </a:xfrm>
        </p:grpSpPr>
        <p:sp>
          <p:nvSpPr>
            <p:cNvPr id="12292" name="Oval 4"/>
            <p:cNvSpPr>
              <a:spLocks noChangeArrowheads="1"/>
            </p:cNvSpPr>
            <p:nvPr/>
          </p:nvSpPr>
          <p:spPr bwMode="auto">
            <a:xfrm>
              <a:off x="5354638" y="4772025"/>
              <a:ext cx="2199857" cy="491760"/>
            </a:xfrm>
            <a:prstGeom prst="ellipse">
              <a:avLst/>
            </a:prstGeom>
            <a:solidFill>
              <a:srgbClr val="FFCC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400" dirty="0"/>
                <a:t>Hexadecimal</a:t>
              </a:r>
            </a:p>
          </p:txBody>
        </p:sp>
        <p:sp>
          <p:nvSpPr>
            <p:cNvPr id="12293" name="Oval 5"/>
            <p:cNvSpPr>
              <a:spLocks noChangeArrowheads="1"/>
            </p:cNvSpPr>
            <p:nvPr/>
          </p:nvSpPr>
          <p:spPr bwMode="auto">
            <a:xfrm>
              <a:off x="1220788" y="2514600"/>
              <a:ext cx="2513012" cy="666750"/>
            </a:xfrm>
            <a:prstGeom prst="ellipse">
              <a:avLst/>
            </a:prstGeom>
            <a:solidFill>
              <a:srgbClr val="FFCC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dirty="0"/>
                <a:t>Decimal</a:t>
              </a:r>
            </a:p>
          </p:txBody>
        </p:sp>
        <p:sp>
          <p:nvSpPr>
            <p:cNvPr id="12294" name="Oval 6"/>
            <p:cNvSpPr>
              <a:spLocks noChangeArrowheads="1"/>
            </p:cNvSpPr>
            <p:nvPr/>
          </p:nvSpPr>
          <p:spPr bwMode="auto">
            <a:xfrm>
              <a:off x="5335588" y="2514600"/>
              <a:ext cx="2513012" cy="666750"/>
            </a:xfrm>
            <a:prstGeom prst="ellipse">
              <a:avLst/>
            </a:prstGeom>
            <a:solidFill>
              <a:srgbClr val="FFCC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dirty="0"/>
                <a:t>Octal</a:t>
              </a:r>
            </a:p>
          </p:txBody>
        </p:sp>
        <p:sp>
          <p:nvSpPr>
            <p:cNvPr id="12295" name="Oval 7"/>
            <p:cNvSpPr>
              <a:spLocks noChangeArrowheads="1"/>
            </p:cNvSpPr>
            <p:nvPr/>
          </p:nvSpPr>
          <p:spPr bwMode="auto">
            <a:xfrm>
              <a:off x="1220788" y="4676775"/>
              <a:ext cx="2513012" cy="666750"/>
            </a:xfrm>
            <a:prstGeom prst="ellipse">
              <a:avLst/>
            </a:prstGeom>
            <a:solidFill>
              <a:srgbClr val="FFCC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dirty="0"/>
                <a:t>Binary</a:t>
              </a:r>
            </a:p>
          </p:txBody>
        </p:sp>
        <p:sp>
          <p:nvSpPr>
            <p:cNvPr id="12296" name="Line 8"/>
            <p:cNvSpPr>
              <a:spLocks noChangeShapeType="1"/>
            </p:cNvSpPr>
            <p:nvPr/>
          </p:nvSpPr>
          <p:spPr bwMode="auto">
            <a:xfrm flipV="1">
              <a:off x="3733800" y="3076575"/>
              <a:ext cx="1676400" cy="1752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2297" name="Line 9"/>
            <p:cNvSpPr>
              <a:spLocks noChangeShapeType="1"/>
            </p:cNvSpPr>
            <p:nvPr/>
          </p:nvSpPr>
          <p:spPr bwMode="auto">
            <a:xfrm flipH="1" flipV="1">
              <a:off x="3733800" y="3076575"/>
              <a:ext cx="1676400" cy="1752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2298" name="Line 10"/>
            <p:cNvSpPr>
              <a:spLocks noChangeShapeType="1"/>
            </p:cNvSpPr>
            <p:nvPr/>
          </p:nvSpPr>
          <p:spPr bwMode="auto">
            <a:xfrm flipV="1">
              <a:off x="6629400" y="3381375"/>
              <a:ext cx="0" cy="1219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2299" name="Line 11"/>
            <p:cNvSpPr>
              <a:spLocks noChangeShapeType="1"/>
            </p:cNvSpPr>
            <p:nvPr/>
          </p:nvSpPr>
          <p:spPr bwMode="auto">
            <a:xfrm flipV="1">
              <a:off x="2438400" y="3305175"/>
              <a:ext cx="0" cy="1219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2300" name="Line 12"/>
            <p:cNvSpPr>
              <a:spLocks noChangeShapeType="1"/>
            </p:cNvSpPr>
            <p:nvPr/>
          </p:nvSpPr>
          <p:spPr bwMode="auto">
            <a:xfrm rot="5400000" flipV="1">
              <a:off x="4572000" y="2238375"/>
              <a:ext cx="0" cy="1219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2301" name="Line 13"/>
            <p:cNvSpPr>
              <a:spLocks noChangeShapeType="1"/>
            </p:cNvSpPr>
            <p:nvPr/>
          </p:nvSpPr>
          <p:spPr bwMode="auto">
            <a:xfrm rot="5400000" flipV="1">
              <a:off x="4572000" y="4448175"/>
              <a:ext cx="0" cy="1219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Decimal to Binary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38200" y="1981200"/>
            <a:ext cx="7315200" cy="3886200"/>
            <a:chOff x="1220788" y="1981200"/>
            <a:chExt cx="6637735" cy="2858988"/>
          </a:xfrm>
        </p:grpSpPr>
        <p:sp>
          <p:nvSpPr>
            <p:cNvPr id="13315" name="Oval 1027"/>
            <p:cNvSpPr>
              <a:spLocks noChangeArrowheads="1"/>
            </p:cNvSpPr>
            <p:nvPr/>
          </p:nvSpPr>
          <p:spPr bwMode="auto">
            <a:xfrm>
              <a:off x="5354638" y="4191000"/>
              <a:ext cx="2503885" cy="649188"/>
            </a:xfrm>
            <a:prstGeom prst="ellipse">
              <a:avLst/>
            </a:prstGeom>
            <a:solidFill>
              <a:srgbClr val="FFCC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400"/>
                <a:t>Hexadecimal</a:t>
              </a:r>
            </a:p>
          </p:txBody>
        </p:sp>
        <p:sp>
          <p:nvSpPr>
            <p:cNvPr id="13316" name="Oval 1028"/>
            <p:cNvSpPr>
              <a:spLocks noChangeArrowheads="1"/>
            </p:cNvSpPr>
            <p:nvPr/>
          </p:nvSpPr>
          <p:spPr bwMode="auto">
            <a:xfrm>
              <a:off x="1220788" y="1981200"/>
              <a:ext cx="2513012" cy="666750"/>
            </a:xfrm>
            <a:prstGeom prst="ellipse">
              <a:avLst/>
            </a:prstGeom>
            <a:solidFill>
              <a:srgbClr val="FFCC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dirty="0"/>
                <a:t>Decimal</a:t>
              </a:r>
            </a:p>
          </p:txBody>
        </p:sp>
        <p:sp>
          <p:nvSpPr>
            <p:cNvPr id="13317" name="Oval 1029"/>
            <p:cNvSpPr>
              <a:spLocks noChangeArrowheads="1"/>
            </p:cNvSpPr>
            <p:nvPr/>
          </p:nvSpPr>
          <p:spPr bwMode="auto">
            <a:xfrm>
              <a:off x="5335588" y="1981200"/>
              <a:ext cx="2513012" cy="666750"/>
            </a:xfrm>
            <a:prstGeom prst="ellipse">
              <a:avLst/>
            </a:prstGeom>
            <a:solidFill>
              <a:srgbClr val="FFCC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dirty="0"/>
                <a:t>Octal</a:t>
              </a:r>
            </a:p>
          </p:txBody>
        </p:sp>
        <p:sp>
          <p:nvSpPr>
            <p:cNvPr id="13318" name="Oval 1030"/>
            <p:cNvSpPr>
              <a:spLocks noChangeArrowheads="1"/>
            </p:cNvSpPr>
            <p:nvPr/>
          </p:nvSpPr>
          <p:spPr bwMode="auto">
            <a:xfrm>
              <a:off x="1220788" y="4143375"/>
              <a:ext cx="2513012" cy="666750"/>
            </a:xfrm>
            <a:prstGeom prst="ellipse">
              <a:avLst/>
            </a:prstGeom>
            <a:solidFill>
              <a:srgbClr val="FFCC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dirty="0"/>
                <a:t>Binary</a:t>
              </a:r>
              <a:endParaRPr lang="en-US" dirty="0"/>
            </a:p>
          </p:txBody>
        </p:sp>
        <p:sp>
          <p:nvSpPr>
            <p:cNvPr id="13319" name="Line 1031"/>
            <p:cNvSpPr>
              <a:spLocks noChangeShapeType="1"/>
            </p:cNvSpPr>
            <p:nvPr/>
          </p:nvSpPr>
          <p:spPr bwMode="auto">
            <a:xfrm>
              <a:off x="2438400" y="2895600"/>
              <a:ext cx="0" cy="106680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914400"/>
            <a:ext cx="8915400" cy="762000"/>
          </a:xfrm>
        </p:spPr>
        <p:txBody>
          <a:bodyPr>
            <a:noAutofit/>
          </a:bodyPr>
          <a:lstStyle/>
          <a:p>
            <a:pPr marL="342900" indent="-342900"/>
            <a:r>
              <a:rPr lang="en-GB" sz="4000" dirty="0" smtClean="0">
                <a:cs typeface="Times New Roman" pitchFamily="18" charset="0"/>
              </a:rPr>
              <a:t>Converting a decimal number into binary</a:t>
            </a:r>
            <a:br>
              <a:rPr lang="en-GB" sz="4000" dirty="0" smtClean="0">
                <a:cs typeface="Times New Roman" pitchFamily="18" charset="0"/>
              </a:rPr>
            </a:br>
            <a:endParaRPr lang="en-GB" sz="2800" dirty="0" smtClean="0">
              <a:solidFill>
                <a:srgbClr val="336600"/>
              </a:solidFill>
              <a:cs typeface="Times New Roman" pitchFamily="18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981200"/>
            <a:ext cx="9144000" cy="4114800"/>
          </a:xfrm>
        </p:spPr>
        <p:txBody>
          <a:bodyPr>
            <a:normAutofit fontScale="92500"/>
          </a:bodyPr>
          <a:lstStyle/>
          <a:p>
            <a:pPr marL="57150" indent="0" defTabSz="909638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en-GB" sz="3600" b="1" dirty="0" smtClean="0">
                <a:cs typeface="Times New Roman" pitchFamily="18" charset="0"/>
              </a:rPr>
              <a:t>      </a:t>
            </a:r>
            <a:r>
              <a:rPr lang="en-GB" sz="3500" b="1" dirty="0" smtClean="0">
                <a:cs typeface="Times New Roman" pitchFamily="18" charset="0"/>
              </a:rPr>
              <a:t>Technique</a:t>
            </a:r>
            <a:endParaRPr lang="en-GB" sz="3600" b="1" dirty="0">
              <a:cs typeface="Times New Roman" pitchFamily="18" charset="0"/>
            </a:endParaRPr>
          </a:p>
          <a:p>
            <a:pPr marL="912813" lvl="1" indent="-288925" defTabSz="909638">
              <a:lnSpc>
                <a:spcPct val="150000"/>
              </a:lnSpc>
              <a:buNone/>
              <a:defRPr/>
            </a:pPr>
            <a:r>
              <a:rPr lang="en-GB" sz="3000" b="1" dirty="0" smtClean="0">
                <a:cs typeface="Times New Roman" pitchFamily="18" charset="0"/>
              </a:rPr>
              <a:t>-</a:t>
            </a:r>
            <a:r>
              <a:rPr lang="en-GB" sz="3000" dirty="0" smtClean="0">
                <a:cs typeface="Times New Roman" pitchFamily="18" charset="0"/>
              </a:rPr>
              <a:t> Divide </a:t>
            </a:r>
            <a:r>
              <a:rPr lang="en-GB" sz="3000" dirty="0">
                <a:cs typeface="Times New Roman" pitchFamily="18" charset="0"/>
              </a:rPr>
              <a:t>the decimal number by 2 and take its remainder</a:t>
            </a:r>
          </a:p>
          <a:p>
            <a:pPr marL="912813" lvl="1" indent="-288925" defTabSz="909638">
              <a:lnSpc>
                <a:spcPct val="150000"/>
              </a:lnSpc>
              <a:buNone/>
              <a:defRPr/>
            </a:pPr>
            <a:r>
              <a:rPr lang="en-GB" sz="3000" dirty="0" smtClean="0">
                <a:cs typeface="Times New Roman" pitchFamily="18" charset="0"/>
              </a:rPr>
              <a:t>- The </a:t>
            </a:r>
            <a:r>
              <a:rPr lang="en-GB" sz="3000" dirty="0">
                <a:cs typeface="Times New Roman" pitchFamily="18" charset="0"/>
              </a:rPr>
              <a:t>process is repeated until it produces the result of 0</a:t>
            </a:r>
          </a:p>
          <a:p>
            <a:pPr marL="912813" lvl="1" indent="-288925" defTabSz="909638">
              <a:lnSpc>
                <a:spcPct val="150000"/>
              </a:lnSpc>
              <a:buNone/>
              <a:defRPr/>
            </a:pPr>
            <a:r>
              <a:rPr lang="en-GB" sz="3000" dirty="0" smtClean="0">
                <a:cs typeface="Times New Roman" pitchFamily="18" charset="0"/>
              </a:rPr>
              <a:t>- The </a:t>
            </a:r>
            <a:r>
              <a:rPr lang="en-GB" sz="3000" dirty="0">
                <a:cs typeface="Times New Roman" pitchFamily="18" charset="0"/>
              </a:rPr>
              <a:t>binary number is obtained by taking the remainder </a:t>
            </a:r>
            <a:r>
              <a:rPr lang="en-GB" sz="3000" b="1" dirty="0">
                <a:cs typeface="Times New Roman" pitchFamily="18" charset="0"/>
              </a:rPr>
              <a:t>from the bottom to the </a:t>
            </a:r>
            <a:r>
              <a:rPr lang="en-GB" sz="3000" b="1" dirty="0" smtClean="0">
                <a:cs typeface="Times New Roman" pitchFamily="18" charset="0"/>
              </a:rPr>
              <a:t>top</a:t>
            </a:r>
            <a:endParaRPr lang="en-GB" sz="3000" b="1" dirty="0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838200"/>
          </a:xfrm>
        </p:spPr>
        <p:txBody>
          <a:bodyPr/>
          <a:lstStyle/>
          <a:p>
            <a:r>
              <a:rPr lang="en-US" dirty="0" smtClean="0"/>
              <a:t>Example</a:t>
            </a:r>
          </a:p>
        </p:txBody>
      </p:sp>
      <p:sp>
        <p:nvSpPr>
          <p:cNvPr id="16387" name="Text Box 1027"/>
          <p:cNvSpPr txBox="1">
            <a:spLocks noChangeArrowheads="1"/>
          </p:cNvSpPr>
          <p:nvPr/>
        </p:nvSpPr>
        <p:spPr bwMode="auto">
          <a:xfrm>
            <a:off x="304800" y="1371600"/>
            <a:ext cx="2362200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dirty="0">
                <a:latin typeface="Courier New" pitchFamily="49" charset="0"/>
              </a:rPr>
              <a:t>125</a:t>
            </a:r>
            <a:r>
              <a:rPr lang="en-US" sz="2800" baseline="-25000" dirty="0">
                <a:latin typeface="Courier New" pitchFamily="49" charset="0"/>
              </a:rPr>
              <a:t>10</a:t>
            </a:r>
            <a:r>
              <a:rPr lang="en-US" sz="2800" dirty="0">
                <a:latin typeface="Courier New" pitchFamily="49" charset="0"/>
              </a:rPr>
              <a:t> = ?</a:t>
            </a:r>
            <a:r>
              <a:rPr lang="en-US" sz="2800" baseline="-25000" dirty="0">
                <a:latin typeface="Courier New" pitchFamily="49" charset="0"/>
              </a:rPr>
              <a:t>2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3222625" y="1379617"/>
            <a:ext cx="2644775" cy="3878183"/>
            <a:chOff x="3527425" y="1295402"/>
            <a:chExt cx="2089150" cy="3070228"/>
          </a:xfrm>
        </p:grpSpPr>
        <p:grpSp>
          <p:nvGrpSpPr>
            <p:cNvPr id="2" name="Group 1028"/>
            <p:cNvGrpSpPr>
              <a:grpSpLocks/>
            </p:cNvGrpSpPr>
            <p:nvPr/>
          </p:nvGrpSpPr>
          <p:grpSpPr bwMode="auto">
            <a:xfrm>
              <a:off x="3543300" y="1295402"/>
              <a:ext cx="2057400" cy="755651"/>
              <a:chOff x="2232" y="816"/>
              <a:chExt cx="1296" cy="476"/>
            </a:xfrm>
          </p:grpSpPr>
          <p:sp>
            <p:nvSpPr>
              <p:cNvPr id="16415" name="Text Box 1029"/>
              <p:cNvSpPr txBox="1">
                <a:spLocks noChangeArrowheads="1"/>
              </p:cNvSpPr>
              <p:nvPr/>
            </p:nvSpPr>
            <p:spPr bwMode="auto">
              <a:xfrm>
                <a:off x="2232" y="816"/>
                <a:ext cx="1296" cy="476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800" dirty="0">
                    <a:latin typeface="Courier New" pitchFamily="49" charset="0"/>
                  </a:rPr>
                  <a:t>2 125</a:t>
                </a:r>
                <a:br>
                  <a:rPr lang="en-US" sz="2800" dirty="0">
                    <a:latin typeface="Courier New" pitchFamily="49" charset="0"/>
                  </a:rPr>
                </a:br>
                <a:r>
                  <a:rPr lang="en-US" sz="2800" dirty="0">
                    <a:latin typeface="Courier New" pitchFamily="49" charset="0"/>
                  </a:rPr>
                  <a:t>   62   1</a:t>
                </a:r>
                <a:endParaRPr lang="en-US" sz="2800" baseline="-25000" dirty="0">
                  <a:latin typeface="Courier New" pitchFamily="49" charset="0"/>
                </a:endParaRPr>
              </a:p>
            </p:txBody>
          </p:sp>
          <p:sp>
            <p:nvSpPr>
              <p:cNvPr id="16416" name="Line 1030"/>
              <p:cNvSpPr>
                <a:spLocks noChangeShapeType="1"/>
              </p:cNvSpPr>
              <p:nvPr/>
            </p:nvSpPr>
            <p:spPr bwMode="auto">
              <a:xfrm>
                <a:off x="2448" y="864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 sz="2800"/>
              </a:p>
            </p:txBody>
          </p:sp>
          <p:sp>
            <p:nvSpPr>
              <p:cNvPr id="16417" name="Line 1031"/>
              <p:cNvSpPr>
                <a:spLocks noChangeShapeType="1"/>
              </p:cNvSpPr>
              <p:nvPr/>
            </p:nvSpPr>
            <p:spPr bwMode="auto">
              <a:xfrm>
                <a:off x="2448" y="1056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 sz="2800"/>
              </a:p>
            </p:txBody>
          </p:sp>
        </p:grpSp>
        <p:grpSp>
          <p:nvGrpSpPr>
            <p:cNvPr id="3" name="Group 1032"/>
            <p:cNvGrpSpPr>
              <a:grpSpLocks/>
            </p:cNvGrpSpPr>
            <p:nvPr/>
          </p:nvGrpSpPr>
          <p:grpSpPr bwMode="auto">
            <a:xfrm>
              <a:off x="3543300" y="1676402"/>
              <a:ext cx="2057400" cy="755651"/>
              <a:chOff x="2232" y="1056"/>
              <a:chExt cx="1296" cy="476"/>
            </a:xfrm>
          </p:grpSpPr>
          <p:sp>
            <p:nvSpPr>
              <p:cNvPr id="16412" name="Text Box 1033"/>
              <p:cNvSpPr txBox="1">
                <a:spLocks noChangeArrowheads="1"/>
              </p:cNvSpPr>
              <p:nvPr/>
            </p:nvSpPr>
            <p:spPr bwMode="auto">
              <a:xfrm>
                <a:off x="2232" y="1056"/>
                <a:ext cx="1296" cy="476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800" dirty="0">
                    <a:latin typeface="Courier New" pitchFamily="49" charset="0"/>
                  </a:rPr>
                  <a:t>2    </a:t>
                </a:r>
                <a:br>
                  <a:rPr lang="en-US" sz="2800" dirty="0">
                    <a:latin typeface="Courier New" pitchFamily="49" charset="0"/>
                  </a:rPr>
                </a:br>
                <a:r>
                  <a:rPr lang="en-US" sz="2800" dirty="0">
                    <a:latin typeface="Courier New" pitchFamily="49" charset="0"/>
                  </a:rPr>
                  <a:t>   31   0</a:t>
                </a:r>
                <a:endParaRPr lang="en-US" sz="2800" baseline="-25000" dirty="0">
                  <a:latin typeface="Courier New" pitchFamily="49" charset="0"/>
                </a:endParaRPr>
              </a:p>
            </p:txBody>
          </p:sp>
          <p:sp>
            <p:nvSpPr>
              <p:cNvPr id="16413" name="Line 1034"/>
              <p:cNvSpPr>
                <a:spLocks noChangeShapeType="1"/>
              </p:cNvSpPr>
              <p:nvPr/>
            </p:nvSpPr>
            <p:spPr bwMode="auto">
              <a:xfrm>
                <a:off x="2448" y="1104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 sz="2800"/>
              </a:p>
            </p:txBody>
          </p:sp>
          <p:sp>
            <p:nvSpPr>
              <p:cNvPr id="16414" name="Line 1035"/>
              <p:cNvSpPr>
                <a:spLocks noChangeShapeType="1"/>
              </p:cNvSpPr>
              <p:nvPr/>
            </p:nvSpPr>
            <p:spPr bwMode="auto">
              <a:xfrm>
                <a:off x="2448" y="1296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 sz="2800"/>
              </a:p>
            </p:txBody>
          </p:sp>
        </p:grpSp>
        <p:grpSp>
          <p:nvGrpSpPr>
            <p:cNvPr id="4" name="Group 1036"/>
            <p:cNvGrpSpPr>
              <a:grpSpLocks/>
            </p:cNvGrpSpPr>
            <p:nvPr/>
          </p:nvGrpSpPr>
          <p:grpSpPr bwMode="auto">
            <a:xfrm>
              <a:off x="3543300" y="2057403"/>
              <a:ext cx="2057400" cy="755651"/>
              <a:chOff x="2232" y="1296"/>
              <a:chExt cx="1296" cy="476"/>
            </a:xfrm>
          </p:grpSpPr>
          <p:sp>
            <p:nvSpPr>
              <p:cNvPr id="16409" name="Text Box 1037"/>
              <p:cNvSpPr txBox="1">
                <a:spLocks noChangeArrowheads="1"/>
              </p:cNvSpPr>
              <p:nvPr/>
            </p:nvSpPr>
            <p:spPr bwMode="auto">
              <a:xfrm>
                <a:off x="2232" y="1296"/>
                <a:ext cx="1296" cy="476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800">
                    <a:latin typeface="Courier New" pitchFamily="49" charset="0"/>
                  </a:rPr>
                  <a:t>2    </a:t>
                </a:r>
                <a:br>
                  <a:rPr lang="en-US" sz="2800">
                    <a:latin typeface="Courier New" pitchFamily="49" charset="0"/>
                  </a:rPr>
                </a:br>
                <a:r>
                  <a:rPr lang="en-US" sz="2800">
                    <a:latin typeface="Courier New" pitchFamily="49" charset="0"/>
                  </a:rPr>
                  <a:t>   15   1</a:t>
                </a:r>
                <a:endParaRPr lang="en-US" sz="2800" baseline="-25000">
                  <a:latin typeface="Courier New" pitchFamily="49" charset="0"/>
                </a:endParaRPr>
              </a:p>
            </p:txBody>
          </p:sp>
          <p:sp>
            <p:nvSpPr>
              <p:cNvPr id="16410" name="Line 1038"/>
              <p:cNvSpPr>
                <a:spLocks noChangeShapeType="1"/>
              </p:cNvSpPr>
              <p:nvPr/>
            </p:nvSpPr>
            <p:spPr bwMode="auto">
              <a:xfrm>
                <a:off x="2448" y="1344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 sz="2800"/>
              </a:p>
            </p:txBody>
          </p:sp>
          <p:sp>
            <p:nvSpPr>
              <p:cNvPr id="16411" name="Line 1039"/>
              <p:cNvSpPr>
                <a:spLocks noChangeShapeType="1"/>
              </p:cNvSpPr>
              <p:nvPr/>
            </p:nvSpPr>
            <p:spPr bwMode="auto">
              <a:xfrm>
                <a:off x="2448" y="1536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 sz="2800"/>
              </a:p>
            </p:txBody>
          </p:sp>
        </p:grpSp>
        <p:grpSp>
          <p:nvGrpSpPr>
            <p:cNvPr id="5" name="Group 1040"/>
            <p:cNvGrpSpPr>
              <a:grpSpLocks/>
            </p:cNvGrpSpPr>
            <p:nvPr/>
          </p:nvGrpSpPr>
          <p:grpSpPr bwMode="auto">
            <a:xfrm>
              <a:off x="3527425" y="2451104"/>
              <a:ext cx="2057400" cy="755651"/>
              <a:chOff x="624" y="2112"/>
              <a:chExt cx="1296" cy="476"/>
            </a:xfrm>
          </p:grpSpPr>
          <p:sp>
            <p:nvSpPr>
              <p:cNvPr id="16406" name="Text Box 1041"/>
              <p:cNvSpPr txBox="1">
                <a:spLocks noChangeArrowheads="1"/>
              </p:cNvSpPr>
              <p:nvPr/>
            </p:nvSpPr>
            <p:spPr bwMode="auto">
              <a:xfrm>
                <a:off x="624" y="2112"/>
                <a:ext cx="1296" cy="476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800" dirty="0">
                    <a:latin typeface="Courier New" pitchFamily="49" charset="0"/>
                  </a:rPr>
                  <a:t>2    </a:t>
                </a:r>
                <a:br>
                  <a:rPr lang="en-US" sz="2800" dirty="0">
                    <a:latin typeface="Courier New" pitchFamily="49" charset="0"/>
                  </a:rPr>
                </a:br>
                <a:r>
                  <a:rPr lang="en-US" sz="2800" dirty="0">
                    <a:latin typeface="Courier New" pitchFamily="49" charset="0"/>
                  </a:rPr>
                  <a:t>    7   1</a:t>
                </a:r>
                <a:endParaRPr lang="en-US" sz="2800" baseline="-25000" dirty="0">
                  <a:latin typeface="Courier New" pitchFamily="49" charset="0"/>
                </a:endParaRPr>
              </a:p>
            </p:txBody>
          </p:sp>
          <p:sp>
            <p:nvSpPr>
              <p:cNvPr id="16407" name="Line 1042"/>
              <p:cNvSpPr>
                <a:spLocks noChangeShapeType="1"/>
              </p:cNvSpPr>
              <p:nvPr/>
            </p:nvSpPr>
            <p:spPr bwMode="auto">
              <a:xfrm>
                <a:off x="864" y="2160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 sz="2800"/>
              </a:p>
            </p:txBody>
          </p:sp>
          <p:sp>
            <p:nvSpPr>
              <p:cNvPr id="16408" name="Line 1043"/>
              <p:cNvSpPr>
                <a:spLocks noChangeShapeType="1"/>
              </p:cNvSpPr>
              <p:nvPr/>
            </p:nvSpPr>
            <p:spPr bwMode="auto">
              <a:xfrm>
                <a:off x="864" y="2352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 sz="2800"/>
              </a:p>
            </p:txBody>
          </p:sp>
        </p:grpSp>
        <p:grpSp>
          <p:nvGrpSpPr>
            <p:cNvPr id="6" name="Group 1044"/>
            <p:cNvGrpSpPr>
              <a:grpSpLocks/>
            </p:cNvGrpSpPr>
            <p:nvPr/>
          </p:nvGrpSpPr>
          <p:grpSpPr bwMode="auto">
            <a:xfrm>
              <a:off x="3559175" y="2846392"/>
              <a:ext cx="2057400" cy="755651"/>
              <a:chOff x="2232" y="1783"/>
              <a:chExt cx="1296" cy="476"/>
            </a:xfrm>
          </p:grpSpPr>
          <p:sp>
            <p:nvSpPr>
              <p:cNvPr id="16403" name="Text Box 1045"/>
              <p:cNvSpPr txBox="1">
                <a:spLocks noChangeArrowheads="1"/>
              </p:cNvSpPr>
              <p:nvPr/>
            </p:nvSpPr>
            <p:spPr bwMode="auto">
              <a:xfrm>
                <a:off x="2232" y="1783"/>
                <a:ext cx="1296" cy="476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800" dirty="0">
                    <a:latin typeface="Courier New" pitchFamily="49" charset="0"/>
                  </a:rPr>
                  <a:t>2    </a:t>
                </a:r>
                <a:br>
                  <a:rPr lang="en-US" sz="2800" dirty="0">
                    <a:latin typeface="Courier New" pitchFamily="49" charset="0"/>
                  </a:rPr>
                </a:br>
                <a:r>
                  <a:rPr lang="en-US" sz="2800" dirty="0">
                    <a:latin typeface="Courier New" pitchFamily="49" charset="0"/>
                  </a:rPr>
                  <a:t>    3   1</a:t>
                </a:r>
                <a:endParaRPr lang="en-US" sz="2800" baseline="-25000" dirty="0">
                  <a:latin typeface="Courier New" pitchFamily="49" charset="0"/>
                </a:endParaRPr>
              </a:p>
            </p:txBody>
          </p:sp>
          <p:sp>
            <p:nvSpPr>
              <p:cNvPr id="16404" name="Line 1046"/>
              <p:cNvSpPr>
                <a:spLocks noChangeShapeType="1"/>
              </p:cNvSpPr>
              <p:nvPr/>
            </p:nvSpPr>
            <p:spPr bwMode="auto">
              <a:xfrm>
                <a:off x="2448" y="1831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 sz="2800"/>
              </a:p>
            </p:txBody>
          </p:sp>
          <p:sp>
            <p:nvSpPr>
              <p:cNvPr id="16405" name="Line 1047"/>
              <p:cNvSpPr>
                <a:spLocks noChangeShapeType="1"/>
              </p:cNvSpPr>
              <p:nvPr/>
            </p:nvSpPr>
            <p:spPr bwMode="auto">
              <a:xfrm>
                <a:off x="2448" y="2023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 sz="2800"/>
              </a:p>
            </p:txBody>
          </p:sp>
        </p:grpSp>
        <p:grpSp>
          <p:nvGrpSpPr>
            <p:cNvPr id="7" name="Group 1048"/>
            <p:cNvGrpSpPr>
              <a:grpSpLocks/>
            </p:cNvGrpSpPr>
            <p:nvPr/>
          </p:nvGrpSpPr>
          <p:grpSpPr bwMode="auto">
            <a:xfrm>
              <a:off x="3559175" y="3228981"/>
              <a:ext cx="2057400" cy="755651"/>
              <a:chOff x="2232" y="2976"/>
              <a:chExt cx="1296" cy="476"/>
            </a:xfrm>
          </p:grpSpPr>
          <p:sp>
            <p:nvSpPr>
              <p:cNvPr id="16400" name="Text Box 1049"/>
              <p:cNvSpPr txBox="1">
                <a:spLocks noChangeArrowheads="1"/>
              </p:cNvSpPr>
              <p:nvPr/>
            </p:nvSpPr>
            <p:spPr bwMode="auto">
              <a:xfrm>
                <a:off x="2232" y="2976"/>
                <a:ext cx="1296" cy="476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800">
                    <a:latin typeface="Courier New" pitchFamily="49" charset="0"/>
                  </a:rPr>
                  <a:t>2    </a:t>
                </a:r>
                <a:br>
                  <a:rPr lang="en-US" sz="2800">
                    <a:latin typeface="Courier New" pitchFamily="49" charset="0"/>
                  </a:rPr>
                </a:br>
                <a:r>
                  <a:rPr lang="en-US" sz="2800">
                    <a:latin typeface="Courier New" pitchFamily="49" charset="0"/>
                  </a:rPr>
                  <a:t>    1   1</a:t>
                </a:r>
                <a:endParaRPr lang="en-US" sz="2800" baseline="-25000">
                  <a:latin typeface="Courier New" pitchFamily="49" charset="0"/>
                </a:endParaRPr>
              </a:p>
            </p:txBody>
          </p:sp>
          <p:sp>
            <p:nvSpPr>
              <p:cNvPr id="16401" name="Line 1050"/>
              <p:cNvSpPr>
                <a:spLocks noChangeShapeType="1"/>
              </p:cNvSpPr>
              <p:nvPr/>
            </p:nvSpPr>
            <p:spPr bwMode="auto">
              <a:xfrm>
                <a:off x="2448" y="3001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 sz="2800"/>
              </a:p>
            </p:txBody>
          </p:sp>
          <p:sp>
            <p:nvSpPr>
              <p:cNvPr id="16402" name="Line 1051"/>
              <p:cNvSpPr>
                <a:spLocks noChangeShapeType="1"/>
              </p:cNvSpPr>
              <p:nvPr/>
            </p:nvSpPr>
            <p:spPr bwMode="auto">
              <a:xfrm>
                <a:off x="2448" y="3216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 sz="2800"/>
              </a:p>
            </p:txBody>
          </p:sp>
        </p:grpSp>
        <p:grpSp>
          <p:nvGrpSpPr>
            <p:cNvPr id="8" name="Group 1052"/>
            <p:cNvGrpSpPr>
              <a:grpSpLocks/>
            </p:cNvGrpSpPr>
            <p:nvPr/>
          </p:nvGrpSpPr>
          <p:grpSpPr bwMode="auto">
            <a:xfrm>
              <a:off x="3543300" y="3609979"/>
              <a:ext cx="2057400" cy="755651"/>
              <a:chOff x="2232" y="2284"/>
              <a:chExt cx="1296" cy="476"/>
            </a:xfrm>
          </p:grpSpPr>
          <p:sp>
            <p:nvSpPr>
              <p:cNvPr id="16397" name="Text Box 1053"/>
              <p:cNvSpPr txBox="1">
                <a:spLocks noChangeArrowheads="1"/>
              </p:cNvSpPr>
              <p:nvPr/>
            </p:nvSpPr>
            <p:spPr bwMode="auto">
              <a:xfrm>
                <a:off x="2232" y="2284"/>
                <a:ext cx="1296" cy="476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800" dirty="0">
                    <a:latin typeface="Courier New" pitchFamily="49" charset="0"/>
                  </a:rPr>
                  <a:t>2    </a:t>
                </a:r>
                <a:br>
                  <a:rPr lang="en-US" sz="2800" dirty="0">
                    <a:latin typeface="Courier New" pitchFamily="49" charset="0"/>
                  </a:rPr>
                </a:br>
                <a:r>
                  <a:rPr lang="en-US" sz="2800" dirty="0">
                    <a:latin typeface="Courier New" pitchFamily="49" charset="0"/>
                  </a:rPr>
                  <a:t>    0   1</a:t>
                </a:r>
                <a:endParaRPr lang="en-US" sz="2800" baseline="-25000" dirty="0">
                  <a:latin typeface="Courier New" pitchFamily="49" charset="0"/>
                </a:endParaRPr>
              </a:p>
            </p:txBody>
          </p:sp>
          <p:sp>
            <p:nvSpPr>
              <p:cNvPr id="16398" name="Line 1054"/>
              <p:cNvSpPr>
                <a:spLocks noChangeShapeType="1"/>
              </p:cNvSpPr>
              <p:nvPr/>
            </p:nvSpPr>
            <p:spPr bwMode="auto">
              <a:xfrm>
                <a:off x="2448" y="2332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 sz="2800"/>
              </a:p>
            </p:txBody>
          </p:sp>
          <p:sp>
            <p:nvSpPr>
              <p:cNvPr id="16399" name="Line 1055"/>
              <p:cNvSpPr>
                <a:spLocks noChangeShapeType="1"/>
              </p:cNvSpPr>
              <p:nvPr/>
            </p:nvSpPr>
            <p:spPr bwMode="auto">
              <a:xfrm>
                <a:off x="2448" y="2524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 sz="2800"/>
              </a:p>
            </p:txBody>
          </p:sp>
        </p:grpSp>
      </p:grpSp>
      <p:sp>
        <p:nvSpPr>
          <p:cNvPr id="144416" name="Text Box 1056"/>
          <p:cNvSpPr txBox="1">
            <a:spLocks noChangeArrowheads="1"/>
          </p:cNvSpPr>
          <p:nvPr/>
        </p:nvSpPr>
        <p:spPr bwMode="auto">
          <a:xfrm>
            <a:off x="4800600" y="5562600"/>
            <a:ext cx="4038600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dirty="0">
                <a:latin typeface="Courier New" pitchFamily="49" charset="0"/>
              </a:rPr>
              <a:t>125</a:t>
            </a:r>
            <a:r>
              <a:rPr lang="en-US" sz="2800" baseline="-25000" dirty="0">
                <a:latin typeface="Courier New" pitchFamily="49" charset="0"/>
              </a:rPr>
              <a:t>10</a:t>
            </a:r>
            <a:r>
              <a:rPr lang="en-US" sz="2800" dirty="0">
                <a:latin typeface="Courier New" pitchFamily="49" charset="0"/>
              </a:rPr>
              <a:t> = 1111101</a:t>
            </a:r>
            <a:r>
              <a:rPr lang="en-US" sz="2800" baseline="-25000" dirty="0">
                <a:latin typeface="Courier New" pitchFamily="49" charset="0"/>
              </a:rPr>
              <a:t>2</a:t>
            </a:r>
          </a:p>
        </p:txBody>
      </p:sp>
      <p:sp>
        <p:nvSpPr>
          <p:cNvPr id="144417" name="Freeform 1057"/>
          <p:cNvSpPr>
            <a:spLocks/>
          </p:cNvSpPr>
          <p:nvPr/>
        </p:nvSpPr>
        <p:spPr bwMode="auto">
          <a:xfrm>
            <a:off x="5257800" y="1981200"/>
            <a:ext cx="2895600" cy="3581400"/>
          </a:xfrm>
          <a:custGeom>
            <a:avLst/>
            <a:gdLst>
              <a:gd name="T0" fmla="*/ 0 w 1776"/>
              <a:gd name="T1" fmla="*/ 0 h 2064"/>
              <a:gd name="T2" fmla="*/ 2147483646 w 1776"/>
              <a:gd name="T3" fmla="*/ 2147483646 h 2064"/>
              <a:gd name="T4" fmla="*/ 2147483646 w 1776"/>
              <a:gd name="T5" fmla="*/ 2147483646 h 20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776" h="2064">
                <a:moveTo>
                  <a:pt x="0" y="0"/>
                </a:moveTo>
                <a:cubicBezTo>
                  <a:pt x="173" y="68"/>
                  <a:pt x="740" y="64"/>
                  <a:pt x="1036" y="408"/>
                </a:cubicBezTo>
                <a:cubicBezTo>
                  <a:pt x="1332" y="752"/>
                  <a:pt x="1622" y="1719"/>
                  <a:pt x="1776" y="2064"/>
                </a:cubicBezTo>
              </a:path>
            </a:pathLst>
          </a:cu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wrap="square" anchor="ctr">
            <a:no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4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416" grpId="0" build="p" autoUpdateAnimBg="0"/>
      <p:bldP spid="1444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762000"/>
          </a:xfrm>
        </p:spPr>
        <p:txBody>
          <a:bodyPr>
            <a:normAutofit/>
          </a:bodyPr>
          <a:lstStyle/>
          <a:p>
            <a:r>
              <a:rPr lang="en-GB" sz="2800" b="1" dirty="0" smtClean="0">
                <a:latin typeface="Courier New" pitchFamily="49" charset="0"/>
                <a:cs typeface="Times New Roman" pitchFamily="18" charset="0"/>
              </a:rPr>
              <a:t>Example:   Decimal </a:t>
            </a:r>
            <a:r>
              <a:rPr lang="en-GB" sz="2800" b="1" dirty="0" smtClean="0">
                <a:latin typeface="Courier New" pitchFamily="49" charset="0"/>
                <a:cs typeface="Times New Roman" pitchFamily="18" charset="0"/>
                <a:sym typeface="Wingdings" pitchFamily="2" charset="2"/>
              </a:rPr>
              <a:t> Binary</a:t>
            </a:r>
            <a:endParaRPr lang="en-GB" sz="2800" b="1" dirty="0" smtClean="0">
              <a:latin typeface="Courier New" pitchFamily="49" charset="0"/>
              <a:cs typeface="Times New Roman" pitchFamily="18" charset="0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8153400" cy="4953000"/>
          </a:xfrm>
        </p:spPr>
        <p:txBody>
          <a:bodyPr>
            <a:noAutofit/>
          </a:bodyPr>
          <a:lstStyle/>
          <a:p>
            <a:pPr>
              <a:buFontTx/>
              <a:buNone/>
              <a:tabLst>
                <a:tab pos="1371600" algn="l"/>
              </a:tabLst>
            </a:pPr>
            <a:r>
              <a:rPr lang="en-GB" sz="2400" dirty="0" smtClean="0">
                <a:solidFill>
                  <a:schemeClr val="tx2"/>
                </a:solidFill>
                <a:latin typeface="Courier New" pitchFamily="49" charset="0"/>
                <a:cs typeface="Times New Roman" pitchFamily="18" charset="0"/>
              </a:rPr>
              <a:t>53</a:t>
            </a:r>
            <a:r>
              <a:rPr lang="en-GB" sz="2400" baseline="-30000" dirty="0" smtClean="0">
                <a:solidFill>
                  <a:schemeClr val="tx2"/>
                </a:solidFill>
                <a:latin typeface="Courier New" pitchFamily="49" charset="0"/>
                <a:cs typeface="Times New Roman" pitchFamily="18" charset="0"/>
              </a:rPr>
              <a:t>10</a:t>
            </a:r>
            <a:r>
              <a:rPr lang="en-GB" sz="2400" dirty="0" smtClean="0">
                <a:latin typeface="Courier New" pitchFamily="49" charset="0"/>
                <a:cs typeface="Times New Roman" pitchFamily="18" charset="0"/>
              </a:rPr>
              <a:t> =&gt;  53 / 2 = 26 remainder 1</a:t>
            </a:r>
          </a:p>
          <a:p>
            <a:pPr>
              <a:buFontTx/>
              <a:buNone/>
              <a:tabLst>
                <a:tab pos="1371600" algn="l"/>
              </a:tabLst>
            </a:pPr>
            <a:r>
              <a:rPr lang="en-GB" sz="2400" dirty="0" smtClean="0">
                <a:latin typeface="Courier New" pitchFamily="49" charset="0"/>
                <a:cs typeface="Times New Roman" pitchFamily="18" charset="0"/>
              </a:rPr>
              <a:t>		 26 / 2 = 13 remainder 0			 13 / 2 = 6 remainder 1 		  </a:t>
            </a:r>
          </a:p>
          <a:p>
            <a:pPr>
              <a:buFontTx/>
              <a:buNone/>
              <a:tabLst>
                <a:tab pos="1371600" algn="l"/>
              </a:tabLst>
            </a:pPr>
            <a:r>
              <a:rPr lang="en-GB" sz="2400" dirty="0" smtClean="0">
                <a:latin typeface="Courier New" pitchFamily="49" charset="0"/>
                <a:cs typeface="Times New Roman" pitchFamily="18" charset="0"/>
              </a:rPr>
              <a:t>          6 / 2 = 3 remainder 0			  3 / 2 = 1 remainder 1</a:t>
            </a:r>
          </a:p>
          <a:p>
            <a:pPr>
              <a:buFontTx/>
              <a:buNone/>
              <a:tabLst>
                <a:tab pos="1371600" algn="l"/>
              </a:tabLst>
            </a:pPr>
            <a:r>
              <a:rPr lang="en-GB" sz="2400" dirty="0" smtClean="0">
                <a:latin typeface="Courier New" pitchFamily="49" charset="0"/>
                <a:cs typeface="Times New Roman" pitchFamily="18" charset="0"/>
              </a:rPr>
              <a:t>		  1 / 2 = 0 remainder 1</a:t>
            </a:r>
          </a:p>
          <a:p>
            <a:pPr>
              <a:buFontTx/>
              <a:buNone/>
              <a:tabLst>
                <a:tab pos="1371600" algn="l"/>
              </a:tabLst>
            </a:pPr>
            <a:r>
              <a:rPr lang="en-GB" sz="2400" dirty="0" smtClean="0">
                <a:latin typeface="Courier New" pitchFamily="49" charset="0"/>
                <a:cs typeface="Times New Roman" pitchFamily="18" charset="0"/>
              </a:rPr>
              <a:t> </a:t>
            </a:r>
          </a:p>
          <a:p>
            <a:pPr>
              <a:buFontTx/>
              <a:buNone/>
              <a:tabLst>
                <a:tab pos="1371600" algn="l"/>
              </a:tabLst>
            </a:pPr>
            <a:endParaRPr lang="en-GB" sz="2400" dirty="0" smtClean="0">
              <a:latin typeface="Courier New" pitchFamily="49" charset="0"/>
              <a:cs typeface="Times New Roman" pitchFamily="18" charset="0"/>
            </a:endParaRPr>
          </a:p>
          <a:p>
            <a:pPr>
              <a:buFontTx/>
              <a:buNone/>
              <a:tabLst>
                <a:tab pos="1371600" algn="l"/>
              </a:tabLst>
            </a:pPr>
            <a:r>
              <a:rPr lang="en-GB" sz="2400" dirty="0" smtClean="0">
                <a:latin typeface="Courier New" pitchFamily="49" charset="0"/>
                <a:cs typeface="Times New Roman" pitchFamily="18" charset="0"/>
              </a:rPr>
              <a:t>	= </a:t>
            </a:r>
            <a:r>
              <a:rPr lang="en-GB" sz="2400" dirty="0" smtClean="0">
                <a:solidFill>
                  <a:schemeClr val="tx2"/>
                </a:solidFill>
                <a:latin typeface="Courier New" pitchFamily="49" charset="0"/>
                <a:cs typeface="Times New Roman" pitchFamily="18" charset="0"/>
              </a:rPr>
              <a:t>110101</a:t>
            </a:r>
            <a:r>
              <a:rPr lang="en-GB" sz="2400" baseline="-30000" dirty="0" smtClean="0">
                <a:solidFill>
                  <a:schemeClr val="tx2"/>
                </a:solidFill>
                <a:latin typeface="Courier New" pitchFamily="49" charset="0"/>
                <a:cs typeface="Times New Roman" pitchFamily="18" charset="0"/>
              </a:rPr>
              <a:t>2</a:t>
            </a:r>
            <a:r>
              <a:rPr lang="en-GB" sz="2400" dirty="0" smtClean="0">
                <a:latin typeface="Courier New" pitchFamily="49" charset="0"/>
                <a:cs typeface="Times New Roman" pitchFamily="18" charset="0"/>
              </a:rPr>
              <a:t> (6 </a:t>
            </a:r>
            <a:r>
              <a:rPr lang="en-GB" sz="2400" i="1" dirty="0" smtClean="0">
                <a:latin typeface="Courier New" pitchFamily="49" charset="0"/>
                <a:cs typeface="Times New Roman" pitchFamily="18" charset="0"/>
              </a:rPr>
              <a:t>bits</a:t>
            </a:r>
            <a:r>
              <a:rPr lang="en-GB" sz="2400" dirty="0" smtClean="0">
                <a:latin typeface="Courier New" pitchFamily="49" charset="0"/>
                <a:cs typeface="Times New Roman" pitchFamily="18" charset="0"/>
              </a:rPr>
              <a:t>)</a:t>
            </a:r>
          </a:p>
          <a:p>
            <a:pPr>
              <a:buFontTx/>
              <a:buNone/>
              <a:tabLst>
                <a:tab pos="1371600" algn="l"/>
              </a:tabLst>
            </a:pPr>
            <a:r>
              <a:rPr lang="en-GB" sz="2400" dirty="0" smtClean="0">
                <a:latin typeface="Courier New" pitchFamily="49" charset="0"/>
                <a:cs typeface="Times New Roman" pitchFamily="18" charset="0"/>
              </a:rPr>
              <a:t>	= </a:t>
            </a:r>
            <a:r>
              <a:rPr lang="en-GB" sz="2400" dirty="0" smtClean="0">
                <a:solidFill>
                  <a:schemeClr val="tx2"/>
                </a:solidFill>
                <a:latin typeface="Courier New" pitchFamily="49" charset="0"/>
                <a:cs typeface="Times New Roman" pitchFamily="18" charset="0"/>
              </a:rPr>
              <a:t>00110101</a:t>
            </a:r>
            <a:r>
              <a:rPr lang="en-GB" sz="2400" baseline="-30000" dirty="0" smtClean="0">
                <a:solidFill>
                  <a:schemeClr val="tx2"/>
                </a:solidFill>
                <a:latin typeface="Courier New" pitchFamily="49" charset="0"/>
                <a:cs typeface="Times New Roman" pitchFamily="18" charset="0"/>
              </a:rPr>
              <a:t>2</a:t>
            </a:r>
            <a:r>
              <a:rPr lang="en-GB" sz="2400" dirty="0" smtClean="0">
                <a:latin typeface="Courier New" pitchFamily="49" charset="0"/>
                <a:cs typeface="Times New Roman" pitchFamily="18" charset="0"/>
              </a:rPr>
              <a:t> (8 </a:t>
            </a:r>
            <a:r>
              <a:rPr lang="en-GB" sz="2400" i="1" dirty="0" smtClean="0">
                <a:latin typeface="Courier New" pitchFamily="49" charset="0"/>
                <a:cs typeface="Times New Roman" pitchFamily="18" charset="0"/>
              </a:rPr>
              <a:t>bits</a:t>
            </a:r>
            <a:r>
              <a:rPr lang="en-GB" sz="2400" dirty="0" smtClean="0">
                <a:latin typeface="Courier New" pitchFamily="49" charset="0"/>
                <a:cs typeface="Times New Roman" pitchFamily="18" charset="0"/>
              </a:rPr>
              <a:t>)</a:t>
            </a:r>
          </a:p>
          <a:p>
            <a:pPr>
              <a:buFontTx/>
              <a:buNone/>
              <a:tabLst>
                <a:tab pos="1371600" algn="l"/>
              </a:tabLst>
            </a:pPr>
            <a:r>
              <a:rPr lang="en-GB" sz="2400" dirty="0" smtClean="0">
                <a:latin typeface="Courier New" pitchFamily="49" charset="0"/>
                <a:cs typeface="Times New Roman" pitchFamily="18" charset="0"/>
              </a:rPr>
              <a:t>(note: </a:t>
            </a:r>
            <a:r>
              <a:rPr lang="en-GB" sz="2400" b="1" i="1" dirty="0" smtClean="0">
                <a:latin typeface="Courier New" pitchFamily="49" charset="0"/>
                <a:cs typeface="Times New Roman" pitchFamily="18" charset="0"/>
              </a:rPr>
              <a:t>bit</a:t>
            </a:r>
            <a:r>
              <a:rPr lang="en-GB" sz="2400" i="1" dirty="0" smtClean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GB" sz="2400" dirty="0" smtClean="0">
                <a:latin typeface="Courier New" pitchFamily="49" charset="0"/>
                <a:cs typeface="Times New Roman" pitchFamily="18" charset="0"/>
              </a:rPr>
              <a:t>=</a:t>
            </a:r>
            <a:r>
              <a:rPr lang="en-GB" sz="2400" i="1" dirty="0" smtClean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GB" sz="2400" b="1" i="1" dirty="0" smtClean="0">
                <a:latin typeface="Courier New" pitchFamily="49" charset="0"/>
                <a:cs typeface="Times New Roman" pitchFamily="18" charset="0"/>
              </a:rPr>
              <a:t>bi</a:t>
            </a:r>
            <a:r>
              <a:rPr lang="en-GB" sz="2400" i="1" dirty="0" smtClean="0">
                <a:latin typeface="Courier New" pitchFamily="49" charset="0"/>
                <a:cs typeface="Times New Roman" pitchFamily="18" charset="0"/>
              </a:rPr>
              <a:t>nary digi</a:t>
            </a:r>
            <a:r>
              <a:rPr lang="en-GB" sz="2400" b="1" i="1" dirty="0" smtClean="0">
                <a:latin typeface="Courier New" pitchFamily="49" charset="0"/>
                <a:cs typeface="Times New Roman" pitchFamily="18" charset="0"/>
              </a:rPr>
              <a:t>t</a:t>
            </a:r>
            <a:r>
              <a:rPr lang="en-GB" sz="2400" dirty="0" smtClean="0">
                <a:latin typeface="Courier New" pitchFamily="49" charset="0"/>
                <a:cs typeface="Times New Roman" pitchFamily="18" charset="0"/>
              </a:rPr>
              <a:t>)</a:t>
            </a:r>
            <a:endParaRPr lang="en-GB" sz="2400" dirty="0" smtClean="0">
              <a:latin typeface="Courier New" pitchFamily="49" charset="0"/>
            </a:endParaRPr>
          </a:p>
        </p:txBody>
      </p:sp>
      <p:sp>
        <p:nvSpPr>
          <p:cNvPr id="18437" name="Text Box 4"/>
          <p:cNvSpPr txBox="1">
            <a:spLocks noChangeArrowheads="1"/>
          </p:cNvSpPr>
          <p:nvPr/>
        </p:nvSpPr>
        <p:spPr bwMode="auto">
          <a:xfrm>
            <a:off x="6934200" y="2057400"/>
            <a:ext cx="16764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000">
                <a:solidFill>
                  <a:schemeClr val="tx2"/>
                </a:solidFill>
                <a:latin typeface="Century Gothic" pitchFamily="34" charset="0"/>
              </a:rPr>
              <a:t>Read from the bottom to the top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371600" y="4494212"/>
            <a:ext cx="1295400" cy="1588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5400000" flipH="1" flipV="1">
            <a:off x="5677694" y="2628106"/>
            <a:ext cx="2361406" cy="794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774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Decimal to Octal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143000" y="1981200"/>
            <a:ext cx="6715523" cy="3810000"/>
            <a:chOff x="1220788" y="1981200"/>
            <a:chExt cx="6637735" cy="2858988"/>
          </a:xfrm>
        </p:grpSpPr>
        <p:sp>
          <p:nvSpPr>
            <p:cNvPr id="19459" name="Oval 3"/>
            <p:cNvSpPr>
              <a:spLocks noChangeArrowheads="1"/>
            </p:cNvSpPr>
            <p:nvPr/>
          </p:nvSpPr>
          <p:spPr bwMode="auto">
            <a:xfrm>
              <a:off x="5354638" y="4191000"/>
              <a:ext cx="2503885" cy="649188"/>
            </a:xfrm>
            <a:prstGeom prst="ellipse">
              <a:avLst/>
            </a:prstGeom>
            <a:solidFill>
              <a:srgbClr val="FFCC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400"/>
                <a:t>Hexadecimal</a:t>
              </a:r>
            </a:p>
          </p:txBody>
        </p:sp>
        <p:sp>
          <p:nvSpPr>
            <p:cNvPr id="19460" name="Oval 4"/>
            <p:cNvSpPr>
              <a:spLocks noChangeArrowheads="1"/>
            </p:cNvSpPr>
            <p:nvPr/>
          </p:nvSpPr>
          <p:spPr bwMode="auto">
            <a:xfrm>
              <a:off x="1220788" y="1981200"/>
              <a:ext cx="2513012" cy="666750"/>
            </a:xfrm>
            <a:prstGeom prst="ellipse">
              <a:avLst/>
            </a:prstGeom>
            <a:solidFill>
              <a:srgbClr val="FFCC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/>
                <a:t>Decimal</a:t>
              </a:r>
            </a:p>
          </p:txBody>
        </p:sp>
        <p:sp>
          <p:nvSpPr>
            <p:cNvPr id="19461" name="Oval 5"/>
            <p:cNvSpPr>
              <a:spLocks noChangeArrowheads="1"/>
            </p:cNvSpPr>
            <p:nvPr/>
          </p:nvSpPr>
          <p:spPr bwMode="auto">
            <a:xfrm>
              <a:off x="5335588" y="1981200"/>
              <a:ext cx="2513012" cy="666750"/>
            </a:xfrm>
            <a:prstGeom prst="ellipse">
              <a:avLst/>
            </a:prstGeom>
            <a:solidFill>
              <a:srgbClr val="FFCC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/>
                <a:t>Octal</a:t>
              </a:r>
            </a:p>
          </p:txBody>
        </p:sp>
        <p:sp>
          <p:nvSpPr>
            <p:cNvPr id="19462" name="Oval 6"/>
            <p:cNvSpPr>
              <a:spLocks noChangeArrowheads="1"/>
            </p:cNvSpPr>
            <p:nvPr/>
          </p:nvSpPr>
          <p:spPr bwMode="auto">
            <a:xfrm>
              <a:off x="1220788" y="4143375"/>
              <a:ext cx="2513012" cy="666750"/>
            </a:xfrm>
            <a:prstGeom prst="ellipse">
              <a:avLst/>
            </a:prstGeom>
            <a:solidFill>
              <a:srgbClr val="FFCC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/>
                <a:t>Binary</a:t>
              </a:r>
            </a:p>
          </p:txBody>
        </p:sp>
        <p:sp>
          <p:nvSpPr>
            <p:cNvPr id="19463" name="Line 7"/>
            <p:cNvSpPr>
              <a:spLocks noChangeShapeType="1"/>
            </p:cNvSpPr>
            <p:nvPr/>
          </p:nvSpPr>
          <p:spPr bwMode="auto">
            <a:xfrm>
              <a:off x="3924300" y="2362200"/>
              <a:ext cx="1295400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0" y="1981200"/>
            <a:ext cx="91440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57150" marR="0" lvl="0" indent="0" algn="l" defTabSz="909638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      </a:t>
            </a:r>
            <a:r>
              <a:rPr kumimoji="0" lang="en-GB" sz="3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Technique</a:t>
            </a:r>
            <a:endParaRPr kumimoji="0" lang="en-GB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itchFamily="18" charset="0"/>
            </a:endParaRPr>
          </a:p>
          <a:p>
            <a:pPr marL="912813" marR="0" lvl="1" indent="-288925" algn="l" defTabSz="909638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-</a:t>
            </a:r>
            <a:r>
              <a:rPr kumimoji="0" lang="en-GB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 Divide the decimal number by 8 and take its remainder</a:t>
            </a:r>
          </a:p>
          <a:p>
            <a:pPr marL="912813" marR="0" lvl="1" indent="-288925" algn="l" defTabSz="909638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- The process is repeated until it produces the result of 0</a:t>
            </a:r>
          </a:p>
          <a:p>
            <a:pPr marL="912813" marR="0" lvl="1" indent="-288925" algn="l" defTabSz="909638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- The octal number is obtained by taking the remainder </a:t>
            </a:r>
            <a:r>
              <a:rPr kumimoji="0" lang="en-GB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from the bottom to the top</a:t>
            </a:r>
            <a:endParaRPr kumimoji="0" lang="en-GB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itchFamily="18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914400"/>
            <a:ext cx="8915400" cy="762000"/>
          </a:xfrm>
        </p:spPr>
        <p:txBody>
          <a:bodyPr>
            <a:noAutofit/>
          </a:bodyPr>
          <a:lstStyle/>
          <a:p>
            <a:pPr marL="342900" indent="-342900"/>
            <a:r>
              <a:rPr lang="en-GB" sz="4000" dirty="0" smtClean="0">
                <a:cs typeface="Times New Roman" pitchFamily="18" charset="0"/>
              </a:rPr>
              <a:t>Converting a decimal number into octal</a:t>
            </a:r>
            <a:br>
              <a:rPr lang="en-GB" sz="4000" dirty="0" smtClean="0">
                <a:cs typeface="Times New Roman" pitchFamily="18" charset="0"/>
              </a:rPr>
            </a:br>
            <a:endParaRPr lang="en-GB" sz="2800" dirty="0" smtClean="0">
              <a:solidFill>
                <a:srgbClr val="336600"/>
              </a:solidFill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dirty="0" smtClean="0"/>
              <a:t>Example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304800" y="1686580"/>
            <a:ext cx="2514600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dirty="0">
                <a:latin typeface="Courier New" pitchFamily="49" charset="0"/>
              </a:rPr>
              <a:t>1234</a:t>
            </a:r>
            <a:r>
              <a:rPr lang="en-US" sz="2800" baseline="-25000" dirty="0">
                <a:latin typeface="Courier New" pitchFamily="49" charset="0"/>
              </a:rPr>
              <a:t>10</a:t>
            </a:r>
            <a:r>
              <a:rPr lang="en-US" sz="2800" dirty="0">
                <a:latin typeface="Courier New" pitchFamily="49" charset="0"/>
              </a:rPr>
              <a:t> = ?</a:t>
            </a:r>
            <a:r>
              <a:rPr lang="en-US" sz="2800" baseline="-25000" dirty="0">
                <a:latin typeface="Courier New" pitchFamily="49" charset="0"/>
              </a:rPr>
              <a:t>8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3552825" y="2352675"/>
            <a:ext cx="2547492" cy="954107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 sz="2800" dirty="0">
                <a:latin typeface="Courier New" pitchFamily="49" charset="0"/>
              </a:rPr>
              <a:t>8  1234</a:t>
            </a:r>
          </a:p>
          <a:p>
            <a:pPr marL="457200" indent="-457200"/>
            <a:r>
              <a:rPr lang="en-US" sz="2800" dirty="0">
                <a:latin typeface="Courier New" pitchFamily="49" charset="0"/>
              </a:rPr>
              <a:t>    154   2</a:t>
            </a:r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3949700" y="24384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sz="2800"/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>
            <a:off x="3949700" y="2743200"/>
            <a:ext cx="1066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sz="2800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535363" y="2743202"/>
            <a:ext cx="2547937" cy="954088"/>
            <a:chOff x="1056" y="2688"/>
            <a:chExt cx="1605" cy="601"/>
          </a:xfrm>
        </p:grpSpPr>
        <p:sp>
          <p:nvSpPr>
            <p:cNvPr id="23570" name="Text Box 8"/>
            <p:cNvSpPr txBox="1">
              <a:spLocks noChangeArrowheads="1"/>
            </p:cNvSpPr>
            <p:nvPr/>
          </p:nvSpPr>
          <p:spPr bwMode="auto">
            <a:xfrm>
              <a:off x="1056" y="2688"/>
              <a:ext cx="1605" cy="601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457200" indent="-457200"/>
              <a:r>
                <a:rPr lang="en-US" sz="2800">
                  <a:latin typeface="Courier New" pitchFamily="49" charset="0"/>
                </a:rPr>
                <a:t>8</a:t>
              </a:r>
            </a:p>
            <a:p>
              <a:pPr marL="457200" indent="-457200"/>
              <a:r>
                <a:rPr lang="en-US" sz="2800">
                  <a:latin typeface="Courier New" pitchFamily="49" charset="0"/>
                </a:rPr>
                <a:t>     19   2</a:t>
              </a:r>
            </a:p>
          </p:txBody>
        </p:sp>
        <p:sp>
          <p:nvSpPr>
            <p:cNvPr id="23571" name="Line 9"/>
            <p:cNvSpPr>
              <a:spLocks noChangeShapeType="1"/>
            </p:cNvSpPr>
            <p:nvPr/>
          </p:nvSpPr>
          <p:spPr bwMode="auto">
            <a:xfrm>
              <a:off x="1306" y="2742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sz="2800"/>
            </a:p>
          </p:txBody>
        </p:sp>
        <p:sp>
          <p:nvSpPr>
            <p:cNvPr id="23572" name="Line 10"/>
            <p:cNvSpPr>
              <a:spLocks noChangeShapeType="1"/>
            </p:cNvSpPr>
            <p:nvPr/>
          </p:nvSpPr>
          <p:spPr bwMode="auto">
            <a:xfrm>
              <a:off x="1306" y="2934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sz="2800"/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538538" y="3140077"/>
            <a:ext cx="2547937" cy="954088"/>
            <a:chOff x="2640" y="2688"/>
            <a:chExt cx="1605" cy="601"/>
          </a:xfrm>
        </p:grpSpPr>
        <p:sp>
          <p:nvSpPr>
            <p:cNvPr id="23567" name="Text Box 12"/>
            <p:cNvSpPr txBox="1">
              <a:spLocks noChangeArrowheads="1"/>
            </p:cNvSpPr>
            <p:nvPr/>
          </p:nvSpPr>
          <p:spPr bwMode="auto">
            <a:xfrm>
              <a:off x="2640" y="2688"/>
              <a:ext cx="1605" cy="601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457200" indent="-457200"/>
              <a:r>
                <a:rPr lang="en-US" sz="2800" dirty="0">
                  <a:latin typeface="Courier New" pitchFamily="49" charset="0"/>
                </a:rPr>
                <a:t>8</a:t>
              </a:r>
            </a:p>
            <a:p>
              <a:pPr marL="457200" indent="-457200"/>
              <a:r>
                <a:rPr lang="en-US" sz="2800" dirty="0">
                  <a:latin typeface="Courier New" pitchFamily="49" charset="0"/>
                </a:rPr>
                <a:t>      2   3</a:t>
              </a:r>
            </a:p>
          </p:txBody>
        </p:sp>
        <p:sp>
          <p:nvSpPr>
            <p:cNvPr id="23568" name="Line 13"/>
            <p:cNvSpPr>
              <a:spLocks noChangeShapeType="1"/>
            </p:cNvSpPr>
            <p:nvPr/>
          </p:nvSpPr>
          <p:spPr bwMode="auto">
            <a:xfrm>
              <a:off x="2890" y="2742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sz="2800"/>
            </a:p>
          </p:txBody>
        </p:sp>
        <p:sp>
          <p:nvSpPr>
            <p:cNvPr id="23569" name="Line 14"/>
            <p:cNvSpPr>
              <a:spLocks noChangeShapeType="1"/>
            </p:cNvSpPr>
            <p:nvPr/>
          </p:nvSpPr>
          <p:spPr bwMode="auto">
            <a:xfrm>
              <a:off x="2890" y="2934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sz="2800"/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3538538" y="3530602"/>
            <a:ext cx="2547937" cy="954088"/>
            <a:chOff x="4224" y="2688"/>
            <a:chExt cx="1605" cy="601"/>
          </a:xfrm>
        </p:grpSpPr>
        <p:sp>
          <p:nvSpPr>
            <p:cNvPr id="23564" name="Text Box 16"/>
            <p:cNvSpPr txBox="1">
              <a:spLocks noChangeArrowheads="1"/>
            </p:cNvSpPr>
            <p:nvPr/>
          </p:nvSpPr>
          <p:spPr bwMode="auto">
            <a:xfrm>
              <a:off x="4224" y="2688"/>
              <a:ext cx="1605" cy="601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457200" indent="-457200"/>
              <a:r>
                <a:rPr lang="en-US" sz="2800">
                  <a:latin typeface="Courier New" pitchFamily="49" charset="0"/>
                </a:rPr>
                <a:t>8</a:t>
              </a:r>
            </a:p>
            <a:p>
              <a:pPr marL="457200" indent="-457200"/>
              <a:r>
                <a:rPr lang="en-US" sz="2800">
                  <a:latin typeface="Courier New" pitchFamily="49" charset="0"/>
                </a:rPr>
                <a:t>      0   2</a:t>
              </a:r>
            </a:p>
          </p:txBody>
        </p:sp>
        <p:sp>
          <p:nvSpPr>
            <p:cNvPr id="23565" name="Line 17"/>
            <p:cNvSpPr>
              <a:spLocks noChangeShapeType="1"/>
            </p:cNvSpPr>
            <p:nvPr/>
          </p:nvSpPr>
          <p:spPr bwMode="auto">
            <a:xfrm>
              <a:off x="4474" y="2742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sz="2800"/>
            </a:p>
          </p:txBody>
        </p:sp>
        <p:sp>
          <p:nvSpPr>
            <p:cNvPr id="23566" name="Line 18"/>
            <p:cNvSpPr>
              <a:spLocks noChangeShapeType="1"/>
            </p:cNvSpPr>
            <p:nvPr/>
          </p:nvSpPr>
          <p:spPr bwMode="auto">
            <a:xfrm>
              <a:off x="4474" y="2934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sz="2800"/>
            </a:p>
          </p:txBody>
        </p:sp>
      </p:grpSp>
      <p:sp>
        <p:nvSpPr>
          <p:cNvPr id="153619" name="Text Box 19"/>
          <p:cNvSpPr txBox="1">
            <a:spLocks noChangeArrowheads="1"/>
          </p:cNvSpPr>
          <p:nvPr/>
        </p:nvSpPr>
        <p:spPr bwMode="auto">
          <a:xfrm>
            <a:off x="4876800" y="5029200"/>
            <a:ext cx="4038600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dirty="0">
                <a:latin typeface="Courier New" pitchFamily="49" charset="0"/>
              </a:rPr>
              <a:t>1234</a:t>
            </a:r>
            <a:r>
              <a:rPr lang="en-US" sz="2800" baseline="-25000" dirty="0">
                <a:latin typeface="Courier New" pitchFamily="49" charset="0"/>
              </a:rPr>
              <a:t>10</a:t>
            </a:r>
            <a:r>
              <a:rPr lang="en-US" sz="2800" dirty="0">
                <a:latin typeface="Courier New" pitchFamily="49" charset="0"/>
              </a:rPr>
              <a:t> = 2322</a:t>
            </a:r>
            <a:r>
              <a:rPr lang="en-US" sz="2800" baseline="-25000" dirty="0">
                <a:latin typeface="Courier New" pitchFamily="49" charset="0"/>
              </a:rPr>
              <a:t>8</a:t>
            </a:r>
          </a:p>
        </p:txBody>
      </p:sp>
      <p:sp>
        <p:nvSpPr>
          <p:cNvPr id="153620" name="Freeform 20"/>
          <p:cNvSpPr>
            <a:spLocks/>
          </p:cNvSpPr>
          <p:nvPr/>
        </p:nvSpPr>
        <p:spPr bwMode="auto">
          <a:xfrm>
            <a:off x="6019800" y="2971800"/>
            <a:ext cx="1981200" cy="2057400"/>
          </a:xfrm>
          <a:custGeom>
            <a:avLst/>
            <a:gdLst>
              <a:gd name="T0" fmla="*/ 0 w 1584"/>
              <a:gd name="T1" fmla="*/ 0 h 1296"/>
              <a:gd name="T2" fmla="*/ 2147483646 w 1584"/>
              <a:gd name="T3" fmla="*/ 2147483646 h 1296"/>
              <a:gd name="T4" fmla="*/ 2147483646 w 1584"/>
              <a:gd name="T5" fmla="*/ 2147483646 h 12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584" h="1296">
                <a:moveTo>
                  <a:pt x="0" y="0"/>
                </a:moveTo>
                <a:cubicBezTo>
                  <a:pt x="154" y="48"/>
                  <a:pt x="663" y="75"/>
                  <a:pt x="927" y="291"/>
                </a:cubicBezTo>
                <a:cubicBezTo>
                  <a:pt x="1191" y="507"/>
                  <a:pt x="1447" y="1087"/>
                  <a:pt x="1584" y="1296"/>
                </a:cubicBezTo>
              </a:path>
            </a:pathLst>
          </a:cu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wrap="square" anchor="ctr">
            <a:noAutofit/>
          </a:bodyPr>
          <a:lstStyle/>
          <a:p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3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3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19" grpId="0" build="p" autoUpdateAnimBg="0"/>
      <p:bldP spid="1536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772400" cy="50292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sz="2400" dirty="0" smtClean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sz="2800" b="1" dirty="0" smtClean="0">
                <a:latin typeface="Courier New" pitchFamily="49" charset="0"/>
                <a:cs typeface="Times New Roman" pitchFamily="18" charset="0"/>
              </a:rPr>
              <a:t>Example : </a:t>
            </a:r>
            <a:r>
              <a:rPr lang="en-GB" sz="2800" b="1" dirty="0" smtClean="0">
                <a:latin typeface="Courier New" pitchFamily="49" charset="0"/>
                <a:cs typeface="Times New Roman" pitchFamily="18" charset="0"/>
              </a:rPr>
              <a:t>Decimal </a:t>
            </a:r>
            <a:r>
              <a:rPr lang="en-GB" sz="2800" b="1" dirty="0" smtClean="0">
                <a:latin typeface="Courier New" pitchFamily="49" charset="0"/>
                <a:cs typeface="Times New Roman" pitchFamily="18" charset="0"/>
                <a:sym typeface="Wingdings" pitchFamily="2" charset="2"/>
              </a:rPr>
              <a:t> Octal</a:t>
            </a:r>
            <a:endParaRPr lang="en-US" sz="2800" b="1" dirty="0" smtClean="0"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dirty="0" smtClean="0"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>
                <a:latin typeface="Courier New" pitchFamily="49" charset="0"/>
                <a:cs typeface="Times New Roman" pitchFamily="18" charset="0"/>
              </a:rPr>
              <a:t>	4629</a:t>
            </a:r>
            <a:r>
              <a:rPr lang="en-US" sz="2400" baseline="-25000" dirty="0" smtClean="0">
                <a:latin typeface="Courier New" pitchFamily="49" charset="0"/>
                <a:cs typeface="Times New Roman" pitchFamily="18" charset="0"/>
              </a:rPr>
              <a:t>10</a:t>
            </a:r>
            <a:r>
              <a:rPr lang="en-US" sz="2400" dirty="0" smtClean="0">
                <a:latin typeface="Courier New" pitchFamily="49" charset="0"/>
                <a:cs typeface="Times New Roman" pitchFamily="18" charset="0"/>
              </a:rPr>
              <a:t> becomes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dirty="0" smtClean="0"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>
                <a:latin typeface="Courier New" pitchFamily="49" charset="0"/>
                <a:cs typeface="Times New Roman" pitchFamily="18" charset="0"/>
              </a:rPr>
              <a:t>		4629/8= 578	r=5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>
                <a:latin typeface="Courier New" pitchFamily="49" charset="0"/>
                <a:cs typeface="Times New Roman" pitchFamily="18" charset="0"/>
              </a:rPr>
              <a:t>		578/8= 72		r=2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>
                <a:latin typeface="Courier New" pitchFamily="49" charset="0"/>
                <a:cs typeface="Times New Roman" pitchFamily="18" charset="0"/>
              </a:rPr>
              <a:t>		72/8= 9		r=0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>
                <a:latin typeface="Courier New" pitchFamily="49" charset="0"/>
                <a:cs typeface="Times New Roman" pitchFamily="18" charset="0"/>
              </a:rPr>
              <a:t>		9/8	= 1		r=1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>
                <a:latin typeface="Courier New" pitchFamily="49" charset="0"/>
                <a:cs typeface="Times New Roman" pitchFamily="18" charset="0"/>
              </a:rPr>
              <a:t>		1/8	= 0		r=1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1800" dirty="0" smtClean="0"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dirty="0" smtClean="0"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>
                <a:latin typeface="Courier New" pitchFamily="49" charset="0"/>
                <a:cs typeface="Times New Roman" pitchFamily="18" charset="0"/>
              </a:rPr>
              <a:t>	 4629</a:t>
            </a:r>
            <a:r>
              <a:rPr lang="en-US" sz="2400" baseline="-25000" dirty="0" smtClean="0">
                <a:latin typeface="Courier New" pitchFamily="49" charset="0"/>
                <a:cs typeface="Times New Roman" pitchFamily="18" charset="0"/>
              </a:rPr>
              <a:t>10</a:t>
            </a:r>
            <a:r>
              <a:rPr lang="en-US" sz="2400" dirty="0" smtClean="0">
                <a:latin typeface="Courier New" pitchFamily="49" charset="0"/>
                <a:cs typeface="Times New Roman" pitchFamily="18" charset="0"/>
              </a:rPr>
              <a:t> =11025</a:t>
            </a:r>
            <a:r>
              <a:rPr lang="en-US" sz="2400" baseline="-25000" dirty="0" smtClean="0">
                <a:latin typeface="Courier New" pitchFamily="49" charset="0"/>
                <a:cs typeface="Times New Roman" pitchFamily="18" charset="0"/>
              </a:rPr>
              <a:t>8</a:t>
            </a:r>
            <a:r>
              <a:rPr lang="en-US" sz="2400" dirty="0" smtClean="0">
                <a:latin typeface="Courier New" pitchFamily="49" charset="0"/>
                <a:cs typeface="Times New Roman" pitchFamily="18" charset="0"/>
              </a:rPr>
              <a:t> </a:t>
            </a:r>
          </a:p>
        </p:txBody>
      </p:sp>
      <p:sp>
        <p:nvSpPr>
          <p:cNvPr id="9221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Autofit/>
          </a:bodyPr>
          <a:lstStyle/>
          <a:p>
            <a:pPr indent="-342900" algn="l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3600" b="1" u="sng" dirty="0" smtClean="0"/>
              <a:t/>
            </a:r>
            <a:br>
              <a:rPr lang="en-US" sz="3600" b="1" u="sng" dirty="0" smtClean="0"/>
            </a:br>
            <a:endParaRPr lang="en-US" sz="2500" b="1" dirty="0">
              <a:latin typeface="Courier New" pitchFamily="49" charset="0"/>
              <a:ea typeface="+mn-ea"/>
              <a:cs typeface="Times New Roman" pitchFamily="18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rot="5400000" flipH="1" flipV="1">
            <a:off x="4648597" y="3276203"/>
            <a:ext cx="1676400" cy="794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2590800" y="4648200"/>
            <a:ext cx="1066800" cy="1588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17538"/>
            <a:ext cx="8229600" cy="1143000"/>
          </a:xfrm>
        </p:spPr>
        <p:txBody>
          <a:bodyPr/>
          <a:lstStyle/>
          <a:p>
            <a:r>
              <a:rPr lang="en-US" dirty="0" smtClean="0"/>
              <a:t>Decimal to Hexadecimal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914400" y="1981200"/>
            <a:ext cx="6944123" cy="3886200"/>
            <a:chOff x="1220788" y="1981200"/>
            <a:chExt cx="6637735" cy="2858988"/>
          </a:xfrm>
        </p:grpSpPr>
        <p:sp>
          <p:nvSpPr>
            <p:cNvPr id="24579" name="Oval 3"/>
            <p:cNvSpPr>
              <a:spLocks noChangeArrowheads="1"/>
            </p:cNvSpPr>
            <p:nvPr/>
          </p:nvSpPr>
          <p:spPr bwMode="auto">
            <a:xfrm>
              <a:off x="5354638" y="4191000"/>
              <a:ext cx="2503885" cy="649188"/>
            </a:xfrm>
            <a:prstGeom prst="ellipse">
              <a:avLst/>
            </a:prstGeom>
            <a:solidFill>
              <a:srgbClr val="FFCC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400"/>
                <a:t>Hexadecimal</a:t>
              </a:r>
            </a:p>
          </p:txBody>
        </p:sp>
        <p:sp>
          <p:nvSpPr>
            <p:cNvPr id="24580" name="Oval 4"/>
            <p:cNvSpPr>
              <a:spLocks noChangeArrowheads="1"/>
            </p:cNvSpPr>
            <p:nvPr/>
          </p:nvSpPr>
          <p:spPr bwMode="auto">
            <a:xfrm>
              <a:off x="1220788" y="1981200"/>
              <a:ext cx="2513012" cy="666750"/>
            </a:xfrm>
            <a:prstGeom prst="ellipse">
              <a:avLst/>
            </a:prstGeom>
            <a:solidFill>
              <a:srgbClr val="FFCC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/>
                <a:t>Decimal</a:t>
              </a:r>
            </a:p>
          </p:txBody>
        </p:sp>
        <p:sp>
          <p:nvSpPr>
            <p:cNvPr id="24581" name="Oval 5"/>
            <p:cNvSpPr>
              <a:spLocks noChangeArrowheads="1"/>
            </p:cNvSpPr>
            <p:nvPr/>
          </p:nvSpPr>
          <p:spPr bwMode="auto">
            <a:xfrm>
              <a:off x="5335588" y="1981200"/>
              <a:ext cx="2513012" cy="666750"/>
            </a:xfrm>
            <a:prstGeom prst="ellipse">
              <a:avLst/>
            </a:prstGeom>
            <a:solidFill>
              <a:srgbClr val="FFCC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/>
                <a:t>Octal</a:t>
              </a:r>
            </a:p>
          </p:txBody>
        </p:sp>
        <p:sp>
          <p:nvSpPr>
            <p:cNvPr id="24582" name="Oval 6"/>
            <p:cNvSpPr>
              <a:spLocks noChangeArrowheads="1"/>
            </p:cNvSpPr>
            <p:nvPr/>
          </p:nvSpPr>
          <p:spPr bwMode="auto">
            <a:xfrm>
              <a:off x="1220788" y="4143375"/>
              <a:ext cx="2513012" cy="666750"/>
            </a:xfrm>
            <a:prstGeom prst="ellipse">
              <a:avLst/>
            </a:prstGeom>
            <a:solidFill>
              <a:srgbClr val="FFCC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/>
                <a:t>Binary</a:t>
              </a:r>
            </a:p>
          </p:txBody>
        </p:sp>
        <p:sp>
          <p:nvSpPr>
            <p:cNvPr id="24583" name="Line 7"/>
            <p:cNvSpPr>
              <a:spLocks noChangeShapeType="1"/>
            </p:cNvSpPr>
            <p:nvPr/>
          </p:nvSpPr>
          <p:spPr bwMode="auto">
            <a:xfrm>
              <a:off x="3924300" y="2420938"/>
              <a:ext cx="1655763" cy="1770062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0" y="1981200"/>
            <a:ext cx="91440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57150" marR="0" lvl="0" indent="0" algn="l" defTabSz="909638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      </a:t>
            </a:r>
            <a:r>
              <a:rPr kumimoji="0" lang="en-GB" sz="3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Technique</a:t>
            </a:r>
            <a:endParaRPr kumimoji="0" lang="en-GB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itchFamily="18" charset="0"/>
            </a:endParaRPr>
          </a:p>
          <a:p>
            <a:pPr marL="912813" marR="0" lvl="1" indent="-288925" algn="l" defTabSz="909638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-</a:t>
            </a:r>
            <a:r>
              <a:rPr kumimoji="0" lang="en-GB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 Divide the decimal number by 16 and take its remainder</a:t>
            </a:r>
          </a:p>
          <a:p>
            <a:pPr marL="912813" marR="0" lvl="1" indent="-288925" algn="l" defTabSz="909638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- The process is repeated until it produces the result of 0</a:t>
            </a:r>
          </a:p>
          <a:p>
            <a:pPr marL="912813" marR="0" lvl="1" indent="-288925" algn="l" defTabSz="909638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- The Hexadecimal number is obtained by taking the remainder </a:t>
            </a:r>
            <a:r>
              <a:rPr kumimoji="0" lang="en-GB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from the bottom to the top</a:t>
            </a:r>
            <a:endParaRPr kumimoji="0" lang="en-GB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itchFamily="18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914400"/>
            <a:ext cx="8915400" cy="762000"/>
          </a:xfrm>
        </p:spPr>
        <p:txBody>
          <a:bodyPr>
            <a:noAutofit/>
          </a:bodyPr>
          <a:lstStyle/>
          <a:p>
            <a:pPr marL="342900" indent="-342900"/>
            <a:r>
              <a:rPr lang="en-GB" sz="4000" dirty="0" smtClean="0">
                <a:cs typeface="Times New Roman" pitchFamily="18" charset="0"/>
              </a:rPr>
              <a:t>Converting a decimal number into Hexadecimal</a:t>
            </a:r>
            <a:br>
              <a:rPr lang="en-GB" sz="4000" dirty="0" smtClean="0">
                <a:cs typeface="Times New Roman" pitchFamily="18" charset="0"/>
              </a:rPr>
            </a:br>
            <a:endParaRPr lang="en-GB" sz="2800" dirty="0" smtClean="0">
              <a:solidFill>
                <a:srgbClr val="336600"/>
              </a:solidFill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119974" y="1371600"/>
            <a:ext cx="3511686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>
                <a:latin typeface="Courier New" pitchFamily="49" charset="0"/>
              </a:rPr>
              <a:t>1234</a:t>
            </a:r>
            <a:r>
              <a:rPr lang="en-US" sz="2800" baseline="-25000">
                <a:latin typeface="Courier New" pitchFamily="49" charset="0"/>
              </a:rPr>
              <a:t>10</a:t>
            </a:r>
            <a:r>
              <a:rPr lang="en-US" sz="2800">
                <a:latin typeface="Courier New" pitchFamily="49" charset="0"/>
              </a:rPr>
              <a:t> = ?</a:t>
            </a:r>
            <a:r>
              <a:rPr lang="en-US" sz="2800" baseline="-25000">
                <a:latin typeface="Courier New" pitchFamily="49" charset="0"/>
              </a:rPr>
              <a:t>16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5029200" y="4953000"/>
            <a:ext cx="3511686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dirty="0">
                <a:latin typeface="Courier New" pitchFamily="49" charset="0"/>
              </a:rPr>
              <a:t>1234</a:t>
            </a:r>
            <a:r>
              <a:rPr lang="en-US" sz="2800" baseline="-25000" dirty="0">
                <a:latin typeface="Courier New" pitchFamily="49" charset="0"/>
              </a:rPr>
              <a:t>10</a:t>
            </a:r>
            <a:r>
              <a:rPr lang="en-US" sz="2800" dirty="0">
                <a:latin typeface="Courier New" pitchFamily="49" charset="0"/>
              </a:rPr>
              <a:t> = 4D2</a:t>
            </a:r>
            <a:r>
              <a:rPr lang="en-US" sz="2800" baseline="-25000" dirty="0">
                <a:latin typeface="Courier New" pitchFamily="49" charset="0"/>
              </a:rPr>
              <a:t>16</a:t>
            </a:r>
          </a:p>
        </p:txBody>
      </p:sp>
      <p:sp>
        <p:nvSpPr>
          <p:cNvPr id="27653" name="Freeform 5"/>
          <p:cNvSpPr>
            <a:spLocks/>
          </p:cNvSpPr>
          <p:nvPr/>
        </p:nvSpPr>
        <p:spPr bwMode="auto">
          <a:xfrm>
            <a:off x="5714493" y="2895600"/>
            <a:ext cx="2057907" cy="2133600"/>
          </a:xfrm>
          <a:custGeom>
            <a:avLst/>
            <a:gdLst>
              <a:gd name="T0" fmla="*/ 0 w 1509"/>
              <a:gd name="T1" fmla="*/ 119062 h 1393"/>
              <a:gd name="T2" fmla="*/ 1647825 w 1509"/>
              <a:gd name="T3" fmla="*/ 349250 h 1393"/>
              <a:gd name="T4" fmla="*/ 2395538 w 1509"/>
              <a:gd name="T5" fmla="*/ 2211387 h 1393"/>
              <a:gd name="T6" fmla="*/ 0 60000 65536"/>
              <a:gd name="T7" fmla="*/ 0 60000 65536"/>
              <a:gd name="T8" fmla="*/ 0 60000 65536"/>
              <a:gd name="T9" fmla="*/ 0 w 1509"/>
              <a:gd name="T10" fmla="*/ 0 h 1393"/>
              <a:gd name="T11" fmla="*/ 1509 w 1509"/>
              <a:gd name="T12" fmla="*/ 1393 h 13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09" h="1393">
                <a:moveTo>
                  <a:pt x="0" y="75"/>
                </a:moveTo>
                <a:cubicBezTo>
                  <a:pt x="173" y="99"/>
                  <a:pt x="787" y="0"/>
                  <a:pt x="1038" y="220"/>
                </a:cubicBezTo>
                <a:cubicBezTo>
                  <a:pt x="1302" y="436"/>
                  <a:pt x="1411" y="1149"/>
                  <a:pt x="1509" y="1393"/>
                </a:cubicBezTo>
              </a:path>
            </a:pathLst>
          </a:cu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</p:spPr>
        <p:txBody>
          <a:bodyPr wrap="square" anchor="ctr">
            <a:noAutofit/>
          </a:bodyPr>
          <a:lstStyle/>
          <a:p>
            <a:endParaRPr lang="en-US" sz="2000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048000" y="2352677"/>
            <a:ext cx="4343400" cy="1917360"/>
            <a:chOff x="2064" y="1482"/>
            <a:chExt cx="2256" cy="967"/>
          </a:xfrm>
        </p:grpSpPr>
        <p:sp>
          <p:nvSpPr>
            <p:cNvPr id="26631" name="Text Box 7"/>
            <p:cNvSpPr txBox="1">
              <a:spLocks noChangeArrowheads="1"/>
            </p:cNvSpPr>
            <p:nvPr/>
          </p:nvSpPr>
          <p:spPr bwMode="auto">
            <a:xfrm>
              <a:off x="2064" y="1482"/>
              <a:ext cx="1555" cy="699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457200" indent="-457200"/>
              <a:r>
                <a:rPr lang="en-US" sz="2800" dirty="0">
                  <a:latin typeface="Courier New" pitchFamily="49" charset="0"/>
                </a:rPr>
                <a:t>16  1234</a:t>
              </a:r>
            </a:p>
            <a:p>
              <a:pPr marL="457200" indent="-457200"/>
              <a:r>
                <a:rPr lang="en-US" sz="2800" dirty="0">
                  <a:latin typeface="Courier New" pitchFamily="49" charset="0"/>
                </a:rPr>
                <a:t>      77   2</a:t>
              </a:r>
            </a:p>
          </p:txBody>
        </p:sp>
        <p:sp>
          <p:nvSpPr>
            <p:cNvPr id="26632" name="Line 8"/>
            <p:cNvSpPr>
              <a:spLocks noChangeShapeType="1"/>
            </p:cNvSpPr>
            <p:nvPr/>
          </p:nvSpPr>
          <p:spPr bwMode="auto">
            <a:xfrm>
              <a:off x="2488" y="1536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2000"/>
            </a:p>
          </p:txBody>
        </p:sp>
        <p:sp>
          <p:nvSpPr>
            <p:cNvPr id="26633" name="Line 9"/>
            <p:cNvSpPr>
              <a:spLocks noChangeShapeType="1"/>
            </p:cNvSpPr>
            <p:nvPr/>
          </p:nvSpPr>
          <p:spPr bwMode="auto">
            <a:xfrm>
              <a:off x="2488" y="1728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2000"/>
            </a:p>
          </p:txBody>
        </p:sp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2084" y="1726"/>
              <a:ext cx="2236" cy="699"/>
              <a:chOff x="2084" y="1726"/>
              <a:chExt cx="2236" cy="699"/>
            </a:xfrm>
          </p:grpSpPr>
          <p:sp>
            <p:nvSpPr>
              <p:cNvPr id="26639" name="Text Box 11"/>
              <p:cNvSpPr txBox="1">
                <a:spLocks noChangeArrowheads="1"/>
              </p:cNvSpPr>
              <p:nvPr/>
            </p:nvSpPr>
            <p:spPr bwMode="auto">
              <a:xfrm>
                <a:off x="2084" y="1726"/>
                <a:ext cx="2236" cy="69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457200" indent="-457200"/>
                <a:r>
                  <a:rPr lang="en-US" sz="2800" dirty="0">
                    <a:latin typeface="Courier New" pitchFamily="49" charset="0"/>
                  </a:rPr>
                  <a:t>16</a:t>
                </a:r>
              </a:p>
              <a:p>
                <a:pPr marL="457200" indent="-457200"/>
                <a:r>
                  <a:rPr lang="en-US" sz="2800" dirty="0">
                    <a:latin typeface="Courier New" pitchFamily="49" charset="0"/>
                  </a:rPr>
                  <a:t>       4   13 = D</a:t>
                </a:r>
              </a:p>
            </p:txBody>
          </p:sp>
          <p:sp>
            <p:nvSpPr>
              <p:cNvPr id="26640" name="Line 12"/>
              <p:cNvSpPr>
                <a:spLocks noChangeShapeType="1"/>
              </p:cNvSpPr>
              <p:nvPr/>
            </p:nvSpPr>
            <p:spPr bwMode="auto">
              <a:xfrm>
                <a:off x="2478" y="1780"/>
                <a:ext cx="1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 sz="2000"/>
              </a:p>
            </p:txBody>
          </p:sp>
          <p:sp>
            <p:nvSpPr>
              <p:cNvPr id="26641" name="Line 13"/>
              <p:cNvSpPr>
                <a:spLocks noChangeShapeType="1"/>
              </p:cNvSpPr>
              <p:nvPr/>
            </p:nvSpPr>
            <p:spPr bwMode="auto">
              <a:xfrm>
                <a:off x="2478" y="1966"/>
                <a:ext cx="654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 sz="2000"/>
              </a:p>
            </p:txBody>
          </p:sp>
        </p:grpSp>
        <p:grpSp>
          <p:nvGrpSpPr>
            <p:cNvPr id="4" name="Group 14"/>
            <p:cNvGrpSpPr>
              <a:grpSpLocks/>
            </p:cNvGrpSpPr>
            <p:nvPr/>
          </p:nvGrpSpPr>
          <p:grpSpPr bwMode="auto">
            <a:xfrm>
              <a:off x="2084" y="1968"/>
              <a:ext cx="2236" cy="481"/>
              <a:chOff x="2084" y="1726"/>
              <a:chExt cx="2236" cy="481"/>
            </a:xfrm>
          </p:grpSpPr>
          <p:sp>
            <p:nvSpPr>
              <p:cNvPr id="26636" name="Text Box 15"/>
              <p:cNvSpPr txBox="1">
                <a:spLocks noChangeArrowheads="1"/>
              </p:cNvSpPr>
              <p:nvPr/>
            </p:nvSpPr>
            <p:spPr bwMode="auto">
              <a:xfrm>
                <a:off x="2084" y="1726"/>
                <a:ext cx="2236" cy="481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457200" indent="-457200"/>
                <a:r>
                  <a:rPr lang="en-US" sz="2800" dirty="0">
                    <a:latin typeface="Courier New" pitchFamily="49" charset="0"/>
                  </a:rPr>
                  <a:t>16</a:t>
                </a:r>
              </a:p>
              <a:p>
                <a:pPr marL="457200" indent="-457200"/>
                <a:r>
                  <a:rPr lang="en-US" sz="2800" dirty="0">
                    <a:latin typeface="Courier New" pitchFamily="49" charset="0"/>
                  </a:rPr>
                  <a:t>       0   4</a:t>
                </a:r>
              </a:p>
            </p:txBody>
          </p:sp>
          <p:sp>
            <p:nvSpPr>
              <p:cNvPr id="26637" name="Line 16"/>
              <p:cNvSpPr>
                <a:spLocks noChangeShapeType="1"/>
              </p:cNvSpPr>
              <p:nvPr/>
            </p:nvSpPr>
            <p:spPr bwMode="auto">
              <a:xfrm>
                <a:off x="2478" y="1780"/>
                <a:ext cx="1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 sz="2000"/>
              </a:p>
            </p:txBody>
          </p:sp>
          <p:sp>
            <p:nvSpPr>
              <p:cNvPr id="26638" name="Line 17"/>
              <p:cNvSpPr>
                <a:spLocks noChangeShapeType="1"/>
              </p:cNvSpPr>
              <p:nvPr/>
            </p:nvSpPr>
            <p:spPr bwMode="auto">
              <a:xfrm>
                <a:off x="2478" y="1966"/>
                <a:ext cx="654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 sz="20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build="p" autoUpdateAnimBg="0"/>
      <p:bldP spid="2765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800" dirty="0" smtClean="0">
                <a:latin typeface="+mj-lt"/>
                <a:cs typeface="Times New Roman" pitchFamily="18" charset="0"/>
              </a:rPr>
              <a:t>Convert following Numbers in to Binary, Octal and Hexadecimal</a:t>
            </a:r>
          </a:p>
          <a:p>
            <a:pPr marL="914400" lvl="1" indent="-342900">
              <a:lnSpc>
                <a:spcPct val="80000"/>
              </a:lnSpc>
              <a:buFont typeface="Calibri" pitchFamily="34" charset="0"/>
              <a:buAutoNum type="arabicPeriod"/>
            </a:pPr>
            <a:r>
              <a:rPr lang="en-US" dirty="0" smtClean="0">
                <a:latin typeface="+mj-lt"/>
                <a:cs typeface="Times New Roman" pitchFamily="18" charset="0"/>
              </a:rPr>
              <a:t>25</a:t>
            </a:r>
          </a:p>
          <a:p>
            <a:pPr marL="914400" lvl="1" indent="-342900">
              <a:lnSpc>
                <a:spcPct val="80000"/>
              </a:lnSpc>
              <a:buFont typeface="Calibri" pitchFamily="34" charset="0"/>
              <a:buAutoNum type="arabicPeriod"/>
            </a:pPr>
            <a:r>
              <a:rPr lang="en-US" dirty="0" smtClean="0">
                <a:latin typeface="+mj-lt"/>
                <a:cs typeface="Times New Roman" pitchFamily="18" charset="0"/>
              </a:rPr>
              <a:t>139</a:t>
            </a:r>
          </a:p>
          <a:p>
            <a:pPr marL="914400" lvl="1" indent="-342900">
              <a:lnSpc>
                <a:spcPct val="80000"/>
              </a:lnSpc>
              <a:buFont typeface="Calibri" pitchFamily="34" charset="0"/>
              <a:buAutoNum type="arabicPeriod"/>
            </a:pPr>
            <a:r>
              <a:rPr lang="en-US" dirty="0" smtClean="0">
                <a:latin typeface="+mj-lt"/>
                <a:cs typeface="Times New Roman" pitchFamily="18" charset="0"/>
              </a:rPr>
              <a:t>567</a:t>
            </a:r>
          </a:p>
          <a:p>
            <a:pPr marL="914400" lvl="1" indent="-342900">
              <a:lnSpc>
                <a:spcPct val="80000"/>
              </a:lnSpc>
              <a:buFont typeface="Calibri" pitchFamily="34" charset="0"/>
              <a:buAutoNum type="arabicPeriod"/>
            </a:pPr>
            <a:r>
              <a:rPr lang="en-US" dirty="0" smtClean="0">
                <a:latin typeface="+mj-lt"/>
                <a:cs typeface="Times New Roman" pitchFamily="18" charset="0"/>
              </a:rPr>
              <a:t>927</a:t>
            </a:r>
          </a:p>
          <a:p>
            <a:pPr marL="914400" lvl="1" indent="-342900">
              <a:lnSpc>
                <a:spcPct val="80000"/>
              </a:lnSpc>
              <a:buFont typeface="Calibri" pitchFamily="34" charset="0"/>
              <a:buAutoNum type="arabicPeriod"/>
            </a:pPr>
            <a:r>
              <a:rPr lang="en-US" dirty="0" smtClean="0">
                <a:latin typeface="+mj-lt"/>
                <a:cs typeface="Times New Roman" pitchFamily="18" charset="0"/>
              </a:rPr>
              <a:t>1024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474975"/>
      </p:ext>
    </p:extLst>
  </p:cSld>
  <p:clrMapOvr>
    <a:masterClrMapping/>
  </p:clrMapOvr>
</p:sld>
</file>

<file path=ppt/theme/theme1.xml><?xml version="1.0" encoding="utf-8"?>
<a:theme xmlns:a="http://schemas.openxmlformats.org/drawingml/2006/main" name="DRO-Lecture 2 for week2,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DRO-Lecture 2 for week2,3</Template>
  <TotalTime>146</TotalTime>
  <Words>408</Words>
  <Application>Microsoft Office PowerPoint</Application>
  <PresentationFormat>On-screen Show (4:3)</PresentationFormat>
  <Paragraphs>161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Century Gothic</vt:lpstr>
      <vt:lpstr>Courier New</vt:lpstr>
      <vt:lpstr>Times New Roman</vt:lpstr>
      <vt:lpstr>Wingdings</vt:lpstr>
      <vt:lpstr>DRO-Lecture 2 for week2,3</vt:lpstr>
      <vt:lpstr>HNDIT1104: Data Representation and Organization</vt:lpstr>
      <vt:lpstr>Learning Objectives</vt:lpstr>
      <vt:lpstr>Number Systems</vt:lpstr>
      <vt:lpstr>Base or Radix</vt:lpstr>
      <vt:lpstr>PowerPoint Presentation</vt:lpstr>
      <vt:lpstr>Number of Symbols vs. Number of Digits</vt:lpstr>
      <vt:lpstr>Conversion Among Bases</vt:lpstr>
      <vt:lpstr>Decimal to Binary</vt:lpstr>
      <vt:lpstr>Converting a decimal number into binary </vt:lpstr>
      <vt:lpstr>Example</vt:lpstr>
      <vt:lpstr>Example:   Decimal  Binary</vt:lpstr>
      <vt:lpstr>PowerPoint Presentation</vt:lpstr>
      <vt:lpstr>Decimal to Octal</vt:lpstr>
      <vt:lpstr>Converting a decimal number into octal </vt:lpstr>
      <vt:lpstr>Example</vt:lpstr>
      <vt:lpstr> </vt:lpstr>
      <vt:lpstr>Decimal to Hexadecimal</vt:lpstr>
      <vt:lpstr>Converting a decimal number into Hexadecimal </vt:lpstr>
      <vt:lpstr>Example</vt:lpstr>
      <vt:lpstr>Exercises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Nalin</dc:creator>
  <cp:lastModifiedBy>thinushan</cp:lastModifiedBy>
  <cp:revision>54</cp:revision>
  <dcterms:created xsi:type="dcterms:W3CDTF">2018-06-21T03:29:57Z</dcterms:created>
  <dcterms:modified xsi:type="dcterms:W3CDTF">2019-07-22T07:48:30Z</dcterms:modified>
</cp:coreProperties>
</file>