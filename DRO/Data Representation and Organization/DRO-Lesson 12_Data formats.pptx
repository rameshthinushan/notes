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sldIdLst>
    <p:sldId id="295" r:id="rId2"/>
    <p:sldId id="257" r:id="rId3"/>
    <p:sldId id="258" r:id="rId4"/>
    <p:sldId id="261" r:id="rId5"/>
    <p:sldId id="263" r:id="rId6"/>
    <p:sldId id="264" r:id="rId7"/>
    <p:sldId id="265" r:id="rId8"/>
    <p:sldId id="266" r:id="rId9"/>
    <p:sldId id="294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9" r:id="rId30"/>
    <p:sldId id="288" r:id="rId31"/>
    <p:sldId id="293" r:id="rId32"/>
    <p:sldId id="290" r:id="rId33"/>
    <p:sldId id="291" r:id="rId34"/>
    <p:sldId id="292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B4B73-EC22-490B-87C5-9F27EEF0A650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0EA0F-07C1-4882-A8E8-1D44A81E65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771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21-Sep-18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ubtitle 5"/>
          <p:cNvSpPr>
            <a:spLocks noGrp="1"/>
          </p:cNvSpPr>
          <p:nvPr>
            <p:ph type="subTitle" idx="1"/>
          </p:nvPr>
        </p:nvSpPr>
        <p:spPr>
          <a:xfrm>
            <a:off x="4876800" y="2286000"/>
            <a:ext cx="4267200" cy="82867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000" dirty="0" smtClean="0">
                <a:solidFill>
                  <a:schemeClr val="tx1"/>
                </a:solidFill>
              </a:rPr>
              <a:t>Data Formats</a:t>
            </a:r>
            <a:endParaRPr lang="en-US" sz="4000" dirty="0" smtClean="0">
              <a:solidFill>
                <a:schemeClr val="tx1"/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4000" dirty="0" smtClean="0">
              <a:solidFill>
                <a:schemeClr val="tx1"/>
              </a:solidFill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457200"/>
            <a:ext cx="8915400" cy="14700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 smtClean="0"/>
              <a:t>HNDIT1104: Data Representation and Organization</a:t>
            </a:r>
            <a:endParaRPr lang="en-AU" altLang="en-US" sz="2800" dirty="0" smtClean="0"/>
          </a:p>
        </p:txBody>
      </p:sp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3886200" y="4876800"/>
            <a:ext cx="18245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Lesson </a:t>
            </a:r>
            <a:r>
              <a:rPr lang="en-US" sz="3200" dirty="0" smtClean="0">
                <a:solidFill>
                  <a:schemeClr val="bg1">
                    <a:lumMod val="50000"/>
                  </a:schemeClr>
                </a:solidFill>
              </a:rPr>
              <a:t>12</a:t>
            </a:r>
            <a:endParaRPr lang="en-US" sz="3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221163"/>
          </a:xfrm>
        </p:spPr>
        <p:txBody>
          <a:bodyPr/>
          <a:lstStyle/>
          <a:p>
            <a:r>
              <a:rPr lang="en-US" dirty="0"/>
              <a:t>Examples</a:t>
            </a:r>
          </a:p>
        </p:txBody>
      </p:sp>
      <p:grpSp>
        <p:nvGrpSpPr>
          <p:cNvPr id="188447" name="Group 31"/>
          <p:cNvGrpSpPr>
            <a:grpSpLocks/>
          </p:cNvGrpSpPr>
          <p:nvPr/>
        </p:nvGrpSpPr>
        <p:grpSpPr bwMode="auto">
          <a:xfrm>
            <a:off x="1147763" y="2136775"/>
            <a:ext cx="1970087" cy="1441450"/>
            <a:chOff x="720" y="1344"/>
            <a:chExt cx="1241" cy="908"/>
          </a:xfrm>
        </p:grpSpPr>
        <p:sp>
          <p:nvSpPr>
            <p:cNvPr id="188422" name="Rectangle 6"/>
            <p:cNvSpPr>
              <a:spLocks noChangeArrowheads="1"/>
            </p:cNvSpPr>
            <p:nvPr/>
          </p:nvSpPr>
          <p:spPr bwMode="auto">
            <a:xfrm>
              <a:off x="720" y="1344"/>
              <a:ext cx="1241" cy="908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/>
                <a:t>Real World</a:t>
              </a:r>
            </a:p>
          </p:txBody>
        </p:sp>
        <p:sp>
          <p:nvSpPr>
            <p:cNvPr id="188421" name="Rectangle 5"/>
            <p:cNvSpPr>
              <a:spLocks noChangeArrowheads="1"/>
            </p:cNvSpPr>
            <p:nvPr/>
          </p:nvSpPr>
          <p:spPr bwMode="auto">
            <a:xfrm>
              <a:off x="1101" y="1647"/>
              <a:ext cx="490" cy="300"/>
            </a:xfrm>
            <a:prstGeom prst="rect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/>
                <a:t>Data</a:t>
              </a:r>
            </a:p>
          </p:txBody>
        </p:sp>
      </p:grpSp>
      <p:grpSp>
        <p:nvGrpSpPr>
          <p:cNvPr id="188446" name="Group 30"/>
          <p:cNvGrpSpPr>
            <a:grpSpLocks/>
          </p:cNvGrpSpPr>
          <p:nvPr/>
        </p:nvGrpSpPr>
        <p:grpSpPr bwMode="auto">
          <a:xfrm>
            <a:off x="6477000" y="2133600"/>
            <a:ext cx="1974850" cy="1447800"/>
            <a:chOff x="4128" y="1344"/>
            <a:chExt cx="1244" cy="912"/>
          </a:xfrm>
        </p:grpSpPr>
        <p:sp>
          <p:nvSpPr>
            <p:cNvPr id="188424" name="Rectangle 8"/>
            <p:cNvSpPr>
              <a:spLocks noChangeArrowheads="1"/>
            </p:cNvSpPr>
            <p:nvPr/>
          </p:nvSpPr>
          <p:spPr bwMode="auto">
            <a:xfrm>
              <a:off x="4128" y="1344"/>
              <a:ext cx="1244" cy="912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r>
                <a:rPr lang="en-US"/>
                <a:t>Computer</a:t>
              </a:r>
            </a:p>
          </p:txBody>
        </p:sp>
        <p:sp>
          <p:nvSpPr>
            <p:cNvPr id="188427" name="Rectangle 11"/>
            <p:cNvSpPr>
              <a:spLocks noChangeArrowheads="1"/>
            </p:cNvSpPr>
            <p:nvPr/>
          </p:nvSpPr>
          <p:spPr bwMode="auto">
            <a:xfrm>
              <a:off x="4476" y="1647"/>
              <a:ext cx="490" cy="300"/>
            </a:xfrm>
            <a:prstGeom prst="rect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/>
                <a:t>Data</a:t>
              </a:r>
            </a:p>
          </p:txBody>
        </p:sp>
      </p:grpSp>
      <p:sp>
        <p:nvSpPr>
          <p:cNvPr id="188428" name="Rectangle 12"/>
          <p:cNvSpPr>
            <a:spLocks noChangeArrowheads="1"/>
          </p:cNvSpPr>
          <p:nvPr/>
        </p:nvSpPr>
        <p:spPr bwMode="auto">
          <a:xfrm>
            <a:off x="3962400" y="2619375"/>
            <a:ext cx="1828800" cy="476250"/>
          </a:xfrm>
          <a:prstGeom prst="rect">
            <a:avLst/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/>
              <a:t>Input device</a:t>
            </a:r>
          </a:p>
        </p:txBody>
      </p:sp>
      <p:sp>
        <p:nvSpPr>
          <p:cNvPr id="188429" name="Line 13"/>
          <p:cNvSpPr>
            <a:spLocks noChangeShapeType="1"/>
          </p:cNvSpPr>
          <p:nvPr/>
        </p:nvSpPr>
        <p:spPr bwMode="auto">
          <a:xfrm flipV="1">
            <a:off x="3124200" y="2857500"/>
            <a:ext cx="838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88430" name="Line 14"/>
          <p:cNvSpPr>
            <a:spLocks noChangeShapeType="1"/>
          </p:cNvSpPr>
          <p:nvPr/>
        </p:nvSpPr>
        <p:spPr bwMode="auto">
          <a:xfrm>
            <a:off x="5791200" y="2857500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188452" name="Group 36"/>
          <p:cNvGrpSpPr>
            <a:grpSpLocks/>
          </p:cNvGrpSpPr>
          <p:nvPr/>
        </p:nvGrpSpPr>
        <p:grpSpPr bwMode="auto">
          <a:xfrm>
            <a:off x="1146175" y="3886200"/>
            <a:ext cx="7305675" cy="476250"/>
            <a:chOff x="722" y="2448"/>
            <a:chExt cx="4602" cy="300"/>
          </a:xfrm>
        </p:grpSpPr>
        <p:sp>
          <p:nvSpPr>
            <p:cNvPr id="188432" name="Text Box 16"/>
            <p:cNvSpPr txBox="1">
              <a:spLocks noChangeArrowheads="1"/>
            </p:cNvSpPr>
            <p:nvPr/>
          </p:nvSpPr>
          <p:spPr bwMode="auto">
            <a:xfrm>
              <a:off x="722" y="2448"/>
              <a:ext cx="1244" cy="30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ourier New" panose="02070309020205020404" pitchFamily="49" charset="0"/>
                </a:rPr>
                <a:t>Dear Mom:</a:t>
              </a:r>
              <a:endParaRPr lang="en-US"/>
            </a:p>
          </p:txBody>
        </p:sp>
        <p:sp>
          <p:nvSpPr>
            <p:cNvPr id="188433" name="Rectangle 17"/>
            <p:cNvSpPr>
              <a:spLocks noChangeArrowheads="1"/>
            </p:cNvSpPr>
            <p:nvPr/>
          </p:nvSpPr>
          <p:spPr bwMode="auto">
            <a:xfrm>
              <a:off x="2496" y="2448"/>
              <a:ext cx="1152" cy="300"/>
            </a:xfrm>
            <a:prstGeom prst="rect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Keyboard</a:t>
              </a:r>
            </a:p>
          </p:txBody>
        </p:sp>
        <p:sp>
          <p:nvSpPr>
            <p:cNvPr id="188434" name="Text Box 18"/>
            <p:cNvSpPr txBox="1">
              <a:spLocks noChangeArrowheads="1"/>
            </p:cNvSpPr>
            <p:nvPr/>
          </p:nvSpPr>
          <p:spPr bwMode="auto">
            <a:xfrm>
              <a:off x="4080" y="2448"/>
              <a:ext cx="1244" cy="30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r>
                <a:rPr lang="en-US"/>
                <a:t>10110010…</a:t>
              </a:r>
            </a:p>
          </p:txBody>
        </p:sp>
        <p:sp>
          <p:nvSpPr>
            <p:cNvPr id="188448" name="Line 32"/>
            <p:cNvSpPr>
              <a:spLocks noChangeShapeType="1"/>
            </p:cNvSpPr>
            <p:nvPr/>
          </p:nvSpPr>
          <p:spPr bwMode="auto">
            <a:xfrm flipV="1">
              <a:off x="1968" y="259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8450" name="Line 34"/>
            <p:cNvSpPr>
              <a:spLocks noChangeShapeType="1"/>
            </p:cNvSpPr>
            <p:nvPr/>
          </p:nvSpPr>
          <p:spPr bwMode="auto">
            <a:xfrm>
              <a:off x="3648" y="259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8453" name="Group 37"/>
          <p:cNvGrpSpPr>
            <a:grpSpLocks/>
          </p:cNvGrpSpPr>
          <p:nvPr/>
        </p:nvGrpSpPr>
        <p:grpSpPr bwMode="auto">
          <a:xfrm>
            <a:off x="1146175" y="4725988"/>
            <a:ext cx="7305675" cy="1206500"/>
            <a:chOff x="722" y="2977"/>
            <a:chExt cx="4602" cy="760"/>
          </a:xfrm>
        </p:grpSpPr>
        <p:grpSp>
          <p:nvGrpSpPr>
            <p:cNvPr id="188445" name="Group 29"/>
            <p:cNvGrpSpPr>
              <a:grpSpLocks/>
            </p:cNvGrpSpPr>
            <p:nvPr/>
          </p:nvGrpSpPr>
          <p:grpSpPr bwMode="auto">
            <a:xfrm>
              <a:off x="722" y="2977"/>
              <a:ext cx="1244" cy="760"/>
              <a:chOff x="724" y="3028"/>
              <a:chExt cx="1244" cy="760"/>
            </a:xfrm>
          </p:grpSpPr>
          <p:sp>
            <p:nvSpPr>
              <p:cNvPr id="188444" name="Rectangle 28"/>
              <p:cNvSpPr>
                <a:spLocks noChangeArrowheads="1"/>
              </p:cNvSpPr>
              <p:nvPr/>
            </p:nvSpPr>
            <p:spPr bwMode="auto">
              <a:xfrm>
                <a:off x="724" y="3028"/>
                <a:ext cx="1244" cy="760"/>
              </a:xfrm>
              <a:prstGeom prst="rect">
                <a:avLst/>
              </a:prstGeom>
              <a:solidFill>
                <a:schemeClr val="hlink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/>
                <a:endParaRPr lang="en-US"/>
              </a:p>
              <a:p>
                <a:pPr algn="ctr"/>
                <a:endParaRPr lang="en-US"/>
              </a:p>
              <a:p>
                <a:pPr algn="ctr"/>
                <a:endParaRPr lang="en-US"/>
              </a:p>
            </p:txBody>
          </p:sp>
          <p:pic>
            <p:nvPicPr>
              <p:cNvPr id="188437" name="Picture 2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5" y="3096"/>
                <a:ext cx="602" cy="6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57150">
                    <a:solidFill>
                      <a:schemeClr val="folHlink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188438" name="Rectangle 22"/>
            <p:cNvSpPr>
              <a:spLocks noChangeArrowheads="1"/>
            </p:cNvSpPr>
            <p:nvPr/>
          </p:nvSpPr>
          <p:spPr bwMode="auto">
            <a:xfrm>
              <a:off x="2497" y="3093"/>
              <a:ext cx="1152" cy="530"/>
            </a:xfrm>
            <a:prstGeom prst="rect">
              <a:avLst/>
            </a:prstGeom>
            <a:solidFill>
              <a:srgbClr val="FFCC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/>
                <a:t>Digital</a:t>
              </a:r>
              <a:br>
                <a:rPr lang="en-US"/>
              </a:br>
              <a:r>
                <a:rPr lang="en-US"/>
                <a:t>camera</a:t>
              </a:r>
            </a:p>
          </p:txBody>
        </p:sp>
        <p:sp>
          <p:nvSpPr>
            <p:cNvPr id="188439" name="Text Box 23"/>
            <p:cNvSpPr txBox="1">
              <a:spLocks noChangeArrowheads="1"/>
            </p:cNvSpPr>
            <p:nvPr/>
          </p:nvSpPr>
          <p:spPr bwMode="auto">
            <a:xfrm>
              <a:off x="4080" y="3208"/>
              <a:ext cx="1244" cy="300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r>
                <a:rPr lang="en-US"/>
                <a:t>10110010…</a:t>
              </a:r>
            </a:p>
          </p:txBody>
        </p:sp>
        <p:sp>
          <p:nvSpPr>
            <p:cNvPr id="188449" name="Line 33"/>
            <p:cNvSpPr>
              <a:spLocks noChangeShapeType="1"/>
            </p:cNvSpPr>
            <p:nvPr/>
          </p:nvSpPr>
          <p:spPr bwMode="auto">
            <a:xfrm flipV="1">
              <a:off x="1968" y="3358"/>
              <a:ext cx="5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8451" name="Line 35"/>
            <p:cNvSpPr>
              <a:spLocks noChangeShapeType="1"/>
            </p:cNvSpPr>
            <p:nvPr/>
          </p:nvSpPr>
          <p:spPr bwMode="auto">
            <a:xfrm>
              <a:off x="3648" y="335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995145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Format must be appropriate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internal representation must be appropriate for the type of processing to take place (e.g., text, images, sound)</a:t>
            </a:r>
          </a:p>
        </p:txBody>
      </p:sp>
    </p:spTree>
    <p:extLst>
      <p:ext uri="{BB962C8B-B14F-4D97-AF65-F5344CB8AC3E}">
        <p14:creationId xmlns:p14="http://schemas.microsoft.com/office/powerpoint/2010/main" xmlns="" val="16855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Standards</a:t>
            </a:r>
          </a:p>
        </p:txBody>
      </p:sp>
      <p:graphicFrame>
        <p:nvGraphicFramePr>
          <p:cNvPr id="192562" name="Group 50"/>
          <p:cNvGraphicFramePr>
            <a:graphicFrameLocks noGrp="1"/>
          </p:cNvGraphicFramePr>
          <p:nvPr/>
        </p:nvGraphicFramePr>
        <p:xfrm>
          <a:off x="685800" y="1752600"/>
          <a:ext cx="8305800" cy="4021774"/>
        </p:xfrm>
        <a:graphic>
          <a:graphicData uri="http://schemas.openxmlformats.org/drawingml/2006/table">
            <a:tbl>
              <a:tblPr/>
              <a:tblGrid>
                <a:gridCol w="3581400"/>
                <a:gridCol w="4724400"/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Type of Data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Standards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</a:tr>
              <a:tr h="768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Alphanumeric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ASCII, EBCDIC, Unicode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5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Image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JPEG, GIF, PCX, TIFF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5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Motion picture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MPEG-2, Quick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27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Sound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Sound Blaster, WAV, AU,MP3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7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Outline graphics/fonts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PostScript, TrueType, PDF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5678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Alphanumeric Data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05000"/>
            <a:ext cx="8229600" cy="464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Problem: Distinguishing between the number 123 (one hundred and twenty-three) and the characters “123” (one, two, three)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Four standards for representing letters (alpha) and numbers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BCD</a:t>
            </a:r>
            <a:r>
              <a:rPr lang="en-US" dirty="0"/>
              <a:t> – Binary-coded decimal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ASCII</a:t>
            </a:r>
            <a:r>
              <a:rPr lang="en-US" dirty="0"/>
              <a:t> – American standard code for information interchange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EBCDIC</a:t>
            </a:r>
            <a:r>
              <a:rPr lang="en-US" dirty="0"/>
              <a:t> – Extended binary-coded decimal interchange code</a:t>
            </a:r>
          </a:p>
          <a:p>
            <a:pPr lvl="1">
              <a:lnSpc>
                <a:spcPct val="90000"/>
              </a:lnSpc>
            </a:pPr>
            <a:r>
              <a:rPr lang="en-US" b="1" dirty="0"/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xmlns="" val="304833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60" name="AutoShape 4"/>
          <p:cNvSpPr>
            <a:spLocks noChangeArrowheads="1"/>
          </p:cNvSpPr>
          <p:nvPr/>
        </p:nvSpPr>
        <p:spPr bwMode="auto">
          <a:xfrm>
            <a:off x="762000" y="1860550"/>
            <a:ext cx="8077200" cy="654050"/>
          </a:xfrm>
          <a:prstGeom prst="rightArrow">
            <a:avLst>
              <a:gd name="adj1" fmla="val 67583"/>
              <a:gd name="adj2" fmla="val 81301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/>
            <a:r>
              <a:rPr lang="en-US"/>
              <a:t>Next 2 slides</a:t>
            </a:r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Alphanumeric Formats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BCD</a:t>
            </a:r>
          </a:p>
          <a:p>
            <a:r>
              <a:rPr lang="en-US"/>
              <a:t>ASCII</a:t>
            </a:r>
          </a:p>
          <a:p>
            <a:r>
              <a:rPr lang="en-US"/>
              <a:t>EBCDIC</a:t>
            </a:r>
          </a:p>
          <a:p>
            <a:r>
              <a:rPr lang="en-US"/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xmlns="" val="166701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8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Binary-Coded Decimal (BCD)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35139" t="10417" r="40849" b="40625"/>
          <a:stretch/>
        </p:blipFill>
        <p:spPr>
          <a:xfrm>
            <a:off x="1905000" y="1600200"/>
            <a:ext cx="4191000" cy="480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59804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7093</a:t>
            </a:r>
            <a:r>
              <a:rPr lang="en-US" baseline="-25000"/>
              <a:t>10</a:t>
            </a:r>
            <a:r>
              <a:rPr lang="en-US"/>
              <a:t> = ? (in BCD)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2438400" y="2624138"/>
            <a:ext cx="4343400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91240B29-F687-4F45-9708-019B960494DF}">
              <a14:hiddenLine xmlns:a14="http://schemas.microsoft.com/office/drawing/2010/main" xmlns="" w="190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ourier New" panose="02070309020205020404" pitchFamily="49" charset="0"/>
              </a:rPr>
              <a:t>  7     0     9     3</a:t>
            </a:r>
          </a:p>
          <a:p>
            <a:pPr>
              <a:spcBef>
                <a:spcPct val="50000"/>
              </a:spcBef>
            </a:pPr>
            <a:endParaRPr lang="en-US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endParaRPr lang="en-US"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</a:pPr>
            <a:r>
              <a:rPr lang="en-US">
                <a:latin typeface="Courier New" panose="02070309020205020404" pitchFamily="49" charset="0"/>
              </a:rPr>
              <a:t>0111  0000  1001  0011</a:t>
            </a:r>
          </a:p>
        </p:txBody>
      </p:sp>
      <p:sp>
        <p:nvSpPr>
          <p:cNvPr id="196613" name="Line 5"/>
          <p:cNvSpPr>
            <a:spLocks noChangeShapeType="1"/>
          </p:cNvSpPr>
          <p:nvPr/>
        </p:nvSpPr>
        <p:spPr bwMode="auto">
          <a:xfrm>
            <a:off x="2895600" y="2895600"/>
            <a:ext cx="0" cy="10668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14" name="Line 6"/>
          <p:cNvSpPr>
            <a:spLocks noChangeShapeType="1"/>
          </p:cNvSpPr>
          <p:nvPr/>
        </p:nvSpPr>
        <p:spPr bwMode="auto">
          <a:xfrm>
            <a:off x="3657600" y="2895600"/>
            <a:ext cx="0" cy="10668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15" name="Line 7"/>
          <p:cNvSpPr>
            <a:spLocks noChangeShapeType="1"/>
          </p:cNvSpPr>
          <p:nvPr/>
        </p:nvSpPr>
        <p:spPr bwMode="auto">
          <a:xfrm>
            <a:off x="4419600" y="2895600"/>
            <a:ext cx="0" cy="10668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96616" name="Line 8"/>
          <p:cNvSpPr>
            <a:spLocks noChangeShapeType="1"/>
          </p:cNvSpPr>
          <p:nvPr/>
        </p:nvSpPr>
        <p:spPr bwMode="auto">
          <a:xfrm>
            <a:off x="5181600" y="2895600"/>
            <a:ext cx="0" cy="10668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7378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553" t="41519" r="25642" b="24183"/>
          <a:stretch/>
        </p:blipFill>
        <p:spPr>
          <a:xfrm>
            <a:off x="0" y="1828800"/>
            <a:ext cx="909587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4566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AutoShape 2"/>
          <p:cNvSpPr>
            <a:spLocks noChangeArrowheads="1"/>
          </p:cNvSpPr>
          <p:nvPr/>
        </p:nvSpPr>
        <p:spPr bwMode="auto">
          <a:xfrm>
            <a:off x="642937" y="2590800"/>
            <a:ext cx="8077200" cy="654050"/>
          </a:xfrm>
          <a:prstGeom prst="rightArrow">
            <a:avLst>
              <a:gd name="adj1" fmla="val 67583"/>
              <a:gd name="adj2" fmla="val 81301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/>
            <a:r>
              <a:rPr lang="en-US"/>
              <a:t>Next 22 slides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Alphanumeric Formats</a:t>
            </a:r>
          </a:p>
        </p:txBody>
      </p:sp>
      <p:sp>
        <p:nvSpPr>
          <p:cNvPr id="19968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BCD</a:t>
            </a:r>
          </a:p>
          <a:p>
            <a:r>
              <a:rPr lang="en-US"/>
              <a:t>ASCII</a:t>
            </a:r>
          </a:p>
          <a:p>
            <a:r>
              <a:rPr lang="en-US"/>
              <a:t>EBCDIC</a:t>
            </a:r>
          </a:p>
          <a:p>
            <a:r>
              <a:rPr lang="en-US"/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xmlns="" val="98542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2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Problem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Representing text strings, such as</a:t>
            </a:r>
            <a:br>
              <a:rPr lang="en-US"/>
            </a:br>
            <a:r>
              <a:rPr lang="en-US"/>
              <a:t> “</a:t>
            </a:r>
            <a:r>
              <a:rPr lang="en-US">
                <a:latin typeface="Courier New" panose="02070309020205020404" pitchFamily="49" charset="0"/>
              </a:rPr>
              <a:t>Hello, world”</a:t>
            </a:r>
            <a:r>
              <a:rPr lang="en-US"/>
              <a:t>,</a:t>
            </a:r>
            <a:r>
              <a:rPr lang="en-US">
                <a:latin typeface="Courier New" panose="02070309020205020404" pitchFamily="49" charset="0"/>
              </a:rPr>
              <a:t> </a:t>
            </a:r>
            <a:r>
              <a:rPr lang="en-US"/>
              <a:t>in a computer</a:t>
            </a:r>
          </a:p>
        </p:txBody>
      </p:sp>
    </p:spTree>
    <p:extLst>
      <p:ext uri="{BB962C8B-B14F-4D97-AF65-F5344CB8AC3E}">
        <p14:creationId xmlns:p14="http://schemas.microsoft.com/office/powerpoint/2010/main" xmlns="" val="1684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Codes and Characters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character is coded as a byte</a:t>
            </a:r>
          </a:p>
          <a:p>
            <a:r>
              <a:rPr lang="en-US"/>
              <a:t>Most common coding system is ASCII (Pronounced </a:t>
            </a:r>
            <a:r>
              <a:rPr lang="en-US" i="1"/>
              <a:t>ass-key)</a:t>
            </a:r>
          </a:p>
          <a:p>
            <a:r>
              <a:rPr lang="en-US"/>
              <a:t>ASCII = </a:t>
            </a:r>
            <a:r>
              <a:rPr lang="en-US" u="sng"/>
              <a:t>A</a:t>
            </a:r>
            <a:r>
              <a:rPr lang="en-US"/>
              <a:t>merican National </a:t>
            </a:r>
            <a:r>
              <a:rPr lang="en-US" u="sng"/>
              <a:t>S</a:t>
            </a:r>
            <a:r>
              <a:rPr lang="en-US"/>
              <a:t>tandard </a:t>
            </a:r>
            <a:r>
              <a:rPr lang="en-US" u="sng"/>
              <a:t>C</a:t>
            </a:r>
            <a:r>
              <a:rPr lang="en-US"/>
              <a:t>ode for </a:t>
            </a:r>
            <a:r>
              <a:rPr lang="en-US" u="sng"/>
              <a:t>I</a:t>
            </a:r>
            <a:r>
              <a:rPr lang="en-US"/>
              <a:t>nformation </a:t>
            </a:r>
            <a:r>
              <a:rPr lang="en-US" u="sng"/>
              <a:t>I</a:t>
            </a:r>
            <a:r>
              <a:rPr lang="en-US"/>
              <a:t>nterchange</a:t>
            </a:r>
          </a:p>
          <a:p>
            <a:r>
              <a:rPr lang="en-US"/>
              <a:t>Defined in ANSI document X3.4-1977</a:t>
            </a:r>
          </a:p>
        </p:txBody>
      </p:sp>
    </p:spTree>
    <p:extLst>
      <p:ext uri="{BB962C8B-B14F-4D97-AF65-F5344CB8AC3E}">
        <p14:creationId xmlns:p14="http://schemas.microsoft.com/office/powerpoint/2010/main" xmlns="" val="322591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ASCII Features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7-bit code</a:t>
            </a:r>
          </a:p>
          <a:p>
            <a:pPr>
              <a:lnSpc>
                <a:spcPct val="90000"/>
              </a:lnSpc>
            </a:pPr>
            <a:r>
              <a:rPr lang="en-US"/>
              <a:t>8</a:t>
            </a:r>
            <a:r>
              <a:rPr lang="en-US" baseline="30000"/>
              <a:t>th</a:t>
            </a:r>
            <a:r>
              <a:rPr lang="en-US"/>
              <a:t> bit is unused (or used for a parity bit)</a:t>
            </a:r>
          </a:p>
          <a:p>
            <a:pPr>
              <a:lnSpc>
                <a:spcPct val="90000"/>
              </a:lnSpc>
            </a:pPr>
            <a:r>
              <a:rPr lang="en-US"/>
              <a:t>2</a:t>
            </a:r>
            <a:r>
              <a:rPr lang="en-US" baseline="30000"/>
              <a:t>7</a:t>
            </a:r>
            <a:r>
              <a:rPr lang="en-US"/>
              <a:t> = 128 codes</a:t>
            </a:r>
          </a:p>
          <a:p>
            <a:pPr>
              <a:lnSpc>
                <a:spcPct val="90000"/>
              </a:lnSpc>
            </a:pPr>
            <a:r>
              <a:rPr lang="en-US"/>
              <a:t>Two general types of codes: </a:t>
            </a:r>
          </a:p>
          <a:p>
            <a:pPr lvl="1">
              <a:lnSpc>
                <a:spcPct val="90000"/>
              </a:lnSpc>
            </a:pPr>
            <a:r>
              <a:rPr lang="en-US"/>
              <a:t>95 are “Graphic” codes (displayable on a console)</a:t>
            </a:r>
          </a:p>
          <a:p>
            <a:pPr lvl="1">
              <a:lnSpc>
                <a:spcPct val="90000"/>
              </a:lnSpc>
            </a:pPr>
            <a:r>
              <a:rPr lang="en-US"/>
              <a:t>33 are “Control” codes (control features of the console or communications channel)</a:t>
            </a:r>
          </a:p>
        </p:txBody>
      </p:sp>
    </p:spTree>
    <p:extLst>
      <p:ext uri="{BB962C8B-B14F-4D97-AF65-F5344CB8AC3E}">
        <p14:creationId xmlns:p14="http://schemas.microsoft.com/office/powerpoint/2010/main" xmlns="" val="153514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228600" y="1600200"/>
            <a:ext cx="8689975" cy="4906963"/>
            <a:chOff x="263525" y="990600"/>
            <a:chExt cx="8689975" cy="4906963"/>
          </a:xfrm>
        </p:grpSpPr>
        <p:graphicFrame>
          <p:nvGraphicFramePr>
            <p:cNvPr id="205826" name="Object 2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2059" name="Document" r:id="rId3" imgW="5632704" imgH="3154680" progId="">
                <p:embed/>
              </p:oleObj>
            </a:graphicData>
          </a:graphic>
        </p:graphicFrame>
        <p:sp>
          <p:nvSpPr>
            <p:cNvPr id="205827" name="Rectangle 3"/>
            <p:cNvSpPr>
              <a:spLocks noChangeArrowheads="1"/>
            </p:cNvSpPr>
            <p:nvPr/>
          </p:nvSpPr>
          <p:spPr bwMode="auto">
            <a:xfrm>
              <a:off x="381000" y="990600"/>
              <a:ext cx="8458200" cy="46482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828" name="Line 4"/>
            <p:cNvSpPr>
              <a:spLocks noChangeShapeType="1"/>
            </p:cNvSpPr>
            <p:nvPr/>
          </p:nvSpPr>
          <p:spPr bwMode="auto">
            <a:xfrm>
              <a:off x="1295400" y="990600"/>
              <a:ext cx="0" cy="4648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5829" name="Line 5"/>
            <p:cNvSpPr>
              <a:spLocks noChangeShapeType="1"/>
            </p:cNvSpPr>
            <p:nvPr/>
          </p:nvSpPr>
          <p:spPr bwMode="auto">
            <a:xfrm>
              <a:off x="381000" y="1295400"/>
              <a:ext cx="8458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ASCII Chart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4885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0" name="Object 2"/>
          <p:cNvGraphicFramePr>
            <a:graphicFrameLocks noChangeAspect="1"/>
          </p:cNvGraphicFramePr>
          <p:nvPr/>
        </p:nvGraphicFramePr>
        <p:xfrm>
          <a:off x="263525" y="1033463"/>
          <a:ext cx="8689975" cy="4864100"/>
        </p:xfrm>
        <a:graphic>
          <a:graphicData uri="http://schemas.openxmlformats.org/presentationml/2006/ole">
            <p:oleObj spid="_x0000_s3083" name="Document" r:id="rId3" imgW="5632704" imgH="3154680" progId="">
              <p:embed/>
            </p:oleObj>
          </a:graphicData>
        </a:graphic>
      </p:graphicFrame>
      <p:sp>
        <p:nvSpPr>
          <p:cNvPr id="206851" name="Rectangle 3"/>
          <p:cNvSpPr>
            <a:spLocks noChangeArrowheads="1"/>
          </p:cNvSpPr>
          <p:nvPr/>
        </p:nvSpPr>
        <p:spPr bwMode="auto">
          <a:xfrm>
            <a:off x="381000" y="990600"/>
            <a:ext cx="8458200" cy="46482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852" name="Line 4"/>
          <p:cNvSpPr>
            <a:spLocks noChangeShapeType="1"/>
          </p:cNvSpPr>
          <p:nvPr/>
        </p:nvSpPr>
        <p:spPr bwMode="auto">
          <a:xfrm>
            <a:off x="1295400" y="990600"/>
            <a:ext cx="0" cy="464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853" name="Line 5"/>
          <p:cNvSpPr>
            <a:spLocks noChangeShapeType="1"/>
          </p:cNvSpPr>
          <p:nvPr/>
        </p:nvSpPr>
        <p:spPr bwMode="auto">
          <a:xfrm>
            <a:off x="381000" y="1295400"/>
            <a:ext cx="84582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6854" name="AutoShape 6"/>
          <p:cNvSpPr>
            <a:spLocks noChangeArrowheads="1"/>
          </p:cNvSpPr>
          <p:nvPr/>
        </p:nvSpPr>
        <p:spPr bwMode="auto">
          <a:xfrm>
            <a:off x="2819400" y="2149475"/>
            <a:ext cx="2787650" cy="517525"/>
          </a:xfrm>
          <a:prstGeom prst="wedgeRoundRectCallout">
            <a:avLst>
              <a:gd name="adj1" fmla="val -25796"/>
              <a:gd name="adj2" fmla="val -215644"/>
              <a:gd name="adj3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Most significant bit</a:t>
            </a:r>
          </a:p>
        </p:txBody>
      </p:sp>
      <p:sp>
        <p:nvSpPr>
          <p:cNvPr id="206855" name="AutoShape 7"/>
          <p:cNvSpPr>
            <a:spLocks noChangeArrowheads="1"/>
          </p:cNvSpPr>
          <p:nvPr/>
        </p:nvSpPr>
        <p:spPr bwMode="auto">
          <a:xfrm>
            <a:off x="423863" y="4225925"/>
            <a:ext cx="2822575" cy="517525"/>
          </a:xfrm>
          <a:prstGeom prst="wedgeRoundRectCallout">
            <a:avLst>
              <a:gd name="adj1" fmla="val -32630"/>
              <a:gd name="adj2" fmla="val -256134"/>
              <a:gd name="adj3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Least significant bit</a:t>
            </a:r>
          </a:p>
        </p:txBody>
      </p:sp>
    </p:spTree>
    <p:extLst>
      <p:ext uri="{BB962C8B-B14F-4D97-AF65-F5344CB8AC3E}">
        <p14:creationId xmlns:p14="http://schemas.microsoft.com/office/powerpoint/2010/main" xmlns="" val="132425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8" name="AutoShape 6"/>
          <p:cNvSpPr>
            <a:spLocks noChangeArrowheads="1"/>
          </p:cNvSpPr>
          <p:nvPr/>
        </p:nvSpPr>
        <p:spPr bwMode="auto">
          <a:xfrm>
            <a:off x="3279775" y="996950"/>
            <a:ext cx="2359025" cy="442674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sz="2000" dirty="0"/>
              <a:t>e.g</a:t>
            </a:r>
            <a:r>
              <a:rPr lang="en-US" sz="2000" dirty="0" smtClean="0"/>
              <a:t>.  </a:t>
            </a:r>
            <a:r>
              <a:rPr lang="en-US" sz="2000" dirty="0"/>
              <a:t>‘a’ = 1100001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3525" y="1798637"/>
            <a:ext cx="8689975" cy="4906963"/>
            <a:chOff x="263525" y="990600"/>
            <a:chExt cx="8689975" cy="4906963"/>
          </a:xfrm>
        </p:grpSpPr>
        <p:graphicFrame>
          <p:nvGraphicFramePr>
            <p:cNvPr id="207874" name="Object 2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4107" name="Document" r:id="rId3" imgW="5632704" imgH="3154680" progId="">
                <p:embed/>
              </p:oleObj>
            </a:graphicData>
          </a:graphic>
        </p:graphicFrame>
        <p:sp>
          <p:nvSpPr>
            <p:cNvPr id="207875" name="Rectangle 3"/>
            <p:cNvSpPr>
              <a:spLocks noChangeArrowheads="1"/>
            </p:cNvSpPr>
            <p:nvPr/>
          </p:nvSpPr>
          <p:spPr bwMode="auto">
            <a:xfrm>
              <a:off x="381000" y="990600"/>
              <a:ext cx="8458200" cy="46482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7876" name="Line 4"/>
            <p:cNvSpPr>
              <a:spLocks noChangeShapeType="1"/>
            </p:cNvSpPr>
            <p:nvPr/>
          </p:nvSpPr>
          <p:spPr bwMode="auto">
            <a:xfrm>
              <a:off x="1295400" y="990600"/>
              <a:ext cx="0" cy="4648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7877" name="Line 5"/>
            <p:cNvSpPr>
              <a:spLocks noChangeShapeType="1"/>
            </p:cNvSpPr>
            <p:nvPr/>
          </p:nvSpPr>
          <p:spPr bwMode="auto">
            <a:xfrm>
              <a:off x="381000" y="1295400"/>
              <a:ext cx="8458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07879" name="Rectangle 7"/>
            <p:cNvSpPr>
              <a:spLocks noChangeArrowheads="1"/>
            </p:cNvSpPr>
            <p:nvPr/>
          </p:nvSpPr>
          <p:spPr bwMode="auto">
            <a:xfrm>
              <a:off x="7239000" y="1524000"/>
              <a:ext cx="5334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7880" name="Rectangle 8"/>
            <p:cNvSpPr>
              <a:spLocks noChangeArrowheads="1"/>
            </p:cNvSpPr>
            <p:nvPr/>
          </p:nvSpPr>
          <p:spPr bwMode="auto">
            <a:xfrm>
              <a:off x="7239000" y="990600"/>
              <a:ext cx="533400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07881" name="Rectangle 9"/>
            <p:cNvSpPr>
              <a:spLocks noChangeArrowheads="1"/>
            </p:cNvSpPr>
            <p:nvPr/>
          </p:nvSpPr>
          <p:spPr bwMode="auto">
            <a:xfrm>
              <a:off x="428625" y="1543050"/>
              <a:ext cx="619125" cy="3048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201520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1" name="AutoShape 5"/>
          <p:cNvSpPr>
            <a:spLocks noChangeArrowheads="1"/>
          </p:cNvSpPr>
          <p:nvPr/>
        </p:nvSpPr>
        <p:spPr bwMode="auto">
          <a:xfrm>
            <a:off x="3387725" y="692150"/>
            <a:ext cx="2398713" cy="527050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95 Graphic codes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63525" y="1570037"/>
            <a:ext cx="8689975" cy="4906963"/>
            <a:chOff x="263525" y="990600"/>
            <a:chExt cx="8689975" cy="4906963"/>
          </a:xfrm>
        </p:grpSpPr>
        <p:grpSp>
          <p:nvGrpSpPr>
            <p:cNvPr id="8" name="Group 7"/>
            <p:cNvGrpSpPr/>
            <p:nvPr/>
          </p:nvGrpSpPr>
          <p:grpSpPr>
            <a:xfrm>
              <a:off x="381000" y="990600"/>
              <a:ext cx="8458200" cy="4648200"/>
              <a:chOff x="381000" y="990600"/>
              <a:chExt cx="8458200" cy="4648200"/>
            </a:xfrm>
          </p:grpSpPr>
          <p:sp>
            <p:nvSpPr>
              <p:cNvPr id="208898" name="Rectangle 2"/>
              <p:cNvSpPr>
                <a:spLocks noChangeArrowheads="1"/>
              </p:cNvSpPr>
              <p:nvPr/>
            </p:nvSpPr>
            <p:spPr bwMode="auto">
              <a:xfrm>
                <a:off x="381000" y="990600"/>
                <a:ext cx="8458200" cy="4648200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8899" name="Line 3"/>
              <p:cNvSpPr>
                <a:spLocks noChangeShapeType="1"/>
              </p:cNvSpPr>
              <p:nvPr/>
            </p:nvSpPr>
            <p:spPr bwMode="auto">
              <a:xfrm>
                <a:off x="1295400" y="990600"/>
                <a:ext cx="0" cy="464820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8900" name="Line 4"/>
              <p:cNvSpPr>
                <a:spLocks noChangeShapeType="1"/>
              </p:cNvSpPr>
              <p:nvPr/>
            </p:nvSpPr>
            <p:spPr bwMode="auto">
              <a:xfrm>
                <a:off x="381000" y="1295400"/>
                <a:ext cx="8458200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8902" name="Freeform 6"/>
              <p:cNvSpPr>
                <a:spLocks/>
              </p:cNvSpPr>
              <p:nvPr/>
            </p:nvSpPr>
            <p:spPr bwMode="auto">
              <a:xfrm>
                <a:off x="3200400" y="1295400"/>
                <a:ext cx="5638800" cy="4343400"/>
              </a:xfrm>
              <a:custGeom>
                <a:avLst/>
                <a:gdLst>
                  <a:gd name="T0" fmla="*/ 0 w 3552"/>
                  <a:gd name="T1" fmla="*/ 0 h 2736"/>
                  <a:gd name="T2" fmla="*/ 0 w 3552"/>
                  <a:gd name="T3" fmla="*/ 2736 h 2736"/>
                  <a:gd name="T4" fmla="*/ 2880 w 3552"/>
                  <a:gd name="T5" fmla="*/ 2736 h 2736"/>
                  <a:gd name="T6" fmla="*/ 2880 w 3552"/>
                  <a:gd name="T7" fmla="*/ 2496 h 2736"/>
                  <a:gd name="T8" fmla="*/ 3552 w 3552"/>
                  <a:gd name="T9" fmla="*/ 2496 h 2736"/>
                  <a:gd name="T10" fmla="*/ 3552 w 3552"/>
                  <a:gd name="T11" fmla="*/ 0 h 2736"/>
                  <a:gd name="T12" fmla="*/ 0 w 3552"/>
                  <a:gd name="T13" fmla="*/ 0 h 2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52" h="2736">
                    <a:moveTo>
                      <a:pt x="0" y="0"/>
                    </a:moveTo>
                    <a:lnTo>
                      <a:pt x="0" y="2736"/>
                    </a:lnTo>
                    <a:lnTo>
                      <a:pt x="2880" y="2736"/>
                    </a:lnTo>
                    <a:lnTo>
                      <a:pt x="2880" y="2496"/>
                    </a:lnTo>
                    <a:lnTo>
                      <a:pt x="3552" y="2496"/>
                    </a:lnTo>
                    <a:lnTo>
                      <a:pt x="3552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graphicFrame>
          <p:nvGraphicFramePr>
            <p:cNvPr id="208903" name="Object 7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5131" name="Document" r:id="rId3" imgW="5632704" imgH="3154680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16452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5" name="AutoShape 5"/>
          <p:cNvSpPr>
            <a:spLocks noChangeArrowheads="1"/>
          </p:cNvSpPr>
          <p:nvPr/>
        </p:nvSpPr>
        <p:spPr bwMode="auto">
          <a:xfrm>
            <a:off x="1219200" y="768350"/>
            <a:ext cx="2344738" cy="527050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33 Control codes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3525" y="1646237"/>
            <a:ext cx="8689975" cy="4906963"/>
            <a:chOff x="263525" y="990600"/>
            <a:chExt cx="8689975" cy="4906963"/>
          </a:xfrm>
        </p:grpSpPr>
        <p:grpSp>
          <p:nvGrpSpPr>
            <p:cNvPr id="9" name="Group 8"/>
            <p:cNvGrpSpPr/>
            <p:nvPr/>
          </p:nvGrpSpPr>
          <p:grpSpPr>
            <a:xfrm>
              <a:off x="381000" y="990600"/>
              <a:ext cx="8458200" cy="4648200"/>
              <a:chOff x="381000" y="990600"/>
              <a:chExt cx="8458200" cy="4648200"/>
            </a:xfrm>
          </p:grpSpPr>
          <p:sp>
            <p:nvSpPr>
              <p:cNvPr id="209922" name="Rectangle 2"/>
              <p:cNvSpPr>
                <a:spLocks noChangeArrowheads="1"/>
              </p:cNvSpPr>
              <p:nvPr/>
            </p:nvSpPr>
            <p:spPr bwMode="auto">
              <a:xfrm>
                <a:off x="381000" y="990600"/>
                <a:ext cx="8458200" cy="4648200"/>
              </a:xfrm>
              <a:prstGeom prst="rect">
                <a:avLst/>
              </a:prstGeom>
              <a:noFill/>
              <a:ln w="2857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9923" name="Line 3"/>
              <p:cNvSpPr>
                <a:spLocks noChangeShapeType="1"/>
              </p:cNvSpPr>
              <p:nvPr/>
            </p:nvSpPr>
            <p:spPr bwMode="auto">
              <a:xfrm>
                <a:off x="1295400" y="990600"/>
                <a:ext cx="0" cy="464820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9924" name="Line 4"/>
              <p:cNvSpPr>
                <a:spLocks noChangeShapeType="1"/>
              </p:cNvSpPr>
              <p:nvPr/>
            </p:nvSpPr>
            <p:spPr bwMode="auto">
              <a:xfrm>
                <a:off x="381000" y="1295400"/>
                <a:ext cx="8458200" cy="0"/>
              </a:xfrm>
              <a:prstGeom prst="line">
                <a:avLst/>
              </a:prstGeom>
              <a:noFill/>
              <a:ln w="285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9926" name="Rectangle 6"/>
              <p:cNvSpPr>
                <a:spLocks noChangeArrowheads="1"/>
              </p:cNvSpPr>
              <p:nvPr/>
            </p:nvSpPr>
            <p:spPr bwMode="auto">
              <a:xfrm>
                <a:off x="1295400" y="1295400"/>
                <a:ext cx="1828800" cy="434340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09927" name="Rectangle 7"/>
              <p:cNvSpPr>
                <a:spLocks noChangeArrowheads="1"/>
              </p:cNvSpPr>
              <p:nvPr/>
            </p:nvSpPr>
            <p:spPr bwMode="auto">
              <a:xfrm>
                <a:off x="7924800" y="5257800"/>
                <a:ext cx="914400" cy="38100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CC66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aphicFrame>
          <p:nvGraphicFramePr>
            <p:cNvPr id="209928" name="Object 8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6155" name="Document" r:id="rId3" imgW="5632704" imgH="3154680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6624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9" name="AutoShape 5"/>
          <p:cNvSpPr>
            <a:spLocks noChangeArrowheads="1"/>
          </p:cNvSpPr>
          <p:nvPr/>
        </p:nvSpPr>
        <p:spPr bwMode="auto">
          <a:xfrm>
            <a:off x="5407025" y="844550"/>
            <a:ext cx="2365375" cy="527050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Alphabetic codes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63525" y="1570037"/>
            <a:ext cx="8689975" cy="4906963"/>
            <a:chOff x="263525" y="990600"/>
            <a:chExt cx="8689975" cy="4906963"/>
          </a:xfrm>
        </p:grpSpPr>
        <p:sp>
          <p:nvSpPr>
            <p:cNvPr id="210946" name="Rectangle 2"/>
            <p:cNvSpPr>
              <a:spLocks noChangeArrowheads="1"/>
            </p:cNvSpPr>
            <p:nvPr/>
          </p:nvSpPr>
          <p:spPr bwMode="auto">
            <a:xfrm>
              <a:off x="381000" y="990600"/>
              <a:ext cx="8458200" cy="46482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0947" name="Line 3"/>
            <p:cNvSpPr>
              <a:spLocks noChangeShapeType="1"/>
            </p:cNvSpPr>
            <p:nvPr/>
          </p:nvSpPr>
          <p:spPr bwMode="auto">
            <a:xfrm>
              <a:off x="1295400" y="990600"/>
              <a:ext cx="0" cy="4648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0948" name="Line 4"/>
            <p:cNvSpPr>
              <a:spLocks noChangeShapeType="1"/>
            </p:cNvSpPr>
            <p:nvPr/>
          </p:nvSpPr>
          <p:spPr bwMode="auto">
            <a:xfrm>
              <a:off x="381000" y="1295400"/>
              <a:ext cx="8458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0950" name="Freeform 6"/>
            <p:cNvSpPr>
              <a:spLocks/>
            </p:cNvSpPr>
            <p:nvPr/>
          </p:nvSpPr>
          <p:spPr bwMode="auto">
            <a:xfrm>
              <a:off x="5105400" y="1295400"/>
              <a:ext cx="1752600" cy="4343400"/>
            </a:xfrm>
            <a:custGeom>
              <a:avLst/>
              <a:gdLst>
                <a:gd name="T0" fmla="*/ 0 w 1104"/>
                <a:gd name="T1" fmla="*/ 192 h 2736"/>
                <a:gd name="T2" fmla="*/ 0 w 1104"/>
                <a:gd name="T3" fmla="*/ 2736 h 2736"/>
                <a:gd name="T4" fmla="*/ 528 w 1104"/>
                <a:gd name="T5" fmla="*/ 2736 h 2736"/>
                <a:gd name="T6" fmla="*/ 528 w 1104"/>
                <a:gd name="T7" fmla="*/ 1872 h 2736"/>
                <a:gd name="T8" fmla="*/ 1104 w 1104"/>
                <a:gd name="T9" fmla="*/ 1872 h 2736"/>
                <a:gd name="T10" fmla="*/ 1104 w 1104"/>
                <a:gd name="T11" fmla="*/ 0 h 2736"/>
                <a:gd name="T12" fmla="*/ 576 w 1104"/>
                <a:gd name="T13" fmla="*/ 0 h 2736"/>
                <a:gd name="T14" fmla="*/ 576 w 1104"/>
                <a:gd name="T15" fmla="*/ 192 h 2736"/>
                <a:gd name="T16" fmla="*/ 0 w 1104"/>
                <a:gd name="T17" fmla="*/ 192 h 2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4" h="2736">
                  <a:moveTo>
                    <a:pt x="0" y="192"/>
                  </a:moveTo>
                  <a:lnTo>
                    <a:pt x="0" y="2736"/>
                  </a:lnTo>
                  <a:lnTo>
                    <a:pt x="528" y="2736"/>
                  </a:lnTo>
                  <a:lnTo>
                    <a:pt x="528" y="1872"/>
                  </a:lnTo>
                  <a:lnTo>
                    <a:pt x="1104" y="1872"/>
                  </a:lnTo>
                  <a:lnTo>
                    <a:pt x="1104" y="0"/>
                  </a:lnTo>
                  <a:lnTo>
                    <a:pt x="57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0951" name="Freeform 7"/>
            <p:cNvSpPr>
              <a:spLocks/>
            </p:cNvSpPr>
            <p:nvPr/>
          </p:nvSpPr>
          <p:spPr bwMode="auto">
            <a:xfrm>
              <a:off x="7067550" y="1295400"/>
              <a:ext cx="1752600" cy="4343400"/>
            </a:xfrm>
            <a:custGeom>
              <a:avLst/>
              <a:gdLst>
                <a:gd name="T0" fmla="*/ 0 w 1104"/>
                <a:gd name="T1" fmla="*/ 192 h 2736"/>
                <a:gd name="T2" fmla="*/ 0 w 1104"/>
                <a:gd name="T3" fmla="*/ 2736 h 2736"/>
                <a:gd name="T4" fmla="*/ 528 w 1104"/>
                <a:gd name="T5" fmla="*/ 2736 h 2736"/>
                <a:gd name="T6" fmla="*/ 528 w 1104"/>
                <a:gd name="T7" fmla="*/ 1872 h 2736"/>
                <a:gd name="T8" fmla="*/ 1104 w 1104"/>
                <a:gd name="T9" fmla="*/ 1872 h 2736"/>
                <a:gd name="T10" fmla="*/ 1104 w 1104"/>
                <a:gd name="T11" fmla="*/ 0 h 2736"/>
                <a:gd name="T12" fmla="*/ 576 w 1104"/>
                <a:gd name="T13" fmla="*/ 0 h 2736"/>
                <a:gd name="T14" fmla="*/ 576 w 1104"/>
                <a:gd name="T15" fmla="*/ 192 h 2736"/>
                <a:gd name="T16" fmla="*/ 0 w 1104"/>
                <a:gd name="T17" fmla="*/ 192 h 2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4" h="2736">
                  <a:moveTo>
                    <a:pt x="0" y="192"/>
                  </a:moveTo>
                  <a:lnTo>
                    <a:pt x="0" y="2736"/>
                  </a:lnTo>
                  <a:lnTo>
                    <a:pt x="528" y="2736"/>
                  </a:lnTo>
                  <a:lnTo>
                    <a:pt x="528" y="1872"/>
                  </a:lnTo>
                  <a:lnTo>
                    <a:pt x="1104" y="1872"/>
                  </a:lnTo>
                  <a:lnTo>
                    <a:pt x="1104" y="0"/>
                  </a:lnTo>
                  <a:lnTo>
                    <a:pt x="576" y="0"/>
                  </a:lnTo>
                  <a:lnTo>
                    <a:pt x="576" y="192"/>
                  </a:lnTo>
                  <a:lnTo>
                    <a:pt x="0" y="192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10952" name="Object 8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7179" name="Document" r:id="rId3" imgW="5632704" imgH="3154680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412321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3" name="AutoShape 5"/>
          <p:cNvSpPr>
            <a:spLocks noChangeArrowheads="1"/>
          </p:cNvSpPr>
          <p:nvPr/>
        </p:nvSpPr>
        <p:spPr bwMode="auto">
          <a:xfrm>
            <a:off x="3543300" y="1225550"/>
            <a:ext cx="2095500" cy="527050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Numeric codes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63525" y="1874837"/>
            <a:ext cx="8689975" cy="4906963"/>
            <a:chOff x="263525" y="990600"/>
            <a:chExt cx="8689975" cy="4906963"/>
          </a:xfrm>
        </p:grpSpPr>
        <p:sp>
          <p:nvSpPr>
            <p:cNvPr id="211970" name="Rectangle 2"/>
            <p:cNvSpPr>
              <a:spLocks noChangeArrowheads="1"/>
            </p:cNvSpPr>
            <p:nvPr/>
          </p:nvSpPr>
          <p:spPr bwMode="auto">
            <a:xfrm>
              <a:off x="381000" y="990600"/>
              <a:ext cx="8458200" cy="46482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1971" name="Line 3"/>
            <p:cNvSpPr>
              <a:spLocks noChangeShapeType="1"/>
            </p:cNvSpPr>
            <p:nvPr/>
          </p:nvSpPr>
          <p:spPr bwMode="auto">
            <a:xfrm>
              <a:off x="1295400" y="990600"/>
              <a:ext cx="0" cy="4648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1972" name="Line 4"/>
            <p:cNvSpPr>
              <a:spLocks noChangeShapeType="1"/>
            </p:cNvSpPr>
            <p:nvPr/>
          </p:nvSpPr>
          <p:spPr bwMode="auto">
            <a:xfrm>
              <a:off x="381000" y="1295400"/>
              <a:ext cx="8458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1974" name="Rectangle 6"/>
            <p:cNvSpPr>
              <a:spLocks noChangeArrowheads="1"/>
            </p:cNvSpPr>
            <p:nvPr/>
          </p:nvSpPr>
          <p:spPr bwMode="auto">
            <a:xfrm>
              <a:off x="4248150" y="1295400"/>
              <a:ext cx="685800" cy="26670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211975" name="Object 7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8203" name="Document" r:id="rId3" imgW="5632704" imgH="3154680" progId="">
                <p:embed/>
              </p:oleObj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xmlns="" val="393320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8" name="AutoShape 6"/>
          <p:cNvSpPr>
            <a:spLocks noChangeArrowheads="1"/>
          </p:cNvSpPr>
          <p:nvPr/>
        </p:nvSpPr>
        <p:spPr bwMode="auto">
          <a:xfrm>
            <a:off x="3048000" y="844550"/>
            <a:ext cx="2297112" cy="527050"/>
          </a:xfrm>
          <a:prstGeom prst="roundRect">
            <a:avLst>
              <a:gd name="adj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Punctuation, etc.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63525" y="1600200"/>
            <a:ext cx="8689975" cy="4906963"/>
            <a:chOff x="263525" y="990600"/>
            <a:chExt cx="8689975" cy="4906963"/>
          </a:xfrm>
        </p:grpSpPr>
        <p:graphicFrame>
          <p:nvGraphicFramePr>
            <p:cNvPr id="212994" name="Object 2"/>
            <p:cNvGraphicFramePr>
              <a:graphicFrameLocks noChangeAspect="1"/>
            </p:cNvGraphicFramePr>
            <p:nvPr/>
          </p:nvGraphicFramePr>
          <p:xfrm>
            <a:off x="263525" y="1033463"/>
            <a:ext cx="8689975" cy="4864100"/>
          </p:xfrm>
          <a:graphic>
            <a:graphicData uri="http://schemas.openxmlformats.org/presentationml/2006/ole">
              <p:oleObj spid="_x0000_s9227" name="Document" r:id="rId3" imgW="5632704" imgH="3154680" progId="">
                <p:embed/>
              </p:oleObj>
            </a:graphicData>
          </a:graphic>
        </p:graphicFrame>
        <p:sp>
          <p:nvSpPr>
            <p:cNvPr id="212995" name="Rectangle 3"/>
            <p:cNvSpPr>
              <a:spLocks noChangeArrowheads="1"/>
            </p:cNvSpPr>
            <p:nvPr/>
          </p:nvSpPr>
          <p:spPr bwMode="auto">
            <a:xfrm>
              <a:off x="381000" y="990600"/>
              <a:ext cx="8458200" cy="4648200"/>
            </a:xfrm>
            <a:prstGeom prst="rect">
              <a:avLst/>
            </a:prstGeom>
            <a:noFill/>
            <a:ln w="2857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2996" name="Line 4"/>
            <p:cNvSpPr>
              <a:spLocks noChangeShapeType="1"/>
            </p:cNvSpPr>
            <p:nvPr/>
          </p:nvSpPr>
          <p:spPr bwMode="auto">
            <a:xfrm>
              <a:off x="1295400" y="990600"/>
              <a:ext cx="0" cy="464820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2997" name="Line 5"/>
            <p:cNvSpPr>
              <a:spLocks noChangeShapeType="1"/>
            </p:cNvSpPr>
            <p:nvPr/>
          </p:nvSpPr>
          <p:spPr bwMode="auto">
            <a:xfrm>
              <a:off x="381000" y="1295400"/>
              <a:ext cx="8458200" cy="0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2999" name="Freeform 7"/>
            <p:cNvSpPr>
              <a:spLocks/>
            </p:cNvSpPr>
            <p:nvPr/>
          </p:nvSpPr>
          <p:spPr bwMode="auto">
            <a:xfrm>
              <a:off x="3200400" y="1524000"/>
              <a:ext cx="1905000" cy="4114800"/>
            </a:xfrm>
            <a:custGeom>
              <a:avLst/>
              <a:gdLst>
                <a:gd name="T0" fmla="*/ 0 w 1200"/>
                <a:gd name="T1" fmla="*/ 0 h 2592"/>
                <a:gd name="T2" fmla="*/ 0 w 1200"/>
                <a:gd name="T3" fmla="*/ 2592 h 2592"/>
                <a:gd name="T4" fmla="*/ 1200 w 1200"/>
                <a:gd name="T5" fmla="*/ 2592 h 2592"/>
                <a:gd name="T6" fmla="*/ 1200 w 1200"/>
                <a:gd name="T7" fmla="*/ 1536 h 2592"/>
                <a:gd name="T8" fmla="*/ 576 w 1200"/>
                <a:gd name="T9" fmla="*/ 1536 h 2592"/>
                <a:gd name="T10" fmla="*/ 576 w 1200"/>
                <a:gd name="T11" fmla="*/ 0 h 2592"/>
                <a:gd name="T12" fmla="*/ 0 w 1200"/>
                <a:gd name="T13" fmla="*/ 0 h 2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0" h="2592">
                  <a:moveTo>
                    <a:pt x="0" y="0"/>
                  </a:moveTo>
                  <a:lnTo>
                    <a:pt x="0" y="2592"/>
                  </a:lnTo>
                  <a:lnTo>
                    <a:pt x="1200" y="2592"/>
                  </a:lnTo>
                  <a:lnTo>
                    <a:pt x="1200" y="1536"/>
                  </a:lnTo>
                  <a:lnTo>
                    <a:pt x="576" y="1536"/>
                  </a:lnTo>
                  <a:lnTo>
                    <a:pt x="576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3000" name="Rectangle 8"/>
            <p:cNvSpPr>
              <a:spLocks noChangeArrowheads="1"/>
            </p:cNvSpPr>
            <p:nvPr/>
          </p:nvSpPr>
          <p:spPr bwMode="auto">
            <a:xfrm>
              <a:off x="6019800" y="4191000"/>
              <a:ext cx="914400" cy="1447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13001" name="Rectangle 9"/>
            <p:cNvSpPr>
              <a:spLocks noChangeArrowheads="1"/>
            </p:cNvSpPr>
            <p:nvPr/>
          </p:nvSpPr>
          <p:spPr bwMode="auto">
            <a:xfrm>
              <a:off x="8001000" y="4210050"/>
              <a:ext cx="838200" cy="1066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2055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“Hello, world” Example</a:t>
            </a:r>
          </a:p>
        </p:txBody>
      </p:sp>
      <p:grpSp>
        <p:nvGrpSpPr>
          <p:cNvPr id="214019" name="Group 3"/>
          <p:cNvGrpSpPr>
            <a:grpSpLocks/>
          </p:cNvGrpSpPr>
          <p:nvPr/>
        </p:nvGrpSpPr>
        <p:grpSpPr bwMode="auto">
          <a:xfrm>
            <a:off x="838200" y="1600200"/>
            <a:ext cx="7924800" cy="4724399"/>
            <a:chOff x="1329" y="1272"/>
            <a:chExt cx="3855" cy="2450"/>
          </a:xfrm>
        </p:grpSpPr>
        <p:sp>
          <p:nvSpPr>
            <p:cNvPr id="214020" name="Text Box 4"/>
            <p:cNvSpPr txBox="1">
              <a:spLocks noChangeArrowheads="1"/>
            </p:cNvSpPr>
            <p:nvPr/>
          </p:nvSpPr>
          <p:spPr bwMode="auto">
            <a:xfrm>
              <a:off x="1536" y="1272"/>
              <a:ext cx="224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/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</p:txBody>
        </p:sp>
        <p:sp>
          <p:nvSpPr>
            <p:cNvPr id="214021" name="Text Box 5"/>
            <p:cNvSpPr txBox="1">
              <a:spLocks noChangeArrowheads="1"/>
            </p:cNvSpPr>
            <p:nvPr/>
          </p:nvSpPr>
          <p:spPr bwMode="auto">
            <a:xfrm>
              <a:off x="1806" y="1272"/>
              <a:ext cx="884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Binary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01001000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01100101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01101100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01101100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01101111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00101100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00100000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01110111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01100111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01110010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01101100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01100100</a:t>
              </a:r>
            </a:p>
          </p:txBody>
        </p:sp>
        <p:sp>
          <p:nvSpPr>
            <p:cNvPr id="214022" name="Text Box 6"/>
            <p:cNvSpPr txBox="1">
              <a:spLocks noChangeArrowheads="1"/>
            </p:cNvSpPr>
            <p:nvPr/>
          </p:nvSpPr>
          <p:spPr bwMode="auto">
            <a:xfrm>
              <a:off x="2894" y="1272"/>
              <a:ext cx="1127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/>
                <a:t>Hexadecimal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48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65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6C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6C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6F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2C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20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77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67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72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6C</a:t>
              </a:r>
            </a:p>
            <a:p>
              <a:pPr algn="ctr">
                <a:lnSpc>
                  <a:spcPct val="80000"/>
                </a:lnSpc>
              </a:pPr>
              <a:r>
                <a:rPr lang="en-US"/>
                <a:t>64</a:t>
              </a:r>
            </a:p>
          </p:txBody>
        </p:sp>
        <p:sp>
          <p:nvSpPr>
            <p:cNvPr id="214023" name="Text Box 7"/>
            <p:cNvSpPr txBox="1">
              <a:spLocks noChangeArrowheads="1"/>
            </p:cNvSpPr>
            <p:nvPr/>
          </p:nvSpPr>
          <p:spPr bwMode="auto">
            <a:xfrm>
              <a:off x="4419" y="1272"/>
              <a:ext cx="765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/>
                <a:t>Decimal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72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108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108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111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44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32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119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103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114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108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100</a:t>
              </a:r>
            </a:p>
          </p:txBody>
        </p:sp>
        <p:sp>
          <p:nvSpPr>
            <p:cNvPr id="214024" name="Text Box 8"/>
            <p:cNvSpPr txBox="1">
              <a:spLocks noChangeArrowheads="1"/>
            </p:cNvSpPr>
            <p:nvPr/>
          </p:nvSpPr>
          <p:spPr bwMode="auto">
            <a:xfrm>
              <a:off x="1329" y="1272"/>
              <a:ext cx="255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80000"/>
                </a:lnSpc>
              </a:pPr>
              <a:endParaRPr lang="en-US" dirty="0"/>
            </a:p>
            <a:p>
              <a:pPr algn="ctr">
                <a:lnSpc>
                  <a:spcPct val="80000"/>
                </a:lnSpc>
              </a:pPr>
              <a:r>
                <a:rPr lang="en-US" dirty="0"/>
                <a:t>H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e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l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l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,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 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w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r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l</a:t>
              </a:r>
            </a:p>
            <a:p>
              <a:pPr algn="ctr">
                <a:lnSpc>
                  <a:spcPct val="80000"/>
                </a:lnSpc>
              </a:pPr>
              <a:r>
                <a:rPr lang="en-US" dirty="0"/>
                <a:t>d</a:t>
              </a:r>
            </a:p>
          </p:txBody>
        </p:sp>
        <p:sp>
          <p:nvSpPr>
            <p:cNvPr id="214025" name="Text Box 9"/>
            <p:cNvSpPr txBox="1">
              <a:spLocks noChangeArrowheads="1"/>
            </p:cNvSpPr>
            <p:nvPr/>
          </p:nvSpPr>
          <p:spPr bwMode="auto">
            <a:xfrm>
              <a:off x="4080" y="1272"/>
              <a:ext cx="224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/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</p:txBody>
        </p:sp>
        <p:sp>
          <p:nvSpPr>
            <p:cNvPr id="214026" name="Text Box 10"/>
            <p:cNvSpPr txBox="1">
              <a:spLocks noChangeArrowheads="1"/>
            </p:cNvSpPr>
            <p:nvPr/>
          </p:nvSpPr>
          <p:spPr bwMode="auto">
            <a:xfrm>
              <a:off x="2656" y="1272"/>
              <a:ext cx="224" cy="2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xmlns="" w="57150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r">
                <a:lnSpc>
                  <a:spcPct val="80000"/>
                </a:lnSpc>
              </a:pPr>
              <a:endParaRPr lang="en-US"/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  <a:p>
              <a:pPr algn="r">
                <a:lnSpc>
                  <a:spcPct val="80000"/>
                </a:lnSpc>
              </a:pPr>
              <a:r>
                <a:rPr lang="en-US"/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403659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Common Control Codes</a:t>
            </a:r>
          </a:p>
        </p:txBody>
      </p:sp>
      <p:sp>
        <p:nvSpPr>
          <p:cNvPr id="2150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		0D	carriage return</a:t>
            </a:r>
          </a:p>
          <a:p>
            <a:r>
              <a:rPr lang="en-US"/>
              <a:t>LF		0A	line feed</a:t>
            </a:r>
          </a:p>
          <a:p>
            <a:r>
              <a:rPr lang="en-US"/>
              <a:t>HT		09	horizontal tab</a:t>
            </a:r>
          </a:p>
          <a:p>
            <a:r>
              <a:rPr lang="en-US"/>
              <a:t>DEL	7F	delete</a:t>
            </a:r>
          </a:p>
          <a:p>
            <a:r>
              <a:rPr lang="en-US"/>
              <a:t>NULL	00	null</a:t>
            </a:r>
          </a:p>
        </p:txBody>
      </p:sp>
      <p:sp>
        <p:nvSpPr>
          <p:cNvPr id="215044" name="AutoShape 4"/>
          <p:cNvSpPr>
            <a:spLocks noChangeArrowheads="1"/>
          </p:cNvSpPr>
          <p:nvPr/>
        </p:nvSpPr>
        <p:spPr bwMode="auto">
          <a:xfrm>
            <a:off x="1828800" y="5486400"/>
            <a:ext cx="2649537" cy="517525"/>
          </a:xfrm>
          <a:prstGeom prst="wedgeRoundRectCallout">
            <a:avLst>
              <a:gd name="adj1" fmla="val -20662"/>
              <a:gd name="adj2" fmla="val -130981"/>
              <a:gd name="adj3" fmla="val 16667"/>
            </a:avLst>
          </a:prstGeom>
          <a:solidFill>
            <a:srgbClr val="FFCC66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/>
              <a:t>Hexadecimal code</a:t>
            </a:r>
          </a:p>
        </p:txBody>
      </p:sp>
    </p:spTree>
    <p:extLst>
      <p:ext uri="{BB962C8B-B14F-4D97-AF65-F5344CB8AC3E}">
        <p14:creationId xmlns:p14="http://schemas.microsoft.com/office/powerpoint/2010/main" xmlns="" val="422023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066" name="Object 2"/>
          <p:cNvGraphicFramePr>
            <a:graphicFrameLocks noChangeAspect="1"/>
          </p:cNvGraphicFramePr>
          <p:nvPr/>
        </p:nvGraphicFramePr>
        <p:xfrm>
          <a:off x="263525" y="1033463"/>
          <a:ext cx="8689975" cy="4864100"/>
        </p:xfrm>
        <a:graphic>
          <a:graphicData uri="http://schemas.openxmlformats.org/presentationml/2006/ole">
            <p:oleObj spid="_x0000_s10251" name="Document" r:id="rId3" imgW="5632704" imgH="3154680" progId="">
              <p:embed/>
            </p:oleObj>
          </a:graphicData>
        </a:graphic>
      </p:graphicFrame>
      <p:sp>
        <p:nvSpPr>
          <p:cNvPr id="216067" name="Rectangle 3"/>
          <p:cNvSpPr>
            <a:spLocks noChangeArrowheads="1"/>
          </p:cNvSpPr>
          <p:nvPr/>
        </p:nvSpPr>
        <p:spPr bwMode="auto">
          <a:xfrm>
            <a:off x="381000" y="990600"/>
            <a:ext cx="8458200" cy="46482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068" name="Line 4"/>
          <p:cNvSpPr>
            <a:spLocks noChangeShapeType="1"/>
          </p:cNvSpPr>
          <p:nvPr/>
        </p:nvSpPr>
        <p:spPr bwMode="auto">
          <a:xfrm>
            <a:off x="1295400" y="990600"/>
            <a:ext cx="0" cy="464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069" name="Line 5"/>
          <p:cNvSpPr>
            <a:spLocks noChangeShapeType="1"/>
          </p:cNvSpPr>
          <p:nvPr/>
        </p:nvSpPr>
        <p:spPr bwMode="auto">
          <a:xfrm>
            <a:off x="381000" y="1295400"/>
            <a:ext cx="84582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6070" name="Rectangle 6"/>
          <p:cNvSpPr>
            <a:spLocks noChangeArrowheads="1"/>
          </p:cNvSpPr>
          <p:nvPr/>
        </p:nvSpPr>
        <p:spPr bwMode="auto">
          <a:xfrm>
            <a:off x="1295400" y="1295400"/>
            <a:ext cx="762000" cy="2857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071" name="Rectangle 7"/>
          <p:cNvSpPr>
            <a:spLocks noChangeArrowheads="1"/>
          </p:cNvSpPr>
          <p:nvPr/>
        </p:nvSpPr>
        <p:spPr bwMode="auto">
          <a:xfrm>
            <a:off x="1295400" y="4791075"/>
            <a:ext cx="762000" cy="2857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072" name="Rectangle 8"/>
          <p:cNvSpPr>
            <a:spLocks noChangeArrowheads="1"/>
          </p:cNvSpPr>
          <p:nvPr/>
        </p:nvSpPr>
        <p:spPr bwMode="auto">
          <a:xfrm>
            <a:off x="1295400" y="3714750"/>
            <a:ext cx="762000" cy="5524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6073" name="Rectangle 9"/>
          <p:cNvSpPr>
            <a:spLocks noChangeArrowheads="1"/>
          </p:cNvSpPr>
          <p:nvPr/>
        </p:nvSpPr>
        <p:spPr bwMode="auto">
          <a:xfrm>
            <a:off x="8077200" y="5324475"/>
            <a:ext cx="762000" cy="3143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2953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Terminology</a:t>
            </a:r>
          </a:p>
        </p:txBody>
      </p:sp>
      <p:sp>
        <p:nvSpPr>
          <p:cNvPr id="217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Learn the names of the special symbols</a:t>
            </a:r>
          </a:p>
          <a:p>
            <a:pPr lvl="1"/>
            <a:r>
              <a:rPr lang="en-US"/>
              <a:t>[ ] 	brackets</a:t>
            </a:r>
          </a:p>
          <a:p>
            <a:pPr lvl="1"/>
            <a:r>
              <a:rPr lang="en-US"/>
              <a:t>{ }	braces</a:t>
            </a:r>
          </a:p>
          <a:p>
            <a:pPr lvl="1"/>
            <a:r>
              <a:rPr lang="en-US"/>
              <a:t>( )	parentheses</a:t>
            </a:r>
          </a:p>
          <a:p>
            <a:pPr lvl="1"/>
            <a:r>
              <a:rPr lang="en-US"/>
              <a:t>@	commercial ‘at’ sign</a:t>
            </a:r>
          </a:p>
          <a:p>
            <a:pPr lvl="1"/>
            <a:r>
              <a:rPr lang="en-US"/>
              <a:t>&amp; 	ampersand</a:t>
            </a:r>
          </a:p>
          <a:p>
            <a:pPr lvl="1"/>
            <a:r>
              <a:rPr lang="en-US"/>
              <a:t>~	tilde</a:t>
            </a:r>
          </a:p>
        </p:txBody>
      </p:sp>
    </p:spTree>
    <p:extLst>
      <p:ext uri="{BB962C8B-B14F-4D97-AF65-F5344CB8AC3E}">
        <p14:creationId xmlns:p14="http://schemas.microsoft.com/office/powerpoint/2010/main" xmlns="" val="228530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114" name="Object 2"/>
          <p:cNvGraphicFramePr>
            <a:graphicFrameLocks noChangeAspect="1"/>
          </p:cNvGraphicFramePr>
          <p:nvPr/>
        </p:nvGraphicFramePr>
        <p:xfrm>
          <a:off x="263525" y="1033463"/>
          <a:ext cx="8689975" cy="4864100"/>
        </p:xfrm>
        <a:graphic>
          <a:graphicData uri="http://schemas.openxmlformats.org/presentationml/2006/ole">
            <p:oleObj spid="_x0000_s11275" name="Document" r:id="rId3" imgW="5632704" imgH="3154680" progId="">
              <p:embed/>
            </p:oleObj>
          </a:graphicData>
        </a:graphic>
      </p:graphicFrame>
      <p:sp>
        <p:nvSpPr>
          <p:cNvPr id="218115" name="Rectangle 3"/>
          <p:cNvSpPr>
            <a:spLocks noChangeArrowheads="1"/>
          </p:cNvSpPr>
          <p:nvPr/>
        </p:nvSpPr>
        <p:spPr bwMode="auto">
          <a:xfrm>
            <a:off x="381000" y="990600"/>
            <a:ext cx="8458200" cy="464820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8116" name="Line 4"/>
          <p:cNvSpPr>
            <a:spLocks noChangeShapeType="1"/>
          </p:cNvSpPr>
          <p:nvPr/>
        </p:nvSpPr>
        <p:spPr bwMode="auto">
          <a:xfrm>
            <a:off x="1295400" y="990600"/>
            <a:ext cx="0" cy="464820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8117" name="Line 5"/>
          <p:cNvSpPr>
            <a:spLocks noChangeShapeType="1"/>
          </p:cNvSpPr>
          <p:nvPr/>
        </p:nvSpPr>
        <p:spPr bwMode="auto">
          <a:xfrm>
            <a:off x="381000" y="1295400"/>
            <a:ext cx="8458200" cy="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8118" name="Rectangle 6"/>
          <p:cNvSpPr>
            <a:spLocks noChangeArrowheads="1"/>
          </p:cNvSpPr>
          <p:nvPr/>
        </p:nvSpPr>
        <p:spPr bwMode="auto">
          <a:xfrm>
            <a:off x="6105525" y="4238625"/>
            <a:ext cx="762000" cy="3286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19" name="Rectangle 7"/>
          <p:cNvSpPr>
            <a:spLocks noChangeArrowheads="1"/>
          </p:cNvSpPr>
          <p:nvPr/>
        </p:nvSpPr>
        <p:spPr bwMode="auto">
          <a:xfrm>
            <a:off x="3252788" y="3429000"/>
            <a:ext cx="762000" cy="6000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20" name="Rectangle 8"/>
          <p:cNvSpPr>
            <a:spLocks noChangeArrowheads="1"/>
          </p:cNvSpPr>
          <p:nvPr/>
        </p:nvSpPr>
        <p:spPr bwMode="auto">
          <a:xfrm>
            <a:off x="8077200" y="4767263"/>
            <a:ext cx="762000" cy="5953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21" name="Rectangle 9"/>
          <p:cNvSpPr>
            <a:spLocks noChangeArrowheads="1"/>
          </p:cNvSpPr>
          <p:nvPr/>
        </p:nvSpPr>
        <p:spPr bwMode="auto">
          <a:xfrm>
            <a:off x="8077200" y="4243388"/>
            <a:ext cx="762000" cy="3333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22" name="Rectangle 10"/>
          <p:cNvSpPr>
            <a:spLocks noChangeArrowheads="1"/>
          </p:cNvSpPr>
          <p:nvPr/>
        </p:nvSpPr>
        <p:spPr bwMode="auto">
          <a:xfrm>
            <a:off x="6096000" y="4772025"/>
            <a:ext cx="762000" cy="33813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23" name="Rectangle 11"/>
          <p:cNvSpPr>
            <a:spLocks noChangeArrowheads="1"/>
          </p:cNvSpPr>
          <p:nvPr/>
        </p:nvSpPr>
        <p:spPr bwMode="auto">
          <a:xfrm>
            <a:off x="5181600" y="1290638"/>
            <a:ext cx="762000" cy="3238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8124" name="Rectangle 12"/>
          <p:cNvSpPr>
            <a:spLocks noChangeArrowheads="1"/>
          </p:cNvSpPr>
          <p:nvPr/>
        </p:nvSpPr>
        <p:spPr bwMode="auto">
          <a:xfrm>
            <a:off x="3243263" y="2900363"/>
            <a:ext cx="762000" cy="2857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01847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Escape Sequences</a:t>
            </a:r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Extend the capability of the ASCII code set</a:t>
            </a:r>
          </a:p>
          <a:p>
            <a:r>
              <a:rPr lang="en-US" sz="2800" dirty="0"/>
              <a:t>For controlling terminals and formatting output</a:t>
            </a:r>
          </a:p>
          <a:p>
            <a:r>
              <a:rPr lang="en-US" sz="2800" dirty="0"/>
              <a:t>Defined by ANSI in documents X3.41-1974 and X3.64-1977</a:t>
            </a:r>
          </a:p>
          <a:p>
            <a:r>
              <a:rPr lang="en-US" sz="2800" dirty="0"/>
              <a:t>The escape code is ESC =  1B</a:t>
            </a:r>
            <a:r>
              <a:rPr lang="en-US" sz="2900" baseline="-25000" dirty="0"/>
              <a:t>16</a:t>
            </a:r>
          </a:p>
          <a:p>
            <a:r>
              <a:rPr lang="en-US" sz="2800" dirty="0"/>
              <a:t>An escape sequence begins with two codes: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	ESC 		  [ </a:t>
            </a:r>
          </a:p>
        </p:txBody>
      </p:sp>
      <p:sp>
        <p:nvSpPr>
          <p:cNvPr id="219140" name="Rectangle 4"/>
          <p:cNvSpPr>
            <a:spLocks noChangeArrowheads="1"/>
          </p:cNvSpPr>
          <p:nvPr/>
        </p:nvSpPr>
        <p:spPr bwMode="auto">
          <a:xfrm>
            <a:off x="1295400" y="5181600"/>
            <a:ext cx="9906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9141" name="Rectangle 5"/>
          <p:cNvSpPr>
            <a:spLocks noChangeArrowheads="1"/>
          </p:cNvSpPr>
          <p:nvPr/>
        </p:nvSpPr>
        <p:spPr bwMode="auto">
          <a:xfrm>
            <a:off x="3276600" y="5257800"/>
            <a:ext cx="9906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CC66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9144" name="AutoShape 8"/>
          <p:cNvSpPr>
            <a:spLocks noChangeArrowheads="1"/>
          </p:cNvSpPr>
          <p:nvPr/>
        </p:nvSpPr>
        <p:spPr bwMode="auto">
          <a:xfrm>
            <a:off x="2209800" y="5943600"/>
            <a:ext cx="990600" cy="609600"/>
          </a:xfrm>
          <a:prstGeom prst="wedgeRoundRectCallout">
            <a:avLst>
              <a:gd name="adj1" fmla="val -38301"/>
              <a:gd name="adj2" fmla="val -84375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/>
              <a:t>1B</a:t>
            </a:r>
            <a:r>
              <a:rPr lang="en-US" sz="2900" baseline="-25000"/>
              <a:t>16</a:t>
            </a:r>
          </a:p>
        </p:txBody>
      </p:sp>
      <p:sp>
        <p:nvSpPr>
          <p:cNvPr id="219145" name="AutoShape 9"/>
          <p:cNvSpPr>
            <a:spLocks noChangeArrowheads="1"/>
          </p:cNvSpPr>
          <p:nvPr/>
        </p:nvSpPr>
        <p:spPr bwMode="auto">
          <a:xfrm>
            <a:off x="4267200" y="5943600"/>
            <a:ext cx="914400" cy="609600"/>
          </a:xfrm>
          <a:prstGeom prst="wedgeRoundRectCallout">
            <a:avLst>
              <a:gd name="adj1" fmla="val -38713"/>
              <a:gd name="adj2" fmla="val -86458"/>
              <a:gd name="adj3" fmla="val 16667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2800"/>
              <a:t>5B</a:t>
            </a:r>
            <a:r>
              <a:rPr lang="en-US" sz="2900" baseline="-2500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xmlns="" val="4914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Erase display:		ESC [ 2 J</a:t>
            </a:r>
          </a:p>
          <a:p>
            <a:r>
              <a:rPr lang="en-US"/>
              <a:t>Erase line:		ESC [ K</a:t>
            </a:r>
          </a:p>
        </p:txBody>
      </p:sp>
    </p:spTree>
    <p:extLst>
      <p:ext uri="{BB962C8B-B14F-4D97-AF65-F5344CB8AC3E}">
        <p14:creationId xmlns:p14="http://schemas.microsoft.com/office/powerpoint/2010/main" xmlns="" val="374033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AutoShape 2"/>
          <p:cNvSpPr>
            <a:spLocks noChangeArrowheads="1"/>
          </p:cNvSpPr>
          <p:nvPr/>
        </p:nvSpPr>
        <p:spPr bwMode="auto">
          <a:xfrm>
            <a:off x="685800" y="3006725"/>
            <a:ext cx="8077200" cy="654050"/>
          </a:xfrm>
          <a:prstGeom prst="rightArrow">
            <a:avLst>
              <a:gd name="adj1" fmla="val 67583"/>
              <a:gd name="adj2" fmla="val 81301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/>
            <a:r>
              <a:rPr lang="en-US"/>
              <a:t>Next 2 slides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Alphanumeric Formats</a:t>
            </a:r>
          </a:p>
        </p:txBody>
      </p:sp>
      <p:sp>
        <p:nvSpPr>
          <p:cNvPr id="2222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BCD</a:t>
            </a:r>
          </a:p>
          <a:p>
            <a:r>
              <a:rPr lang="en-US"/>
              <a:t>ASCII</a:t>
            </a:r>
          </a:p>
          <a:p>
            <a:r>
              <a:rPr lang="en-US"/>
              <a:t>EBCDIC</a:t>
            </a:r>
          </a:p>
          <a:p>
            <a:r>
              <a:rPr lang="en-US"/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xmlns="" val="2805870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EBCDIC</a:t>
            </a:r>
          </a:p>
        </p:txBody>
      </p:sp>
      <p:sp>
        <p:nvSpPr>
          <p:cNvPr id="223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u="sng"/>
              <a:t>E</a:t>
            </a:r>
            <a:r>
              <a:rPr lang="en-US"/>
              <a:t>xtended </a:t>
            </a:r>
            <a:r>
              <a:rPr lang="en-US" u="sng"/>
              <a:t>BCD</a:t>
            </a:r>
            <a:r>
              <a:rPr lang="en-US"/>
              <a:t> </a:t>
            </a:r>
            <a:r>
              <a:rPr lang="en-US" u="sng"/>
              <a:t>I</a:t>
            </a:r>
            <a:r>
              <a:rPr lang="en-US"/>
              <a:t>nterchange </a:t>
            </a:r>
            <a:r>
              <a:rPr lang="en-US" u="sng"/>
              <a:t>C</a:t>
            </a:r>
            <a:r>
              <a:rPr lang="en-US"/>
              <a:t>ode (pronounced </a:t>
            </a:r>
            <a:r>
              <a:rPr lang="en-US" i="1"/>
              <a:t>ebb’-se-dick</a:t>
            </a:r>
            <a:r>
              <a:rPr lang="en-US"/>
              <a:t>)</a:t>
            </a:r>
          </a:p>
          <a:p>
            <a:r>
              <a:rPr lang="en-US"/>
              <a:t>8-bit code</a:t>
            </a:r>
          </a:p>
          <a:p>
            <a:r>
              <a:rPr lang="en-US"/>
              <a:t>Developed by IBM</a:t>
            </a:r>
          </a:p>
          <a:p>
            <a:r>
              <a:rPr lang="en-US"/>
              <a:t>Rarely used today</a:t>
            </a:r>
          </a:p>
          <a:p>
            <a:r>
              <a:rPr lang="en-US"/>
              <a:t>IBM mainframes only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765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AutoShape 2"/>
          <p:cNvSpPr>
            <a:spLocks noChangeArrowheads="1"/>
          </p:cNvSpPr>
          <p:nvPr/>
        </p:nvSpPr>
        <p:spPr bwMode="auto">
          <a:xfrm>
            <a:off x="609600" y="3688556"/>
            <a:ext cx="8077200" cy="654050"/>
          </a:xfrm>
          <a:prstGeom prst="rightArrow">
            <a:avLst>
              <a:gd name="adj1" fmla="val 67583"/>
              <a:gd name="adj2" fmla="val 81301"/>
            </a:avLst>
          </a:prstGeom>
          <a:solidFill>
            <a:srgbClr val="FFCC66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r"/>
            <a:r>
              <a:rPr lang="en-US"/>
              <a:t>Next 2 slides</a:t>
            </a:r>
          </a:p>
        </p:txBody>
      </p:sp>
      <p:sp>
        <p:nvSpPr>
          <p:cNvPr id="2222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Alphanumeric Formats</a:t>
            </a:r>
          </a:p>
        </p:txBody>
      </p:sp>
      <p:sp>
        <p:nvSpPr>
          <p:cNvPr id="22221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BCD</a:t>
            </a:r>
          </a:p>
          <a:p>
            <a:r>
              <a:rPr lang="en-US" dirty="0"/>
              <a:t>ASCII</a:t>
            </a:r>
          </a:p>
          <a:p>
            <a:r>
              <a:rPr lang="en-US" dirty="0"/>
              <a:t>EBCDIC</a:t>
            </a:r>
          </a:p>
          <a:p>
            <a:r>
              <a:rPr lang="en-US" dirty="0"/>
              <a:t>Unicode</a:t>
            </a:r>
          </a:p>
        </p:txBody>
      </p:sp>
    </p:spTree>
    <p:extLst>
      <p:ext uri="{BB962C8B-B14F-4D97-AF65-F5344CB8AC3E}">
        <p14:creationId xmlns:p14="http://schemas.microsoft.com/office/powerpoint/2010/main" xmlns="" val="275675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0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Unicode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16-bit standard</a:t>
            </a:r>
          </a:p>
          <a:p>
            <a:r>
              <a:rPr lang="en-US" dirty="0"/>
              <a:t>Developed by a consortia</a:t>
            </a:r>
          </a:p>
          <a:p>
            <a:r>
              <a:rPr lang="en-US" dirty="0"/>
              <a:t>Intended to </a:t>
            </a:r>
            <a:r>
              <a:rPr lang="en-US" dirty="0" smtClean="0"/>
              <a:t>supersede </a:t>
            </a:r>
            <a:r>
              <a:rPr lang="en-US" dirty="0"/>
              <a:t>older 7- and 8-bit </a:t>
            </a:r>
            <a:r>
              <a:rPr lang="en-US" dirty="0" smtClean="0"/>
              <a:t>codes</a:t>
            </a:r>
          </a:p>
          <a:p>
            <a:r>
              <a:rPr lang="en-US" dirty="0"/>
              <a:t>Unicode is a standard that precisely defines a character set as well as a small number of encodings for it. It enables you to handle text in any language efficiently</a:t>
            </a:r>
          </a:p>
        </p:txBody>
      </p:sp>
    </p:spTree>
    <p:extLst>
      <p:ext uri="{BB962C8B-B14F-4D97-AF65-F5344CB8AC3E}">
        <p14:creationId xmlns:p14="http://schemas.microsoft.com/office/powerpoint/2010/main" xmlns="" val="7624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There were four key original design goals for Unicode: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To </a:t>
            </a:r>
            <a:r>
              <a:rPr lang="en-US" dirty="0"/>
              <a:t>create a universal standard that covered all writing systems.</a:t>
            </a:r>
          </a:p>
          <a:p>
            <a:r>
              <a:rPr lang="en-US" dirty="0"/>
              <a:t>To use an efficient encoding that avoided mechanisms such as code page switching, shift-sequences and special states.</a:t>
            </a:r>
          </a:p>
          <a:p>
            <a:r>
              <a:rPr lang="en-US" dirty="0"/>
              <a:t>To use a uniform encoding width in which each character was encoded as a 16-bit value.</a:t>
            </a:r>
          </a:p>
          <a:p>
            <a:r>
              <a:rPr lang="en-US" dirty="0"/>
              <a:t>To create an unambiguous encoding in which any given 16-bit value always represented the same character regardless of where it occurred in the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9074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Unicode Consortium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Unicode Consortium is a not-for-profit </a:t>
            </a:r>
            <a:r>
              <a:rPr lang="en-US" dirty="0" smtClean="0"/>
              <a:t>organization </a:t>
            </a:r>
            <a:r>
              <a:rPr lang="en-US" dirty="0"/>
              <a:t>that exists to develop and promote the Unicode Standard. Anyone can be a member of the consortium, though there are different types of memberships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987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382</TotalTime>
  <Words>681</Words>
  <Application>Microsoft Office PowerPoint</Application>
  <PresentationFormat>On-screen Show (4:3)</PresentationFormat>
  <Paragraphs>228</Paragraphs>
  <Slides>34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HNDIT</vt:lpstr>
      <vt:lpstr>Document</vt:lpstr>
      <vt:lpstr>HNDIT1104: Data Representation and Organization</vt:lpstr>
      <vt:lpstr>Introduction</vt:lpstr>
      <vt:lpstr>Format must be appropriate</vt:lpstr>
      <vt:lpstr>Examples of Standards</vt:lpstr>
      <vt:lpstr>Alphanumeric Data</vt:lpstr>
      <vt:lpstr>Standard Alphanumeric Formats</vt:lpstr>
      <vt:lpstr>Binary-Coded Decimal (BCD)</vt:lpstr>
      <vt:lpstr>Example</vt:lpstr>
      <vt:lpstr>Slide 9</vt:lpstr>
      <vt:lpstr>Standard Alphanumeric Formats</vt:lpstr>
      <vt:lpstr>The Problem</vt:lpstr>
      <vt:lpstr>Codes and Characters</vt:lpstr>
      <vt:lpstr>ASCII Features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“Hello, world” Example</vt:lpstr>
      <vt:lpstr>Common Control Codes</vt:lpstr>
      <vt:lpstr>Slide 24</vt:lpstr>
      <vt:lpstr>Terminology</vt:lpstr>
      <vt:lpstr>Slide 26</vt:lpstr>
      <vt:lpstr>Escape Sequences</vt:lpstr>
      <vt:lpstr>Examples</vt:lpstr>
      <vt:lpstr>Standard Alphanumeric Formats</vt:lpstr>
      <vt:lpstr>EBCDIC</vt:lpstr>
      <vt:lpstr>Standard Alphanumeric Formats</vt:lpstr>
      <vt:lpstr>Unicode</vt:lpstr>
      <vt:lpstr>There were four key original design goals for Unicode: </vt:lpstr>
      <vt:lpstr>The Unicode Consortium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Nalin</cp:lastModifiedBy>
  <cp:revision>53</cp:revision>
  <dcterms:created xsi:type="dcterms:W3CDTF">2013-10-16T01:16:09Z</dcterms:created>
  <dcterms:modified xsi:type="dcterms:W3CDTF">2018-09-21T17:08:22Z</dcterms:modified>
</cp:coreProperties>
</file>