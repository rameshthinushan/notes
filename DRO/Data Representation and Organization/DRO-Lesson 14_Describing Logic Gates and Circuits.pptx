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331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29" r:id="rId15"/>
    <p:sldId id="311" r:id="rId16"/>
    <p:sldId id="312" r:id="rId17"/>
    <p:sldId id="31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678EE-353D-4F12-84C7-ED8D5FCF4BF2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2B1D6-E3DC-4246-9660-7298CA13C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21401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2455976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175640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2770327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878651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150872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1915676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994720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561006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2617121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734067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117037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635783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321561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3451050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="" xmlns:p14="http://schemas.microsoft.com/office/powerpoint/2010/main" val="417066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itle 5"/>
          <p:cNvSpPr>
            <a:spLocks noGrp="1"/>
          </p:cNvSpPr>
          <p:nvPr>
            <p:ph type="subTitle" idx="1"/>
          </p:nvPr>
        </p:nvSpPr>
        <p:spPr>
          <a:xfrm>
            <a:off x="4876800" y="2286000"/>
            <a:ext cx="4267200" cy="8286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Describing Logic Gates &amp; Circuits</a:t>
            </a:r>
            <a:endParaRPr lang="en-US" sz="4000" dirty="0" smtClean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dirty="0" smtClean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8915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HNDIT1104: Data Representation and Organization</a:t>
            </a:r>
            <a:endParaRPr lang="en-AU" altLang="en-US" sz="2800" dirty="0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886200" y="4876800"/>
            <a:ext cx="18245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Lesson 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14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Logic Gates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572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 </a:t>
            </a:r>
            <a:r>
              <a:rPr lang="en-GB" b="1" dirty="0" smtClean="0"/>
              <a:t>Logic</a:t>
            </a:r>
            <a:r>
              <a:rPr lang="en-GB" dirty="0" smtClean="0"/>
              <a:t> </a:t>
            </a:r>
            <a:r>
              <a:rPr lang="en-GB" b="1" dirty="0" smtClean="0"/>
              <a:t>gate</a:t>
            </a:r>
            <a:r>
              <a:rPr lang="en-GB" dirty="0" smtClean="0"/>
              <a:t> is a device that performs a basic operation on electrical signals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Gates are combined into </a:t>
            </a:r>
            <a:r>
              <a:rPr lang="en-GB" b="1" dirty="0" smtClean="0"/>
              <a:t>circuits</a:t>
            </a:r>
            <a:r>
              <a:rPr lang="en-GB" dirty="0" smtClean="0"/>
              <a:t> to perform more complicated tasks</a:t>
            </a:r>
          </a:p>
        </p:txBody>
      </p:sp>
    </p:spTree>
    <p:extLst>
      <p:ext uri="{BB962C8B-B14F-4D97-AF65-F5344CB8AC3E}">
        <p14:creationId xmlns="" xmlns:p14="http://schemas.microsoft.com/office/powerpoint/2010/main" val="1693267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/>
              <a:t>Logic Gates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465127" cy="55626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Let’s examine the processing of the following six types of gates</a:t>
            </a:r>
          </a:p>
          <a:p>
            <a:pPr lvl="1" eaLnBrk="1" hangingPunct="1">
              <a:lnSpc>
                <a:spcPct val="2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NOT</a:t>
            </a:r>
          </a:p>
          <a:p>
            <a:pPr lvl="1" eaLnBrk="1" hangingPunct="1">
              <a:lnSpc>
                <a:spcPct val="2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AND</a:t>
            </a:r>
          </a:p>
          <a:p>
            <a:pPr lvl="1" eaLnBrk="1" hangingPunct="1">
              <a:lnSpc>
                <a:spcPct val="2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OR</a:t>
            </a:r>
          </a:p>
          <a:p>
            <a:pPr lvl="1" eaLnBrk="1" hangingPunct="1">
              <a:lnSpc>
                <a:spcPct val="2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XOR</a:t>
            </a:r>
          </a:p>
          <a:p>
            <a:pPr lvl="1" eaLnBrk="1" hangingPunct="1">
              <a:lnSpc>
                <a:spcPct val="2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NAND</a:t>
            </a:r>
          </a:p>
          <a:p>
            <a:pPr lvl="1" eaLnBrk="1" hangingPunct="1">
              <a:lnSpc>
                <a:spcPct val="2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NOR</a:t>
            </a:r>
          </a:p>
        </p:txBody>
      </p:sp>
      <p:pic>
        <p:nvPicPr>
          <p:cNvPr id="1028" name="Picture 4" descr="Image result for not ga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10" y="2075498"/>
            <a:ext cx="914400" cy="4953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and gat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310" y="2780348"/>
            <a:ext cx="914400" cy="54864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or gat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471343"/>
            <a:ext cx="1139825" cy="73134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xor gat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378405"/>
            <a:ext cx="1168544" cy="58427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1159" y="5138392"/>
            <a:ext cx="1343025" cy="650127"/>
          </a:xfrm>
          <a:prstGeom prst="rect">
            <a:avLst/>
          </a:prstGeom>
        </p:spPr>
      </p:pic>
      <p:pic>
        <p:nvPicPr>
          <p:cNvPr id="1036" name="Picture 12" descr="Image result for Nor gat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935" y="5789849"/>
            <a:ext cx="1115290" cy="68035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2708312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Describing Gates and Circuits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572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There are three different, but equally powerful, notational methods </a:t>
            </a:r>
            <a:br>
              <a:rPr lang="en-GB" smtClean="0"/>
            </a:br>
            <a:r>
              <a:rPr lang="en-GB" smtClean="0"/>
              <a:t>for describing the behavior of gates </a:t>
            </a:r>
            <a:br>
              <a:rPr lang="en-GB" smtClean="0"/>
            </a:br>
            <a:r>
              <a:rPr lang="en-GB" smtClean="0"/>
              <a:t>and circuits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Boolean expressions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logic diagrams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truth tables</a:t>
            </a:r>
          </a:p>
        </p:txBody>
      </p:sp>
    </p:spTree>
    <p:extLst>
      <p:ext uri="{BB962C8B-B14F-4D97-AF65-F5344CB8AC3E}">
        <p14:creationId xmlns="" xmlns:p14="http://schemas.microsoft.com/office/powerpoint/2010/main" val="1538147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Describing Gates and Circuits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911725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Boolean algebra</a:t>
            </a:r>
            <a:r>
              <a:rPr lang="en-GB" dirty="0" smtClean="0"/>
              <a:t>: expressions in this algebraic notation are an elegant and powerful way to demonstrate the activity of electrical circuits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Basic propositional statements are unambiguously either True or False 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Operations such as AND or NOT are then performed on these values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 gate is simply a mechanical way to perform such a </a:t>
            </a:r>
            <a:r>
              <a:rPr lang="en-GB" dirty="0" err="1" smtClean="0"/>
              <a:t>boolean</a:t>
            </a:r>
            <a:r>
              <a:rPr lang="en-GB" dirty="0" smtClean="0"/>
              <a:t> operation</a:t>
            </a:r>
          </a:p>
        </p:txBody>
      </p:sp>
    </p:spTree>
    <p:extLst>
      <p:ext uri="{BB962C8B-B14F-4D97-AF65-F5344CB8AC3E}">
        <p14:creationId xmlns="" xmlns:p14="http://schemas.microsoft.com/office/powerpoint/2010/main" val="13063145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Describing Gates and Circuits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572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smtClean="0"/>
              <a:t>Logic diagram:</a:t>
            </a:r>
            <a:r>
              <a:rPr lang="en-GB" smtClean="0"/>
              <a:t> a graphical representation of a circuit</a:t>
            </a:r>
          </a:p>
          <a:p>
            <a:pPr lvl="1"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Each type of gate is represented by a specific graphical symbol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smtClean="0"/>
              <a:t>Truth table:</a:t>
            </a:r>
            <a:r>
              <a:rPr lang="en-GB" smtClean="0"/>
              <a:t> defines the function of a gate by listing all possible input combinations that the gate could encounter, and the corresponding output</a:t>
            </a:r>
          </a:p>
        </p:txBody>
      </p:sp>
    </p:spTree>
    <p:extLst>
      <p:ext uri="{BB962C8B-B14F-4D97-AF65-F5344CB8AC3E}">
        <p14:creationId xmlns="" xmlns:p14="http://schemas.microsoft.com/office/powerpoint/2010/main" val="18224078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NOT Gate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12192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a NOT gate accepts one input value </a:t>
            </a:r>
            <a:br>
              <a:rPr lang="en-GB" smtClean="0"/>
            </a:br>
            <a:r>
              <a:rPr lang="en-GB" smtClean="0"/>
              <a:t>and produces one output value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95600"/>
            <a:ext cx="8534400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457200" y="5334000"/>
            <a:ext cx="8382000" cy="1010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ts val="20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GB" sz="3200" dirty="0">
                <a:solidFill>
                  <a:schemeClr val="tx1"/>
                </a:solidFill>
                <a:latin typeface="Arial" charset="0"/>
              </a:rPr>
              <a:t> a NOT gate is sometimes referred to as an </a:t>
            </a:r>
            <a:r>
              <a:rPr lang="en-GB" sz="3200" i="1" dirty="0">
                <a:solidFill>
                  <a:schemeClr val="tx1"/>
                </a:solidFill>
                <a:latin typeface="Arial" charset="0"/>
              </a:rPr>
              <a:t>inverter</a:t>
            </a:r>
            <a:r>
              <a:rPr lang="en-GB" sz="3200" dirty="0">
                <a:solidFill>
                  <a:schemeClr val="tx1"/>
                </a:solidFill>
                <a:latin typeface="Arial" charset="0"/>
              </a:rPr>
              <a:t> because it inverts the input value</a:t>
            </a:r>
          </a:p>
        </p:txBody>
      </p:sp>
    </p:spTree>
    <p:extLst>
      <p:ext uri="{BB962C8B-B14F-4D97-AF65-F5344CB8AC3E}">
        <p14:creationId xmlns="" xmlns:p14="http://schemas.microsoft.com/office/powerpoint/2010/main" val="37882995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AND Gate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2312988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An AND gate accepts two input signals</a:t>
            </a:r>
          </a:p>
          <a:p>
            <a:pPr eaLnBrk="1" hangingPunct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If the two input values for an AND gate are both 1, the output is 1; otherwise, the output is 0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886200"/>
            <a:ext cx="7848600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AutoShape 5"/>
          <p:cNvSpPr>
            <a:spLocks noChangeArrowheads="1"/>
          </p:cNvSpPr>
          <p:nvPr/>
        </p:nvSpPr>
        <p:spPr bwMode="auto">
          <a:xfrm>
            <a:off x="762000" y="6324600"/>
            <a:ext cx="4467225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Figure 4.2</a:t>
            </a:r>
            <a:r>
              <a:rPr lang="en-GB" sz="1400" b="1">
                <a:solidFill>
                  <a:schemeClr val="tx1"/>
                </a:solidFill>
                <a:latin typeface="Arial" charset="0"/>
              </a:rPr>
              <a:t>  Various representations of an AND gate</a:t>
            </a:r>
          </a:p>
        </p:txBody>
      </p:sp>
    </p:spTree>
    <p:extLst>
      <p:ext uri="{BB962C8B-B14F-4D97-AF65-F5344CB8AC3E}">
        <p14:creationId xmlns="" xmlns:p14="http://schemas.microsoft.com/office/powerpoint/2010/main" val="3497062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OR Gate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286000"/>
            <a:ext cx="8382000" cy="12192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If the two input values are both 0, the output value is 0; otherwise, the output is 1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3581400"/>
            <a:ext cx="8458200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AutoShape 5"/>
          <p:cNvSpPr>
            <a:spLocks noChangeArrowheads="1"/>
          </p:cNvSpPr>
          <p:nvPr/>
        </p:nvSpPr>
        <p:spPr bwMode="auto">
          <a:xfrm>
            <a:off x="457200" y="6248400"/>
            <a:ext cx="4240213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Figure 4.3</a:t>
            </a:r>
            <a:r>
              <a:rPr lang="en-GB" sz="1400" b="1">
                <a:solidFill>
                  <a:schemeClr val="tx1"/>
                </a:solidFill>
                <a:latin typeface="Arial" charset="0"/>
              </a:rPr>
              <a:t>  Various representations of a OR gate</a:t>
            </a:r>
          </a:p>
        </p:txBody>
      </p:sp>
    </p:spTree>
    <p:extLst>
      <p:ext uri="{BB962C8B-B14F-4D97-AF65-F5344CB8AC3E}">
        <p14:creationId xmlns="" xmlns:p14="http://schemas.microsoft.com/office/powerpoint/2010/main" val="25451689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XOR Gate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82000" cy="4572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spcBef>
                <a:spcPts val="12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XOR, or </a:t>
            </a:r>
            <a:r>
              <a:rPr lang="en-GB" i="1" dirty="0" smtClean="0"/>
              <a:t>exclusive</a:t>
            </a:r>
            <a:r>
              <a:rPr lang="en-GB" dirty="0" smtClean="0"/>
              <a:t> OR, gate</a:t>
            </a:r>
          </a:p>
          <a:p>
            <a:pPr lvl="1" eaLnBrk="1" hangingPunct="1">
              <a:spcBef>
                <a:spcPts val="10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An XOR gate produces 0 if its two inputs are the same, and a 1 otherwise (produces 1 when two inputs are different each other)</a:t>
            </a:r>
          </a:p>
          <a:p>
            <a:pPr lvl="1" eaLnBrk="1" hangingPunct="1">
              <a:spcBef>
                <a:spcPts val="10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Note the difference between the XOR gate </a:t>
            </a:r>
            <a:br>
              <a:rPr lang="en-GB" dirty="0" smtClean="0"/>
            </a:br>
            <a:r>
              <a:rPr lang="en-GB" dirty="0" smtClean="0"/>
              <a:t>and the OR gate; they differ only in one </a:t>
            </a:r>
            <a:br>
              <a:rPr lang="en-GB" dirty="0" smtClean="0"/>
            </a:br>
            <a:r>
              <a:rPr lang="en-GB" dirty="0" smtClean="0"/>
              <a:t>input situation</a:t>
            </a:r>
          </a:p>
          <a:p>
            <a:pPr lvl="1" eaLnBrk="1" hangingPunct="1">
              <a:spcBef>
                <a:spcPts val="10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 smtClean="0"/>
              <a:t>When both input signals are 1, the OR gate produces a 1 and the XOR produces a 0</a:t>
            </a:r>
          </a:p>
        </p:txBody>
      </p:sp>
    </p:spTree>
    <p:extLst>
      <p:ext uri="{BB962C8B-B14F-4D97-AF65-F5344CB8AC3E}">
        <p14:creationId xmlns="" xmlns:p14="http://schemas.microsoft.com/office/powerpoint/2010/main" val="2007573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XOR Gate</a:t>
            </a:r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105025"/>
            <a:ext cx="8458200" cy="264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AutoShape 4"/>
          <p:cNvSpPr>
            <a:spLocks noChangeArrowheads="1"/>
          </p:cNvSpPr>
          <p:nvPr/>
        </p:nvSpPr>
        <p:spPr bwMode="auto">
          <a:xfrm>
            <a:off x="457200" y="4800600"/>
            <a:ext cx="4467225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Figure 4.4</a:t>
            </a:r>
            <a:r>
              <a:rPr lang="en-GB" sz="1400" b="1">
                <a:solidFill>
                  <a:schemeClr val="tx1"/>
                </a:solidFill>
                <a:latin typeface="Arial" charset="0"/>
              </a:rPr>
              <a:t>  Various representations of an XOR gate</a:t>
            </a:r>
          </a:p>
        </p:txBody>
      </p:sp>
    </p:spTree>
    <p:extLst>
      <p:ext uri="{BB962C8B-B14F-4D97-AF65-F5344CB8AC3E}">
        <p14:creationId xmlns="" xmlns:p14="http://schemas.microsoft.com/office/powerpoint/2010/main" val="4086822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NAND and NOR Gates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10668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spcBef>
                <a:spcPts val="17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The NAND and NOR gates are essentially the opposite of the AND and OR gates, respectively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819400"/>
            <a:ext cx="5486400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648200"/>
            <a:ext cx="5486400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228600" y="3962400"/>
            <a:ext cx="28194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</a:pPr>
            <a:r>
              <a:rPr lang="en-GB" sz="1200" b="1">
                <a:solidFill>
                  <a:srgbClr val="327CB8"/>
                </a:solidFill>
                <a:latin typeface="Arial" charset="0"/>
              </a:rPr>
              <a:t>Figure 4.5</a:t>
            </a:r>
            <a:r>
              <a:rPr lang="en-GB" sz="1200" b="1">
                <a:solidFill>
                  <a:schemeClr val="tx1"/>
                </a:solidFill>
                <a:latin typeface="Arial" charset="0"/>
              </a:rPr>
              <a:t>  Various representations of a NAND gate</a:t>
            </a:r>
          </a:p>
        </p:txBody>
      </p:sp>
      <p:sp>
        <p:nvSpPr>
          <p:cNvPr id="12295" name="Text Box 6"/>
          <p:cNvSpPr txBox="1">
            <a:spLocks noChangeArrowheads="1"/>
          </p:cNvSpPr>
          <p:nvPr/>
        </p:nvSpPr>
        <p:spPr bwMode="auto">
          <a:xfrm>
            <a:off x="228600" y="5867400"/>
            <a:ext cx="28194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cs typeface="Arial Unicode MS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</a:pPr>
            <a:r>
              <a:rPr lang="en-GB" sz="1200" b="1">
                <a:solidFill>
                  <a:srgbClr val="327CB8"/>
                </a:solidFill>
                <a:latin typeface="Arial" charset="0"/>
              </a:rPr>
              <a:t>Figure 4.6</a:t>
            </a:r>
            <a:r>
              <a:rPr lang="en-GB" sz="1200" b="1">
                <a:solidFill>
                  <a:schemeClr val="tx1"/>
                </a:solidFill>
                <a:latin typeface="Arial" charset="0"/>
              </a:rPr>
              <a:t>  Various representations of a NOR gate</a:t>
            </a:r>
          </a:p>
        </p:txBody>
      </p:sp>
    </p:spTree>
    <p:extLst>
      <p:ext uri="{BB962C8B-B14F-4D97-AF65-F5344CB8AC3E}">
        <p14:creationId xmlns="" xmlns:p14="http://schemas.microsoft.com/office/powerpoint/2010/main" val="1798747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Gates with More Inputs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20574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spcBef>
                <a:spcPts val="17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Gates can be designed to accept three or more input values</a:t>
            </a:r>
          </a:p>
          <a:p>
            <a:pPr eaLnBrk="1" hangingPunct="1">
              <a:spcBef>
                <a:spcPts val="17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A three-input AND gate, for example, produces an output of 1 only if all input values are 1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3733800"/>
            <a:ext cx="63627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AutoShape 5"/>
          <p:cNvSpPr>
            <a:spLocks noChangeArrowheads="1"/>
          </p:cNvSpPr>
          <p:nvPr/>
        </p:nvSpPr>
        <p:spPr bwMode="auto">
          <a:xfrm>
            <a:off x="1447800" y="6400800"/>
            <a:ext cx="5332413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Figure 4.7</a:t>
            </a:r>
            <a:r>
              <a:rPr lang="en-GB" sz="1400" b="1">
                <a:solidFill>
                  <a:schemeClr val="tx1"/>
                </a:solidFill>
                <a:latin typeface="Arial" charset="0"/>
              </a:rPr>
              <a:t>  Various representations of a three-input AND gate</a:t>
            </a:r>
          </a:p>
        </p:txBody>
      </p:sp>
    </p:spTree>
    <p:extLst>
      <p:ext uri="{BB962C8B-B14F-4D97-AF65-F5344CB8AC3E}">
        <p14:creationId xmlns="" xmlns:p14="http://schemas.microsoft.com/office/powerpoint/2010/main" val="37512827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" y="1066800"/>
            <a:ext cx="7467600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7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/>
              <a:t>As with gates, we can describe the operations </a:t>
            </a:r>
            <a:br>
              <a:rPr lang="en-GB" sz="2800" dirty="0"/>
            </a:br>
            <a:r>
              <a:rPr lang="en-GB" sz="2800" dirty="0"/>
              <a:t>of entire circuits using three notations</a:t>
            </a:r>
          </a:p>
          <a:p>
            <a:pPr marL="914400" lvl="1" indent="-457200">
              <a:spcBef>
                <a:spcPts val="600"/>
              </a:spcBef>
              <a:buFont typeface="+mj-lt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/>
              <a:t>Boolean expressions</a:t>
            </a:r>
          </a:p>
          <a:p>
            <a:pPr marL="914400" lvl="1" indent="-457200">
              <a:spcBef>
                <a:spcPts val="600"/>
              </a:spcBef>
              <a:buFont typeface="+mj-lt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/>
              <a:t>logic diagrams</a:t>
            </a:r>
          </a:p>
          <a:p>
            <a:pPr marL="914400" lvl="1" indent="-457200">
              <a:spcBef>
                <a:spcPts val="600"/>
              </a:spcBef>
              <a:buFont typeface="+mj-lt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/>
              <a:t>truth tables</a:t>
            </a:r>
          </a:p>
        </p:txBody>
      </p:sp>
    </p:spTree>
    <p:extLst>
      <p:ext uri="{BB962C8B-B14F-4D97-AF65-F5344CB8AC3E}">
        <p14:creationId xmlns="" xmlns:p14="http://schemas.microsoft.com/office/powerpoint/2010/main" val="878005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819400"/>
            <a:ext cx="6324600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3683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/>
              <a:t>Combinational Circuits</a:t>
            </a:r>
          </a:p>
        </p:txBody>
      </p:sp>
      <p:sp>
        <p:nvSpPr>
          <p:cNvPr id="16389" name="Rectangle 4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572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spcBef>
                <a:spcPts val="17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smtClean="0"/>
              <a:t>Gates are combined into circuits by using the output of one gate as the input for another</a:t>
            </a:r>
          </a:p>
        </p:txBody>
      </p:sp>
      <p:sp>
        <p:nvSpPr>
          <p:cNvPr id="16390" name="AutoShape 5"/>
          <p:cNvSpPr>
            <a:spLocks noChangeArrowheads="1"/>
          </p:cNvSpPr>
          <p:nvPr/>
        </p:nvSpPr>
        <p:spPr bwMode="auto">
          <a:xfrm>
            <a:off x="1600200" y="6400800"/>
            <a:ext cx="854075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Page 99</a:t>
            </a:r>
          </a:p>
        </p:txBody>
      </p:sp>
    </p:spTree>
    <p:extLst>
      <p:ext uri="{BB962C8B-B14F-4D97-AF65-F5344CB8AC3E}">
        <p14:creationId xmlns="" xmlns:p14="http://schemas.microsoft.com/office/powerpoint/2010/main" val="1164914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Combinational Circuits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648200"/>
            <a:ext cx="8229600" cy="2012950"/>
          </a:xfrm>
        </p:spPr>
        <p:txBody>
          <a:bodyPr/>
          <a:lstStyle/>
          <a:p>
            <a:pPr eaLnBrk="1" hangingPunct="1">
              <a:lnSpc>
                <a:spcPct val="93000"/>
              </a:lnSpc>
              <a:spcBef>
                <a:spcPts val="1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smtClean="0"/>
              <a:t>Because there are three inputs to this circuit, eight rows are required to describe all possible input combinations</a:t>
            </a:r>
          </a:p>
          <a:p>
            <a:pPr eaLnBrk="1" hangingPunct="1">
              <a:spcBef>
                <a:spcPts val="1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smtClean="0"/>
              <a:t>This same circuit using Boolean algebra:</a:t>
            </a:r>
          </a:p>
          <a:p>
            <a:pPr eaLnBrk="1" hangingPunct="1">
              <a:spcBef>
                <a:spcPts val="1200"/>
              </a:spcBef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mtClean="0"/>
              <a:t>	</a:t>
            </a:r>
            <a:r>
              <a:rPr lang="en-GB" smtClean="0">
                <a:latin typeface="Times New Roman" pitchFamily="16" charset="0"/>
              </a:rPr>
              <a:t>(AB + AC)</a:t>
            </a: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652588"/>
            <a:ext cx="55626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5" name="AutoShape 8"/>
          <p:cNvSpPr>
            <a:spLocks noChangeArrowheads="1"/>
          </p:cNvSpPr>
          <p:nvPr/>
        </p:nvSpPr>
        <p:spPr bwMode="auto">
          <a:xfrm>
            <a:off x="7467600" y="4267200"/>
            <a:ext cx="952500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Page 100</a:t>
            </a:r>
          </a:p>
        </p:txBody>
      </p:sp>
    </p:spTree>
    <p:extLst>
      <p:ext uri="{BB962C8B-B14F-4D97-AF65-F5344CB8AC3E}">
        <p14:creationId xmlns="" xmlns:p14="http://schemas.microsoft.com/office/powerpoint/2010/main" val="13587960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543800" cy="11430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 smtClean="0"/>
              <a:t>Now let’s go the other way; let’s take a Boolean expression and draw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1219200"/>
          </a:xfrm>
        </p:spPr>
        <p:txBody>
          <a:bodyPr/>
          <a:lstStyle/>
          <a:p>
            <a:pPr eaLnBrk="1" hangingPunct="1">
              <a:lnSpc>
                <a:spcPct val="93000"/>
              </a:lnSpc>
              <a:spcBef>
                <a:spcPts val="1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smtClean="0"/>
              <a:t>Consider the following Boolean expression: </a:t>
            </a:r>
            <a:r>
              <a:rPr lang="en-GB" sz="2400" smtClean="0">
                <a:latin typeface="Times New Roman" pitchFamily="16" charset="0"/>
              </a:rPr>
              <a:t>A(B + C)</a:t>
            </a:r>
          </a:p>
        </p:txBody>
      </p:sp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38400"/>
            <a:ext cx="4191000" cy="149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466975"/>
            <a:ext cx="3733800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AutoShape 9"/>
          <p:cNvSpPr>
            <a:spLocks noChangeArrowheads="1"/>
          </p:cNvSpPr>
          <p:nvPr/>
        </p:nvSpPr>
        <p:spPr bwMode="auto">
          <a:xfrm>
            <a:off x="381000" y="3990975"/>
            <a:ext cx="952500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Page 100</a:t>
            </a:r>
          </a:p>
        </p:txBody>
      </p:sp>
      <p:sp>
        <p:nvSpPr>
          <p:cNvPr id="18441" name="AutoShape 10"/>
          <p:cNvSpPr>
            <a:spLocks noChangeArrowheads="1"/>
          </p:cNvSpPr>
          <p:nvPr/>
        </p:nvSpPr>
        <p:spPr bwMode="auto">
          <a:xfrm>
            <a:off x="3886200" y="4495800"/>
            <a:ext cx="952500" cy="304800"/>
          </a:xfrm>
          <a:prstGeom prst="roundRect">
            <a:avLst>
              <a:gd name="adj" fmla="val 519"/>
            </a:avLst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327CB8"/>
              </a:buClr>
              <a:buSzPct val="10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1">
                <a:solidFill>
                  <a:srgbClr val="327CB8"/>
                </a:solidFill>
                <a:latin typeface="Arial" charset="0"/>
              </a:rPr>
              <a:t>Page 101</a:t>
            </a:r>
          </a:p>
        </p:txBody>
      </p:sp>
      <p:grpSp>
        <p:nvGrpSpPr>
          <p:cNvPr id="18442" name="Group 11"/>
          <p:cNvGrpSpPr>
            <a:grpSpLocks/>
          </p:cNvGrpSpPr>
          <p:nvPr/>
        </p:nvGrpSpPr>
        <p:grpSpPr bwMode="auto">
          <a:xfrm>
            <a:off x="457200" y="5105400"/>
            <a:ext cx="8228013" cy="1217613"/>
            <a:chOff x="288" y="3216"/>
            <a:chExt cx="5183" cy="767"/>
          </a:xfrm>
        </p:grpSpPr>
        <p:sp>
          <p:nvSpPr>
            <p:cNvPr id="18443" name="AutoShape 12"/>
            <p:cNvSpPr>
              <a:spLocks noChangeArrowheads="1"/>
            </p:cNvSpPr>
            <p:nvPr/>
          </p:nvSpPr>
          <p:spPr bwMode="auto">
            <a:xfrm>
              <a:off x="288" y="3216"/>
              <a:ext cx="5184" cy="768"/>
            </a:xfrm>
            <a:prstGeom prst="roundRect">
              <a:avLst>
                <a:gd name="adj" fmla="val 130"/>
              </a:avLst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4" name="Text Box 13"/>
            <p:cNvSpPr txBox="1">
              <a:spLocks noChangeArrowheads="1"/>
            </p:cNvSpPr>
            <p:nvPr/>
          </p:nvSpPr>
          <p:spPr bwMode="auto">
            <a:xfrm>
              <a:off x="288" y="3216"/>
              <a:ext cx="5184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341313" indent="-341313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1pPr>
              <a:lvl2pPr marL="741363" indent="-284163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2pPr>
              <a:lvl3pPr marL="1143000" indent="-2286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3pPr>
              <a:lvl4pPr marL="1600200" indent="-2286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4pPr>
              <a:lvl5pPr marL="2057400" indent="-228600"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11225" algn="l"/>
                  <a:tab pos="1825625" algn="l"/>
                  <a:tab pos="2740025" algn="l"/>
                  <a:tab pos="3654425" algn="l"/>
                  <a:tab pos="4568825" algn="l"/>
                  <a:tab pos="5483225" algn="l"/>
                  <a:tab pos="6397625" algn="l"/>
                  <a:tab pos="7312025" algn="l"/>
                  <a:tab pos="8226425" algn="l"/>
                  <a:tab pos="9140825" algn="l"/>
                  <a:tab pos="10055225" algn="l"/>
                </a:tabLst>
                <a:defRPr sz="2400">
                  <a:solidFill>
                    <a:schemeClr val="bg1"/>
                  </a:solidFill>
                  <a:latin typeface="Times New Roman" pitchFamily="16" charset="0"/>
                  <a:cs typeface="Arial Unicode MS" charset="0"/>
                </a:defRPr>
              </a:lvl9pPr>
            </a:lstStyle>
            <a:p>
              <a:pPr eaLnBrk="1" hangingPunct="1">
                <a:lnSpc>
                  <a:spcPct val="93000"/>
                </a:lnSpc>
                <a:spcBef>
                  <a:spcPts val="1500"/>
                </a:spcBef>
                <a:buClr>
                  <a:srgbClr val="000000"/>
                </a:buClr>
                <a:buSzPct val="100000"/>
                <a:buFont typeface="Arial" charset="0"/>
                <a:buChar char="•"/>
              </a:pPr>
              <a:r>
                <a:rPr lang="en-GB">
                  <a:solidFill>
                    <a:schemeClr val="tx1"/>
                  </a:solidFill>
                  <a:latin typeface="Arial" charset="0"/>
                </a:rPr>
                <a:t>Now compare the final result column in this truth table to the truth table for the previous example</a:t>
              </a:r>
            </a:p>
            <a:p>
              <a:pPr lvl="1" eaLnBrk="1" hangingPunct="1">
                <a:spcBef>
                  <a:spcPts val="525"/>
                </a:spcBef>
                <a:buClr>
                  <a:srgbClr val="000000"/>
                </a:buClr>
                <a:buSzPct val="100000"/>
                <a:buFont typeface="Arial" charset="0"/>
                <a:buChar char="•"/>
              </a:pPr>
              <a:r>
                <a:rPr lang="en-GB" sz="2100">
                  <a:solidFill>
                    <a:schemeClr val="tx1"/>
                  </a:solidFill>
                  <a:latin typeface="Arial" charset="0"/>
                </a:rPr>
                <a:t>They are identical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23894726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184</TotalTime>
  <Words>523</Words>
  <Application>Microsoft Office PowerPoint</Application>
  <PresentationFormat>On-screen Show (4:3)</PresentationFormat>
  <Paragraphs>71</Paragraphs>
  <Slides>17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HNDIT</vt:lpstr>
      <vt:lpstr>HNDIT1104: Data Representation and Organization</vt:lpstr>
      <vt:lpstr>Logic Gates</vt:lpstr>
      <vt:lpstr>Logic Gates</vt:lpstr>
      <vt:lpstr>Describing Gates and Circuits</vt:lpstr>
      <vt:lpstr>Describing Gates and Circuits</vt:lpstr>
      <vt:lpstr>Describing Gates and Circuits</vt:lpstr>
      <vt:lpstr>NOT Gate</vt:lpstr>
      <vt:lpstr>AND Gate</vt:lpstr>
      <vt:lpstr>OR Gate</vt:lpstr>
      <vt:lpstr>XOR Gate</vt:lpstr>
      <vt:lpstr>XOR Gate</vt:lpstr>
      <vt:lpstr>NAND and NOR Gates</vt:lpstr>
      <vt:lpstr>Gates with More Inputs</vt:lpstr>
      <vt:lpstr>Slide 14</vt:lpstr>
      <vt:lpstr>Combinational Circuits</vt:lpstr>
      <vt:lpstr>Combinational Circuits</vt:lpstr>
      <vt:lpstr>Now let’s go the other way; let’s take a Boolean expression and draw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Nalin</cp:lastModifiedBy>
  <cp:revision>44</cp:revision>
  <dcterms:created xsi:type="dcterms:W3CDTF">2013-10-16T01:16:09Z</dcterms:created>
  <dcterms:modified xsi:type="dcterms:W3CDTF">2018-09-21T17:25:56Z</dcterms:modified>
</cp:coreProperties>
</file>