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89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B4B73-EC22-490B-87C5-9F27EEF0A650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0EA0F-07C1-4882-A8E8-1D44A81E65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00529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613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ubtitle 5"/>
          <p:cNvSpPr>
            <a:spLocks noGrp="1"/>
          </p:cNvSpPr>
          <p:nvPr>
            <p:ph type="subTitle" idx="1"/>
          </p:nvPr>
        </p:nvSpPr>
        <p:spPr>
          <a:xfrm>
            <a:off x="4876800" y="2286000"/>
            <a:ext cx="4267200" cy="8286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>
                <a:solidFill>
                  <a:schemeClr val="tx1"/>
                </a:solidFill>
              </a:rPr>
              <a:t>Logic Gates</a:t>
            </a:r>
            <a:endParaRPr lang="en-US" sz="4000" dirty="0" smtClean="0">
              <a:solidFill>
                <a:schemeClr val="tx1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4000" dirty="0" smtClean="0">
              <a:solidFill>
                <a:schemeClr val="tx1"/>
              </a:solidFill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457200"/>
            <a:ext cx="8915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HNDIT1104: Data Representation and Organization</a:t>
            </a:r>
            <a:endParaRPr lang="en-AU" altLang="en-US" sz="2800" dirty="0" smtClean="0"/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3886200" y="4876800"/>
            <a:ext cx="18245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Lesson </a:t>
            </a:r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13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73238"/>
            <a:ext cx="8331200" cy="431958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Digital systems are concerned with digital signals</a:t>
            </a:r>
          </a:p>
          <a:p>
            <a:pPr>
              <a:lnSpc>
                <a:spcPct val="110000"/>
              </a:lnSpc>
            </a:pPr>
            <a:r>
              <a:rPr lang="en-US" dirty="0"/>
              <a:t>Digital signals can take many forms</a:t>
            </a:r>
          </a:p>
          <a:p>
            <a:pPr>
              <a:lnSpc>
                <a:spcPct val="110000"/>
              </a:lnSpc>
            </a:pPr>
            <a:r>
              <a:rPr lang="en-US" dirty="0"/>
              <a:t>Here we will concentrate on </a:t>
            </a:r>
            <a:r>
              <a:rPr lang="en-US" b="1" dirty="0">
                <a:solidFill>
                  <a:srgbClr val="0000FF"/>
                </a:solidFill>
              </a:rPr>
              <a:t>binary signals</a:t>
            </a:r>
            <a:r>
              <a:rPr lang="en-US" dirty="0"/>
              <a:t> since these are the most common form of digital signals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can be used individually 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perhaps to represent a single binary quantity or the state of a single switch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can be used in combination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to represent more complex quantities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9940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Quantities and Variables</a:t>
            </a:r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73238"/>
            <a:ext cx="8331200" cy="431958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/>
              <a:t>A </a:t>
            </a:r>
            <a:r>
              <a:rPr lang="en-US" b="1">
                <a:solidFill>
                  <a:srgbClr val="0000FF"/>
                </a:solidFill>
              </a:rPr>
              <a:t>binary quantity</a:t>
            </a:r>
            <a:r>
              <a:rPr lang="en-US"/>
              <a:t> is one that can take only 2 states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/>
          </a:p>
        </p:txBody>
      </p:sp>
      <p:pic>
        <p:nvPicPr>
          <p:cNvPr id="376839" name="Picture 7" descr="C09NF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3176588"/>
            <a:ext cx="4673600" cy="199231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6840" name="Text Box 8"/>
          <p:cNvSpPr txBox="1">
            <a:spLocks noChangeArrowheads="1"/>
          </p:cNvSpPr>
          <p:nvPr/>
        </p:nvSpPr>
        <p:spPr bwMode="auto">
          <a:xfrm>
            <a:off x="1404938" y="5121275"/>
            <a:ext cx="3105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800">
                <a:latin typeface="Arial" panose="020B0604020202020204" pitchFamily="34" charset="0"/>
              </a:rPr>
              <a:t>A simple binary arrangement</a:t>
            </a:r>
          </a:p>
        </p:txBody>
      </p:sp>
      <p:graphicFrame>
        <p:nvGraphicFramePr>
          <p:cNvPr id="376872" name="Group 40"/>
          <p:cNvGraphicFramePr>
            <a:graphicFrameLocks noGrp="1"/>
          </p:cNvGraphicFramePr>
          <p:nvPr/>
        </p:nvGraphicFramePr>
        <p:xfrm>
          <a:off x="6011863" y="2636838"/>
          <a:ext cx="2089150" cy="1287145"/>
        </p:xfrm>
        <a:graphic>
          <a:graphicData uri="http://schemas.openxmlformats.org/drawingml/2006/table">
            <a:tbl>
              <a:tblPr/>
              <a:tblGrid>
                <a:gridCol w="1281112"/>
                <a:gridCol w="808038"/>
              </a:tblGrid>
              <a:tr h="317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E30000"/>
                        </a:buClr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kumimoji="0" lang="en-GB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E30000"/>
                        </a:buClr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kumimoji="0" lang="en-GB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E30000"/>
                        </a:buClr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OPEN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E30000"/>
                        </a:buClr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OFF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5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E30000"/>
                        </a:buClr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CLOSED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E30000"/>
                        </a:buClr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76901" name="Group 69"/>
          <p:cNvGraphicFramePr>
            <a:graphicFrameLocks noGrp="1"/>
          </p:cNvGraphicFramePr>
          <p:nvPr/>
        </p:nvGraphicFramePr>
        <p:xfrm>
          <a:off x="6227763" y="4184650"/>
          <a:ext cx="2159000" cy="1189038"/>
        </p:xfrm>
        <a:graphic>
          <a:graphicData uri="http://schemas.openxmlformats.org/drawingml/2006/table">
            <a:tbl>
              <a:tblPr/>
              <a:tblGrid>
                <a:gridCol w="1079500"/>
                <a:gridCol w="1079500"/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E30000"/>
                        </a:buClr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kumimoji="0" lang="en-GB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E30000"/>
                        </a:buClr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kumimoji="0" lang="en-GB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E30000"/>
                        </a:buClr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E30000"/>
                        </a:buClr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E30000"/>
                        </a:buClr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E30000"/>
                        </a:buClr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228600" algn="l"/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  <a:tab pos="45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6902" name="Text Box 70"/>
          <p:cNvSpPr txBox="1">
            <a:spLocks noChangeArrowheads="1"/>
          </p:cNvSpPr>
          <p:nvPr/>
        </p:nvSpPr>
        <p:spPr bwMode="auto">
          <a:xfrm>
            <a:off x="6588125" y="5516563"/>
            <a:ext cx="1416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800">
                <a:latin typeface="Arial" panose="020B0604020202020204" pitchFamily="34" charset="0"/>
              </a:rPr>
              <a:t>A truth table</a:t>
            </a:r>
          </a:p>
        </p:txBody>
      </p:sp>
    </p:spTree>
    <p:extLst>
      <p:ext uri="{BB962C8B-B14F-4D97-AF65-F5344CB8AC3E}">
        <p14:creationId xmlns="" xmlns:p14="http://schemas.microsoft.com/office/powerpoint/2010/main" val="37716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221163"/>
          </a:xfrm>
        </p:spPr>
        <p:txBody>
          <a:bodyPr/>
          <a:lstStyle/>
          <a:p>
            <a:r>
              <a:rPr lang="en-GB" dirty="0"/>
              <a:t>A binary arrangement with two switches in series</a:t>
            </a:r>
          </a:p>
        </p:txBody>
      </p:sp>
      <p:pic>
        <p:nvPicPr>
          <p:cNvPr id="382980" name="Picture 4" descr="C09NF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2870200"/>
            <a:ext cx="8299450" cy="3073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2981" name="Text Box 5"/>
          <p:cNvSpPr txBox="1">
            <a:spLocks noChangeArrowheads="1"/>
          </p:cNvSpPr>
          <p:nvPr/>
        </p:nvSpPr>
        <p:spPr bwMode="auto">
          <a:xfrm>
            <a:off x="3995738" y="5805488"/>
            <a:ext cx="1739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800" i="1">
                <a:latin typeface="Arial" panose="020B0604020202020204" pitchFamily="34" charset="0"/>
              </a:rPr>
              <a:t>L</a:t>
            </a:r>
            <a:r>
              <a:rPr lang="en-GB" sz="1800">
                <a:latin typeface="Arial" panose="020B0604020202020204" pitchFamily="34" charset="0"/>
              </a:rPr>
              <a:t> = </a:t>
            </a:r>
            <a:r>
              <a:rPr lang="en-GB" sz="1800" i="1">
                <a:latin typeface="Arial" panose="020B0604020202020204" pitchFamily="34" charset="0"/>
              </a:rPr>
              <a:t>S1</a:t>
            </a:r>
            <a:r>
              <a:rPr lang="en-GB" sz="1800">
                <a:latin typeface="Arial" panose="020B0604020202020204" pitchFamily="34" charset="0"/>
              </a:rPr>
              <a:t> AND </a:t>
            </a:r>
            <a:r>
              <a:rPr lang="en-GB" sz="1800" i="1">
                <a:latin typeface="Arial" panose="020B0604020202020204" pitchFamily="34" charset="0"/>
              </a:rPr>
              <a:t>S2</a:t>
            </a:r>
          </a:p>
        </p:txBody>
      </p:sp>
    </p:spTree>
    <p:extLst>
      <p:ext uri="{BB962C8B-B14F-4D97-AF65-F5344CB8AC3E}">
        <p14:creationId xmlns="" xmlns:p14="http://schemas.microsoft.com/office/powerpoint/2010/main" val="2605031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binary arrangement with two switches in parallel</a:t>
            </a:r>
          </a:p>
        </p:txBody>
      </p:sp>
      <p:pic>
        <p:nvPicPr>
          <p:cNvPr id="384005" name="Picture 5" descr="C09NF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2490787"/>
            <a:ext cx="8388350" cy="36052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4006" name="Text Box 6"/>
          <p:cNvSpPr txBox="1">
            <a:spLocks noChangeArrowheads="1"/>
          </p:cNvSpPr>
          <p:nvPr/>
        </p:nvSpPr>
        <p:spPr bwMode="auto">
          <a:xfrm>
            <a:off x="3995738" y="5805488"/>
            <a:ext cx="1600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800" i="1">
                <a:latin typeface="Arial" panose="020B0604020202020204" pitchFamily="34" charset="0"/>
              </a:rPr>
              <a:t>L</a:t>
            </a:r>
            <a:r>
              <a:rPr lang="en-GB" sz="1800">
                <a:latin typeface="Arial" panose="020B0604020202020204" pitchFamily="34" charset="0"/>
              </a:rPr>
              <a:t> = </a:t>
            </a:r>
            <a:r>
              <a:rPr lang="en-GB" sz="1800" i="1">
                <a:latin typeface="Arial" panose="020B0604020202020204" pitchFamily="34" charset="0"/>
              </a:rPr>
              <a:t>S1</a:t>
            </a:r>
            <a:r>
              <a:rPr lang="en-GB" sz="1800">
                <a:latin typeface="Arial" panose="020B0604020202020204" pitchFamily="34" charset="0"/>
              </a:rPr>
              <a:t> OR </a:t>
            </a:r>
            <a:r>
              <a:rPr lang="en-GB" sz="1800" i="1">
                <a:latin typeface="Arial" panose="020B0604020202020204" pitchFamily="34" charset="0"/>
              </a:rPr>
              <a:t>S2</a:t>
            </a:r>
          </a:p>
        </p:txBody>
      </p:sp>
    </p:spTree>
    <p:extLst>
      <p:ext uri="{BB962C8B-B14F-4D97-AF65-F5344CB8AC3E}">
        <p14:creationId xmlns="" xmlns:p14="http://schemas.microsoft.com/office/powerpoint/2010/main" val="162286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 Gates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73238"/>
            <a:ext cx="8331200" cy="431958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/>
              <a:t>The building blocks used to create digital circuits are </a:t>
            </a:r>
            <a:r>
              <a:rPr lang="en-US" b="1">
                <a:solidFill>
                  <a:srgbClr val="0000FF"/>
                </a:solidFill>
              </a:rPr>
              <a:t>logic gates</a:t>
            </a:r>
          </a:p>
          <a:p>
            <a:pPr>
              <a:lnSpc>
                <a:spcPct val="110000"/>
              </a:lnSpc>
            </a:pPr>
            <a:r>
              <a:rPr lang="en-US"/>
              <a:t>There are three elementary logic gates and a range of other simple gates</a:t>
            </a:r>
          </a:p>
          <a:p>
            <a:pPr>
              <a:lnSpc>
                <a:spcPct val="110000"/>
              </a:lnSpc>
            </a:pPr>
            <a:r>
              <a:rPr lang="en-US"/>
              <a:t>Each gate has its own </a:t>
            </a:r>
            <a:r>
              <a:rPr lang="en-US" b="1">
                <a:solidFill>
                  <a:srgbClr val="0000FF"/>
                </a:solidFill>
              </a:rPr>
              <a:t>logic symbol</a:t>
            </a:r>
            <a:r>
              <a:rPr lang="en-US"/>
              <a:t> which allows complex functions to be represented by a logic diagram</a:t>
            </a:r>
          </a:p>
          <a:p>
            <a:pPr>
              <a:lnSpc>
                <a:spcPct val="110000"/>
              </a:lnSpc>
            </a:pPr>
            <a:r>
              <a:rPr lang="en-US"/>
              <a:t>The function of each gate can be represented by a </a:t>
            </a:r>
            <a:r>
              <a:rPr lang="en-US" b="1">
                <a:solidFill>
                  <a:srgbClr val="0000FF"/>
                </a:solidFill>
              </a:rPr>
              <a:t>truth table</a:t>
            </a:r>
            <a:r>
              <a:rPr lang="en-US"/>
              <a:t> or using </a:t>
            </a:r>
            <a:r>
              <a:rPr lang="en-US" b="1">
                <a:solidFill>
                  <a:srgbClr val="0000FF"/>
                </a:solidFill>
              </a:rPr>
              <a:t>Boolean notation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3023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>
                <a:solidFill>
                  <a:srgbClr val="0000FF"/>
                </a:solidFill>
              </a:rPr>
              <a:t>The AND gate</a:t>
            </a:r>
          </a:p>
        </p:txBody>
      </p:sp>
      <p:pic>
        <p:nvPicPr>
          <p:cNvPr id="390148" name="Picture 4" descr="C09NF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2781300"/>
            <a:ext cx="8172450" cy="25019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612072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>
                <a:solidFill>
                  <a:srgbClr val="0000FF"/>
                </a:solidFill>
              </a:rPr>
              <a:t>The OR gate</a:t>
            </a:r>
          </a:p>
        </p:txBody>
      </p:sp>
      <p:pic>
        <p:nvPicPr>
          <p:cNvPr id="391173" name="Picture 5" descr="C09NF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2781300"/>
            <a:ext cx="8220075" cy="25368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441971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>
                <a:solidFill>
                  <a:srgbClr val="0000FF"/>
                </a:solidFill>
              </a:rPr>
              <a:t>The NOT gate (or inverter)</a:t>
            </a:r>
          </a:p>
        </p:txBody>
      </p:sp>
      <p:pic>
        <p:nvPicPr>
          <p:cNvPr id="392197" name="Picture 5" descr="C09NF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392488"/>
            <a:ext cx="7640638" cy="18605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7956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>
                <a:solidFill>
                  <a:srgbClr val="0000FF"/>
                </a:solidFill>
              </a:rPr>
              <a:t>The NAND gate</a:t>
            </a:r>
          </a:p>
        </p:txBody>
      </p:sp>
      <p:pic>
        <p:nvPicPr>
          <p:cNvPr id="394245" name="Picture 5" descr="C09NF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708275"/>
            <a:ext cx="8177213" cy="25368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11014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>
                <a:solidFill>
                  <a:srgbClr val="0000FF"/>
                </a:solidFill>
              </a:rPr>
              <a:t>The NOR gate</a:t>
            </a:r>
          </a:p>
        </p:txBody>
      </p:sp>
      <p:pic>
        <p:nvPicPr>
          <p:cNvPr id="395269" name="Picture 5" descr="C09NF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708275"/>
            <a:ext cx="8183563" cy="25050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650622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>
                <a:solidFill>
                  <a:srgbClr val="0000FF"/>
                </a:solidFill>
              </a:rPr>
              <a:t>The Exclusive OR gate</a:t>
            </a:r>
          </a:p>
        </p:txBody>
      </p:sp>
      <p:pic>
        <p:nvPicPr>
          <p:cNvPr id="396293" name="Picture 5" descr="C09NF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708275"/>
            <a:ext cx="8147050" cy="25034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705310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>
                <a:solidFill>
                  <a:srgbClr val="0000FF"/>
                </a:solidFill>
              </a:rPr>
              <a:t>The Exclusive NOR gate</a:t>
            </a:r>
          </a:p>
        </p:txBody>
      </p:sp>
      <p:pic>
        <p:nvPicPr>
          <p:cNvPr id="397317" name="Picture 5" descr="C09NF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708275"/>
            <a:ext cx="8183563" cy="25050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04141159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270</TotalTime>
  <Words>216</Words>
  <Application>Microsoft Office PowerPoint</Application>
  <PresentationFormat>On-screen Show (4:3)</PresentationFormat>
  <Paragraphs>43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HNDIT</vt:lpstr>
      <vt:lpstr>HNDIT1104: Data Representation and Organization</vt:lpstr>
      <vt:lpstr>Introduction</vt:lpstr>
      <vt:lpstr>Binary Quantities and Variables</vt:lpstr>
      <vt:lpstr>Slide 4</vt:lpstr>
      <vt:lpstr>Slide 5</vt:lpstr>
      <vt:lpstr>Logic Gates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2002 – Graphics &amp; Multimedia</dc:title>
  <dc:creator>Dell PC</dc:creator>
  <cp:lastModifiedBy>Nalin</cp:lastModifiedBy>
  <cp:revision>40</cp:revision>
  <dcterms:created xsi:type="dcterms:W3CDTF">2013-10-16T01:16:09Z</dcterms:created>
  <dcterms:modified xsi:type="dcterms:W3CDTF">2018-09-21T17:26:02Z</dcterms:modified>
</cp:coreProperties>
</file>