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58" r:id="rId3"/>
    <p:sldId id="276" r:id="rId4"/>
    <p:sldId id="277" r:id="rId5"/>
    <p:sldId id="278" r:id="rId6"/>
    <p:sldId id="282" r:id="rId7"/>
    <p:sldId id="279" r:id="rId8"/>
    <p:sldId id="280" r:id="rId9"/>
    <p:sldId id="281"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000" autoAdjust="0"/>
    <p:restoredTop sz="94660"/>
  </p:normalViewPr>
  <p:slideViewPr>
    <p:cSldViewPr>
      <p:cViewPr varScale="1">
        <p:scale>
          <a:sx n="68" d="100"/>
          <a:sy n="68" d="100"/>
        </p:scale>
        <p:origin x="-1470" y="-96"/>
      </p:cViewPr>
      <p:guideLst>
        <p:guide orient="horz" pos="216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19D199-2199-49AD-B138-AC35A40CB1C4}" type="datetimeFigureOut">
              <a:rPr lang="en-US" smtClean="0"/>
              <a:pPr/>
              <a:t>23-Jun-18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6781CE3-46ED-4AD5-A052-EAD61C162C6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p:spPr>
        <p:txBody>
          <a:bodyPr/>
          <a:lstStyle/>
          <a:p>
            <a:fld id="{9BC827F2-4C0A-4EBE-9457-D075C2C572FE}" type="slidenum">
              <a:rPr lang="en-US"/>
              <a:pPr/>
              <a:t>2</a:t>
            </a:fld>
            <a:endParaRPr lang="en-US"/>
          </a:p>
        </p:txBody>
      </p:sp>
      <p:sp>
        <p:nvSpPr>
          <p:cNvPr id="7171" name="Rectangle 2"/>
          <p:cNvSpPr>
            <a:spLocks noGrp="1" noRot="1" noChangeAspect="1" noChangeArrowheads="1" noTextEdit="1"/>
          </p:cNvSpPr>
          <p:nvPr>
            <p:ph type="sldImg"/>
          </p:nvPr>
        </p:nvSpPr>
        <p:spPr>
          <a:ln/>
        </p:spPr>
      </p:sp>
      <p:sp>
        <p:nvSpPr>
          <p:cNvPr id="717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0" y="2057400"/>
            <a:ext cx="9144000" cy="2566851"/>
          </a:xfrm>
          <a:prstGeom prst="rect">
            <a:avLst/>
          </a:prstGeom>
        </p:spPr>
      </p:pic>
      <p:sp>
        <p:nvSpPr>
          <p:cNvPr id="4" name="Date Placeholder 3"/>
          <p:cNvSpPr>
            <a:spLocks noGrp="1"/>
          </p:cNvSpPr>
          <p:nvPr>
            <p:ph type="dt" sz="half" idx="10"/>
          </p:nvPr>
        </p:nvSpPr>
        <p:spPr/>
        <p:txBody>
          <a:bodyPr/>
          <a:lstStyle/>
          <a:p>
            <a:fld id="{34A8ABB3-23BD-4B9E-9929-FBAC6D5FBC16}" type="datetime1">
              <a:rPr lang="en-US" smtClean="0"/>
              <a:pPr/>
              <a:t>23-Jun-18</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Chapter Title style</a:t>
            </a:r>
            <a:endParaRPr lang="en-US" dirty="0"/>
          </a:p>
        </p:txBody>
      </p:sp>
      <p:sp>
        <p:nvSpPr>
          <p:cNvPr id="2" name="Title 1"/>
          <p:cNvSpPr>
            <a:spLocks noGrp="1"/>
          </p:cNvSpPr>
          <p:nvPr>
            <p:ph type="ctrTitle" hasCustomPrompt="1"/>
          </p:nvPr>
        </p:nvSpPr>
        <p:spPr>
          <a:xfrm>
            <a:off x="4953000" y="2362201"/>
            <a:ext cx="3886200" cy="1981199"/>
          </a:xfrm>
        </p:spPr>
        <p:txBody>
          <a:bodyPr/>
          <a:lstStyle>
            <a:lvl1pPr>
              <a:defRPr/>
            </a:lvl1pPr>
          </a:lstStyle>
          <a:p>
            <a:r>
              <a:rPr lang="en-US" dirty="0" smtClean="0"/>
              <a:t>Click to edit Course Title style</a:t>
            </a:r>
            <a:endParaRPr lang="en-US" dirty="0"/>
          </a:p>
        </p:txBody>
      </p:sp>
    </p:spTree>
    <p:extLst>
      <p:ext uri="{BB962C8B-B14F-4D97-AF65-F5344CB8AC3E}">
        <p14:creationId xmlns:p14="http://schemas.microsoft.com/office/powerpoint/2010/main" xmlns=""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D7B062-7C34-4FEA-AD3E-5D2737928591}" type="datetime1">
              <a:rPr lang="en-US" smtClean="0"/>
              <a:pPr/>
              <a:t>23-Jun-18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39290F-F0E1-4104-B5A6-9437D35E9E78}" type="datetime1">
              <a:rPr lang="en-US" smtClean="0"/>
              <a:pPr/>
              <a:t>23-Jun-18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3840B86-5EE6-4AE5-893A-1606E84099B2}" type="datetime1">
              <a:rPr lang="en-US" smtClean="0"/>
              <a:pPr/>
              <a:t>23-Jun-18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0D846C2-2A1F-45DC-8359-4736A7E4841F}" type="datetime1">
              <a:rPr lang="en-US" smtClean="0"/>
              <a:pPr/>
              <a:t>23-Jun-18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E7E6E43-EF5E-4CCE-B57F-6328CBF79967}" type="datetime1">
              <a:rPr lang="en-US" smtClean="0"/>
              <a:pPr/>
              <a:t>23-Jun-18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6B61CC-1C4E-41E9-82B1-1798A9BE86E2}" type="datetime1">
              <a:rPr lang="en-US" smtClean="0"/>
              <a:pPr/>
              <a:t>23-Jun-18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CAC08A-E39F-4E0A-AC53-CFC022F9906C}" type="datetime1">
              <a:rPr lang="en-US" smtClean="0"/>
              <a:pPr/>
              <a:t>23-Jun-18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477208-614D-44F1-A0F0-E25BB5BB806F}" type="datetime1">
              <a:rPr lang="en-US" smtClean="0"/>
              <a:pPr/>
              <a:t>23-Jun-18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1786FB-1AF6-4317-B692-8D2B80DB5B82}" type="datetime1">
              <a:rPr lang="en-US" smtClean="0"/>
              <a:pPr/>
              <a:t>23-Jun-18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18B166-2281-40FD-B5FB-3DF1C11909B0}" type="datetime1">
              <a:rPr lang="en-US" smtClean="0"/>
              <a:pPr/>
              <a:t>23-Jun-18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2861351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770F02-68CF-4FDE-8DFD-FC7AEAD0D3FC}" type="datetime1">
              <a:rPr lang="en-US" smtClean="0"/>
              <a:pPr/>
              <a:t>23-Jun-18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a:p>
        </p:txBody>
      </p:sp>
      <p:pic>
        <p:nvPicPr>
          <p:cNvPr id="7" name="Picture 6"/>
          <p:cNvPicPr>
            <a:picLocks noChangeAspect="1"/>
          </p:cNvPicPr>
          <p:nvPr/>
        </p:nvPicPr>
        <p:blipFill>
          <a:blip r:embed="rId13" cstate="print">
            <a:extLst>
              <a:ext uri="{28A0092B-C50C-407E-A947-70E740481C1C}">
                <a14:useLocalDpi xmlns:a14="http://schemas.microsoft.com/office/drawing/2010/main" xmlns="" val="0"/>
              </a:ext>
            </a:extLst>
          </a:blip>
          <a:stretch>
            <a:fillRect/>
          </a:stretch>
        </p:blipFill>
        <p:spPr>
          <a:xfrm>
            <a:off x="0" y="0"/>
            <a:ext cx="9144000" cy="381000"/>
          </a:xfrm>
          <a:prstGeom prst="rect">
            <a:avLst/>
          </a:prstGeom>
        </p:spPr>
      </p:pic>
    </p:spTree>
    <p:extLst>
      <p:ext uri="{BB962C8B-B14F-4D97-AF65-F5344CB8AC3E}">
        <p14:creationId xmlns:p14="http://schemas.microsoft.com/office/powerpoint/2010/main" xmlns=""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Subtitle 5"/>
          <p:cNvSpPr>
            <a:spLocks noGrp="1"/>
          </p:cNvSpPr>
          <p:nvPr>
            <p:ph type="subTitle" idx="1"/>
          </p:nvPr>
        </p:nvSpPr>
        <p:spPr>
          <a:xfrm>
            <a:off x="4876800" y="2286000"/>
            <a:ext cx="4267200" cy="828675"/>
          </a:xfrm>
        </p:spPr>
        <p:txBody>
          <a:bodyPr rtlCol="0">
            <a:noAutofit/>
          </a:bodyPr>
          <a:lstStyle/>
          <a:p>
            <a:pPr eaLnBrk="1" fontAlgn="auto" hangingPunct="1">
              <a:spcAft>
                <a:spcPts val="0"/>
              </a:spcAft>
              <a:buFont typeface="Arial" panose="020B0604020202020204" pitchFamily="34" charset="0"/>
              <a:buNone/>
              <a:defRPr/>
            </a:pPr>
            <a:r>
              <a:rPr lang="en-US" sz="4000" dirty="0" smtClean="0">
                <a:solidFill>
                  <a:schemeClr val="tx1"/>
                </a:solidFill>
              </a:rPr>
              <a:t>Number systems &amp; Conversion </a:t>
            </a:r>
          </a:p>
          <a:p>
            <a:pPr eaLnBrk="1" fontAlgn="auto" hangingPunct="1">
              <a:spcAft>
                <a:spcPts val="0"/>
              </a:spcAft>
              <a:buFont typeface="Arial" panose="020B0604020202020204" pitchFamily="34" charset="0"/>
              <a:buNone/>
              <a:defRPr/>
            </a:pPr>
            <a:r>
              <a:rPr lang="en-US" sz="4000" dirty="0" smtClean="0">
                <a:solidFill>
                  <a:schemeClr val="tx1"/>
                </a:solidFill>
              </a:rPr>
              <a:t>Part 2</a:t>
            </a:r>
          </a:p>
        </p:txBody>
      </p:sp>
      <p:sp>
        <p:nvSpPr>
          <p:cNvPr id="5123" name="Rectangle 2"/>
          <p:cNvSpPr>
            <a:spLocks noGrp="1" noChangeArrowheads="1"/>
          </p:cNvSpPr>
          <p:nvPr>
            <p:ph type="ctrTitle"/>
          </p:nvPr>
        </p:nvSpPr>
        <p:spPr>
          <a:xfrm>
            <a:off x="0" y="457200"/>
            <a:ext cx="8915400" cy="1470025"/>
          </a:xfrm>
        </p:spPr>
        <p:txBody>
          <a:bodyPr>
            <a:normAutofit/>
          </a:bodyPr>
          <a:lstStyle/>
          <a:p>
            <a:pPr eaLnBrk="1" hangingPunct="1"/>
            <a:r>
              <a:rPr lang="en-US" altLang="en-US" sz="2800" dirty="0" smtClean="0"/>
              <a:t>HNDIT1104: Data Representation and Organization</a:t>
            </a:r>
            <a:endParaRPr lang="en-AU" altLang="en-US" sz="2800" dirty="0" smtClean="0"/>
          </a:p>
        </p:txBody>
      </p:sp>
      <p:sp>
        <p:nvSpPr>
          <p:cNvPr id="5124" name="Rectangle 2"/>
          <p:cNvSpPr>
            <a:spLocks noChangeArrowheads="1"/>
          </p:cNvSpPr>
          <p:nvPr/>
        </p:nvSpPr>
        <p:spPr bwMode="auto">
          <a:xfrm>
            <a:off x="3886200" y="4876800"/>
            <a:ext cx="1616148" cy="584775"/>
          </a:xfrm>
          <a:prstGeom prst="rect">
            <a:avLst/>
          </a:prstGeom>
          <a:noFill/>
          <a:ln w="9525">
            <a:noFill/>
            <a:miter lim="800000"/>
            <a:headEnd/>
            <a:tailEnd/>
          </a:ln>
        </p:spPr>
        <p:txBody>
          <a:bodyPr wrap="none">
            <a:spAutoFit/>
          </a:bodyPr>
          <a:lstStyle/>
          <a:p>
            <a:r>
              <a:rPr lang="en-US" sz="3200" dirty="0" smtClean="0">
                <a:solidFill>
                  <a:schemeClr val="bg1">
                    <a:lumMod val="50000"/>
                  </a:schemeClr>
                </a:solidFill>
              </a:rPr>
              <a:t>Lesson 3</a:t>
            </a:r>
            <a:endParaRPr lang="en-US" sz="3200" dirty="0">
              <a:solidFill>
                <a:schemeClr val="bg1">
                  <a:lumMod val="50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normAutofit/>
          </a:bodyPr>
          <a:lstStyle/>
          <a:p>
            <a:pPr eaLnBrk="1" hangingPunct="1"/>
            <a:r>
              <a:rPr lang="en-US" dirty="0" smtClean="0"/>
              <a:t>Learning</a:t>
            </a:r>
            <a:r>
              <a:rPr lang="en-US" dirty="0" smtClean="0"/>
              <a:t> </a:t>
            </a:r>
            <a:r>
              <a:rPr lang="en-US" dirty="0" smtClean="0"/>
              <a:t>Objectives</a:t>
            </a:r>
          </a:p>
        </p:txBody>
      </p:sp>
      <p:sp>
        <p:nvSpPr>
          <p:cNvPr id="6" name="Rectangle 3"/>
          <p:cNvSpPr txBox="1">
            <a:spLocks noChangeArrowheads="1"/>
          </p:cNvSpPr>
          <p:nvPr/>
        </p:nvSpPr>
        <p:spPr>
          <a:xfrm>
            <a:off x="609600" y="2057400"/>
            <a:ext cx="8229600" cy="4221163"/>
          </a:xfrm>
          <a:prstGeom prst="rect">
            <a:avLst/>
          </a:prstGeom>
        </p:spPr>
        <p:txBody>
          <a:bodyPr>
            <a:normAutofit/>
          </a:bodyPr>
          <a:lstStyle/>
          <a:p>
            <a:pPr marL="342900" indent="-342900" eaLnBrk="1" fontAlgn="auto" hangingPunct="1">
              <a:spcBef>
                <a:spcPct val="20000"/>
              </a:spcBef>
              <a:spcAft>
                <a:spcPts val="0"/>
              </a:spcAft>
              <a:defRPr/>
            </a:pPr>
            <a:r>
              <a:rPr lang="en-US" sz="2800" dirty="0" smtClean="0">
                <a:cs typeface="Times New Roman" pitchFamily="18" charset="0"/>
              </a:rPr>
              <a:t>	At </a:t>
            </a:r>
            <a:r>
              <a:rPr lang="en-US" sz="2800" dirty="0">
                <a:cs typeface="Times New Roman" pitchFamily="18" charset="0"/>
              </a:rPr>
              <a:t>the end of the </a:t>
            </a:r>
            <a:r>
              <a:rPr lang="en-US" sz="2800" dirty="0" smtClean="0">
                <a:cs typeface="Times New Roman" pitchFamily="18" charset="0"/>
              </a:rPr>
              <a:t>Lesson </a:t>
            </a:r>
            <a:r>
              <a:rPr lang="en-US" sz="2800" dirty="0">
                <a:cs typeface="Times New Roman" pitchFamily="18" charset="0"/>
              </a:rPr>
              <a:t>students should be able to</a:t>
            </a:r>
          </a:p>
          <a:p>
            <a:pPr marL="800100" lvl="1" indent="-342900">
              <a:spcBef>
                <a:spcPct val="20000"/>
              </a:spcBef>
              <a:buFont typeface="Arial" pitchFamily="34" charset="0"/>
              <a:buChar char="•"/>
              <a:defRPr/>
            </a:pPr>
            <a:r>
              <a:rPr lang="en-US" sz="2800" dirty="0" smtClean="0">
                <a:cs typeface="Times New Roman" pitchFamily="18" charset="0"/>
              </a:rPr>
              <a:t>Convert </a:t>
            </a:r>
            <a:r>
              <a:rPr lang="en-US" sz="2800" dirty="0">
                <a:cs typeface="Times New Roman" pitchFamily="18" charset="0"/>
              </a:rPr>
              <a:t>Decimal fraction to Binary </a:t>
            </a:r>
          </a:p>
          <a:p>
            <a:pPr marL="800100" lvl="1" indent="-342900">
              <a:spcBef>
                <a:spcPct val="20000"/>
              </a:spcBef>
              <a:buFont typeface="Arial" pitchFamily="34" charset="0"/>
              <a:buChar char="•"/>
              <a:defRPr/>
            </a:pPr>
            <a:r>
              <a:rPr lang="en-US" sz="2800" dirty="0" smtClean="0">
                <a:cs typeface="Times New Roman" pitchFamily="18" charset="0"/>
              </a:rPr>
              <a:t>Convert </a:t>
            </a:r>
            <a:r>
              <a:rPr lang="en-US" sz="2800" dirty="0">
                <a:cs typeface="Times New Roman" pitchFamily="18" charset="0"/>
              </a:rPr>
              <a:t>Decimal fraction to Octal</a:t>
            </a:r>
          </a:p>
          <a:p>
            <a:pPr marL="800100" lvl="1" indent="-342900">
              <a:spcBef>
                <a:spcPct val="20000"/>
              </a:spcBef>
              <a:buFont typeface="Arial" pitchFamily="34" charset="0"/>
              <a:buChar char="•"/>
              <a:defRPr/>
            </a:pPr>
            <a:r>
              <a:rPr lang="en-US" sz="2800" dirty="0" smtClean="0">
                <a:cs typeface="Times New Roman" pitchFamily="18" charset="0"/>
              </a:rPr>
              <a:t>Convert </a:t>
            </a:r>
            <a:r>
              <a:rPr lang="en-US" sz="2800" dirty="0">
                <a:cs typeface="Times New Roman" pitchFamily="18" charset="0"/>
              </a:rPr>
              <a:t>Decimal fraction to Hexadecimal </a:t>
            </a:r>
          </a:p>
          <a:p>
            <a:pPr marL="800100" lvl="1" indent="-342900">
              <a:spcBef>
                <a:spcPct val="20000"/>
              </a:spcBef>
              <a:defRPr/>
            </a:pPr>
            <a:endParaRPr lang="en-US" sz="2800" dirty="0">
              <a:cs typeface="Times New Roman" pitchFamily="18" charset="0"/>
            </a:endParaRPr>
          </a:p>
          <a:p>
            <a:pPr marL="742950" lvl="1" indent="-285750" eaLnBrk="1" fontAlgn="auto" hangingPunct="1">
              <a:spcBef>
                <a:spcPct val="20000"/>
              </a:spcBef>
              <a:spcAft>
                <a:spcPts val="0"/>
              </a:spcAft>
              <a:buFont typeface="Arial" pitchFamily="34" charset="0"/>
              <a:buNone/>
              <a:defRPr/>
            </a:pPr>
            <a:endParaRPr lang="en-US" sz="2800" dirty="0"/>
          </a:p>
          <a:p>
            <a:pPr marL="742950" lvl="1" indent="-285750" eaLnBrk="1" fontAlgn="auto" hangingPunct="1">
              <a:spcBef>
                <a:spcPct val="20000"/>
              </a:spcBef>
              <a:spcAft>
                <a:spcPts val="0"/>
              </a:spcAft>
              <a:buFont typeface="Arial" pitchFamily="34" charset="0"/>
              <a:buChar char="–"/>
              <a:defRPr/>
            </a:pPr>
            <a:endParaRPr 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smtClean="0"/>
              <a:t>Fractions</a:t>
            </a:r>
          </a:p>
        </p:txBody>
      </p:sp>
      <p:sp>
        <p:nvSpPr>
          <p:cNvPr id="28675" name="Rectangle 3"/>
          <p:cNvSpPr>
            <a:spLocks noGrp="1" noChangeArrowheads="1"/>
          </p:cNvSpPr>
          <p:nvPr>
            <p:ph type="body" idx="1"/>
          </p:nvPr>
        </p:nvSpPr>
        <p:spPr/>
        <p:txBody>
          <a:bodyPr>
            <a:normAutofit/>
          </a:bodyPr>
          <a:lstStyle/>
          <a:p>
            <a:pPr>
              <a:lnSpc>
                <a:spcPct val="80000"/>
              </a:lnSpc>
              <a:tabLst>
                <a:tab pos="4511675" algn="l"/>
              </a:tabLst>
            </a:pPr>
            <a:r>
              <a:rPr lang="en-US" sz="2800" dirty="0" smtClean="0">
                <a:latin typeface="+mj-lt"/>
                <a:cs typeface="Times New Roman" pitchFamily="18" charset="0"/>
              </a:rPr>
              <a:t>Number point or radix point</a:t>
            </a:r>
          </a:p>
          <a:p>
            <a:pPr lvl="1" indent="-342900">
              <a:lnSpc>
                <a:spcPct val="80000"/>
              </a:lnSpc>
              <a:tabLst>
                <a:tab pos="4511675" algn="l"/>
              </a:tabLst>
            </a:pPr>
            <a:r>
              <a:rPr lang="en-US" dirty="0" smtClean="0">
                <a:latin typeface="+mj-lt"/>
                <a:cs typeface="Times New Roman" pitchFamily="18" charset="0"/>
              </a:rPr>
              <a:t>Decimal point in base 10  (Ex:  0.</a:t>
            </a:r>
            <a:r>
              <a:rPr lang="en-US" u="sng" dirty="0" smtClean="0">
                <a:latin typeface="+mj-lt"/>
                <a:cs typeface="Times New Roman" pitchFamily="18" charset="0"/>
              </a:rPr>
              <a:t>24</a:t>
            </a:r>
            <a:r>
              <a:rPr lang="en-US" dirty="0" smtClean="0">
                <a:latin typeface="+mj-lt"/>
                <a:cs typeface="Times New Roman" pitchFamily="18" charset="0"/>
              </a:rPr>
              <a:t>)</a:t>
            </a:r>
          </a:p>
          <a:p>
            <a:pPr lvl="1" indent="-342900">
              <a:lnSpc>
                <a:spcPct val="80000"/>
              </a:lnSpc>
              <a:tabLst>
                <a:tab pos="4511675" algn="l"/>
              </a:tabLst>
            </a:pPr>
            <a:r>
              <a:rPr lang="en-US" dirty="0" smtClean="0">
                <a:latin typeface="+mj-lt"/>
                <a:cs typeface="Times New Roman" pitchFamily="18" charset="0"/>
              </a:rPr>
              <a:t>Binary point in base 2 (Ex: 0.</a:t>
            </a:r>
            <a:r>
              <a:rPr lang="en-US" u="sng" dirty="0" smtClean="0">
                <a:latin typeface="+mj-lt"/>
                <a:cs typeface="Times New Roman" pitchFamily="18" charset="0"/>
              </a:rPr>
              <a:t>1011</a:t>
            </a:r>
            <a:r>
              <a:rPr lang="en-US" dirty="0" smtClean="0">
                <a:latin typeface="+mj-lt"/>
                <a:cs typeface="Times New Roman" pitchFamily="18" charset="0"/>
              </a:rPr>
              <a:t>)</a:t>
            </a:r>
          </a:p>
          <a:p>
            <a:pPr lvl="1" indent="-342900">
              <a:lnSpc>
                <a:spcPct val="80000"/>
              </a:lnSpc>
              <a:buNone/>
              <a:tabLst>
                <a:tab pos="4511675" algn="l"/>
              </a:tabLst>
            </a:pPr>
            <a:endParaRPr lang="en-US" dirty="0" smtClean="0">
              <a:latin typeface="+mj-lt"/>
              <a:cs typeface="Times New Roman" pitchFamily="18" charset="0"/>
            </a:endParaRPr>
          </a:p>
          <a:p>
            <a:pPr>
              <a:lnSpc>
                <a:spcPct val="80000"/>
              </a:lnSpc>
              <a:tabLst>
                <a:tab pos="4511675" algn="l"/>
              </a:tabLst>
            </a:pPr>
            <a:r>
              <a:rPr lang="en-US" sz="2800" dirty="0" smtClean="0">
                <a:latin typeface="+mj-lt"/>
                <a:cs typeface="Times New Roman" pitchFamily="18" charset="0"/>
              </a:rPr>
              <a:t>No exact relationship between fractional numbers in different number bases</a:t>
            </a:r>
          </a:p>
          <a:p>
            <a:pPr lvl="1" indent="-342900">
              <a:lnSpc>
                <a:spcPct val="80000"/>
              </a:lnSpc>
              <a:tabLst>
                <a:tab pos="4511675" algn="l"/>
              </a:tabLst>
            </a:pPr>
            <a:r>
              <a:rPr lang="en-US" dirty="0" smtClean="0">
                <a:latin typeface="+mj-lt"/>
                <a:cs typeface="Times New Roman" pitchFamily="18" charset="0"/>
              </a:rPr>
              <a:t>Exact conversion may be impossible</a:t>
            </a:r>
          </a:p>
          <a:p>
            <a:pPr>
              <a:tabLst>
                <a:tab pos="4511675" algn="l"/>
              </a:tabLst>
            </a:pPr>
            <a:endParaRPr lang="en-US" sz="3600" baseline="-25000" dirty="0" smtClean="0">
              <a:solidFill>
                <a:srgbClr val="FF9F11"/>
              </a:solidFill>
              <a:latin typeface="+mj-lt"/>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normAutofit fontScale="90000"/>
          </a:bodyPr>
          <a:lstStyle/>
          <a:p>
            <a:r>
              <a:rPr lang="en-US" sz="3600" smtClean="0"/>
              <a:t>Converting Fractional decimal number to Binary, Octal and Hexadecimal</a:t>
            </a:r>
          </a:p>
        </p:txBody>
      </p:sp>
      <p:sp>
        <p:nvSpPr>
          <p:cNvPr id="29699" name="Content Placeholder 2"/>
          <p:cNvSpPr>
            <a:spLocks noGrp="1"/>
          </p:cNvSpPr>
          <p:nvPr>
            <p:ph idx="1"/>
          </p:nvPr>
        </p:nvSpPr>
        <p:spPr/>
        <p:txBody>
          <a:bodyPr>
            <a:normAutofit fontScale="92500" lnSpcReduction="20000"/>
          </a:bodyPr>
          <a:lstStyle/>
          <a:p>
            <a:pPr>
              <a:lnSpc>
                <a:spcPct val="150000"/>
              </a:lnSpc>
              <a:buNone/>
            </a:pPr>
            <a:r>
              <a:rPr lang="en-US" b="1" dirty="0" smtClean="0">
                <a:latin typeface="+mj-lt"/>
                <a:cs typeface="Times New Roman" pitchFamily="18" charset="0"/>
              </a:rPr>
              <a:t>Technique</a:t>
            </a:r>
          </a:p>
          <a:p>
            <a:pPr>
              <a:lnSpc>
                <a:spcPct val="150000"/>
              </a:lnSpc>
              <a:buNone/>
            </a:pPr>
            <a:r>
              <a:rPr lang="en-US" sz="2800" dirty="0" smtClean="0">
                <a:latin typeface="+mj-lt"/>
                <a:cs typeface="Times New Roman" pitchFamily="18" charset="0"/>
              </a:rPr>
              <a:t>-	</a:t>
            </a:r>
            <a:r>
              <a:rPr lang="en-US" sz="3000" dirty="0" smtClean="0">
                <a:cs typeface="Times New Roman" pitchFamily="18" charset="0"/>
              </a:rPr>
              <a:t>Multiply the decimal fraction by the base you want to convert that number</a:t>
            </a:r>
          </a:p>
          <a:p>
            <a:pPr>
              <a:lnSpc>
                <a:spcPct val="150000"/>
              </a:lnSpc>
              <a:buNone/>
            </a:pPr>
            <a:r>
              <a:rPr lang="en-US" sz="3000" dirty="0" smtClean="0">
                <a:cs typeface="Times New Roman" pitchFamily="18" charset="0"/>
              </a:rPr>
              <a:t>-	</a:t>
            </a:r>
            <a:r>
              <a:rPr lang="en-US" sz="3000" dirty="0" smtClean="0"/>
              <a:t> Keep the integer in the product as it is and multiply the new fraction in the product. Continue the process and read the integers in the products from top to bottom.</a:t>
            </a:r>
            <a:endParaRPr lang="en-US" sz="3000" dirty="0" smtClean="0">
              <a:cs typeface="Times New Roman" pitchFamily="18" charset="0"/>
            </a:endParaRPr>
          </a:p>
          <a:p>
            <a:endParaRPr lang="en-US" sz="3600" dirty="0" smtClean="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609600" y="1981200"/>
            <a:ext cx="7772400" cy="762000"/>
          </a:xfrm>
        </p:spPr>
        <p:txBody>
          <a:bodyPr/>
          <a:lstStyle/>
          <a:p>
            <a:r>
              <a:rPr lang="en-GB" sz="2400" smtClean="0">
                <a:latin typeface="Courier New" pitchFamily="49" charset="0"/>
                <a:cs typeface="Times New Roman" pitchFamily="18" charset="0"/>
              </a:rPr>
              <a:t>0.81</a:t>
            </a:r>
            <a:r>
              <a:rPr lang="en-GB" sz="2400" baseline="-25000" smtClean="0">
                <a:latin typeface="Courier New" pitchFamily="49" charset="0"/>
                <a:cs typeface="Times New Roman" pitchFamily="18" charset="0"/>
              </a:rPr>
              <a:t>10</a:t>
            </a:r>
            <a:r>
              <a:rPr lang="en-GB" sz="2400" smtClean="0">
                <a:latin typeface="Courier New" pitchFamily="49" charset="0"/>
                <a:cs typeface="Times New Roman" pitchFamily="18" charset="0"/>
              </a:rPr>
              <a:t> </a:t>
            </a:r>
            <a:r>
              <a:rPr lang="en-GB" sz="2400" smtClean="0">
                <a:latin typeface="Courier New" pitchFamily="49" charset="0"/>
                <a:cs typeface="Times New Roman" pitchFamily="18" charset="0"/>
                <a:sym typeface="Wingdings" pitchFamily="2" charset="2"/>
              </a:rPr>
              <a:t> binary???</a:t>
            </a:r>
            <a:endParaRPr lang="en-GB" sz="2400" smtClean="0">
              <a:latin typeface="Courier New" pitchFamily="49" charset="0"/>
              <a:cs typeface="Times New Roman" pitchFamily="18" charset="0"/>
            </a:endParaRPr>
          </a:p>
        </p:txBody>
      </p:sp>
      <p:sp>
        <p:nvSpPr>
          <p:cNvPr id="68611" name="Rectangle 3"/>
          <p:cNvSpPr>
            <a:spLocks noGrp="1" noChangeArrowheads="1"/>
          </p:cNvSpPr>
          <p:nvPr>
            <p:ph type="body" idx="1"/>
          </p:nvPr>
        </p:nvSpPr>
        <p:spPr>
          <a:xfrm>
            <a:off x="685800" y="2971800"/>
            <a:ext cx="8001000" cy="4495800"/>
          </a:xfrm>
        </p:spPr>
        <p:txBody>
          <a:bodyPr/>
          <a:lstStyle/>
          <a:p>
            <a:pPr>
              <a:buFontTx/>
              <a:buNone/>
              <a:tabLst>
                <a:tab pos="1371600" algn="l"/>
              </a:tabLst>
            </a:pPr>
            <a:r>
              <a:rPr lang="en-GB" sz="2800" dirty="0" smtClean="0">
                <a:solidFill>
                  <a:schemeClr val="tx2"/>
                </a:solidFill>
                <a:latin typeface="Courier New" pitchFamily="49" charset="0"/>
                <a:cs typeface="Times New Roman" pitchFamily="18" charset="0"/>
              </a:rPr>
              <a:t>0.81</a:t>
            </a:r>
            <a:r>
              <a:rPr lang="en-GB" sz="2800" baseline="-30000" dirty="0" smtClean="0">
                <a:solidFill>
                  <a:schemeClr val="tx2"/>
                </a:solidFill>
                <a:latin typeface="Courier New" pitchFamily="49" charset="0"/>
                <a:cs typeface="Times New Roman" pitchFamily="18" charset="0"/>
              </a:rPr>
              <a:t>10</a:t>
            </a:r>
            <a:r>
              <a:rPr lang="en-GB" sz="2800" dirty="0" smtClean="0">
                <a:latin typeface="Courier New" pitchFamily="49" charset="0"/>
                <a:cs typeface="Times New Roman" pitchFamily="18" charset="0"/>
              </a:rPr>
              <a:t> =&gt; 0.81 x 2 = </a:t>
            </a:r>
            <a:r>
              <a:rPr lang="en-GB" sz="2800" dirty="0" smtClean="0">
                <a:solidFill>
                  <a:schemeClr val="accent1"/>
                </a:solidFill>
                <a:latin typeface="Courier New" pitchFamily="49" charset="0"/>
                <a:cs typeface="Times New Roman" pitchFamily="18" charset="0"/>
              </a:rPr>
              <a:t>1</a:t>
            </a:r>
            <a:r>
              <a:rPr lang="en-GB" sz="2800" dirty="0" smtClean="0">
                <a:latin typeface="Courier New" pitchFamily="49" charset="0"/>
                <a:cs typeface="Times New Roman" pitchFamily="18" charset="0"/>
              </a:rPr>
              <a:t>.62</a:t>
            </a:r>
          </a:p>
          <a:p>
            <a:pPr>
              <a:buFontTx/>
              <a:buNone/>
              <a:tabLst>
                <a:tab pos="1371600" algn="l"/>
              </a:tabLst>
            </a:pPr>
            <a:r>
              <a:rPr lang="en-GB" sz="2800" dirty="0" smtClean="0">
                <a:latin typeface="Courier New" pitchFamily="49" charset="0"/>
                <a:cs typeface="Times New Roman" pitchFamily="18" charset="0"/>
              </a:rPr>
              <a:t>		   0.62 x 2 = </a:t>
            </a:r>
            <a:r>
              <a:rPr lang="en-GB" sz="2800" dirty="0" smtClean="0">
                <a:solidFill>
                  <a:schemeClr val="tx2"/>
                </a:solidFill>
                <a:latin typeface="Courier New" pitchFamily="49" charset="0"/>
                <a:cs typeface="Times New Roman" pitchFamily="18" charset="0"/>
              </a:rPr>
              <a:t>1</a:t>
            </a:r>
            <a:r>
              <a:rPr lang="en-GB" sz="2800" dirty="0" smtClean="0">
                <a:latin typeface="Courier New" pitchFamily="49" charset="0"/>
                <a:cs typeface="Times New Roman" pitchFamily="18" charset="0"/>
              </a:rPr>
              <a:t>.24			 </a:t>
            </a:r>
          </a:p>
          <a:p>
            <a:pPr>
              <a:buFontTx/>
              <a:buNone/>
              <a:tabLst>
                <a:tab pos="1371600" algn="l"/>
              </a:tabLst>
            </a:pPr>
            <a:r>
              <a:rPr lang="en-GB" sz="2800" dirty="0" smtClean="0">
                <a:latin typeface="Courier New" pitchFamily="49" charset="0"/>
                <a:cs typeface="Times New Roman" pitchFamily="18" charset="0"/>
              </a:rPr>
              <a:t>			 0.24 x 2 = </a:t>
            </a:r>
            <a:r>
              <a:rPr lang="en-GB" sz="2800" dirty="0" smtClean="0">
                <a:solidFill>
                  <a:schemeClr val="tx2"/>
                </a:solidFill>
                <a:latin typeface="Courier New" pitchFamily="49" charset="0"/>
                <a:cs typeface="Times New Roman" pitchFamily="18" charset="0"/>
              </a:rPr>
              <a:t>0</a:t>
            </a:r>
            <a:r>
              <a:rPr lang="en-GB" sz="2800" dirty="0" smtClean="0">
                <a:latin typeface="Courier New" pitchFamily="49" charset="0"/>
                <a:cs typeface="Times New Roman" pitchFamily="18" charset="0"/>
              </a:rPr>
              <a:t>.48			  		 0.48 x 2 = </a:t>
            </a:r>
            <a:r>
              <a:rPr lang="en-GB" sz="2800" dirty="0" smtClean="0">
                <a:solidFill>
                  <a:schemeClr val="tx2"/>
                </a:solidFill>
                <a:latin typeface="Courier New" pitchFamily="49" charset="0"/>
                <a:cs typeface="Times New Roman" pitchFamily="18" charset="0"/>
              </a:rPr>
              <a:t>0</a:t>
            </a:r>
            <a:r>
              <a:rPr lang="en-GB" sz="2800" dirty="0" smtClean="0">
                <a:latin typeface="Courier New" pitchFamily="49" charset="0"/>
                <a:cs typeface="Times New Roman" pitchFamily="18" charset="0"/>
              </a:rPr>
              <a:t>.96</a:t>
            </a:r>
          </a:p>
          <a:p>
            <a:pPr>
              <a:buFontTx/>
              <a:buNone/>
              <a:tabLst>
                <a:tab pos="1371600" algn="l"/>
              </a:tabLst>
            </a:pPr>
            <a:r>
              <a:rPr lang="en-GB" sz="2800" dirty="0" smtClean="0">
                <a:latin typeface="Courier New" pitchFamily="49" charset="0"/>
                <a:cs typeface="Times New Roman" pitchFamily="18" charset="0"/>
              </a:rPr>
              <a:t>		   0.96 x 2 = </a:t>
            </a:r>
            <a:r>
              <a:rPr lang="en-GB" sz="2800" dirty="0" smtClean="0">
                <a:solidFill>
                  <a:schemeClr val="tx2"/>
                </a:solidFill>
                <a:latin typeface="Courier New" pitchFamily="49" charset="0"/>
                <a:cs typeface="Times New Roman" pitchFamily="18" charset="0"/>
              </a:rPr>
              <a:t>1</a:t>
            </a:r>
            <a:r>
              <a:rPr lang="en-GB" sz="2800" dirty="0" smtClean="0">
                <a:latin typeface="Courier New" pitchFamily="49" charset="0"/>
                <a:cs typeface="Times New Roman" pitchFamily="18" charset="0"/>
              </a:rPr>
              <a:t>.92</a:t>
            </a:r>
          </a:p>
          <a:p>
            <a:pPr>
              <a:buFontTx/>
              <a:buNone/>
              <a:tabLst>
                <a:tab pos="1371600" algn="l"/>
              </a:tabLst>
            </a:pPr>
            <a:r>
              <a:rPr lang="en-GB" sz="2800" dirty="0" smtClean="0">
                <a:latin typeface="Courier New" pitchFamily="49" charset="0"/>
                <a:cs typeface="Times New Roman" pitchFamily="18" charset="0"/>
              </a:rPr>
              <a:t>		   0.92 x 2 = </a:t>
            </a:r>
            <a:r>
              <a:rPr lang="en-GB" sz="2800" dirty="0" smtClean="0">
                <a:solidFill>
                  <a:schemeClr val="tx2"/>
                </a:solidFill>
                <a:latin typeface="Courier New" pitchFamily="49" charset="0"/>
                <a:cs typeface="Times New Roman" pitchFamily="18" charset="0"/>
              </a:rPr>
              <a:t>1</a:t>
            </a:r>
            <a:r>
              <a:rPr lang="en-GB" sz="2800" dirty="0" smtClean="0">
                <a:latin typeface="Courier New" pitchFamily="49" charset="0"/>
                <a:cs typeface="Times New Roman" pitchFamily="18" charset="0"/>
              </a:rPr>
              <a:t>.84</a:t>
            </a:r>
          </a:p>
          <a:p>
            <a:pPr>
              <a:buFontTx/>
              <a:buNone/>
              <a:tabLst>
                <a:tab pos="1371600" algn="l"/>
              </a:tabLst>
            </a:pPr>
            <a:r>
              <a:rPr lang="en-GB" sz="2800" dirty="0" smtClean="0">
                <a:latin typeface="Courier New" pitchFamily="49" charset="0"/>
                <a:cs typeface="Times New Roman" pitchFamily="18" charset="0"/>
              </a:rPr>
              <a:t> 	= </a:t>
            </a:r>
            <a:r>
              <a:rPr lang="en-GB" sz="2800" dirty="0" smtClean="0">
                <a:solidFill>
                  <a:schemeClr val="tx2"/>
                </a:solidFill>
                <a:latin typeface="Courier New" pitchFamily="49" charset="0"/>
                <a:cs typeface="Times New Roman" pitchFamily="18" charset="0"/>
              </a:rPr>
              <a:t>0.110011</a:t>
            </a:r>
            <a:r>
              <a:rPr lang="en-GB" sz="2800" baseline="-30000" dirty="0" smtClean="0">
                <a:solidFill>
                  <a:schemeClr val="tx2"/>
                </a:solidFill>
                <a:latin typeface="Courier New" pitchFamily="49" charset="0"/>
                <a:cs typeface="Times New Roman" pitchFamily="18" charset="0"/>
              </a:rPr>
              <a:t>2</a:t>
            </a:r>
            <a:r>
              <a:rPr lang="en-GB" sz="2800" dirty="0" smtClean="0">
                <a:latin typeface="Courier New" pitchFamily="49" charset="0"/>
                <a:cs typeface="Times New Roman" pitchFamily="18" charset="0"/>
              </a:rPr>
              <a:t> (approximately)</a:t>
            </a:r>
          </a:p>
          <a:p>
            <a:pPr>
              <a:buFontTx/>
              <a:buNone/>
              <a:tabLst>
                <a:tab pos="1371600" algn="l"/>
              </a:tabLst>
            </a:pPr>
            <a:endParaRPr lang="en-GB" sz="2800" dirty="0" smtClean="0">
              <a:latin typeface="Courier New" pitchFamily="49" charset="0"/>
              <a:cs typeface="Times New Roman" pitchFamily="18" charset="0"/>
            </a:endParaRPr>
          </a:p>
        </p:txBody>
      </p:sp>
      <p:grpSp>
        <p:nvGrpSpPr>
          <p:cNvPr id="2" name="Group 18"/>
          <p:cNvGrpSpPr>
            <a:grpSpLocks/>
          </p:cNvGrpSpPr>
          <p:nvPr/>
        </p:nvGrpSpPr>
        <p:grpSpPr bwMode="auto">
          <a:xfrm>
            <a:off x="6172200" y="2590800"/>
            <a:ext cx="2286000" cy="3048000"/>
            <a:chOff x="3888" y="624"/>
            <a:chExt cx="1440" cy="1920"/>
          </a:xfrm>
        </p:grpSpPr>
        <p:sp>
          <p:nvSpPr>
            <p:cNvPr id="30726" name="Text Box 4"/>
            <p:cNvSpPr txBox="1">
              <a:spLocks noChangeArrowheads="1"/>
            </p:cNvSpPr>
            <p:nvPr/>
          </p:nvSpPr>
          <p:spPr bwMode="auto">
            <a:xfrm>
              <a:off x="4176" y="624"/>
              <a:ext cx="1152" cy="327"/>
            </a:xfrm>
            <a:prstGeom prst="rect">
              <a:avLst/>
            </a:prstGeom>
            <a:noFill/>
            <a:ln w="9525">
              <a:noFill/>
              <a:miter lim="800000"/>
              <a:headEnd/>
              <a:tailEnd/>
            </a:ln>
          </p:spPr>
          <p:txBody>
            <a:bodyPr>
              <a:spAutoFit/>
            </a:bodyPr>
            <a:lstStyle/>
            <a:p>
              <a:r>
                <a:rPr lang="en-GB" sz="2800">
                  <a:solidFill>
                    <a:schemeClr val="tx2"/>
                  </a:solidFill>
                  <a:latin typeface="Century Gothic" pitchFamily="34" charset="0"/>
                </a:rPr>
                <a:t>0.110011</a:t>
              </a:r>
              <a:r>
                <a:rPr lang="en-GB" sz="2800" baseline="-25000">
                  <a:solidFill>
                    <a:schemeClr val="tx2"/>
                  </a:solidFill>
                  <a:latin typeface="Century Gothic" pitchFamily="34" charset="0"/>
                </a:rPr>
                <a:t>2</a:t>
              </a:r>
            </a:p>
          </p:txBody>
        </p:sp>
        <p:sp>
          <p:nvSpPr>
            <p:cNvPr id="30727" name="Line 6"/>
            <p:cNvSpPr>
              <a:spLocks noChangeShapeType="1"/>
            </p:cNvSpPr>
            <p:nvPr/>
          </p:nvSpPr>
          <p:spPr bwMode="auto">
            <a:xfrm>
              <a:off x="3888" y="1056"/>
              <a:ext cx="576" cy="0"/>
            </a:xfrm>
            <a:prstGeom prst="line">
              <a:avLst/>
            </a:prstGeom>
            <a:noFill/>
            <a:ln w="9525">
              <a:solidFill>
                <a:schemeClr val="tx1"/>
              </a:solidFill>
              <a:round/>
              <a:headEnd/>
              <a:tailEnd/>
            </a:ln>
          </p:spPr>
          <p:txBody>
            <a:bodyPr wrap="none"/>
            <a:lstStyle/>
            <a:p>
              <a:endParaRPr lang="en-US"/>
            </a:p>
          </p:txBody>
        </p:sp>
        <p:sp>
          <p:nvSpPr>
            <p:cNvPr id="30728" name="Line 7"/>
            <p:cNvSpPr>
              <a:spLocks noChangeShapeType="1"/>
            </p:cNvSpPr>
            <p:nvPr/>
          </p:nvSpPr>
          <p:spPr bwMode="auto">
            <a:xfrm flipV="1">
              <a:off x="4464" y="912"/>
              <a:ext cx="0" cy="144"/>
            </a:xfrm>
            <a:prstGeom prst="line">
              <a:avLst/>
            </a:prstGeom>
            <a:noFill/>
            <a:ln w="9525">
              <a:solidFill>
                <a:schemeClr val="tx1"/>
              </a:solidFill>
              <a:round/>
              <a:headEnd/>
              <a:tailEnd type="triangle" w="med" len="med"/>
            </a:ln>
          </p:spPr>
          <p:txBody>
            <a:bodyPr wrap="none"/>
            <a:lstStyle/>
            <a:p>
              <a:endParaRPr lang="en-US"/>
            </a:p>
          </p:txBody>
        </p:sp>
        <p:sp>
          <p:nvSpPr>
            <p:cNvPr id="30729" name="Line 8"/>
            <p:cNvSpPr>
              <a:spLocks noChangeShapeType="1"/>
            </p:cNvSpPr>
            <p:nvPr/>
          </p:nvSpPr>
          <p:spPr bwMode="auto">
            <a:xfrm>
              <a:off x="3936" y="1344"/>
              <a:ext cx="672" cy="0"/>
            </a:xfrm>
            <a:prstGeom prst="line">
              <a:avLst/>
            </a:prstGeom>
            <a:noFill/>
            <a:ln w="9525">
              <a:solidFill>
                <a:schemeClr val="tx1"/>
              </a:solidFill>
              <a:round/>
              <a:headEnd/>
              <a:tailEnd/>
            </a:ln>
          </p:spPr>
          <p:txBody>
            <a:bodyPr wrap="none"/>
            <a:lstStyle/>
            <a:p>
              <a:endParaRPr lang="en-US"/>
            </a:p>
          </p:txBody>
        </p:sp>
        <p:sp>
          <p:nvSpPr>
            <p:cNvPr id="30730" name="Line 9"/>
            <p:cNvSpPr>
              <a:spLocks noChangeShapeType="1"/>
            </p:cNvSpPr>
            <p:nvPr/>
          </p:nvSpPr>
          <p:spPr bwMode="auto">
            <a:xfrm flipV="1">
              <a:off x="4608" y="960"/>
              <a:ext cx="0" cy="384"/>
            </a:xfrm>
            <a:prstGeom prst="line">
              <a:avLst/>
            </a:prstGeom>
            <a:noFill/>
            <a:ln w="9525">
              <a:solidFill>
                <a:schemeClr val="tx1"/>
              </a:solidFill>
              <a:round/>
              <a:headEnd/>
              <a:tailEnd type="triangle" w="med" len="med"/>
            </a:ln>
          </p:spPr>
          <p:txBody>
            <a:bodyPr wrap="none"/>
            <a:lstStyle/>
            <a:p>
              <a:endParaRPr lang="en-US"/>
            </a:p>
          </p:txBody>
        </p:sp>
        <p:sp>
          <p:nvSpPr>
            <p:cNvPr id="30731" name="Line 10"/>
            <p:cNvSpPr>
              <a:spLocks noChangeShapeType="1"/>
            </p:cNvSpPr>
            <p:nvPr/>
          </p:nvSpPr>
          <p:spPr bwMode="auto">
            <a:xfrm>
              <a:off x="3984" y="1680"/>
              <a:ext cx="768" cy="0"/>
            </a:xfrm>
            <a:prstGeom prst="line">
              <a:avLst/>
            </a:prstGeom>
            <a:noFill/>
            <a:ln w="9525">
              <a:solidFill>
                <a:schemeClr val="tx1"/>
              </a:solidFill>
              <a:round/>
              <a:headEnd/>
              <a:tailEnd/>
            </a:ln>
          </p:spPr>
          <p:txBody>
            <a:bodyPr wrap="none"/>
            <a:lstStyle/>
            <a:p>
              <a:endParaRPr lang="en-US"/>
            </a:p>
          </p:txBody>
        </p:sp>
        <p:sp>
          <p:nvSpPr>
            <p:cNvPr id="30732" name="Line 11"/>
            <p:cNvSpPr>
              <a:spLocks noChangeShapeType="1"/>
            </p:cNvSpPr>
            <p:nvPr/>
          </p:nvSpPr>
          <p:spPr bwMode="auto">
            <a:xfrm flipV="1">
              <a:off x="4752" y="960"/>
              <a:ext cx="0" cy="720"/>
            </a:xfrm>
            <a:prstGeom prst="line">
              <a:avLst/>
            </a:prstGeom>
            <a:noFill/>
            <a:ln w="9525">
              <a:solidFill>
                <a:schemeClr val="tx1"/>
              </a:solidFill>
              <a:round/>
              <a:headEnd/>
              <a:tailEnd type="triangle" w="med" len="med"/>
            </a:ln>
          </p:spPr>
          <p:txBody>
            <a:bodyPr wrap="none"/>
            <a:lstStyle/>
            <a:p>
              <a:endParaRPr lang="en-US"/>
            </a:p>
          </p:txBody>
        </p:sp>
        <p:sp>
          <p:nvSpPr>
            <p:cNvPr id="30733" name="Line 12"/>
            <p:cNvSpPr>
              <a:spLocks noChangeShapeType="1"/>
            </p:cNvSpPr>
            <p:nvPr/>
          </p:nvSpPr>
          <p:spPr bwMode="auto">
            <a:xfrm>
              <a:off x="3984" y="1920"/>
              <a:ext cx="912" cy="0"/>
            </a:xfrm>
            <a:prstGeom prst="line">
              <a:avLst/>
            </a:prstGeom>
            <a:noFill/>
            <a:ln w="9525">
              <a:solidFill>
                <a:schemeClr val="tx1"/>
              </a:solidFill>
              <a:round/>
              <a:headEnd/>
              <a:tailEnd/>
            </a:ln>
          </p:spPr>
          <p:txBody>
            <a:bodyPr wrap="none"/>
            <a:lstStyle/>
            <a:p>
              <a:endParaRPr lang="en-US"/>
            </a:p>
          </p:txBody>
        </p:sp>
        <p:sp>
          <p:nvSpPr>
            <p:cNvPr id="30734" name="Line 13"/>
            <p:cNvSpPr>
              <a:spLocks noChangeShapeType="1"/>
            </p:cNvSpPr>
            <p:nvPr/>
          </p:nvSpPr>
          <p:spPr bwMode="auto">
            <a:xfrm flipV="1">
              <a:off x="4896" y="960"/>
              <a:ext cx="0" cy="960"/>
            </a:xfrm>
            <a:prstGeom prst="line">
              <a:avLst/>
            </a:prstGeom>
            <a:noFill/>
            <a:ln w="9525">
              <a:solidFill>
                <a:schemeClr val="tx1"/>
              </a:solidFill>
              <a:round/>
              <a:headEnd/>
              <a:tailEnd type="triangle" w="med" len="med"/>
            </a:ln>
          </p:spPr>
          <p:txBody>
            <a:bodyPr wrap="none"/>
            <a:lstStyle/>
            <a:p>
              <a:endParaRPr lang="en-US"/>
            </a:p>
          </p:txBody>
        </p:sp>
        <p:sp>
          <p:nvSpPr>
            <p:cNvPr id="30735" name="Line 14"/>
            <p:cNvSpPr>
              <a:spLocks noChangeShapeType="1"/>
            </p:cNvSpPr>
            <p:nvPr/>
          </p:nvSpPr>
          <p:spPr bwMode="auto">
            <a:xfrm>
              <a:off x="3936" y="2304"/>
              <a:ext cx="1104" cy="0"/>
            </a:xfrm>
            <a:prstGeom prst="line">
              <a:avLst/>
            </a:prstGeom>
            <a:noFill/>
            <a:ln w="9525">
              <a:solidFill>
                <a:schemeClr val="tx1"/>
              </a:solidFill>
              <a:round/>
              <a:headEnd/>
              <a:tailEnd/>
            </a:ln>
          </p:spPr>
          <p:txBody>
            <a:bodyPr wrap="none"/>
            <a:lstStyle/>
            <a:p>
              <a:endParaRPr lang="en-US"/>
            </a:p>
          </p:txBody>
        </p:sp>
        <p:sp>
          <p:nvSpPr>
            <p:cNvPr id="30736" name="Line 15"/>
            <p:cNvSpPr>
              <a:spLocks noChangeShapeType="1"/>
            </p:cNvSpPr>
            <p:nvPr/>
          </p:nvSpPr>
          <p:spPr bwMode="auto">
            <a:xfrm flipV="1">
              <a:off x="5040" y="960"/>
              <a:ext cx="0" cy="1344"/>
            </a:xfrm>
            <a:prstGeom prst="line">
              <a:avLst/>
            </a:prstGeom>
            <a:noFill/>
            <a:ln w="9525">
              <a:solidFill>
                <a:schemeClr val="tx1"/>
              </a:solidFill>
              <a:round/>
              <a:headEnd/>
              <a:tailEnd type="triangle" w="med" len="med"/>
            </a:ln>
          </p:spPr>
          <p:txBody>
            <a:bodyPr wrap="none"/>
            <a:lstStyle/>
            <a:p>
              <a:endParaRPr lang="en-US"/>
            </a:p>
          </p:txBody>
        </p:sp>
        <p:sp>
          <p:nvSpPr>
            <p:cNvPr id="30737" name="Line 16"/>
            <p:cNvSpPr>
              <a:spLocks noChangeShapeType="1"/>
            </p:cNvSpPr>
            <p:nvPr/>
          </p:nvSpPr>
          <p:spPr bwMode="auto">
            <a:xfrm>
              <a:off x="3936" y="2544"/>
              <a:ext cx="1200" cy="0"/>
            </a:xfrm>
            <a:prstGeom prst="line">
              <a:avLst/>
            </a:prstGeom>
            <a:noFill/>
            <a:ln w="9525">
              <a:solidFill>
                <a:schemeClr val="tx1"/>
              </a:solidFill>
              <a:round/>
              <a:headEnd/>
              <a:tailEnd/>
            </a:ln>
          </p:spPr>
          <p:txBody>
            <a:bodyPr wrap="none"/>
            <a:lstStyle/>
            <a:p>
              <a:endParaRPr lang="en-US"/>
            </a:p>
          </p:txBody>
        </p:sp>
        <p:sp>
          <p:nvSpPr>
            <p:cNvPr id="30738" name="Line 17"/>
            <p:cNvSpPr>
              <a:spLocks noChangeShapeType="1"/>
            </p:cNvSpPr>
            <p:nvPr/>
          </p:nvSpPr>
          <p:spPr bwMode="auto">
            <a:xfrm flipV="1">
              <a:off x="5136" y="1008"/>
              <a:ext cx="0" cy="1536"/>
            </a:xfrm>
            <a:prstGeom prst="line">
              <a:avLst/>
            </a:prstGeom>
            <a:noFill/>
            <a:ln w="9525">
              <a:solidFill>
                <a:schemeClr val="tx1"/>
              </a:solidFill>
              <a:round/>
              <a:headEnd/>
              <a:tailEnd type="triangle" w="med" len="med"/>
            </a:ln>
          </p:spPr>
          <p:txBody>
            <a:bodyPr wrap="none"/>
            <a:lstStyle/>
            <a:p>
              <a:endParaRPr lang="en-US"/>
            </a:p>
          </p:txBody>
        </p:sp>
      </p:grpSp>
      <p:sp>
        <p:nvSpPr>
          <p:cNvPr id="30725" name="Title 1"/>
          <p:cNvSpPr txBox="1">
            <a:spLocks/>
          </p:cNvSpPr>
          <p:nvPr/>
        </p:nvSpPr>
        <p:spPr bwMode="auto">
          <a:xfrm>
            <a:off x="457200" y="609600"/>
            <a:ext cx="8229600" cy="1143000"/>
          </a:xfrm>
          <a:prstGeom prst="rect">
            <a:avLst/>
          </a:prstGeom>
          <a:noFill/>
          <a:ln w="9525">
            <a:noFill/>
            <a:miter lim="800000"/>
            <a:headEnd/>
            <a:tailEnd/>
          </a:ln>
        </p:spPr>
        <p:txBody>
          <a:bodyPr anchor="ctr"/>
          <a:lstStyle/>
          <a:p>
            <a:pPr algn="ctr" eaLnBrk="1" hangingPunct="1"/>
            <a:r>
              <a:rPr lang="en-US" sz="3600" b="1" dirty="0">
                <a:latin typeface="Courier New" pitchFamily="49" charset="0"/>
                <a:cs typeface="Times New Roman" pitchFamily="18" charset="0"/>
              </a:rPr>
              <a:t>Conversion of Fractional Decimals to Binary</a:t>
            </a:r>
          </a:p>
        </p:txBody>
      </p:sp>
      <p:sp>
        <p:nvSpPr>
          <p:cNvPr id="19" name="TextBox 18"/>
          <p:cNvSpPr txBox="1"/>
          <p:nvPr/>
        </p:nvSpPr>
        <p:spPr>
          <a:xfrm>
            <a:off x="5105400" y="2971800"/>
            <a:ext cx="228600" cy="2971800"/>
          </a:xfrm>
          <a:prstGeom prst="rect">
            <a:avLst/>
          </a:prstGeom>
          <a:solidFill>
            <a:srgbClr val="FFFF00">
              <a:alpha val="26000"/>
            </a:srgbClr>
          </a:solidFill>
        </p:spPr>
        <p:txBody>
          <a:bodyPr wrap="square" rtlCol="0">
            <a:no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wd">
                                    <p:tmAbs val="300"/>
                                  </p:iterate>
                                  <p:childTnLst>
                                    <p:set>
                                      <p:cBhvr>
                                        <p:cTn id="6" dur="1" fill="hold">
                                          <p:stCondLst>
                                            <p:cond delay="299"/>
                                          </p:stCondLst>
                                        </p:cTn>
                                        <p:tgtEl>
                                          <p:spTgt spid="686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iterate type="wd">
                                    <p:tmAbs val="300"/>
                                  </p:iterate>
                                  <p:childTnLst>
                                    <p:set>
                                      <p:cBhvr>
                                        <p:cTn id="10" dur="1" fill="hold">
                                          <p:stCondLst>
                                            <p:cond delay="299"/>
                                          </p:stCondLst>
                                        </p:cTn>
                                        <p:tgtEl>
                                          <p:spTgt spid="686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iterate type="wd">
                                    <p:tmAbs val="300"/>
                                  </p:iterate>
                                  <p:childTnLst>
                                    <p:set>
                                      <p:cBhvr>
                                        <p:cTn id="14" dur="1" fill="hold">
                                          <p:stCondLst>
                                            <p:cond delay="299"/>
                                          </p:stCondLst>
                                        </p:cTn>
                                        <p:tgtEl>
                                          <p:spTgt spid="6861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iterate type="wd">
                                    <p:tmAbs val="300"/>
                                  </p:iterate>
                                  <p:childTnLst>
                                    <p:set>
                                      <p:cBhvr>
                                        <p:cTn id="18" dur="1" fill="hold">
                                          <p:stCondLst>
                                            <p:cond delay="299"/>
                                          </p:stCondLst>
                                        </p:cTn>
                                        <p:tgtEl>
                                          <p:spTgt spid="68611">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iterate type="wd">
                                    <p:tmAbs val="300"/>
                                  </p:iterate>
                                  <p:childTnLst>
                                    <p:set>
                                      <p:cBhvr>
                                        <p:cTn id="22" dur="1" fill="hold">
                                          <p:stCondLst>
                                            <p:cond delay="299"/>
                                          </p:stCondLst>
                                        </p:cTn>
                                        <p:tgtEl>
                                          <p:spTgt spid="68611">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iterate type="wd">
                                    <p:tmAbs val="300"/>
                                  </p:iterate>
                                  <p:childTnLst>
                                    <p:set>
                                      <p:cBhvr>
                                        <p:cTn id="26" dur="1" fill="hold">
                                          <p:stCondLst>
                                            <p:cond delay="299"/>
                                          </p:stCondLst>
                                        </p:cTn>
                                        <p:tgtEl>
                                          <p:spTgt spid="68611">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838200" y="1905000"/>
            <a:ext cx="7620982" cy="4953000"/>
          </a:xfrm>
          <a:prstGeom prst="rect">
            <a:avLst/>
          </a:prstGeom>
          <a:noFill/>
          <a:ln w="9525">
            <a:noFill/>
            <a:miter lim="800000"/>
            <a:headEnd/>
            <a:tailEnd/>
          </a:ln>
          <a:effectLst/>
        </p:spPr>
      </p:pic>
      <p:sp>
        <p:nvSpPr>
          <p:cNvPr id="5" name="Title 1"/>
          <p:cNvSpPr txBox="1">
            <a:spLocks/>
          </p:cNvSpPr>
          <p:nvPr/>
        </p:nvSpPr>
        <p:spPr bwMode="auto">
          <a:xfrm>
            <a:off x="457200" y="609600"/>
            <a:ext cx="8229600" cy="1143000"/>
          </a:xfrm>
          <a:prstGeom prst="rect">
            <a:avLst/>
          </a:prstGeom>
          <a:noFill/>
          <a:ln w="9525">
            <a:noFill/>
            <a:miter lim="800000"/>
            <a:headEnd/>
            <a:tailEnd/>
          </a:ln>
        </p:spPr>
        <p:txBody>
          <a:bodyPr anchor="ctr"/>
          <a:lstStyle/>
          <a:p>
            <a:pPr algn="ctr" eaLnBrk="1" hangingPunct="1"/>
            <a:r>
              <a:rPr lang="en-US" sz="3600" b="1" dirty="0">
                <a:latin typeface="Courier New" pitchFamily="49" charset="0"/>
                <a:cs typeface="Times New Roman" pitchFamily="18" charset="0"/>
              </a:rPr>
              <a:t>Conversion of Fractional Decimals to Binary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smtClean="0"/>
              <a:t>Conversion of Fractional Decimals to Octal</a:t>
            </a:r>
            <a:endParaRPr lang="en-US" dirty="0"/>
          </a:p>
        </p:txBody>
      </p:sp>
      <p:sp>
        <p:nvSpPr>
          <p:cNvPr id="31747" name="Content Placeholder 2"/>
          <p:cNvSpPr>
            <a:spLocks noGrp="1"/>
          </p:cNvSpPr>
          <p:nvPr>
            <p:ph idx="1"/>
          </p:nvPr>
        </p:nvSpPr>
        <p:spPr>
          <a:xfrm>
            <a:off x="457200" y="1905000"/>
            <a:ext cx="8229600" cy="609600"/>
          </a:xfrm>
          <a:solidFill>
            <a:srgbClr val="92D050"/>
          </a:solidFill>
        </p:spPr>
        <p:txBody>
          <a:bodyPr/>
          <a:lstStyle/>
          <a:p>
            <a:pPr>
              <a:buFont typeface="Arial" charset="0"/>
              <a:buNone/>
            </a:pPr>
            <a:r>
              <a:rPr lang="en-US" smtClean="0"/>
              <a:t>Pair Work: Group, workout  and Present</a:t>
            </a:r>
          </a:p>
        </p:txBody>
      </p:sp>
      <p:sp>
        <p:nvSpPr>
          <p:cNvPr id="5" name="TextBox 4"/>
          <p:cNvSpPr txBox="1"/>
          <p:nvPr/>
        </p:nvSpPr>
        <p:spPr>
          <a:xfrm>
            <a:off x="457200" y="2590800"/>
            <a:ext cx="8229600" cy="2770188"/>
          </a:xfrm>
          <a:prstGeom prst="rect">
            <a:avLst/>
          </a:prstGeom>
          <a:noFill/>
        </p:spPr>
        <p:txBody>
          <a:bodyPr>
            <a:spAutoFit/>
          </a:bodyPr>
          <a:lstStyle/>
          <a:p>
            <a:pPr indent="-342900">
              <a:lnSpc>
                <a:spcPct val="80000"/>
              </a:lnSpc>
              <a:spcBef>
                <a:spcPct val="20000"/>
              </a:spcBef>
              <a:defRPr/>
            </a:pPr>
            <a:r>
              <a:rPr lang="en-US" sz="2500" b="1" dirty="0">
                <a:latin typeface="Courier New" pitchFamily="49" charset="0"/>
                <a:cs typeface="Times New Roman" pitchFamily="18" charset="0"/>
              </a:rPr>
              <a:t>Convert Following Decimals to Octal</a:t>
            </a:r>
          </a:p>
          <a:p>
            <a:pPr indent="-342900">
              <a:lnSpc>
                <a:spcPct val="80000"/>
              </a:lnSpc>
              <a:spcBef>
                <a:spcPct val="20000"/>
              </a:spcBef>
              <a:defRPr/>
            </a:pPr>
            <a:endParaRPr lang="en-US" sz="2500" b="1" dirty="0">
              <a:latin typeface="Courier New" pitchFamily="49" charset="0"/>
              <a:cs typeface="Times New Roman" pitchFamily="18" charset="0"/>
            </a:endParaRPr>
          </a:p>
          <a:p>
            <a:pPr indent="-342900">
              <a:lnSpc>
                <a:spcPct val="80000"/>
              </a:lnSpc>
              <a:spcBef>
                <a:spcPct val="20000"/>
              </a:spcBef>
              <a:defRPr/>
            </a:pPr>
            <a:r>
              <a:rPr lang="en-US" sz="2500" b="1" dirty="0">
                <a:latin typeface="Courier New" pitchFamily="49" charset="0"/>
                <a:cs typeface="Times New Roman" pitchFamily="18" charset="0"/>
              </a:rPr>
              <a:t>Ex1: </a:t>
            </a:r>
            <a:r>
              <a:rPr lang="en-US" sz="2500" b="1" dirty="0" smtClean="0">
                <a:latin typeface="Courier New" pitchFamily="49" charset="0"/>
                <a:cs typeface="Times New Roman" pitchFamily="18" charset="0"/>
              </a:rPr>
              <a:t>0.25</a:t>
            </a:r>
            <a:endParaRPr lang="en-US" sz="2500" b="1" dirty="0">
              <a:latin typeface="Courier New" pitchFamily="49" charset="0"/>
              <a:cs typeface="Times New Roman" pitchFamily="18" charset="0"/>
            </a:endParaRPr>
          </a:p>
          <a:p>
            <a:pPr indent="-342900">
              <a:lnSpc>
                <a:spcPct val="80000"/>
              </a:lnSpc>
              <a:spcBef>
                <a:spcPct val="20000"/>
              </a:spcBef>
              <a:defRPr/>
            </a:pPr>
            <a:r>
              <a:rPr lang="en-US" sz="2500" b="1" dirty="0">
                <a:latin typeface="Courier New" pitchFamily="49" charset="0"/>
                <a:cs typeface="Times New Roman" pitchFamily="18" charset="0"/>
              </a:rPr>
              <a:t>Ex2: 0.34</a:t>
            </a:r>
          </a:p>
          <a:p>
            <a:pPr indent="-342900">
              <a:lnSpc>
                <a:spcPct val="80000"/>
              </a:lnSpc>
              <a:spcBef>
                <a:spcPct val="20000"/>
              </a:spcBef>
              <a:defRPr/>
            </a:pPr>
            <a:r>
              <a:rPr lang="en-US" sz="2500" b="1" dirty="0">
                <a:latin typeface="Courier New" pitchFamily="49" charset="0"/>
                <a:cs typeface="Times New Roman" pitchFamily="18" charset="0"/>
              </a:rPr>
              <a:t>Ex3: 0.44</a:t>
            </a:r>
          </a:p>
          <a:p>
            <a:pPr>
              <a:defRPr/>
            </a:pPr>
            <a:endParaRPr lang="en-US" dirty="0">
              <a:latin typeface="Arial" panose="020B0604020202020204" pitchFamily="34" charset="0"/>
            </a:endParaRPr>
          </a:p>
          <a:p>
            <a:pPr>
              <a:defRPr/>
            </a:pPr>
            <a:endParaRPr lang="en-US" dirty="0">
              <a:latin typeface="Arial" panose="020B0604020202020204" pitchFamily="34" charset="0"/>
            </a:endParaRPr>
          </a:p>
          <a:p>
            <a:pPr>
              <a:defRPr/>
            </a:pPr>
            <a:endParaRPr lang="en-US"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defRPr/>
            </a:pPr>
            <a:r>
              <a:rPr lang="en-US" dirty="0" smtClean="0"/>
              <a:t>Conversion of Fractional Decimal to Hexadecimal</a:t>
            </a:r>
            <a:endParaRPr lang="en-US" dirty="0"/>
          </a:p>
        </p:txBody>
      </p:sp>
      <p:sp>
        <p:nvSpPr>
          <p:cNvPr id="32771" name="Content Placeholder 2"/>
          <p:cNvSpPr>
            <a:spLocks noGrp="1"/>
          </p:cNvSpPr>
          <p:nvPr>
            <p:ph idx="1"/>
          </p:nvPr>
        </p:nvSpPr>
        <p:spPr>
          <a:xfrm>
            <a:off x="457200" y="1905000"/>
            <a:ext cx="8229600" cy="609600"/>
          </a:xfrm>
          <a:solidFill>
            <a:srgbClr val="92D050"/>
          </a:solidFill>
        </p:spPr>
        <p:txBody>
          <a:bodyPr/>
          <a:lstStyle/>
          <a:p>
            <a:pPr>
              <a:buFont typeface="Arial" charset="0"/>
              <a:buNone/>
            </a:pPr>
            <a:r>
              <a:rPr lang="en-US" smtClean="0"/>
              <a:t>Pair Work: Group, workout  and Present</a:t>
            </a:r>
          </a:p>
        </p:txBody>
      </p:sp>
      <p:sp>
        <p:nvSpPr>
          <p:cNvPr id="32772" name="TextBox 4"/>
          <p:cNvSpPr txBox="1">
            <a:spLocks noChangeArrowheads="1"/>
          </p:cNvSpPr>
          <p:nvPr/>
        </p:nvSpPr>
        <p:spPr bwMode="auto">
          <a:xfrm>
            <a:off x="387350" y="2673350"/>
            <a:ext cx="8229600" cy="2847975"/>
          </a:xfrm>
          <a:prstGeom prst="rect">
            <a:avLst/>
          </a:prstGeom>
          <a:noFill/>
          <a:ln w="9525">
            <a:noFill/>
            <a:miter lim="800000"/>
            <a:headEnd/>
            <a:tailEnd/>
          </a:ln>
        </p:spPr>
        <p:txBody>
          <a:bodyPr>
            <a:spAutoFit/>
          </a:bodyPr>
          <a:lstStyle/>
          <a:p>
            <a:r>
              <a:rPr lang="en-US" sz="2500" b="1" dirty="0">
                <a:latin typeface="Courier New" pitchFamily="49" charset="0"/>
                <a:cs typeface="Times New Roman" pitchFamily="18" charset="0"/>
              </a:rPr>
              <a:t>Convert Following Decimals to Hexadecimal</a:t>
            </a:r>
          </a:p>
          <a:p>
            <a:endParaRPr lang="en-US" sz="2500" b="1" dirty="0">
              <a:latin typeface="Courier New" pitchFamily="49" charset="0"/>
              <a:cs typeface="Times New Roman" pitchFamily="18" charset="0"/>
            </a:endParaRPr>
          </a:p>
          <a:p>
            <a:r>
              <a:rPr lang="en-US" sz="2500" b="1" dirty="0">
                <a:latin typeface="Courier New" pitchFamily="49" charset="0"/>
                <a:cs typeface="Times New Roman" pitchFamily="18" charset="0"/>
              </a:rPr>
              <a:t>Ex1: </a:t>
            </a:r>
            <a:r>
              <a:rPr lang="en-US" sz="2500" b="1" dirty="0" smtClean="0">
                <a:latin typeface="Courier New" pitchFamily="49" charset="0"/>
                <a:cs typeface="Times New Roman" pitchFamily="18" charset="0"/>
              </a:rPr>
              <a:t>0.25</a:t>
            </a:r>
            <a:endParaRPr lang="en-US" sz="2500" b="1" dirty="0">
              <a:latin typeface="Courier New" pitchFamily="49" charset="0"/>
              <a:cs typeface="Times New Roman" pitchFamily="18" charset="0"/>
            </a:endParaRPr>
          </a:p>
          <a:p>
            <a:r>
              <a:rPr lang="en-US" sz="2500" b="1" dirty="0">
                <a:latin typeface="Courier New" pitchFamily="49" charset="0"/>
                <a:cs typeface="Times New Roman" pitchFamily="18" charset="0"/>
              </a:rPr>
              <a:t>Ex2: 0.34</a:t>
            </a:r>
          </a:p>
          <a:p>
            <a:r>
              <a:rPr lang="en-US" sz="2500" b="1" dirty="0">
                <a:latin typeface="Courier New" pitchFamily="49" charset="0"/>
                <a:cs typeface="Times New Roman" pitchFamily="18" charset="0"/>
              </a:rPr>
              <a:t>Ex3: 0.44</a:t>
            </a:r>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smtClean="0"/>
              <a:t>More Exercises</a:t>
            </a:r>
          </a:p>
        </p:txBody>
      </p:sp>
      <p:sp>
        <p:nvSpPr>
          <p:cNvPr id="24579" name="Content Placeholder 2"/>
          <p:cNvSpPr>
            <a:spLocks noGrp="1"/>
          </p:cNvSpPr>
          <p:nvPr>
            <p:ph idx="1"/>
          </p:nvPr>
        </p:nvSpPr>
        <p:spPr/>
        <p:txBody>
          <a:bodyPr>
            <a:normAutofit/>
          </a:bodyPr>
          <a:lstStyle/>
          <a:p>
            <a:pPr marL="0" indent="0">
              <a:buFont typeface="Arial" panose="020B0604020202020204" pitchFamily="34" charset="0"/>
              <a:buNone/>
              <a:defRPr/>
            </a:pPr>
            <a:r>
              <a:rPr lang="en-US" sz="2800" dirty="0">
                <a:cs typeface="Times New Roman" pitchFamily="18" charset="0"/>
              </a:rPr>
              <a:t>Convert following numbers to binary, Octal and </a:t>
            </a:r>
            <a:r>
              <a:rPr lang="en-US" sz="2800" dirty="0" smtClean="0">
                <a:cs typeface="Times New Roman" pitchFamily="18" charset="0"/>
              </a:rPr>
              <a:t>Hexadecimal</a:t>
            </a:r>
          </a:p>
          <a:p>
            <a:pPr marL="0" indent="0">
              <a:buFont typeface="Arial" panose="020B0604020202020204" pitchFamily="34" charset="0"/>
              <a:buNone/>
              <a:defRPr/>
            </a:pPr>
            <a:endParaRPr lang="en-US" sz="2800" dirty="0" smtClean="0">
              <a:cs typeface="Times New Roman" pitchFamily="18" charset="0"/>
            </a:endParaRPr>
          </a:p>
          <a:p>
            <a:pPr marL="0" indent="0">
              <a:buFont typeface="Arial" panose="020B0604020202020204" pitchFamily="34" charset="0"/>
              <a:buNone/>
              <a:defRPr/>
            </a:pPr>
            <a:r>
              <a:rPr lang="en-US" sz="2800" dirty="0" smtClean="0">
                <a:cs typeface="Times New Roman" pitchFamily="18" charset="0"/>
              </a:rPr>
              <a:t>1.   12.75</a:t>
            </a:r>
          </a:p>
          <a:p>
            <a:pPr marL="514350" indent="-514350">
              <a:buFont typeface="Arial" panose="020B0604020202020204" pitchFamily="34" charset="0"/>
              <a:buAutoNum type="arabicPeriod" startAt="2"/>
              <a:defRPr/>
            </a:pPr>
            <a:r>
              <a:rPr lang="en-US" sz="2800" dirty="0" smtClean="0">
                <a:cs typeface="Times New Roman" pitchFamily="18" charset="0"/>
              </a:rPr>
              <a:t>128.0625</a:t>
            </a:r>
          </a:p>
          <a:p>
            <a:pPr marL="514350" indent="-514350">
              <a:buFont typeface="Arial" panose="020B0604020202020204" pitchFamily="34" charset="0"/>
              <a:buAutoNum type="arabicPeriod" startAt="2"/>
              <a:defRPr/>
            </a:pPr>
            <a:r>
              <a:rPr lang="en-US" sz="2800" dirty="0" smtClean="0">
                <a:cs typeface="Times New Roman" pitchFamily="18" charset="0"/>
              </a:rPr>
              <a:t>256.125</a:t>
            </a:r>
          </a:p>
          <a:p>
            <a:pPr marL="514350" indent="-514350">
              <a:buFont typeface="Arial" panose="020B0604020202020204" pitchFamily="34" charset="0"/>
              <a:buAutoNum type="arabicPeriod" startAt="2"/>
              <a:defRPr/>
            </a:pPr>
            <a:r>
              <a:rPr lang="en-US" sz="2800" dirty="0" smtClean="0">
                <a:cs typeface="Times New Roman" pitchFamily="18" charset="0"/>
              </a:rPr>
              <a:t>512.5</a:t>
            </a:r>
          </a:p>
          <a:p>
            <a:pPr marL="514350" indent="-514350">
              <a:buFont typeface="Arial" panose="020B0604020202020204" pitchFamily="34" charset="0"/>
              <a:buAutoNum type="arabicPeriod" startAt="2"/>
              <a:defRPr/>
            </a:pPr>
            <a:r>
              <a:rPr lang="en-US" sz="2800" dirty="0" smtClean="0">
                <a:cs typeface="Times New Roman" pitchFamily="18" charset="0"/>
              </a:rPr>
              <a:t>1024.25</a:t>
            </a:r>
          </a:p>
          <a:p>
            <a:pPr marL="514350" indent="-514350">
              <a:buFont typeface="Arial" panose="020B0604020202020204" pitchFamily="34" charset="0"/>
              <a:buAutoNum type="arabicPeriod" startAt="2"/>
              <a:defRPr/>
            </a:pPr>
            <a:endParaRPr lang="en-US" sz="2800" dirty="0">
              <a:cs typeface="Times New Roman" pitchFamily="18" charset="0"/>
            </a:endParaRPr>
          </a:p>
        </p:txBody>
      </p:sp>
    </p:spTree>
  </p:cSld>
  <p:clrMapOvr>
    <a:masterClrMapping/>
  </p:clrMapOvr>
</p:sld>
</file>

<file path=ppt/theme/theme1.xml><?xml version="1.0" encoding="utf-8"?>
<a:theme xmlns:a="http://schemas.openxmlformats.org/drawingml/2006/main" name="DRO-Lecture 2 for week2,3">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Presentation1" id="{47D6EB70-AC5D-4C93-8EC9-DDBA92A97C78}" vid="{AD4A3A70-3E62-4EFF-A645-92967231B9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DRO-Lecture 2 for week2,3</Template>
  <TotalTime>153</TotalTime>
  <Words>168</Words>
  <Application>Microsoft Office PowerPoint</Application>
  <PresentationFormat>On-screen Show (4:3)</PresentationFormat>
  <Paragraphs>56</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DRO-Lecture 2 for week2,3</vt:lpstr>
      <vt:lpstr>HNDIT1104: Data Representation and Organization</vt:lpstr>
      <vt:lpstr>Learning Objectives</vt:lpstr>
      <vt:lpstr>Fractions</vt:lpstr>
      <vt:lpstr>Converting Fractional decimal number to Binary, Octal and Hexadecimal</vt:lpstr>
      <vt:lpstr>0.8110  binary???</vt:lpstr>
      <vt:lpstr>Slide 6</vt:lpstr>
      <vt:lpstr>Conversion of Fractional Decimals to Octal</vt:lpstr>
      <vt:lpstr>Conversion of Fractional Decimal to Hexadecimal</vt:lpstr>
      <vt:lpstr>More Exercises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Nalin</dc:creator>
  <cp:lastModifiedBy>Nalin</cp:lastModifiedBy>
  <cp:revision>58</cp:revision>
  <dcterms:created xsi:type="dcterms:W3CDTF">2018-06-21T03:29:57Z</dcterms:created>
  <dcterms:modified xsi:type="dcterms:W3CDTF">2018-06-23T17:47:33Z</dcterms:modified>
</cp:coreProperties>
</file>